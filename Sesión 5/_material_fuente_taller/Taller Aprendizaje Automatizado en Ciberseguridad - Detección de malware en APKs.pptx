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324" r:id="rId3"/>
    <p:sldId id="326" r:id="rId4"/>
    <p:sldId id="323" r:id="rId5"/>
    <p:sldId id="257" r:id="rId6"/>
    <p:sldId id="304" r:id="rId7"/>
    <p:sldId id="308" r:id="rId8"/>
    <p:sldId id="309" r:id="rId9"/>
    <p:sldId id="310" r:id="rId10"/>
    <p:sldId id="315" r:id="rId11"/>
    <p:sldId id="311" r:id="rId12"/>
    <p:sldId id="316" r:id="rId13"/>
    <p:sldId id="312" r:id="rId14"/>
    <p:sldId id="317" r:id="rId15"/>
    <p:sldId id="313" r:id="rId16"/>
    <p:sldId id="318" r:id="rId17"/>
    <p:sldId id="314" r:id="rId18"/>
    <p:sldId id="319" r:id="rId19"/>
    <p:sldId id="305" r:id="rId20"/>
    <p:sldId id="307" r:id="rId21"/>
    <p:sldId id="306" r:id="rId22"/>
    <p:sldId id="261" r:id="rId23"/>
    <p:sldId id="321" r:id="rId24"/>
    <p:sldId id="320" r:id="rId25"/>
    <p:sldId id="273" r:id="rId26"/>
    <p:sldId id="275" r:id="rId27"/>
    <p:sldId id="280" r:id="rId28"/>
    <p:sldId id="282" r:id="rId29"/>
    <p:sldId id="322" r:id="rId30"/>
    <p:sldId id="281"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30" autoAdjust="0"/>
  </p:normalViewPr>
  <p:slideViewPr>
    <p:cSldViewPr snapToGrid="0">
      <p:cViewPr varScale="1">
        <p:scale>
          <a:sx n="93" d="100"/>
          <a:sy n="93" d="100"/>
        </p:scale>
        <p:origin x="1152" y="8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1" Type="http://schemas.openxmlformats.org/officeDocument/2006/relationships/image" Target="../media/image11.png"/></Relationships>
</file>

<file path=ppt/diagrams/_rels/data2.xml.rels><?xml version="1.0" encoding="UTF-8" standalone="yes"?>
<Relationships xmlns="http://schemas.openxmlformats.org/package/2006/relationships"><Relationship Id="rId1" Type="http://schemas.openxmlformats.org/officeDocument/2006/relationships/image" Target="../media/image13.png"/></Relationships>
</file>

<file path=ppt/diagrams/_rels/data3.xml.rels><?xml version="1.0" encoding="UTF-8" standalone="yes"?>
<Relationships xmlns="http://schemas.openxmlformats.org/package/2006/relationships"><Relationship Id="rId1" Type="http://schemas.openxmlformats.org/officeDocument/2006/relationships/image" Target="../media/image17.png"/></Relationships>
</file>

<file path=ppt/diagrams/_rels/data5.xml.rels><?xml version="1.0" encoding="UTF-8" standalone="yes"?>
<Relationships xmlns="http://schemas.openxmlformats.org/package/2006/relationships"><Relationship Id="rId1" Type="http://schemas.openxmlformats.org/officeDocument/2006/relationships/image" Target="../media/image11.png"/></Relationships>
</file>

<file path=ppt/diagrams/_rels/data7.xml.rels><?xml version="1.0" encoding="UTF-8" standalone="yes"?>
<Relationships xmlns="http://schemas.openxmlformats.org/package/2006/relationships"><Relationship Id="rId1" Type="http://schemas.openxmlformats.org/officeDocument/2006/relationships/image" Target="../media/image22.png"/></Relationships>
</file>

<file path=ppt/diagrams/_rels/data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 Id="rId4" Type="http://schemas.openxmlformats.org/officeDocument/2006/relationships/image" Target="../media/image30.png"/></Relationships>
</file>

<file path=ppt/diagrams/_rels/data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diagrams/_rels/data13.xml.rels><?xml version="1.0" encoding="UTF-8" standalone="yes"?>
<Relationships xmlns="http://schemas.openxmlformats.org/package/2006/relationships"><Relationship Id="rId1" Type="http://schemas.openxmlformats.org/officeDocument/2006/relationships/image" Target="../media/image36.png"/></Relationships>
</file>

<file path=ppt/diagrams/_rels/data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1" Type="http://schemas.openxmlformats.org/officeDocument/2006/relationships/image" Target="../media/image13.png"/></Relationships>
</file>

<file path=ppt/diagrams/_rels/drawing3.xml.rels><?xml version="1.0" encoding="UTF-8" standalone="yes"?>
<Relationships xmlns="http://schemas.openxmlformats.org/package/2006/relationships"><Relationship Id="rId1" Type="http://schemas.openxmlformats.org/officeDocument/2006/relationships/image" Target="../media/image17.png"/></Relationships>
</file>

<file path=ppt/diagrams/_rels/drawing5.xml.rels><?xml version="1.0" encoding="UTF-8" standalone="yes"?>
<Relationships xmlns="http://schemas.openxmlformats.org/package/2006/relationships"><Relationship Id="rId1" Type="http://schemas.openxmlformats.org/officeDocument/2006/relationships/image" Target="../media/image11.png"/></Relationships>
</file>

<file path=ppt/diagrams/_rels/drawing7.xml.rels><?xml version="1.0" encoding="UTF-8" standalone="yes"?>
<Relationships xmlns="http://schemas.openxmlformats.org/package/2006/relationships"><Relationship Id="rId1" Type="http://schemas.openxmlformats.org/officeDocument/2006/relationships/image" Target="../media/image22.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 Id="rId4" Type="http://schemas.openxmlformats.org/officeDocument/2006/relationships/image" Target="../media/image30.png"/></Relationships>
</file>

<file path=ppt/diagrams/_rels/drawing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diagrams/_rels/drawing13.xml.rels><?xml version="1.0" encoding="UTF-8" standalone="yes"?>
<Relationships xmlns="http://schemas.openxmlformats.org/package/2006/relationships"><Relationship Id="rId1" Type="http://schemas.openxmlformats.org/officeDocument/2006/relationships/image" Target="../media/image36.png"/></Relationships>
</file>

<file path=ppt/diagrams/_rels/drawing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E3A06C-3F39-4C10-A54D-B1A54AFDE32C}"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04756E97-EC3A-473E-8999-3333575E2122}">
      <dgm:prSet phldrT="[Texto]"/>
      <dgm:spPr/>
      <dgm:t>
        <a:bodyPr/>
        <a:lstStyle/>
        <a:p>
          <a:r>
            <a:rPr lang="es-ES" dirty="0"/>
            <a:t>Informe anual de Kaspersky Security Network 2023</a:t>
          </a:r>
        </a:p>
      </dgm:t>
    </dgm:pt>
    <dgm:pt modelId="{E7625E2F-98F8-4DD4-B341-47E6F848D8E8}" type="parTrans" cxnId="{1A60328B-86C3-4E77-A945-2AEA2DB0DEAA}">
      <dgm:prSet/>
      <dgm:spPr/>
      <dgm:t>
        <a:bodyPr/>
        <a:lstStyle/>
        <a:p>
          <a:endParaRPr lang="es-ES"/>
        </a:p>
      </dgm:t>
    </dgm:pt>
    <dgm:pt modelId="{6FB7A925-A6B9-4075-AEC9-BAE5A802FAB7}" type="sibTrans" cxnId="{1A60328B-86C3-4E77-A945-2AEA2DB0DEAA}">
      <dgm:prSet/>
      <dgm:spPr/>
      <dgm:t>
        <a:bodyPr/>
        <a:lstStyle/>
        <a:p>
          <a:endParaRPr lang="es-ES"/>
        </a:p>
      </dgm:t>
    </dgm:pt>
    <dgm:pt modelId="{B9872C9B-09B7-4F37-BE0F-048A46650ED1}" type="pres">
      <dgm:prSet presAssocID="{5BE3A06C-3F39-4C10-A54D-B1A54AFDE32C}" presName="linear" presStyleCnt="0">
        <dgm:presLayoutVars>
          <dgm:dir/>
          <dgm:resizeHandles val="exact"/>
        </dgm:presLayoutVars>
      </dgm:prSet>
      <dgm:spPr/>
    </dgm:pt>
    <dgm:pt modelId="{4A985DB9-33AD-4DC2-A947-CC906526225C}" type="pres">
      <dgm:prSet presAssocID="{04756E97-EC3A-473E-8999-3333575E2122}" presName="comp" presStyleCnt="0"/>
      <dgm:spPr/>
    </dgm:pt>
    <dgm:pt modelId="{E93CEE31-7427-49C6-A9D0-D023D25E26A8}" type="pres">
      <dgm:prSet presAssocID="{04756E97-EC3A-473E-8999-3333575E2122}" presName="box" presStyleLbl="node1" presStyleIdx="0" presStyleCnt="1"/>
      <dgm:spPr/>
    </dgm:pt>
    <dgm:pt modelId="{02D64116-B629-4CA9-AF5B-F193FC2CFE22}" type="pres">
      <dgm:prSet presAssocID="{04756E97-EC3A-473E-8999-3333575E2122}" presName="img" presStyleLbl="fgImgPlace1" presStyleIdx="0" presStyleCnt="1"/>
      <dgm:spPr>
        <a:blipFill rotWithShape="1">
          <a:blip xmlns:r="http://schemas.openxmlformats.org/officeDocument/2006/relationships" r:embed="rId1"/>
          <a:srcRect/>
          <a:stretch>
            <a:fillRect t="-27000" b="-27000"/>
          </a:stretch>
        </a:blipFill>
      </dgm:spPr>
    </dgm:pt>
    <dgm:pt modelId="{0CFD8E62-9C6B-47C5-A86C-7C1E7FF05A84}" type="pres">
      <dgm:prSet presAssocID="{04756E97-EC3A-473E-8999-3333575E2122}" presName="text" presStyleLbl="node1" presStyleIdx="0" presStyleCnt="1">
        <dgm:presLayoutVars>
          <dgm:bulletEnabled val="1"/>
        </dgm:presLayoutVars>
      </dgm:prSet>
      <dgm:spPr/>
    </dgm:pt>
  </dgm:ptLst>
  <dgm:cxnLst>
    <dgm:cxn modelId="{0DB0301D-FB77-4C25-84C7-A22EF6521F5A}" type="presOf" srcId="{04756E97-EC3A-473E-8999-3333575E2122}" destId="{E93CEE31-7427-49C6-A9D0-D023D25E26A8}" srcOrd="0" destOrd="0" presId="urn:microsoft.com/office/officeart/2005/8/layout/vList4"/>
    <dgm:cxn modelId="{2C23A575-4282-4C62-84B8-C9A8F97D499D}" type="presOf" srcId="{04756E97-EC3A-473E-8999-3333575E2122}" destId="{0CFD8E62-9C6B-47C5-A86C-7C1E7FF05A84}" srcOrd="1" destOrd="0" presId="urn:microsoft.com/office/officeart/2005/8/layout/vList4"/>
    <dgm:cxn modelId="{1A60328B-86C3-4E77-A945-2AEA2DB0DEAA}" srcId="{5BE3A06C-3F39-4C10-A54D-B1A54AFDE32C}" destId="{04756E97-EC3A-473E-8999-3333575E2122}" srcOrd="0" destOrd="0" parTransId="{E7625E2F-98F8-4DD4-B341-47E6F848D8E8}" sibTransId="{6FB7A925-A6B9-4075-AEC9-BAE5A802FAB7}"/>
    <dgm:cxn modelId="{DCE25393-F2BB-4CF5-83A4-983E6A32C3C8}" type="presOf" srcId="{5BE3A06C-3F39-4C10-A54D-B1A54AFDE32C}" destId="{B9872C9B-09B7-4F37-BE0F-048A46650ED1}" srcOrd="0" destOrd="0" presId="urn:microsoft.com/office/officeart/2005/8/layout/vList4"/>
    <dgm:cxn modelId="{CC248D93-8ADE-4E6C-9517-D05C7919846C}" type="presParOf" srcId="{B9872C9B-09B7-4F37-BE0F-048A46650ED1}" destId="{4A985DB9-33AD-4DC2-A947-CC906526225C}" srcOrd="0" destOrd="0" presId="urn:microsoft.com/office/officeart/2005/8/layout/vList4"/>
    <dgm:cxn modelId="{BAF6C5C9-4FE0-470A-BE6F-4ED4F064561A}" type="presParOf" srcId="{4A985DB9-33AD-4DC2-A947-CC906526225C}" destId="{E93CEE31-7427-49C6-A9D0-D023D25E26A8}" srcOrd="0" destOrd="0" presId="urn:microsoft.com/office/officeart/2005/8/layout/vList4"/>
    <dgm:cxn modelId="{40CE5FF5-F847-452C-BFC3-87915C337033}" type="presParOf" srcId="{4A985DB9-33AD-4DC2-A947-CC906526225C}" destId="{02D64116-B629-4CA9-AF5B-F193FC2CFE22}" srcOrd="1" destOrd="0" presId="urn:microsoft.com/office/officeart/2005/8/layout/vList4"/>
    <dgm:cxn modelId="{1948C404-0F3F-427E-92F2-9219D45FEF57}" type="presParOf" srcId="{4A985DB9-33AD-4DC2-A947-CC906526225C}" destId="{0CFD8E62-9C6B-47C5-A86C-7C1E7FF05A84}" srcOrd="2" destOrd="0" presId="urn:microsoft.com/office/officeart/2005/8/layout/vList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58808F-DD16-4BA6-8A2B-DF0042D6B94C}"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6129412E-E847-4E73-8C7E-84650AF17F34}">
      <dgm:prSet phldrT="[Texto]"/>
      <dgm:spPr/>
      <dgm:t>
        <a:bodyPr/>
        <a:lstStyle/>
        <a:p>
          <a:r>
            <a:rPr lang="es-ES" dirty="0"/>
            <a:t>Funcionalidades</a:t>
          </a:r>
        </a:p>
      </dgm:t>
    </dgm:pt>
    <dgm:pt modelId="{99A9F27C-9104-46B7-A64A-B7F1228D5BC8}" type="parTrans" cxnId="{6A73E556-5C27-4869-B52F-89BA12F696F5}">
      <dgm:prSet/>
      <dgm:spPr/>
      <dgm:t>
        <a:bodyPr/>
        <a:lstStyle/>
        <a:p>
          <a:endParaRPr lang="es-ES"/>
        </a:p>
      </dgm:t>
    </dgm:pt>
    <dgm:pt modelId="{FF88212B-4250-411B-98B2-9A962F934A44}" type="sibTrans" cxnId="{6A73E556-5C27-4869-B52F-89BA12F696F5}">
      <dgm:prSet/>
      <dgm:spPr/>
      <dgm:t>
        <a:bodyPr/>
        <a:lstStyle/>
        <a:p>
          <a:endParaRPr lang="es-ES"/>
        </a:p>
      </dgm:t>
    </dgm:pt>
    <dgm:pt modelId="{4E2FEB5B-8A23-4E4E-865E-88CD76625FE8}">
      <dgm:prSet phldrT="[Texto]"/>
      <dgm:spPr/>
      <dgm:t>
        <a:bodyPr/>
        <a:lstStyle/>
        <a:p>
          <a:r>
            <a:rPr lang="es-ES" dirty="0"/>
            <a:t>Seguimiento GPS, registro de llamadas, mensajes, contactos y espionaje de redes sociales.</a:t>
          </a:r>
        </a:p>
      </dgm:t>
    </dgm:pt>
    <dgm:pt modelId="{5B8569E7-4567-497D-A757-D507032B7773}" type="parTrans" cxnId="{DE34A8FE-0484-4571-A1EC-495425494304}">
      <dgm:prSet/>
      <dgm:spPr/>
      <dgm:t>
        <a:bodyPr/>
        <a:lstStyle/>
        <a:p>
          <a:endParaRPr lang="es-ES"/>
        </a:p>
      </dgm:t>
    </dgm:pt>
    <dgm:pt modelId="{8A8750CB-E16D-4A0D-88E1-AE5287444152}" type="sibTrans" cxnId="{DE34A8FE-0484-4571-A1EC-495425494304}">
      <dgm:prSet/>
      <dgm:spPr/>
      <dgm:t>
        <a:bodyPr/>
        <a:lstStyle/>
        <a:p>
          <a:endParaRPr lang="es-ES"/>
        </a:p>
      </dgm:t>
    </dgm:pt>
    <dgm:pt modelId="{06257054-9CDE-47F3-AF32-523FCC790B15}" type="pres">
      <dgm:prSet presAssocID="{1E58808F-DD16-4BA6-8A2B-DF0042D6B94C}" presName="linear" presStyleCnt="0">
        <dgm:presLayoutVars>
          <dgm:dir/>
          <dgm:resizeHandles val="exact"/>
        </dgm:presLayoutVars>
      </dgm:prSet>
      <dgm:spPr/>
    </dgm:pt>
    <dgm:pt modelId="{8E28D4AA-9BEF-4F0A-B111-325123DC56A5}" type="pres">
      <dgm:prSet presAssocID="{6129412E-E847-4E73-8C7E-84650AF17F34}" presName="comp" presStyleCnt="0"/>
      <dgm:spPr/>
    </dgm:pt>
    <dgm:pt modelId="{868A0192-AAFE-4FD8-B694-7C4E5381DF0A}" type="pres">
      <dgm:prSet presAssocID="{6129412E-E847-4E73-8C7E-84650AF17F34}" presName="box" presStyleLbl="node1" presStyleIdx="0" presStyleCnt="1" custLinFactNeighborX="-28303" custLinFactNeighborY="53241"/>
      <dgm:spPr/>
    </dgm:pt>
    <dgm:pt modelId="{F0164F85-4DBB-4649-AD28-62DC47518553}" type="pres">
      <dgm:prSet presAssocID="{6129412E-E847-4E73-8C7E-84650AF17F34}" presName="img" presStyleLbl="fgImgPlace1" presStyleIdx="0" presStyleCnt="1"/>
      <dgm:spPr>
        <a:blipFill rotWithShape="1">
          <a:blip xmlns:r="http://schemas.openxmlformats.org/officeDocument/2006/relationships" r:embed="rId1"/>
          <a:srcRect/>
          <a:stretch>
            <a:fillRect l="-27000" r="-27000"/>
          </a:stretch>
        </a:blipFill>
      </dgm:spPr>
    </dgm:pt>
    <dgm:pt modelId="{A3C8E340-2FF5-426E-8471-7F57BE3AB0AD}" type="pres">
      <dgm:prSet presAssocID="{6129412E-E847-4E73-8C7E-84650AF17F34}" presName="text" presStyleLbl="node1" presStyleIdx="0" presStyleCnt="1">
        <dgm:presLayoutVars>
          <dgm:bulletEnabled val="1"/>
        </dgm:presLayoutVars>
      </dgm:prSet>
      <dgm:spPr/>
    </dgm:pt>
  </dgm:ptLst>
  <dgm:cxnLst>
    <dgm:cxn modelId="{49826E13-9464-4406-85AC-7EE84DC535A6}" type="presOf" srcId="{6129412E-E847-4E73-8C7E-84650AF17F34}" destId="{868A0192-AAFE-4FD8-B694-7C4E5381DF0A}" srcOrd="0" destOrd="0" presId="urn:microsoft.com/office/officeart/2005/8/layout/vList4"/>
    <dgm:cxn modelId="{6A73E556-5C27-4869-B52F-89BA12F696F5}" srcId="{1E58808F-DD16-4BA6-8A2B-DF0042D6B94C}" destId="{6129412E-E847-4E73-8C7E-84650AF17F34}" srcOrd="0" destOrd="0" parTransId="{99A9F27C-9104-46B7-A64A-B7F1228D5BC8}" sibTransId="{FF88212B-4250-411B-98B2-9A962F934A44}"/>
    <dgm:cxn modelId="{A2C4247B-7047-4F41-B0AD-CE33D043B91D}" type="presOf" srcId="{4E2FEB5B-8A23-4E4E-865E-88CD76625FE8}" destId="{A3C8E340-2FF5-426E-8471-7F57BE3AB0AD}" srcOrd="1" destOrd="1" presId="urn:microsoft.com/office/officeart/2005/8/layout/vList4"/>
    <dgm:cxn modelId="{8F49AF97-3B14-456F-B219-5E8290C050FD}" type="presOf" srcId="{6129412E-E847-4E73-8C7E-84650AF17F34}" destId="{A3C8E340-2FF5-426E-8471-7F57BE3AB0AD}" srcOrd="1" destOrd="0" presId="urn:microsoft.com/office/officeart/2005/8/layout/vList4"/>
    <dgm:cxn modelId="{F0D2BBA1-9690-418F-8559-E4ACB5AAE27E}" type="presOf" srcId="{1E58808F-DD16-4BA6-8A2B-DF0042D6B94C}" destId="{06257054-9CDE-47F3-AF32-523FCC790B15}" srcOrd="0" destOrd="0" presId="urn:microsoft.com/office/officeart/2005/8/layout/vList4"/>
    <dgm:cxn modelId="{550DCCCB-CB1B-4613-9BEB-8356C2665D44}" type="presOf" srcId="{4E2FEB5B-8A23-4E4E-865E-88CD76625FE8}" destId="{868A0192-AAFE-4FD8-B694-7C4E5381DF0A}" srcOrd="0" destOrd="1" presId="urn:microsoft.com/office/officeart/2005/8/layout/vList4"/>
    <dgm:cxn modelId="{DE34A8FE-0484-4571-A1EC-495425494304}" srcId="{6129412E-E847-4E73-8C7E-84650AF17F34}" destId="{4E2FEB5B-8A23-4E4E-865E-88CD76625FE8}" srcOrd="0" destOrd="0" parTransId="{5B8569E7-4567-497D-A757-D507032B7773}" sibTransId="{8A8750CB-E16D-4A0D-88E1-AE5287444152}"/>
    <dgm:cxn modelId="{31762300-36E4-4263-B476-69D3C23AC686}" type="presParOf" srcId="{06257054-9CDE-47F3-AF32-523FCC790B15}" destId="{8E28D4AA-9BEF-4F0A-B111-325123DC56A5}" srcOrd="0" destOrd="0" presId="urn:microsoft.com/office/officeart/2005/8/layout/vList4"/>
    <dgm:cxn modelId="{F0579D68-BF4C-4A1E-A260-62924F8ABF17}" type="presParOf" srcId="{8E28D4AA-9BEF-4F0A-B111-325123DC56A5}" destId="{868A0192-AAFE-4FD8-B694-7C4E5381DF0A}" srcOrd="0" destOrd="0" presId="urn:microsoft.com/office/officeart/2005/8/layout/vList4"/>
    <dgm:cxn modelId="{385CB95F-4B23-4D28-9136-73318A1B8943}" type="presParOf" srcId="{8E28D4AA-9BEF-4F0A-B111-325123DC56A5}" destId="{F0164F85-4DBB-4649-AD28-62DC47518553}" srcOrd="1" destOrd="0" presId="urn:microsoft.com/office/officeart/2005/8/layout/vList4"/>
    <dgm:cxn modelId="{18AD13F5-FE2E-46AA-881D-3BF9CCBE5128}" type="presParOf" srcId="{8E28D4AA-9BEF-4F0A-B111-325123DC56A5}" destId="{A3C8E340-2FF5-426E-8471-7F57BE3AB0AD}" srcOrd="2" destOrd="0" presId="urn:microsoft.com/office/officeart/2005/8/layout/vList4"/>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E3A06C-3F39-4C10-A54D-B1A54AFDE32C}"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04756E97-EC3A-473E-8999-3333575E2122}">
      <dgm:prSet phldrT="[Texto]"/>
      <dgm:spPr/>
      <dgm:t>
        <a:bodyPr/>
        <a:lstStyle/>
        <a:p>
          <a:r>
            <a:rPr lang="es-ES" dirty="0"/>
            <a:t>Informe de predicciones 2024 de </a:t>
          </a:r>
          <a:r>
            <a:rPr lang="es-ES" dirty="0" err="1"/>
            <a:t>Trend</a:t>
          </a:r>
          <a:endParaRPr lang="es-ES" dirty="0"/>
        </a:p>
      </dgm:t>
    </dgm:pt>
    <dgm:pt modelId="{6FB7A925-A6B9-4075-AEC9-BAE5A802FAB7}" type="sibTrans" cxnId="{1A60328B-86C3-4E77-A945-2AEA2DB0DEAA}">
      <dgm:prSet/>
      <dgm:spPr/>
      <dgm:t>
        <a:bodyPr/>
        <a:lstStyle/>
        <a:p>
          <a:endParaRPr lang="es-ES"/>
        </a:p>
      </dgm:t>
    </dgm:pt>
    <dgm:pt modelId="{E7625E2F-98F8-4DD4-B341-47E6F848D8E8}" type="parTrans" cxnId="{1A60328B-86C3-4E77-A945-2AEA2DB0DEAA}">
      <dgm:prSet/>
      <dgm:spPr/>
      <dgm:t>
        <a:bodyPr/>
        <a:lstStyle/>
        <a:p>
          <a:endParaRPr lang="es-ES"/>
        </a:p>
      </dgm:t>
    </dgm:pt>
    <dgm:pt modelId="{9D48E1AF-2629-4ABD-B301-C3064FB31DBE}">
      <dgm:prSet/>
      <dgm:spPr/>
      <dgm:t>
        <a:bodyPr/>
        <a:lstStyle/>
        <a:p>
          <a:r>
            <a:rPr lang="es-ES" dirty="0"/>
            <a:t>Aumento en los ataques de gusanos nativos de la nube, dirigidos a vulnerabilidades y configuraciones erróneas, que utilizan un alto grado de automatización para afectar a múltiples contenedores, cuentas y servicios con el mínimo esfuerzo.</a:t>
          </a:r>
        </a:p>
      </dgm:t>
    </dgm:pt>
    <dgm:pt modelId="{777DFF13-62D1-4BD4-923F-36F662613CE7}" type="parTrans" cxnId="{DA79C0DE-F9C0-424C-9DC1-033C852C3EBF}">
      <dgm:prSet/>
      <dgm:spPr/>
      <dgm:t>
        <a:bodyPr/>
        <a:lstStyle/>
        <a:p>
          <a:endParaRPr lang="es-ES"/>
        </a:p>
      </dgm:t>
    </dgm:pt>
    <dgm:pt modelId="{3DBA6D8A-FA05-4738-863D-418A2DA79FB8}" type="sibTrans" cxnId="{DA79C0DE-F9C0-424C-9DC1-033C852C3EBF}">
      <dgm:prSet/>
      <dgm:spPr/>
      <dgm:t>
        <a:bodyPr/>
        <a:lstStyle/>
        <a:p>
          <a:endParaRPr lang="es-ES"/>
        </a:p>
      </dgm:t>
    </dgm:pt>
    <dgm:pt modelId="{B9872C9B-09B7-4F37-BE0F-048A46650ED1}" type="pres">
      <dgm:prSet presAssocID="{5BE3A06C-3F39-4C10-A54D-B1A54AFDE32C}" presName="linear" presStyleCnt="0">
        <dgm:presLayoutVars>
          <dgm:dir/>
          <dgm:resizeHandles val="exact"/>
        </dgm:presLayoutVars>
      </dgm:prSet>
      <dgm:spPr/>
    </dgm:pt>
    <dgm:pt modelId="{4A985DB9-33AD-4DC2-A947-CC906526225C}" type="pres">
      <dgm:prSet presAssocID="{04756E97-EC3A-473E-8999-3333575E2122}" presName="comp" presStyleCnt="0"/>
      <dgm:spPr/>
    </dgm:pt>
    <dgm:pt modelId="{E93CEE31-7427-49C6-A9D0-D023D25E26A8}" type="pres">
      <dgm:prSet presAssocID="{04756E97-EC3A-473E-8999-3333575E2122}" presName="box" presStyleLbl="node1" presStyleIdx="0" presStyleCnt="1"/>
      <dgm:spPr/>
    </dgm:pt>
    <dgm:pt modelId="{02D64116-B629-4CA9-AF5B-F193FC2CFE22}" type="pres">
      <dgm:prSet presAssocID="{04756E97-EC3A-473E-8999-3333575E2122}" presName="img" presStyleLbl="fgImgPlace1" presStyleIdx="0" presStyleCnt="1"/>
      <dgm:spPr>
        <a:blipFill rotWithShape="1">
          <a:blip xmlns:r="http://schemas.openxmlformats.org/officeDocument/2006/relationships" r:embed="rId1"/>
          <a:srcRect/>
          <a:stretch>
            <a:fillRect t="-29000" b="-29000"/>
          </a:stretch>
        </a:blipFill>
      </dgm:spPr>
    </dgm:pt>
    <dgm:pt modelId="{0CFD8E62-9C6B-47C5-A86C-7C1E7FF05A84}" type="pres">
      <dgm:prSet presAssocID="{04756E97-EC3A-473E-8999-3333575E2122}" presName="text" presStyleLbl="node1" presStyleIdx="0" presStyleCnt="1">
        <dgm:presLayoutVars>
          <dgm:bulletEnabled val="1"/>
        </dgm:presLayoutVars>
      </dgm:prSet>
      <dgm:spPr/>
    </dgm:pt>
  </dgm:ptLst>
  <dgm:cxnLst>
    <dgm:cxn modelId="{0DB0301D-FB77-4C25-84C7-A22EF6521F5A}" type="presOf" srcId="{04756E97-EC3A-473E-8999-3333575E2122}" destId="{E93CEE31-7427-49C6-A9D0-D023D25E26A8}" srcOrd="0" destOrd="0" presId="urn:microsoft.com/office/officeart/2005/8/layout/vList4"/>
    <dgm:cxn modelId="{BBC82455-F7B6-44CB-A1EF-C5F5F0502F37}" type="presOf" srcId="{9D48E1AF-2629-4ABD-B301-C3064FB31DBE}" destId="{0CFD8E62-9C6B-47C5-A86C-7C1E7FF05A84}" srcOrd="1" destOrd="1" presId="urn:microsoft.com/office/officeart/2005/8/layout/vList4"/>
    <dgm:cxn modelId="{2C23A575-4282-4C62-84B8-C9A8F97D499D}" type="presOf" srcId="{04756E97-EC3A-473E-8999-3333575E2122}" destId="{0CFD8E62-9C6B-47C5-A86C-7C1E7FF05A84}" srcOrd="1" destOrd="0" presId="urn:microsoft.com/office/officeart/2005/8/layout/vList4"/>
    <dgm:cxn modelId="{1A60328B-86C3-4E77-A945-2AEA2DB0DEAA}" srcId="{5BE3A06C-3F39-4C10-A54D-B1A54AFDE32C}" destId="{04756E97-EC3A-473E-8999-3333575E2122}" srcOrd="0" destOrd="0" parTransId="{E7625E2F-98F8-4DD4-B341-47E6F848D8E8}" sibTransId="{6FB7A925-A6B9-4075-AEC9-BAE5A802FAB7}"/>
    <dgm:cxn modelId="{DCE25393-F2BB-4CF5-83A4-983E6A32C3C8}" type="presOf" srcId="{5BE3A06C-3F39-4C10-A54D-B1A54AFDE32C}" destId="{B9872C9B-09B7-4F37-BE0F-048A46650ED1}" srcOrd="0" destOrd="0" presId="urn:microsoft.com/office/officeart/2005/8/layout/vList4"/>
    <dgm:cxn modelId="{E94783CD-F420-45B8-BCF4-3D499EE98642}" type="presOf" srcId="{9D48E1AF-2629-4ABD-B301-C3064FB31DBE}" destId="{E93CEE31-7427-49C6-A9D0-D023D25E26A8}" srcOrd="0" destOrd="1" presId="urn:microsoft.com/office/officeart/2005/8/layout/vList4"/>
    <dgm:cxn modelId="{DA79C0DE-F9C0-424C-9DC1-033C852C3EBF}" srcId="{04756E97-EC3A-473E-8999-3333575E2122}" destId="{9D48E1AF-2629-4ABD-B301-C3064FB31DBE}" srcOrd="0" destOrd="0" parTransId="{777DFF13-62D1-4BD4-923F-36F662613CE7}" sibTransId="{3DBA6D8A-FA05-4738-863D-418A2DA79FB8}"/>
    <dgm:cxn modelId="{CC248D93-8ADE-4E6C-9517-D05C7919846C}" type="presParOf" srcId="{B9872C9B-09B7-4F37-BE0F-048A46650ED1}" destId="{4A985DB9-33AD-4DC2-A947-CC906526225C}" srcOrd="0" destOrd="0" presId="urn:microsoft.com/office/officeart/2005/8/layout/vList4"/>
    <dgm:cxn modelId="{BAF6C5C9-4FE0-470A-BE6F-4ED4F064561A}" type="presParOf" srcId="{4A985DB9-33AD-4DC2-A947-CC906526225C}" destId="{E93CEE31-7427-49C6-A9D0-D023D25E26A8}" srcOrd="0" destOrd="0" presId="urn:microsoft.com/office/officeart/2005/8/layout/vList4"/>
    <dgm:cxn modelId="{40CE5FF5-F847-452C-BFC3-87915C337033}" type="presParOf" srcId="{4A985DB9-33AD-4DC2-A947-CC906526225C}" destId="{02D64116-B629-4CA9-AF5B-F193FC2CFE22}" srcOrd="1" destOrd="0" presId="urn:microsoft.com/office/officeart/2005/8/layout/vList4"/>
    <dgm:cxn modelId="{1948C404-0F3F-427E-92F2-9219D45FEF57}" type="presParOf" srcId="{4A985DB9-33AD-4DC2-A947-CC906526225C}" destId="{0CFD8E62-9C6B-47C5-A86C-7C1E7FF05A8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ADCF50-F774-4FF4-AAC9-928D702EEF9A}"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s-ES"/>
        </a:p>
      </dgm:t>
    </dgm:pt>
    <dgm:pt modelId="{E4892FD6-5287-48D7-B590-852FC1FF353C}">
      <dgm:prSet phldrT="[Texto]"/>
      <dgm:spPr/>
      <dgm:t>
        <a:bodyPr/>
        <a:lstStyle/>
        <a:p>
          <a:r>
            <a:rPr lang="es-ES" dirty="0"/>
            <a:t>Morris II (gusano basado en IA)</a:t>
          </a:r>
        </a:p>
      </dgm:t>
    </dgm:pt>
    <dgm:pt modelId="{1822120E-09A6-497B-A5A5-F84421EEC623}" type="parTrans" cxnId="{EB56BE17-11CC-4A4E-A809-8B811EC610C3}">
      <dgm:prSet/>
      <dgm:spPr/>
      <dgm:t>
        <a:bodyPr/>
        <a:lstStyle/>
        <a:p>
          <a:endParaRPr lang="es-ES"/>
        </a:p>
      </dgm:t>
    </dgm:pt>
    <dgm:pt modelId="{3E7DDE1A-105E-4D28-8349-184FCDBA80A6}" type="sibTrans" cxnId="{EB56BE17-11CC-4A4E-A809-8B811EC610C3}">
      <dgm:prSet/>
      <dgm:spPr/>
      <dgm:t>
        <a:bodyPr/>
        <a:lstStyle/>
        <a:p>
          <a:endParaRPr lang="es-ES"/>
        </a:p>
      </dgm:t>
    </dgm:pt>
    <dgm:pt modelId="{0661008B-497B-4770-ABF3-6A0F5CBC2CB9}">
      <dgm:prSet phldrT="[Texto]"/>
      <dgm:spPr/>
      <dgm:t>
        <a:bodyPr/>
        <a:lstStyle/>
        <a:p>
          <a:r>
            <a:rPr lang="es-ES" dirty="0"/>
            <a:t>Utiliza lo que se conoce como “</a:t>
          </a:r>
          <a:r>
            <a:rPr lang="es-ES" dirty="0" err="1"/>
            <a:t>prompt</a:t>
          </a:r>
          <a:r>
            <a:rPr lang="es-ES" dirty="0"/>
            <a:t> </a:t>
          </a:r>
          <a:r>
            <a:rPr lang="es-ES" dirty="0" err="1"/>
            <a:t>autorreplicante</a:t>
          </a:r>
          <a:r>
            <a:rPr lang="es-ES" dirty="0"/>
            <a:t> adverso”, que provoca que el modelo de IA generativa emita, en su respuesta, otro </a:t>
          </a:r>
          <a:r>
            <a:rPr lang="es-ES" dirty="0" err="1"/>
            <a:t>prompt</a:t>
          </a:r>
          <a:r>
            <a:rPr lang="es-ES" dirty="0"/>
            <a:t>.</a:t>
          </a:r>
        </a:p>
      </dgm:t>
    </dgm:pt>
    <dgm:pt modelId="{AE62994C-CC41-4402-A754-0303C8852851}" type="parTrans" cxnId="{73DF185B-4DF9-4608-BCC4-C4322DCB610F}">
      <dgm:prSet/>
      <dgm:spPr/>
      <dgm:t>
        <a:bodyPr/>
        <a:lstStyle/>
        <a:p>
          <a:endParaRPr lang="es-ES"/>
        </a:p>
      </dgm:t>
    </dgm:pt>
    <dgm:pt modelId="{BEAD7434-CB63-4EF8-9779-AD8F36FC96D1}" type="sibTrans" cxnId="{73DF185B-4DF9-4608-BCC4-C4322DCB610F}">
      <dgm:prSet/>
      <dgm:spPr/>
      <dgm:t>
        <a:bodyPr/>
        <a:lstStyle/>
        <a:p>
          <a:endParaRPr lang="es-ES"/>
        </a:p>
      </dgm:t>
    </dgm:pt>
    <dgm:pt modelId="{A3D4BFD8-A92A-4BFC-924C-660B6C3FCB11}">
      <dgm:prSet phldrT="[Texto]"/>
      <dgm:spPr/>
      <dgm:t>
        <a:bodyPr/>
        <a:lstStyle/>
        <a:p>
          <a:r>
            <a:rPr lang="es-ES" dirty="0"/>
            <a:t>Puede atacar a un asistente de correo electrónico de IA generativa para robar datos de los correos electrónicos y enviar mensajes de spam.</a:t>
          </a:r>
        </a:p>
      </dgm:t>
    </dgm:pt>
    <dgm:pt modelId="{FCCE8647-096B-40A3-918B-E57B79219C0A}" type="parTrans" cxnId="{BDC9F3EC-424E-404E-A7BB-08AAE5B368C8}">
      <dgm:prSet/>
      <dgm:spPr/>
      <dgm:t>
        <a:bodyPr/>
        <a:lstStyle/>
        <a:p>
          <a:endParaRPr lang="es-ES"/>
        </a:p>
      </dgm:t>
    </dgm:pt>
    <dgm:pt modelId="{A518CFF0-48DA-42F9-AE94-B86EE998623F}" type="sibTrans" cxnId="{BDC9F3EC-424E-404E-A7BB-08AAE5B368C8}">
      <dgm:prSet/>
      <dgm:spPr/>
      <dgm:t>
        <a:bodyPr/>
        <a:lstStyle/>
        <a:p>
          <a:endParaRPr lang="es-ES"/>
        </a:p>
      </dgm:t>
    </dgm:pt>
    <dgm:pt modelId="{7AD7BDFD-0769-4D7D-A5E3-EB501E5CE2FF}">
      <dgm:prSet phldrT="[Texto]"/>
      <dgm:spPr/>
      <dgm:t>
        <a:bodyPr/>
        <a:lstStyle/>
        <a:p>
          <a:r>
            <a:rPr lang="es-ES" b="0" i="0" dirty="0"/>
            <a:t>Se propaga en sistemas de IA como </a:t>
          </a:r>
          <a:r>
            <a:rPr lang="es-ES" b="0" i="0" dirty="0" err="1"/>
            <a:t>ChatGPT</a:t>
          </a:r>
          <a:r>
            <a:rPr lang="es-ES" b="0" i="0" dirty="0"/>
            <a:t> y Gemini.</a:t>
          </a:r>
          <a:endParaRPr lang="es-ES" dirty="0"/>
        </a:p>
      </dgm:t>
    </dgm:pt>
    <dgm:pt modelId="{D7E467CC-F865-416F-8E36-E1999C723185}" type="parTrans" cxnId="{9038047B-2C6C-482B-8576-74854346292B}">
      <dgm:prSet/>
      <dgm:spPr/>
      <dgm:t>
        <a:bodyPr/>
        <a:lstStyle/>
        <a:p>
          <a:endParaRPr lang="es-ES"/>
        </a:p>
      </dgm:t>
    </dgm:pt>
    <dgm:pt modelId="{E32072E2-6855-40F0-8C48-D1CB38BAC0D1}" type="sibTrans" cxnId="{9038047B-2C6C-482B-8576-74854346292B}">
      <dgm:prSet/>
      <dgm:spPr/>
      <dgm:t>
        <a:bodyPr/>
        <a:lstStyle/>
        <a:p>
          <a:endParaRPr lang="es-ES"/>
        </a:p>
      </dgm:t>
    </dgm:pt>
    <dgm:pt modelId="{CFACF6FA-0A81-4E7A-AA87-AB75FB70B8A6}" type="pres">
      <dgm:prSet presAssocID="{44ADCF50-F774-4FF4-AAC9-928D702EEF9A}" presName="vert0" presStyleCnt="0">
        <dgm:presLayoutVars>
          <dgm:dir/>
          <dgm:animOne val="branch"/>
          <dgm:animLvl val="lvl"/>
        </dgm:presLayoutVars>
      </dgm:prSet>
      <dgm:spPr/>
    </dgm:pt>
    <dgm:pt modelId="{E47D3AF4-77C7-4A50-8B30-AE7C681C6D5C}" type="pres">
      <dgm:prSet presAssocID="{E4892FD6-5287-48D7-B590-852FC1FF353C}" presName="thickLine" presStyleLbl="alignNode1" presStyleIdx="0" presStyleCnt="1"/>
      <dgm:spPr/>
    </dgm:pt>
    <dgm:pt modelId="{6DC8927A-CC65-43F1-91AB-E9F93B273EFA}" type="pres">
      <dgm:prSet presAssocID="{E4892FD6-5287-48D7-B590-852FC1FF353C}" presName="horz1" presStyleCnt="0"/>
      <dgm:spPr/>
    </dgm:pt>
    <dgm:pt modelId="{915A2F52-BCBA-41C9-9A8A-BC55C542F191}" type="pres">
      <dgm:prSet presAssocID="{E4892FD6-5287-48D7-B590-852FC1FF353C}" presName="tx1" presStyleLbl="revTx" presStyleIdx="0" presStyleCnt="4"/>
      <dgm:spPr/>
    </dgm:pt>
    <dgm:pt modelId="{67A5B21D-F7F7-4789-AB29-BA3081018C38}" type="pres">
      <dgm:prSet presAssocID="{E4892FD6-5287-48D7-B590-852FC1FF353C}" presName="vert1" presStyleCnt="0"/>
      <dgm:spPr/>
    </dgm:pt>
    <dgm:pt modelId="{AD36C99F-1F1F-4196-A1D7-1A9AD4D351EC}" type="pres">
      <dgm:prSet presAssocID="{0661008B-497B-4770-ABF3-6A0F5CBC2CB9}" presName="vertSpace2a" presStyleCnt="0"/>
      <dgm:spPr/>
    </dgm:pt>
    <dgm:pt modelId="{13720083-8E66-47BF-A1A6-2A2726651243}" type="pres">
      <dgm:prSet presAssocID="{0661008B-497B-4770-ABF3-6A0F5CBC2CB9}" presName="horz2" presStyleCnt="0"/>
      <dgm:spPr/>
    </dgm:pt>
    <dgm:pt modelId="{2778E769-1772-4659-9224-CE2E23153D8F}" type="pres">
      <dgm:prSet presAssocID="{0661008B-497B-4770-ABF3-6A0F5CBC2CB9}" presName="horzSpace2" presStyleCnt="0"/>
      <dgm:spPr/>
    </dgm:pt>
    <dgm:pt modelId="{A930E3EE-55CE-4C63-A847-359223A2EDE6}" type="pres">
      <dgm:prSet presAssocID="{0661008B-497B-4770-ABF3-6A0F5CBC2CB9}" presName="tx2" presStyleLbl="revTx" presStyleIdx="1" presStyleCnt="4"/>
      <dgm:spPr/>
    </dgm:pt>
    <dgm:pt modelId="{AFE3371C-0711-42F1-99D9-C6211E3DCBA3}" type="pres">
      <dgm:prSet presAssocID="{0661008B-497B-4770-ABF3-6A0F5CBC2CB9}" presName="vert2" presStyleCnt="0"/>
      <dgm:spPr/>
    </dgm:pt>
    <dgm:pt modelId="{E42467EB-F3C8-49A3-8681-A997B7CD1133}" type="pres">
      <dgm:prSet presAssocID="{0661008B-497B-4770-ABF3-6A0F5CBC2CB9}" presName="thinLine2b" presStyleLbl="callout" presStyleIdx="0" presStyleCnt="3"/>
      <dgm:spPr/>
    </dgm:pt>
    <dgm:pt modelId="{E7BCAA66-C733-4663-ABEB-545364568BB9}" type="pres">
      <dgm:prSet presAssocID="{0661008B-497B-4770-ABF3-6A0F5CBC2CB9}" presName="vertSpace2b" presStyleCnt="0"/>
      <dgm:spPr/>
    </dgm:pt>
    <dgm:pt modelId="{2F92C072-3301-43AD-9E60-5AED5AF1D802}" type="pres">
      <dgm:prSet presAssocID="{7AD7BDFD-0769-4D7D-A5E3-EB501E5CE2FF}" presName="horz2" presStyleCnt="0"/>
      <dgm:spPr/>
    </dgm:pt>
    <dgm:pt modelId="{8C1FD233-1E2D-42B0-A05B-EA9EF1ABE8AC}" type="pres">
      <dgm:prSet presAssocID="{7AD7BDFD-0769-4D7D-A5E3-EB501E5CE2FF}" presName="horzSpace2" presStyleCnt="0"/>
      <dgm:spPr/>
    </dgm:pt>
    <dgm:pt modelId="{9C34EC5D-226E-4224-BC6E-42263F23E5BD}" type="pres">
      <dgm:prSet presAssocID="{7AD7BDFD-0769-4D7D-A5E3-EB501E5CE2FF}" presName="tx2" presStyleLbl="revTx" presStyleIdx="2" presStyleCnt="4"/>
      <dgm:spPr/>
    </dgm:pt>
    <dgm:pt modelId="{8B272A85-5757-48EA-AFC1-42B16487012F}" type="pres">
      <dgm:prSet presAssocID="{7AD7BDFD-0769-4D7D-A5E3-EB501E5CE2FF}" presName="vert2" presStyleCnt="0"/>
      <dgm:spPr/>
    </dgm:pt>
    <dgm:pt modelId="{63DE359B-6825-4A95-A010-254DB7CB6492}" type="pres">
      <dgm:prSet presAssocID="{7AD7BDFD-0769-4D7D-A5E3-EB501E5CE2FF}" presName="thinLine2b" presStyleLbl="callout" presStyleIdx="1" presStyleCnt="3"/>
      <dgm:spPr/>
    </dgm:pt>
    <dgm:pt modelId="{1C3F56BB-0919-4A6E-AA5D-8D5483DBD5A7}" type="pres">
      <dgm:prSet presAssocID="{7AD7BDFD-0769-4D7D-A5E3-EB501E5CE2FF}" presName="vertSpace2b" presStyleCnt="0"/>
      <dgm:spPr/>
    </dgm:pt>
    <dgm:pt modelId="{78CDC208-595C-49DA-A4ED-91AA787739F1}" type="pres">
      <dgm:prSet presAssocID="{A3D4BFD8-A92A-4BFC-924C-660B6C3FCB11}" presName="horz2" presStyleCnt="0"/>
      <dgm:spPr/>
    </dgm:pt>
    <dgm:pt modelId="{F5246F96-F3A0-4F6C-86D0-CDF26FB4261A}" type="pres">
      <dgm:prSet presAssocID="{A3D4BFD8-A92A-4BFC-924C-660B6C3FCB11}" presName="horzSpace2" presStyleCnt="0"/>
      <dgm:spPr/>
    </dgm:pt>
    <dgm:pt modelId="{3228B150-90B7-4319-9B5A-E2E500131240}" type="pres">
      <dgm:prSet presAssocID="{A3D4BFD8-A92A-4BFC-924C-660B6C3FCB11}" presName="tx2" presStyleLbl="revTx" presStyleIdx="3" presStyleCnt="4"/>
      <dgm:spPr/>
    </dgm:pt>
    <dgm:pt modelId="{6E690F8F-F511-46E9-B4AA-684670AD763B}" type="pres">
      <dgm:prSet presAssocID="{A3D4BFD8-A92A-4BFC-924C-660B6C3FCB11}" presName="vert2" presStyleCnt="0"/>
      <dgm:spPr/>
    </dgm:pt>
    <dgm:pt modelId="{D78F2C23-B9D5-4704-98EA-F54A4930F880}" type="pres">
      <dgm:prSet presAssocID="{A3D4BFD8-A92A-4BFC-924C-660B6C3FCB11}" presName="thinLine2b" presStyleLbl="callout" presStyleIdx="2" presStyleCnt="3"/>
      <dgm:spPr/>
    </dgm:pt>
    <dgm:pt modelId="{3F678233-0B7E-487C-8308-8677CAFFDBC2}" type="pres">
      <dgm:prSet presAssocID="{A3D4BFD8-A92A-4BFC-924C-660B6C3FCB11}" presName="vertSpace2b" presStyleCnt="0"/>
      <dgm:spPr/>
    </dgm:pt>
  </dgm:ptLst>
  <dgm:cxnLst>
    <dgm:cxn modelId="{EB56BE17-11CC-4A4E-A809-8B811EC610C3}" srcId="{44ADCF50-F774-4FF4-AAC9-928D702EEF9A}" destId="{E4892FD6-5287-48D7-B590-852FC1FF353C}" srcOrd="0" destOrd="0" parTransId="{1822120E-09A6-497B-A5A5-F84421EEC623}" sibTransId="{3E7DDE1A-105E-4D28-8349-184FCDBA80A6}"/>
    <dgm:cxn modelId="{A1566D18-2495-4D9B-9E5C-871BD1D97901}" type="presOf" srcId="{7AD7BDFD-0769-4D7D-A5E3-EB501E5CE2FF}" destId="{9C34EC5D-226E-4224-BC6E-42263F23E5BD}" srcOrd="0" destOrd="0" presId="urn:microsoft.com/office/officeart/2008/layout/LinedList"/>
    <dgm:cxn modelId="{73DF185B-4DF9-4608-BCC4-C4322DCB610F}" srcId="{E4892FD6-5287-48D7-B590-852FC1FF353C}" destId="{0661008B-497B-4770-ABF3-6A0F5CBC2CB9}" srcOrd="0" destOrd="0" parTransId="{AE62994C-CC41-4402-A754-0303C8852851}" sibTransId="{BEAD7434-CB63-4EF8-9779-AD8F36FC96D1}"/>
    <dgm:cxn modelId="{6393766B-5E74-4CF2-94E4-4C758B5A7DCB}" type="presOf" srcId="{A3D4BFD8-A92A-4BFC-924C-660B6C3FCB11}" destId="{3228B150-90B7-4319-9B5A-E2E500131240}" srcOrd="0" destOrd="0" presId="urn:microsoft.com/office/officeart/2008/layout/LinedList"/>
    <dgm:cxn modelId="{70A9AB4F-2158-4C7C-AF97-BAEF6A693BE9}" type="presOf" srcId="{0661008B-497B-4770-ABF3-6A0F5CBC2CB9}" destId="{A930E3EE-55CE-4C63-A847-359223A2EDE6}" srcOrd="0" destOrd="0" presId="urn:microsoft.com/office/officeart/2008/layout/LinedList"/>
    <dgm:cxn modelId="{A680AC59-28ED-4001-ABA7-B4C9B54EC54F}" type="presOf" srcId="{44ADCF50-F774-4FF4-AAC9-928D702EEF9A}" destId="{CFACF6FA-0A81-4E7A-AA87-AB75FB70B8A6}" srcOrd="0" destOrd="0" presId="urn:microsoft.com/office/officeart/2008/layout/LinedList"/>
    <dgm:cxn modelId="{9038047B-2C6C-482B-8576-74854346292B}" srcId="{E4892FD6-5287-48D7-B590-852FC1FF353C}" destId="{7AD7BDFD-0769-4D7D-A5E3-EB501E5CE2FF}" srcOrd="1" destOrd="0" parTransId="{D7E467CC-F865-416F-8E36-E1999C723185}" sibTransId="{E32072E2-6855-40F0-8C48-D1CB38BAC0D1}"/>
    <dgm:cxn modelId="{8B983DC0-5552-418D-A456-D6F9DC3291F0}" type="presOf" srcId="{E4892FD6-5287-48D7-B590-852FC1FF353C}" destId="{915A2F52-BCBA-41C9-9A8A-BC55C542F191}" srcOrd="0" destOrd="0" presId="urn:microsoft.com/office/officeart/2008/layout/LinedList"/>
    <dgm:cxn modelId="{BDC9F3EC-424E-404E-A7BB-08AAE5B368C8}" srcId="{E4892FD6-5287-48D7-B590-852FC1FF353C}" destId="{A3D4BFD8-A92A-4BFC-924C-660B6C3FCB11}" srcOrd="2" destOrd="0" parTransId="{FCCE8647-096B-40A3-918B-E57B79219C0A}" sibTransId="{A518CFF0-48DA-42F9-AE94-B86EE998623F}"/>
    <dgm:cxn modelId="{30BF938B-27ED-43C1-B21B-FF9A43087FC1}" type="presParOf" srcId="{CFACF6FA-0A81-4E7A-AA87-AB75FB70B8A6}" destId="{E47D3AF4-77C7-4A50-8B30-AE7C681C6D5C}" srcOrd="0" destOrd="0" presId="urn:microsoft.com/office/officeart/2008/layout/LinedList"/>
    <dgm:cxn modelId="{E8DE782E-6DB9-48A1-B94E-E6C2678C50A7}" type="presParOf" srcId="{CFACF6FA-0A81-4E7A-AA87-AB75FB70B8A6}" destId="{6DC8927A-CC65-43F1-91AB-E9F93B273EFA}" srcOrd="1" destOrd="0" presId="urn:microsoft.com/office/officeart/2008/layout/LinedList"/>
    <dgm:cxn modelId="{BB4922B8-BFD0-418C-AB7E-8ECB16BAF2D5}" type="presParOf" srcId="{6DC8927A-CC65-43F1-91AB-E9F93B273EFA}" destId="{915A2F52-BCBA-41C9-9A8A-BC55C542F191}" srcOrd="0" destOrd="0" presId="urn:microsoft.com/office/officeart/2008/layout/LinedList"/>
    <dgm:cxn modelId="{700653A2-4A33-4251-996B-F7F25AA596B5}" type="presParOf" srcId="{6DC8927A-CC65-43F1-91AB-E9F93B273EFA}" destId="{67A5B21D-F7F7-4789-AB29-BA3081018C38}" srcOrd="1" destOrd="0" presId="urn:microsoft.com/office/officeart/2008/layout/LinedList"/>
    <dgm:cxn modelId="{330C24D0-2F57-4973-87F0-E0AA2AF58387}" type="presParOf" srcId="{67A5B21D-F7F7-4789-AB29-BA3081018C38}" destId="{AD36C99F-1F1F-4196-A1D7-1A9AD4D351EC}" srcOrd="0" destOrd="0" presId="urn:microsoft.com/office/officeart/2008/layout/LinedList"/>
    <dgm:cxn modelId="{DE9656E3-885E-4B69-A7D2-A1CC45693F6C}" type="presParOf" srcId="{67A5B21D-F7F7-4789-AB29-BA3081018C38}" destId="{13720083-8E66-47BF-A1A6-2A2726651243}" srcOrd="1" destOrd="0" presId="urn:microsoft.com/office/officeart/2008/layout/LinedList"/>
    <dgm:cxn modelId="{C788B704-BB49-49A5-B35F-E99FB6296947}" type="presParOf" srcId="{13720083-8E66-47BF-A1A6-2A2726651243}" destId="{2778E769-1772-4659-9224-CE2E23153D8F}" srcOrd="0" destOrd="0" presId="urn:microsoft.com/office/officeart/2008/layout/LinedList"/>
    <dgm:cxn modelId="{5DADFA1D-AD1E-4DD5-9547-8AF6FFCC7773}" type="presParOf" srcId="{13720083-8E66-47BF-A1A6-2A2726651243}" destId="{A930E3EE-55CE-4C63-A847-359223A2EDE6}" srcOrd="1" destOrd="0" presId="urn:microsoft.com/office/officeart/2008/layout/LinedList"/>
    <dgm:cxn modelId="{758F01A5-5DCF-44BB-A72F-03EE75FCF1E4}" type="presParOf" srcId="{13720083-8E66-47BF-A1A6-2A2726651243}" destId="{AFE3371C-0711-42F1-99D9-C6211E3DCBA3}" srcOrd="2" destOrd="0" presId="urn:microsoft.com/office/officeart/2008/layout/LinedList"/>
    <dgm:cxn modelId="{E0B48118-1471-46A1-96C8-7468EFA28173}" type="presParOf" srcId="{67A5B21D-F7F7-4789-AB29-BA3081018C38}" destId="{E42467EB-F3C8-49A3-8681-A997B7CD1133}" srcOrd="2" destOrd="0" presId="urn:microsoft.com/office/officeart/2008/layout/LinedList"/>
    <dgm:cxn modelId="{D9706655-D9CE-4757-8261-734F135A7949}" type="presParOf" srcId="{67A5B21D-F7F7-4789-AB29-BA3081018C38}" destId="{E7BCAA66-C733-4663-ABEB-545364568BB9}" srcOrd="3" destOrd="0" presId="urn:microsoft.com/office/officeart/2008/layout/LinedList"/>
    <dgm:cxn modelId="{54D9D3F1-FB93-4574-A6F7-B593A361922C}" type="presParOf" srcId="{67A5B21D-F7F7-4789-AB29-BA3081018C38}" destId="{2F92C072-3301-43AD-9E60-5AED5AF1D802}" srcOrd="4" destOrd="0" presId="urn:microsoft.com/office/officeart/2008/layout/LinedList"/>
    <dgm:cxn modelId="{75176D46-9D8E-48CE-927F-4026093F996E}" type="presParOf" srcId="{2F92C072-3301-43AD-9E60-5AED5AF1D802}" destId="{8C1FD233-1E2D-42B0-A05B-EA9EF1ABE8AC}" srcOrd="0" destOrd="0" presId="urn:microsoft.com/office/officeart/2008/layout/LinedList"/>
    <dgm:cxn modelId="{27813C06-B5CE-444E-8F6E-9DDD281B994A}" type="presParOf" srcId="{2F92C072-3301-43AD-9E60-5AED5AF1D802}" destId="{9C34EC5D-226E-4224-BC6E-42263F23E5BD}" srcOrd="1" destOrd="0" presId="urn:microsoft.com/office/officeart/2008/layout/LinedList"/>
    <dgm:cxn modelId="{3A784CEF-9DAB-436F-A040-CA54D61BDB38}" type="presParOf" srcId="{2F92C072-3301-43AD-9E60-5AED5AF1D802}" destId="{8B272A85-5757-48EA-AFC1-42B16487012F}" srcOrd="2" destOrd="0" presId="urn:microsoft.com/office/officeart/2008/layout/LinedList"/>
    <dgm:cxn modelId="{852357AF-7D06-4EE0-88F2-976751B1509E}" type="presParOf" srcId="{67A5B21D-F7F7-4789-AB29-BA3081018C38}" destId="{63DE359B-6825-4A95-A010-254DB7CB6492}" srcOrd="5" destOrd="0" presId="urn:microsoft.com/office/officeart/2008/layout/LinedList"/>
    <dgm:cxn modelId="{E956D3A2-137E-482B-A7EF-7BE3CBC29607}" type="presParOf" srcId="{67A5B21D-F7F7-4789-AB29-BA3081018C38}" destId="{1C3F56BB-0919-4A6E-AA5D-8D5483DBD5A7}" srcOrd="6" destOrd="0" presId="urn:microsoft.com/office/officeart/2008/layout/LinedList"/>
    <dgm:cxn modelId="{83C9320C-B026-475F-ABFB-4AD325210053}" type="presParOf" srcId="{67A5B21D-F7F7-4789-AB29-BA3081018C38}" destId="{78CDC208-595C-49DA-A4ED-91AA787739F1}" srcOrd="7" destOrd="0" presId="urn:microsoft.com/office/officeart/2008/layout/LinedList"/>
    <dgm:cxn modelId="{D0ACAC5C-ABBD-43F5-9DB9-2C5411EA83F8}" type="presParOf" srcId="{78CDC208-595C-49DA-A4ED-91AA787739F1}" destId="{F5246F96-F3A0-4F6C-86D0-CDF26FB4261A}" srcOrd="0" destOrd="0" presId="urn:microsoft.com/office/officeart/2008/layout/LinedList"/>
    <dgm:cxn modelId="{DA77BAB2-D8D4-4A88-90F4-025499A7F063}" type="presParOf" srcId="{78CDC208-595C-49DA-A4ED-91AA787739F1}" destId="{3228B150-90B7-4319-9B5A-E2E500131240}" srcOrd="1" destOrd="0" presId="urn:microsoft.com/office/officeart/2008/layout/LinedList"/>
    <dgm:cxn modelId="{BB2CE77B-8974-47E3-8429-69CEE27704A8}" type="presParOf" srcId="{78CDC208-595C-49DA-A4ED-91AA787739F1}" destId="{6E690F8F-F511-46E9-B4AA-684670AD763B}" srcOrd="2" destOrd="0" presId="urn:microsoft.com/office/officeart/2008/layout/LinedList"/>
    <dgm:cxn modelId="{58A26103-EA84-4AB0-AF6F-3C47AA003CD0}" type="presParOf" srcId="{67A5B21D-F7F7-4789-AB29-BA3081018C38}" destId="{D78F2C23-B9D5-4704-98EA-F54A4930F880}" srcOrd="8" destOrd="0" presId="urn:microsoft.com/office/officeart/2008/layout/LinedList"/>
    <dgm:cxn modelId="{3A6D1190-E4B1-44C7-A3E7-9B9485343C54}" type="presParOf" srcId="{67A5B21D-F7F7-4789-AB29-BA3081018C38}" destId="{3F678233-0B7E-487C-8308-8677CAFFDBC2}" srcOrd="9"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E3A06C-3F39-4C10-A54D-B1A54AFDE32C}"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04756E97-EC3A-473E-8999-3333575E2122}">
      <dgm:prSet phldrT="[Texto]"/>
      <dgm:spPr/>
      <dgm:t>
        <a:bodyPr/>
        <a:lstStyle/>
        <a:p>
          <a:r>
            <a:rPr lang="es-ES" dirty="0"/>
            <a:t>Informe sobre </a:t>
          </a:r>
          <a:r>
            <a:rPr lang="es-ES" dirty="0" err="1"/>
            <a:t>crimeware</a:t>
          </a:r>
          <a:r>
            <a:rPr lang="es-ES" dirty="0"/>
            <a:t> y las predicciones para 2024</a:t>
          </a:r>
        </a:p>
      </dgm:t>
    </dgm:pt>
    <dgm:pt modelId="{E7625E2F-98F8-4DD4-B341-47E6F848D8E8}" type="parTrans" cxnId="{1A60328B-86C3-4E77-A945-2AEA2DB0DEAA}">
      <dgm:prSet/>
      <dgm:spPr/>
      <dgm:t>
        <a:bodyPr/>
        <a:lstStyle/>
        <a:p>
          <a:endParaRPr lang="es-ES"/>
        </a:p>
      </dgm:t>
    </dgm:pt>
    <dgm:pt modelId="{6FB7A925-A6B9-4075-AEC9-BAE5A802FAB7}" type="sibTrans" cxnId="{1A60328B-86C3-4E77-A945-2AEA2DB0DEAA}">
      <dgm:prSet/>
      <dgm:spPr/>
      <dgm:t>
        <a:bodyPr/>
        <a:lstStyle/>
        <a:p>
          <a:endParaRPr lang="es-ES"/>
        </a:p>
      </dgm:t>
    </dgm:pt>
    <dgm:pt modelId="{55FF8F9D-238B-48E1-A97B-C7671CFE01EE}">
      <dgm:prSet phldrT="[Texto]"/>
      <dgm:spPr/>
      <dgm:t>
        <a:bodyPr/>
        <a:lstStyle/>
        <a:p>
          <a:r>
            <a:rPr lang="es-ES" dirty="0"/>
            <a:t>Mayor explotación de los troyanos bancarios en móviles.</a:t>
          </a:r>
        </a:p>
      </dgm:t>
    </dgm:pt>
    <dgm:pt modelId="{C792DC32-BF14-46A3-BF25-1137C0A3FAB7}" type="parTrans" cxnId="{192793B0-D2AE-4C7F-BC85-2AF55627251E}">
      <dgm:prSet/>
      <dgm:spPr/>
      <dgm:t>
        <a:bodyPr/>
        <a:lstStyle/>
        <a:p>
          <a:endParaRPr lang="es-ES"/>
        </a:p>
      </dgm:t>
    </dgm:pt>
    <dgm:pt modelId="{EF5BD1FC-171B-489B-A773-6D601A82D4CC}" type="sibTrans" cxnId="{192793B0-D2AE-4C7F-BC85-2AF55627251E}">
      <dgm:prSet/>
      <dgm:spPr/>
      <dgm:t>
        <a:bodyPr/>
        <a:lstStyle/>
        <a:p>
          <a:endParaRPr lang="es-ES"/>
        </a:p>
      </dgm:t>
    </dgm:pt>
    <dgm:pt modelId="{DDC76908-BE57-4A0E-B081-D5AE52196C5A}">
      <dgm:prSet phldrT="[Texto]"/>
      <dgm:spPr/>
      <dgm:t>
        <a:bodyPr/>
        <a:lstStyle/>
        <a:p>
          <a:r>
            <a:rPr lang="es-ES" dirty="0"/>
            <a:t> Familias como ‘</a:t>
          </a:r>
          <a:r>
            <a:rPr lang="es-ES" dirty="0" err="1"/>
            <a:t>Grandoreiro</a:t>
          </a:r>
          <a:r>
            <a:rPr lang="es-ES" dirty="0"/>
            <a:t>’ ya se han expandido desde Brasil a otras regiones, amenazando a más de 900 bancos de 40 países.</a:t>
          </a:r>
        </a:p>
      </dgm:t>
    </dgm:pt>
    <dgm:pt modelId="{B32D681F-5AA9-496B-B21F-55421E37907D}" type="parTrans" cxnId="{962C50B0-E647-46C6-A526-772900E0AC7F}">
      <dgm:prSet/>
      <dgm:spPr/>
      <dgm:t>
        <a:bodyPr/>
        <a:lstStyle/>
        <a:p>
          <a:endParaRPr lang="es-ES"/>
        </a:p>
      </dgm:t>
    </dgm:pt>
    <dgm:pt modelId="{41D156CA-1F73-440C-ACD2-9A3253F26795}" type="sibTrans" cxnId="{962C50B0-E647-46C6-A526-772900E0AC7F}">
      <dgm:prSet/>
      <dgm:spPr/>
      <dgm:t>
        <a:bodyPr/>
        <a:lstStyle/>
        <a:p>
          <a:endParaRPr lang="es-ES"/>
        </a:p>
      </dgm:t>
    </dgm:pt>
    <dgm:pt modelId="{B9872C9B-09B7-4F37-BE0F-048A46650ED1}" type="pres">
      <dgm:prSet presAssocID="{5BE3A06C-3F39-4C10-A54D-B1A54AFDE32C}" presName="linear" presStyleCnt="0">
        <dgm:presLayoutVars>
          <dgm:dir/>
          <dgm:resizeHandles val="exact"/>
        </dgm:presLayoutVars>
      </dgm:prSet>
      <dgm:spPr/>
    </dgm:pt>
    <dgm:pt modelId="{4A985DB9-33AD-4DC2-A947-CC906526225C}" type="pres">
      <dgm:prSet presAssocID="{04756E97-EC3A-473E-8999-3333575E2122}" presName="comp" presStyleCnt="0"/>
      <dgm:spPr/>
    </dgm:pt>
    <dgm:pt modelId="{E93CEE31-7427-49C6-A9D0-D023D25E26A8}" type="pres">
      <dgm:prSet presAssocID="{04756E97-EC3A-473E-8999-3333575E2122}" presName="box" presStyleLbl="node1" presStyleIdx="0" presStyleCnt="1" custLinFactNeighborY="-8289"/>
      <dgm:spPr/>
    </dgm:pt>
    <dgm:pt modelId="{02D64116-B629-4CA9-AF5B-F193FC2CFE22}" type="pres">
      <dgm:prSet presAssocID="{04756E97-EC3A-473E-8999-3333575E2122}" presName="img" presStyleLbl="fgImgPlace1" presStyleIdx="0" presStyleCnt="1"/>
      <dgm:spPr>
        <a:blipFill rotWithShape="1">
          <a:blip xmlns:r="http://schemas.openxmlformats.org/officeDocument/2006/relationships" r:embed="rId1"/>
          <a:srcRect/>
          <a:stretch>
            <a:fillRect t="-27000" b="-27000"/>
          </a:stretch>
        </a:blipFill>
      </dgm:spPr>
    </dgm:pt>
    <dgm:pt modelId="{0CFD8E62-9C6B-47C5-A86C-7C1E7FF05A84}" type="pres">
      <dgm:prSet presAssocID="{04756E97-EC3A-473E-8999-3333575E2122}" presName="text" presStyleLbl="node1" presStyleIdx="0" presStyleCnt="1">
        <dgm:presLayoutVars>
          <dgm:bulletEnabled val="1"/>
        </dgm:presLayoutVars>
      </dgm:prSet>
      <dgm:spPr/>
    </dgm:pt>
  </dgm:ptLst>
  <dgm:cxnLst>
    <dgm:cxn modelId="{0DB0301D-FB77-4C25-84C7-A22EF6521F5A}" type="presOf" srcId="{04756E97-EC3A-473E-8999-3333575E2122}" destId="{E93CEE31-7427-49C6-A9D0-D023D25E26A8}" srcOrd="0" destOrd="0" presId="urn:microsoft.com/office/officeart/2005/8/layout/vList4"/>
    <dgm:cxn modelId="{20431A29-DF76-4B83-81B8-D341A2FB1651}" type="presOf" srcId="{55FF8F9D-238B-48E1-A97B-C7671CFE01EE}" destId="{0CFD8E62-9C6B-47C5-A86C-7C1E7FF05A84}" srcOrd="1" destOrd="1" presId="urn:microsoft.com/office/officeart/2005/8/layout/vList4"/>
    <dgm:cxn modelId="{2C23A575-4282-4C62-84B8-C9A8F97D499D}" type="presOf" srcId="{04756E97-EC3A-473E-8999-3333575E2122}" destId="{0CFD8E62-9C6B-47C5-A86C-7C1E7FF05A84}" srcOrd="1" destOrd="0" presId="urn:microsoft.com/office/officeart/2005/8/layout/vList4"/>
    <dgm:cxn modelId="{1A60328B-86C3-4E77-A945-2AEA2DB0DEAA}" srcId="{5BE3A06C-3F39-4C10-A54D-B1A54AFDE32C}" destId="{04756E97-EC3A-473E-8999-3333575E2122}" srcOrd="0" destOrd="0" parTransId="{E7625E2F-98F8-4DD4-B341-47E6F848D8E8}" sibTransId="{6FB7A925-A6B9-4075-AEC9-BAE5A802FAB7}"/>
    <dgm:cxn modelId="{DCE25393-F2BB-4CF5-83A4-983E6A32C3C8}" type="presOf" srcId="{5BE3A06C-3F39-4C10-A54D-B1A54AFDE32C}" destId="{B9872C9B-09B7-4F37-BE0F-048A46650ED1}" srcOrd="0" destOrd="0" presId="urn:microsoft.com/office/officeart/2005/8/layout/vList4"/>
    <dgm:cxn modelId="{0204E9A9-50D6-4AA2-9412-3541EF62C4B6}" type="presOf" srcId="{DDC76908-BE57-4A0E-B081-D5AE52196C5A}" destId="{0CFD8E62-9C6B-47C5-A86C-7C1E7FF05A84}" srcOrd="1" destOrd="2" presId="urn:microsoft.com/office/officeart/2005/8/layout/vList4"/>
    <dgm:cxn modelId="{962C50B0-E647-46C6-A526-772900E0AC7F}" srcId="{04756E97-EC3A-473E-8999-3333575E2122}" destId="{DDC76908-BE57-4A0E-B081-D5AE52196C5A}" srcOrd="1" destOrd="0" parTransId="{B32D681F-5AA9-496B-B21F-55421E37907D}" sibTransId="{41D156CA-1F73-440C-ACD2-9A3253F26795}"/>
    <dgm:cxn modelId="{192793B0-D2AE-4C7F-BC85-2AF55627251E}" srcId="{04756E97-EC3A-473E-8999-3333575E2122}" destId="{55FF8F9D-238B-48E1-A97B-C7671CFE01EE}" srcOrd="0" destOrd="0" parTransId="{C792DC32-BF14-46A3-BF25-1137C0A3FAB7}" sibTransId="{EF5BD1FC-171B-489B-A773-6D601A82D4CC}"/>
    <dgm:cxn modelId="{2E0453B3-AC8B-455F-B3FF-80F427652EA2}" type="presOf" srcId="{DDC76908-BE57-4A0E-B081-D5AE52196C5A}" destId="{E93CEE31-7427-49C6-A9D0-D023D25E26A8}" srcOrd="0" destOrd="2" presId="urn:microsoft.com/office/officeart/2005/8/layout/vList4"/>
    <dgm:cxn modelId="{6B2BA6BF-C005-4150-83D1-A8DB9EF31BD6}" type="presOf" srcId="{55FF8F9D-238B-48E1-A97B-C7671CFE01EE}" destId="{E93CEE31-7427-49C6-A9D0-D023D25E26A8}" srcOrd="0" destOrd="1" presId="urn:microsoft.com/office/officeart/2005/8/layout/vList4"/>
    <dgm:cxn modelId="{CC248D93-8ADE-4E6C-9517-D05C7919846C}" type="presParOf" srcId="{B9872C9B-09B7-4F37-BE0F-048A46650ED1}" destId="{4A985DB9-33AD-4DC2-A947-CC906526225C}" srcOrd="0" destOrd="0" presId="urn:microsoft.com/office/officeart/2005/8/layout/vList4"/>
    <dgm:cxn modelId="{BAF6C5C9-4FE0-470A-BE6F-4ED4F064561A}" type="presParOf" srcId="{4A985DB9-33AD-4DC2-A947-CC906526225C}" destId="{E93CEE31-7427-49C6-A9D0-D023D25E26A8}" srcOrd="0" destOrd="0" presId="urn:microsoft.com/office/officeart/2005/8/layout/vList4"/>
    <dgm:cxn modelId="{40CE5FF5-F847-452C-BFC3-87915C337033}" type="presParOf" srcId="{4A985DB9-33AD-4DC2-A947-CC906526225C}" destId="{02D64116-B629-4CA9-AF5B-F193FC2CFE22}" srcOrd="1" destOrd="0" presId="urn:microsoft.com/office/officeart/2005/8/layout/vList4"/>
    <dgm:cxn modelId="{1948C404-0F3F-427E-92F2-9219D45FEF57}" type="presParOf" srcId="{4A985DB9-33AD-4DC2-A947-CC906526225C}" destId="{0CFD8E62-9C6B-47C5-A86C-7C1E7FF05A8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7027AE7-7DAB-4736-B742-5A0140DDE8A1}"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s-ES"/>
        </a:p>
      </dgm:t>
    </dgm:pt>
    <dgm:pt modelId="{42BA6902-7825-4533-A81C-AF3AD2AB8660}">
      <dgm:prSet phldrT="[Texto]"/>
      <dgm:spPr/>
      <dgm:t>
        <a:bodyPr/>
        <a:lstStyle/>
        <a:p>
          <a:r>
            <a:rPr lang="es-ES" dirty="0" err="1"/>
            <a:t>Grandoreiro</a:t>
          </a:r>
          <a:endParaRPr lang="es-ES" dirty="0"/>
        </a:p>
      </dgm:t>
    </dgm:pt>
    <dgm:pt modelId="{B6E17A03-C9D3-429C-90D1-9E18FFD36A13}" type="parTrans" cxnId="{B72A9C87-2720-4D7A-B778-AD69EB34F26C}">
      <dgm:prSet/>
      <dgm:spPr/>
      <dgm:t>
        <a:bodyPr/>
        <a:lstStyle/>
        <a:p>
          <a:endParaRPr lang="es-ES"/>
        </a:p>
      </dgm:t>
    </dgm:pt>
    <dgm:pt modelId="{64900867-EE9C-4CF1-B25C-86B1AA30C7B5}" type="sibTrans" cxnId="{B72A9C87-2720-4D7A-B778-AD69EB34F26C}">
      <dgm:prSet/>
      <dgm:spPr/>
      <dgm:t>
        <a:bodyPr/>
        <a:lstStyle/>
        <a:p>
          <a:endParaRPr lang="es-ES"/>
        </a:p>
      </dgm:t>
    </dgm:pt>
    <dgm:pt modelId="{5ACA8DAF-3A6C-4BAF-BE7B-44B5504F20AD}">
      <dgm:prSet phldrT="[Texto]"/>
      <dgm:spPr/>
      <dgm:t>
        <a:bodyPr/>
        <a:lstStyle/>
        <a:p>
          <a:r>
            <a:rPr lang="es-ES" dirty="0"/>
            <a:t>Sus binarios crecen en tamaño, llegando a ser de cientos de megabytes lo cual dificulta su detección.</a:t>
          </a:r>
        </a:p>
      </dgm:t>
    </dgm:pt>
    <dgm:pt modelId="{FA47CEDC-D43F-421E-BAA1-C8EA620DE4E2}" type="parTrans" cxnId="{2A83E3AD-09A2-44F8-80A7-D9DF04206FAC}">
      <dgm:prSet/>
      <dgm:spPr/>
      <dgm:t>
        <a:bodyPr/>
        <a:lstStyle/>
        <a:p>
          <a:endParaRPr lang="es-ES"/>
        </a:p>
      </dgm:t>
    </dgm:pt>
    <dgm:pt modelId="{71E4B85C-0FC9-4ADB-B00E-B5FDB9A99A2D}" type="sibTrans" cxnId="{2A83E3AD-09A2-44F8-80A7-D9DF04206FAC}">
      <dgm:prSet/>
      <dgm:spPr/>
      <dgm:t>
        <a:bodyPr/>
        <a:lstStyle/>
        <a:p>
          <a:endParaRPr lang="es-ES"/>
        </a:p>
      </dgm:t>
    </dgm:pt>
    <dgm:pt modelId="{68388FC6-8200-4F46-9B77-CD7AD1FA1BE5}">
      <dgm:prSet phldrT="[Texto]"/>
      <dgm:spPr/>
      <dgm:t>
        <a:bodyPr/>
        <a:lstStyle/>
        <a:p>
          <a:r>
            <a:rPr lang="es-ES" dirty="0"/>
            <a:t>Cuenta con funcionalidades de backdoor, que le permiten manipular ventanas, registrar pulsaciones de teclado, simular acciones de mouse y teclado, entre otras.</a:t>
          </a:r>
        </a:p>
      </dgm:t>
    </dgm:pt>
    <dgm:pt modelId="{EF602338-C6DC-4A95-82A0-7CA17E78DF7B}" type="parTrans" cxnId="{1E36300D-AEFA-4931-9E0D-30EC3195B80A}">
      <dgm:prSet/>
      <dgm:spPr/>
      <dgm:t>
        <a:bodyPr/>
        <a:lstStyle/>
        <a:p>
          <a:endParaRPr lang="es-ES"/>
        </a:p>
      </dgm:t>
    </dgm:pt>
    <dgm:pt modelId="{F40841EF-A2E4-4BD7-957C-2DD5D845505F}" type="sibTrans" cxnId="{1E36300D-AEFA-4931-9E0D-30EC3195B80A}">
      <dgm:prSet/>
      <dgm:spPr/>
      <dgm:t>
        <a:bodyPr/>
        <a:lstStyle/>
        <a:p>
          <a:endParaRPr lang="es-ES"/>
        </a:p>
      </dgm:t>
    </dgm:pt>
    <dgm:pt modelId="{95BD3B70-B17C-4FB5-A0EE-49F37BFBD18C}">
      <dgm:prSet phldrT="[Texto]"/>
      <dgm:spPr/>
      <dgm:t>
        <a:bodyPr/>
        <a:lstStyle/>
        <a:p>
          <a:r>
            <a:rPr lang="es-ES" dirty="0"/>
            <a:t>Parece estar en permanente desarrollo, ya que se observan varias versiones nuevas cada mes, lo cual es un indicio de que están trabajando en al menos dos variantes simultáneamente.</a:t>
          </a:r>
        </a:p>
      </dgm:t>
    </dgm:pt>
    <dgm:pt modelId="{02A0F402-9EE4-40D3-9F32-F26F45F115A9}" type="parTrans" cxnId="{B6A31029-186C-419D-9F5C-668A5E76882F}">
      <dgm:prSet/>
      <dgm:spPr/>
      <dgm:t>
        <a:bodyPr/>
        <a:lstStyle/>
        <a:p>
          <a:endParaRPr lang="es-ES"/>
        </a:p>
      </dgm:t>
    </dgm:pt>
    <dgm:pt modelId="{82E0239C-A374-4D74-8C7C-D8756A56AD45}" type="sibTrans" cxnId="{B6A31029-186C-419D-9F5C-668A5E76882F}">
      <dgm:prSet/>
      <dgm:spPr/>
      <dgm:t>
        <a:bodyPr/>
        <a:lstStyle/>
        <a:p>
          <a:endParaRPr lang="es-ES"/>
        </a:p>
      </dgm:t>
    </dgm:pt>
    <dgm:pt modelId="{B20FC83F-16AF-4EE0-B626-2BE7E88E299E}">
      <dgm:prSet phldrT="[Texto]"/>
      <dgm:spPr/>
      <dgm:t>
        <a:bodyPr/>
        <a:lstStyle/>
        <a:p>
          <a:r>
            <a:rPr lang="es-ES" dirty="0"/>
            <a:t>Troyano bancario que ha estado activo desde al menos 2017 y se dirige principalmente a usuarios en países como Brasil, México, España y Perú</a:t>
          </a:r>
        </a:p>
      </dgm:t>
    </dgm:pt>
    <dgm:pt modelId="{BDC6D880-EC08-4C54-B424-78453BCBB8A8}" type="parTrans" cxnId="{FE1A3A3B-7B31-4D52-AF46-05F72CC2FCAD}">
      <dgm:prSet/>
      <dgm:spPr/>
      <dgm:t>
        <a:bodyPr/>
        <a:lstStyle/>
        <a:p>
          <a:endParaRPr lang="es-ES"/>
        </a:p>
      </dgm:t>
    </dgm:pt>
    <dgm:pt modelId="{534A3B3C-6C49-47FC-AF0E-AA5C0E5696FF}" type="sibTrans" cxnId="{FE1A3A3B-7B31-4D52-AF46-05F72CC2FCAD}">
      <dgm:prSet/>
      <dgm:spPr/>
      <dgm:t>
        <a:bodyPr/>
        <a:lstStyle/>
        <a:p>
          <a:endParaRPr lang="es-ES"/>
        </a:p>
      </dgm:t>
    </dgm:pt>
    <dgm:pt modelId="{1DA4CC05-3E3E-467D-95F1-501717C7B83B}" type="pres">
      <dgm:prSet presAssocID="{A7027AE7-7DAB-4736-B742-5A0140DDE8A1}" presName="vert0" presStyleCnt="0">
        <dgm:presLayoutVars>
          <dgm:dir/>
          <dgm:animOne val="branch"/>
          <dgm:animLvl val="lvl"/>
        </dgm:presLayoutVars>
      </dgm:prSet>
      <dgm:spPr/>
    </dgm:pt>
    <dgm:pt modelId="{9963FFE0-B819-4CC8-AF00-8B28F1F753A3}" type="pres">
      <dgm:prSet presAssocID="{42BA6902-7825-4533-A81C-AF3AD2AB8660}" presName="thickLine" presStyleLbl="alignNode1" presStyleIdx="0" presStyleCnt="1"/>
      <dgm:spPr/>
    </dgm:pt>
    <dgm:pt modelId="{22302A08-6C99-47EC-82B6-50A736A5F7F1}" type="pres">
      <dgm:prSet presAssocID="{42BA6902-7825-4533-A81C-AF3AD2AB8660}" presName="horz1" presStyleCnt="0"/>
      <dgm:spPr/>
    </dgm:pt>
    <dgm:pt modelId="{0D7337A0-1A88-4F7C-A8FB-C6809D4CCC31}" type="pres">
      <dgm:prSet presAssocID="{42BA6902-7825-4533-A81C-AF3AD2AB8660}" presName="tx1" presStyleLbl="revTx" presStyleIdx="0" presStyleCnt="5"/>
      <dgm:spPr/>
    </dgm:pt>
    <dgm:pt modelId="{0C0C98DC-9146-4E1B-AD1F-0F3E133851F5}" type="pres">
      <dgm:prSet presAssocID="{42BA6902-7825-4533-A81C-AF3AD2AB8660}" presName="vert1" presStyleCnt="0"/>
      <dgm:spPr/>
    </dgm:pt>
    <dgm:pt modelId="{CEDAA583-38DB-4A4D-95B2-11867EA1F44E}" type="pres">
      <dgm:prSet presAssocID="{B20FC83F-16AF-4EE0-B626-2BE7E88E299E}" presName="vertSpace2a" presStyleCnt="0"/>
      <dgm:spPr/>
    </dgm:pt>
    <dgm:pt modelId="{FCF3379F-A7BD-4009-BE8A-5B7529338749}" type="pres">
      <dgm:prSet presAssocID="{B20FC83F-16AF-4EE0-B626-2BE7E88E299E}" presName="horz2" presStyleCnt="0"/>
      <dgm:spPr/>
    </dgm:pt>
    <dgm:pt modelId="{D0E011FE-2985-4314-BA1B-DA257FF8A254}" type="pres">
      <dgm:prSet presAssocID="{B20FC83F-16AF-4EE0-B626-2BE7E88E299E}" presName="horzSpace2" presStyleCnt="0"/>
      <dgm:spPr/>
    </dgm:pt>
    <dgm:pt modelId="{3433874F-8CEF-4A36-9A28-A2FC54352163}" type="pres">
      <dgm:prSet presAssocID="{B20FC83F-16AF-4EE0-B626-2BE7E88E299E}" presName="tx2" presStyleLbl="revTx" presStyleIdx="1" presStyleCnt="5"/>
      <dgm:spPr/>
    </dgm:pt>
    <dgm:pt modelId="{84EC6635-E2AF-442B-AE32-2A55A40243A8}" type="pres">
      <dgm:prSet presAssocID="{B20FC83F-16AF-4EE0-B626-2BE7E88E299E}" presName="vert2" presStyleCnt="0"/>
      <dgm:spPr/>
    </dgm:pt>
    <dgm:pt modelId="{CAED4EA4-79B8-4292-9442-660C1BB880C6}" type="pres">
      <dgm:prSet presAssocID="{B20FC83F-16AF-4EE0-B626-2BE7E88E299E}" presName="thinLine2b" presStyleLbl="callout" presStyleIdx="0" presStyleCnt="4"/>
      <dgm:spPr/>
    </dgm:pt>
    <dgm:pt modelId="{CC8309DC-3591-46B3-B10E-275C960BB0B5}" type="pres">
      <dgm:prSet presAssocID="{B20FC83F-16AF-4EE0-B626-2BE7E88E299E}" presName="vertSpace2b" presStyleCnt="0"/>
      <dgm:spPr/>
    </dgm:pt>
    <dgm:pt modelId="{68A2A90A-41E8-449A-9DFD-CB5314434DD8}" type="pres">
      <dgm:prSet presAssocID="{5ACA8DAF-3A6C-4BAF-BE7B-44B5504F20AD}" presName="horz2" presStyleCnt="0"/>
      <dgm:spPr/>
    </dgm:pt>
    <dgm:pt modelId="{0E328ED0-CF32-42CF-A879-626EA8D4E2C4}" type="pres">
      <dgm:prSet presAssocID="{5ACA8DAF-3A6C-4BAF-BE7B-44B5504F20AD}" presName="horzSpace2" presStyleCnt="0"/>
      <dgm:spPr/>
    </dgm:pt>
    <dgm:pt modelId="{D31276DB-FAA0-49EF-9040-F7631BFC6B34}" type="pres">
      <dgm:prSet presAssocID="{5ACA8DAF-3A6C-4BAF-BE7B-44B5504F20AD}" presName="tx2" presStyleLbl="revTx" presStyleIdx="2" presStyleCnt="5"/>
      <dgm:spPr/>
    </dgm:pt>
    <dgm:pt modelId="{6DA7628B-743E-46DD-8429-68968912A5D5}" type="pres">
      <dgm:prSet presAssocID="{5ACA8DAF-3A6C-4BAF-BE7B-44B5504F20AD}" presName="vert2" presStyleCnt="0"/>
      <dgm:spPr/>
    </dgm:pt>
    <dgm:pt modelId="{7D6840EE-2606-4AD1-B703-834E246A81A8}" type="pres">
      <dgm:prSet presAssocID="{5ACA8DAF-3A6C-4BAF-BE7B-44B5504F20AD}" presName="thinLine2b" presStyleLbl="callout" presStyleIdx="1" presStyleCnt="4"/>
      <dgm:spPr/>
    </dgm:pt>
    <dgm:pt modelId="{A9540724-6BF5-43ED-9FF3-9E475C27EBBD}" type="pres">
      <dgm:prSet presAssocID="{5ACA8DAF-3A6C-4BAF-BE7B-44B5504F20AD}" presName="vertSpace2b" presStyleCnt="0"/>
      <dgm:spPr/>
    </dgm:pt>
    <dgm:pt modelId="{04BA711F-5F8A-4C6F-A51C-982A7C0925F1}" type="pres">
      <dgm:prSet presAssocID="{68388FC6-8200-4F46-9B77-CD7AD1FA1BE5}" presName="horz2" presStyleCnt="0"/>
      <dgm:spPr/>
    </dgm:pt>
    <dgm:pt modelId="{AA8F3933-6249-4A36-98A3-1036FE6F267F}" type="pres">
      <dgm:prSet presAssocID="{68388FC6-8200-4F46-9B77-CD7AD1FA1BE5}" presName="horzSpace2" presStyleCnt="0"/>
      <dgm:spPr/>
    </dgm:pt>
    <dgm:pt modelId="{37EC9A67-9306-42A2-9407-A3288AB25DF9}" type="pres">
      <dgm:prSet presAssocID="{68388FC6-8200-4F46-9B77-CD7AD1FA1BE5}" presName="tx2" presStyleLbl="revTx" presStyleIdx="3" presStyleCnt="5"/>
      <dgm:spPr/>
    </dgm:pt>
    <dgm:pt modelId="{D783799D-90E3-4AFD-8E8A-A12EF3747666}" type="pres">
      <dgm:prSet presAssocID="{68388FC6-8200-4F46-9B77-CD7AD1FA1BE5}" presName="vert2" presStyleCnt="0"/>
      <dgm:spPr/>
    </dgm:pt>
    <dgm:pt modelId="{6793C0A9-9AC5-4738-82B4-782309324508}" type="pres">
      <dgm:prSet presAssocID="{68388FC6-8200-4F46-9B77-CD7AD1FA1BE5}" presName="thinLine2b" presStyleLbl="callout" presStyleIdx="2" presStyleCnt="4"/>
      <dgm:spPr/>
    </dgm:pt>
    <dgm:pt modelId="{706548C8-B143-44F2-AFC8-90FCB76A2672}" type="pres">
      <dgm:prSet presAssocID="{68388FC6-8200-4F46-9B77-CD7AD1FA1BE5}" presName="vertSpace2b" presStyleCnt="0"/>
      <dgm:spPr/>
    </dgm:pt>
    <dgm:pt modelId="{9F58DC06-C150-4F72-A570-096D14081A00}" type="pres">
      <dgm:prSet presAssocID="{95BD3B70-B17C-4FB5-A0EE-49F37BFBD18C}" presName="horz2" presStyleCnt="0"/>
      <dgm:spPr/>
    </dgm:pt>
    <dgm:pt modelId="{EE76DA39-8468-41C0-80DE-E48FD99B754A}" type="pres">
      <dgm:prSet presAssocID="{95BD3B70-B17C-4FB5-A0EE-49F37BFBD18C}" presName="horzSpace2" presStyleCnt="0"/>
      <dgm:spPr/>
    </dgm:pt>
    <dgm:pt modelId="{43918367-D0CC-441B-9BC9-F610CE485A3C}" type="pres">
      <dgm:prSet presAssocID="{95BD3B70-B17C-4FB5-A0EE-49F37BFBD18C}" presName="tx2" presStyleLbl="revTx" presStyleIdx="4" presStyleCnt="5"/>
      <dgm:spPr/>
    </dgm:pt>
    <dgm:pt modelId="{1EFDEE33-B4F2-40C8-806B-AC9CB5A78630}" type="pres">
      <dgm:prSet presAssocID="{95BD3B70-B17C-4FB5-A0EE-49F37BFBD18C}" presName="vert2" presStyleCnt="0"/>
      <dgm:spPr/>
    </dgm:pt>
    <dgm:pt modelId="{B22324A4-D028-43FC-8EFE-A2FF0175093A}" type="pres">
      <dgm:prSet presAssocID="{95BD3B70-B17C-4FB5-A0EE-49F37BFBD18C}" presName="thinLine2b" presStyleLbl="callout" presStyleIdx="3" presStyleCnt="4"/>
      <dgm:spPr/>
    </dgm:pt>
    <dgm:pt modelId="{3CD567F6-6E70-47D7-AB9C-AC10D4FDE25E}" type="pres">
      <dgm:prSet presAssocID="{95BD3B70-B17C-4FB5-A0EE-49F37BFBD18C}" presName="vertSpace2b" presStyleCnt="0"/>
      <dgm:spPr/>
    </dgm:pt>
  </dgm:ptLst>
  <dgm:cxnLst>
    <dgm:cxn modelId="{1E36300D-AEFA-4931-9E0D-30EC3195B80A}" srcId="{42BA6902-7825-4533-A81C-AF3AD2AB8660}" destId="{68388FC6-8200-4F46-9B77-CD7AD1FA1BE5}" srcOrd="2" destOrd="0" parTransId="{EF602338-C6DC-4A95-82A0-7CA17E78DF7B}" sibTransId="{F40841EF-A2E4-4BD7-957C-2DD5D845505F}"/>
    <dgm:cxn modelId="{B6A31029-186C-419D-9F5C-668A5E76882F}" srcId="{42BA6902-7825-4533-A81C-AF3AD2AB8660}" destId="{95BD3B70-B17C-4FB5-A0EE-49F37BFBD18C}" srcOrd="3" destOrd="0" parTransId="{02A0F402-9EE4-40D3-9F32-F26F45F115A9}" sibTransId="{82E0239C-A374-4D74-8C7C-D8756A56AD45}"/>
    <dgm:cxn modelId="{F4B54A2D-2F63-4687-87FE-FA20540D09DE}" type="presOf" srcId="{5ACA8DAF-3A6C-4BAF-BE7B-44B5504F20AD}" destId="{D31276DB-FAA0-49EF-9040-F7631BFC6B34}" srcOrd="0" destOrd="0" presId="urn:microsoft.com/office/officeart/2008/layout/LinedList"/>
    <dgm:cxn modelId="{FE1A3A3B-7B31-4D52-AF46-05F72CC2FCAD}" srcId="{42BA6902-7825-4533-A81C-AF3AD2AB8660}" destId="{B20FC83F-16AF-4EE0-B626-2BE7E88E299E}" srcOrd="0" destOrd="0" parTransId="{BDC6D880-EC08-4C54-B424-78453BCBB8A8}" sibTransId="{534A3B3C-6C49-47FC-AF0E-AA5C0E5696FF}"/>
    <dgm:cxn modelId="{FBAA7844-3AA9-4EC1-90F6-A61866EE866B}" type="presOf" srcId="{A7027AE7-7DAB-4736-B742-5A0140DDE8A1}" destId="{1DA4CC05-3E3E-467D-95F1-501717C7B83B}" srcOrd="0" destOrd="0" presId="urn:microsoft.com/office/officeart/2008/layout/LinedList"/>
    <dgm:cxn modelId="{B12AC94B-CD8F-4EF5-9865-70365CE811BD}" type="presOf" srcId="{95BD3B70-B17C-4FB5-A0EE-49F37BFBD18C}" destId="{43918367-D0CC-441B-9BC9-F610CE485A3C}" srcOrd="0" destOrd="0" presId="urn:microsoft.com/office/officeart/2008/layout/LinedList"/>
    <dgm:cxn modelId="{D2FD887A-7027-48FA-9432-0F663FC50AE8}" type="presOf" srcId="{42BA6902-7825-4533-A81C-AF3AD2AB8660}" destId="{0D7337A0-1A88-4F7C-A8FB-C6809D4CCC31}" srcOrd="0" destOrd="0" presId="urn:microsoft.com/office/officeart/2008/layout/LinedList"/>
    <dgm:cxn modelId="{B72A9C87-2720-4D7A-B778-AD69EB34F26C}" srcId="{A7027AE7-7DAB-4736-B742-5A0140DDE8A1}" destId="{42BA6902-7825-4533-A81C-AF3AD2AB8660}" srcOrd="0" destOrd="0" parTransId="{B6E17A03-C9D3-429C-90D1-9E18FFD36A13}" sibTransId="{64900867-EE9C-4CF1-B25C-86B1AA30C7B5}"/>
    <dgm:cxn modelId="{2A83E3AD-09A2-44F8-80A7-D9DF04206FAC}" srcId="{42BA6902-7825-4533-A81C-AF3AD2AB8660}" destId="{5ACA8DAF-3A6C-4BAF-BE7B-44B5504F20AD}" srcOrd="1" destOrd="0" parTransId="{FA47CEDC-D43F-421E-BAA1-C8EA620DE4E2}" sibTransId="{71E4B85C-0FC9-4ADB-B00E-B5FDB9A99A2D}"/>
    <dgm:cxn modelId="{41B174D6-03DC-43A0-B5CD-19F2FC90D2BB}" type="presOf" srcId="{B20FC83F-16AF-4EE0-B626-2BE7E88E299E}" destId="{3433874F-8CEF-4A36-9A28-A2FC54352163}" srcOrd="0" destOrd="0" presId="urn:microsoft.com/office/officeart/2008/layout/LinedList"/>
    <dgm:cxn modelId="{A9CA22DF-19C0-4294-B606-93695897A3AE}" type="presOf" srcId="{68388FC6-8200-4F46-9B77-CD7AD1FA1BE5}" destId="{37EC9A67-9306-42A2-9407-A3288AB25DF9}" srcOrd="0" destOrd="0" presId="urn:microsoft.com/office/officeart/2008/layout/LinedList"/>
    <dgm:cxn modelId="{B33DFE81-05E2-4C59-9BD1-33029D13C9EE}" type="presParOf" srcId="{1DA4CC05-3E3E-467D-95F1-501717C7B83B}" destId="{9963FFE0-B819-4CC8-AF00-8B28F1F753A3}" srcOrd="0" destOrd="0" presId="urn:microsoft.com/office/officeart/2008/layout/LinedList"/>
    <dgm:cxn modelId="{A0282AF5-7F49-4BAB-9ED6-3E6B05A95FC9}" type="presParOf" srcId="{1DA4CC05-3E3E-467D-95F1-501717C7B83B}" destId="{22302A08-6C99-47EC-82B6-50A736A5F7F1}" srcOrd="1" destOrd="0" presId="urn:microsoft.com/office/officeart/2008/layout/LinedList"/>
    <dgm:cxn modelId="{0F6013CF-B142-44F1-9A6D-D3683CC73C77}" type="presParOf" srcId="{22302A08-6C99-47EC-82B6-50A736A5F7F1}" destId="{0D7337A0-1A88-4F7C-A8FB-C6809D4CCC31}" srcOrd="0" destOrd="0" presId="urn:microsoft.com/office/officeart/2008/layout/LinedList"/>
    <dgm:cxn modelId="{FDEDDE57-2FE1-4750-A4C8-A4F6F36E6842}" type="presParOf" srcId="{22302A08-6C99-47EC-82B6-50A736A5F7F1}" destId="{0C0C98DC-9146-4E1B-AD1F-0F3E133851F5}" srcOrd="1" destOrd="0" presId="urn:microsoft.com/office/officeart/2008/layout/LinedList"/>
    <dgm:cxn modelId="{188D8F8E-DCE6-48A4-9CCC-37BF123C7F22}" type="presParOf" srcId="{0C0C98DC-9146-4E1B-AD1F-0F3E133851F5}" destId="{CEDAA583-38DB-4A4D-95B2-11867EA1F44E}" srcOrd="0" destOrd="0" presId="urn:microsoft.com/office/officeart/2008/layout/LinedList"/>
    <dgm:cxn modelId="{E8D7D57B-29EE-4081-8498-340AB59EAAA0}" type="presParOf" srcId="{0C0C98DC-9146-4E1B-AD1F-0F3E133851F5}" destId="{FCF3379F-A7BD-4009-BE8A-5B7529338749}" srcOrd="1" destOrd="0" presId="urn:microsoft.com/office/officeart/2008/layout/LinedList"/>
    <dgm:cxn modelId="{D263C2A6-AFE5-4797-B28B-FE00CBC0A1EF}" type="presParOf" srcId="{FCF3379F-A7BD-4009-BE8A-5B7529338749}" destId="{D0E011FE-2985-4314-BA1B-DA257FF8A254}" srcOrd="0" destOrd="0" presId="urn:microsoft.com/office/officeart/2008/layout/LinedList"/>
    <dgm:cxn modelId="{721DF511-0217-49F9-B780-2F1D0816A5A4}" type="presParOf" srcId="{FCF3379F-A7BD-4009-BE8A-5B7529338749}" destId="{3433874F-8CEF-4A36-9A28-A2FC54352163}" srcOrd="1" destOrd="0" presId="urn:microsoft.com/office/officeart/2008/layout/LinedList"/>
    <dgm:cxn modelId="{7436DDDE-40B8-4BDF-98C5-E5DAD031F8AF}" type="presParOf" srcId="{FCF3379F-A7BD-4009-BE8A-5B7529338749}" destId="{84EC6635-E2AF-442B-AE32-2A55A40243A8}" srcOrd="2" destOrd="0" presId="urn:microsoft.com/office/officeart/2008/layout/LinedList"/>
    <dgm:cxn modelId="{9AB623D7-69EA-4391-A1B3-C4870B17F950}" type="presParOf" srcId="{0C0C98DC-9146-4E1B-AD1F-0F3E133851F5}" destId="{CAED4EA4-79B8-4292-9442-660C1BB880C6}" srcOrd="2" destOrd="0" presId="urn:microsoft.com/office/officeart/2008/layout/LinedList"/>
    <dgm:cxn modelId="{456AEB05-82FD-4646-AAC8-4E62952CAB8D}" type="presParOf" srcId="{0C0C98DC-9146-4E1B-AD1F-0F3E133851F5}" destId="{CC8309DC-3591-46B3-B10E-275C960BB0B5}" srcOrd="3" destOrd="0" presId="urn:microsoft.com/office/officeart/2008/layout/LinedList"/>
    <dgm:cxn modelId="{127FE8C1-D05F-460E-B4ED-04FF343E5647}" type="presParOf" srcId="{0C0C98DC-9146-4E1B-AD1F-0F3E133851F5}" destId="{68A2A90A-41E8-449A-9DFD-CB5314434DD8}" srcOrd="4" destOrd="0" presId="urn:microsoft.com/office/officeart/2008/layout/LinedList"/>
    <dgm:cxn modelId="{B1F1EED8-4F73-41B0-8804-2E143949455A}" type="presParOf" srcId="{68A2A90A-41E8-449A-9DFD-CB5314434DD8}" destId="{0E328ED0-CF32-42CF-A879-626EA8D4E2C4}" srcOrd="0" destOrd="0" presId="urn:microsoft.com/office/officeart/2008/layout/LinedList"/>
    <dgm:cxn modelId="{650EEF60-2D1E-4398-A048-72F5F8E0EB4C}" type="presParOf" srcId="{68A2A90A-41E8-449A-9DFD-CB5314434DD8}" destId="{D31276DB-FAA0-49EF-9040-F7631BFC6B34}" srcOrd="1" destOrd="0" presId="urn:microsoft.com/office/officeart/2008/layout/LinedList"/>
    <dgm:cxn modelId="{7FD29833-05BA-4EFC-8A76-E4D229A9A5A4}" type="presParOf" srcId="{68A2A90A-41E8-449A-9DFD-CB5314434DD8}" destId="{6DA7628B-743E-46DD-8429-68968912A5D5}" srcOrd="2" destOrd="0" presId="urn:microsoft.com/office/officeart/2008/layout/LinedList"/>
    <dgm:cxn modelId="{3CF278C5-0F48-478E-8A53-D055A9348D3D}" type="presParOf" srcId="{0C0C98DC-9146-4E1B-AD1F-0F3E133851F5}" destId="{7D6840EE-2606-4AD1-B703-834E246A81A8}" srcOrd="5" destOrd="0" presId="urn:microsoft.com/office/officeart/2008/layout/LinedList"/>
    <dgm:cxn modelId="{4B612FB3-0EF6-4B0E-8BCA-7BA79EAC2468}" type="presParOf" srcId="{0C0C98DC-9146-4E1B-AD1F-0F3E133851F5}" destId="{A9540724-6BF5-43ED-9FF3-9E475C27EBBD}" srcOrd="6" destOrd="0" presId="urn:microsoft.com/office/officeart/2008/layout/LinedList"/>
    <dgm:cxn modelId="{DD555245-2B70-4A06-9EB1-43A0E8D4D2C4}" type="presParOf" srcId="{0C0C98DC-9146-4E1B-AD1F-0F3E133851F5}" destId="{04BA711F-5F8A-4C6F-A51C-982A7C0925F1}" srcOrd="7" destOrd="0" presId="urn:microsoft.com/office/officeart/2008/layout/LinedList"/>
    <dgm:cxn modelId="{BA9633B8-C1F7-4A00-AC35-2AD5105EF78B}" type="presParOf" srcId="{04BA711F-5F8A-4C6F-A51C-982A7C0925F1}" destId="{AA8F3933-6249-4A36-98A3-1036FE6F267F}" srcOrd="0" destOrd="0" presId="urn:microsoft.com/office/officeart/2008/layout/LinedList"/>
    <dgm:cxn modelId="{E40514D6-3575-4C2C-9E8C-B9AD1D7C8AB2}" type="presParOf" srcId="{04BA711F-5F8A-4C6F-A51C-982A7C0925F1}" destId="{37EC9A67-9306-42A2-9407-A3288AB25DF9}" srcOrd="1" destOrd="0" presId="urn:microsoft.com/office/officeart/2008/layout/LinedList"/>
    <dgm:cxn modelId="{C454330E-EAA6-4B6F-8F8F-8D8507056977}" type="presParOf" srcId="{04BA711F-5F8A-4C6F-A51C-982A7C0925F1}" destId="{D783799D-90E3-4AFD-8E8A-A12EF3747666}" srcOrd="2" destOrd="0" presId="urn:microsoft.com/office/officeart/2008/layout/LinedList"/>
    <dgm:cxn modelId="{B7819F87-152E-4BB2-8BE0-4A32A072526B}" type="presParOf" srcId="{0C0C98DC-9146-4E1B-AD1F-0F3E133851F5}" destId="{6793C0A9-9AC5-4738-82B4-782309324508}" srcOrd="8" destOrd="0" presId="urn:microsoft.com/office/officeart/2008/layout/LinedList"/>
    <dgm:cxn modelId="{C58AD58D-752A-46EB-B8A1-B86EB99B7C1C}" type="presParOf" srcId="{0C0C98DC-9146-4E1B-AD1F-0F3E133851F5}" destId="{706548C8-B143-44F2-AFC8-90FCB76A2672}" srcOrd="9" destOrd="0" presId="urn:microsoft.com/office/officeart/2008/layout/LinedList"/>
    <dgm:cxn modelId="{605FC3AF-0993-42EB-AD6A-0FFCDCC67301}" type="presParOf" srcId="{0C0C98DC-9146-4E1B-AD1F-0F3E133851F5}" destId="{9F58DC06-C150-4F72-A570-096D14081A00}" srcOrd="10" destOrd="0" presId="urn:microsoft.com/office/officeart/2008/layout/LinedList"/>
    <dgm:cxn modelId="{847B7461-AFA8-422F-ABDA-7C36334197BB}" type="presParOf" srcId="{9F58DC06-C150-4F72-A570-096D14081A00}" destId="{EE76DA39-8468-41C0-80DE-E48FD99B754A}" srcOrd="0" destOrd="0" presId="urn:microsoft.com/office/officeart/2008/layout/LinedList"/>
    <dgm:cxn modelId="{32954FCF-505A-41CF-BD3B-ACABEF47F14B}" type="presParOf" srcId="{9F58DC06-C150-4F72-A570-096D14081A00}" destId="{43918367-D0CC-441B-9BC9-F610CE485A3C}" srcOrd="1" destOrd="0" presId="urn:microsoft.com/office/officeart/2008/layout/LinedList"/>
    <dgm:cxn modelId="{C3D1563E-8B42-416F-902F-CCD95E390D77}" type="presParOf" srcId="{9F58DC06-C150-4F72-A570-096D14081A00}" destId="{1EFDEE33-B4F2-40C8-806B-AC9CB5A78630}" srcOrd="2" destOrd="0" presId="urn:microsoft.com/office/officeart/2008/layout/LinedList"/>
    <dgm:cxn modelId="{5BDF057F-DC29-4595-9D46-2C2B7D05FC98}" type="presParOf" srcId="{0C0C98DC-9146-4E1B-AD1F-0F3E133851F5}" destId="{B22324A4-D028-43FC-8EFE-A2FF0175093A}" srcOrd="11" destOrd="0" presId="urn:microsoft.com/office/officeart/2008/layout/LinedList"/>
    <dgm:cxn modelId="{F7C83297-2D22-45CE-8E87-142E03A5159C}" type="presParOf" srcId="{0C0C98DC-9146-4E1B-AD1F-0F3E133851F5}" destId="{3CD567F6-6E70-47D7-AB9C-AC10D4FDE25E}" srcOrd="12"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BE3A06C-3F39-4C10-A54D-B1A54AFDE32C}"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04756E97-EC3A-473E-8999-3333575E2122}">
      <dgm:prSet phldrT="[Texto]"/>
      <dgm:spPr/>
      <dgm:t>
        <a:bodyPr/>
        <a:lstStyle/>
        <a:p>
          <a:r>
            <a:rPr lang="es-ES" dirty="0"/>
            <a:t>Informe cibercrimen 2024</a:t>
          </a:r>
        </a:p>
      </dgm:t>
    </dgm:pt>
    <dgm:pt modelId="{E7625E2F-98F8-4DD4-B341-47E6F848D8E8}" type="parTrans" cxnId="{1A60328B-86C3-4E77-A945-2AEA2DB0DEAA}">
      <dgm:prSet/>
      <dgm:spPr/>
      <dgm:t>
        <a:bodyPr/>
        <a:lstStyle/>
        <a:p>
          <a:endParaRPr lang="es-ES"/>
        </a:p>
      </dgm:t>
    </dgm:pt>
    <dgm:pt modelId="{6FB7A925-A6B9-4075-AEC9-BAE5A802FAB7}" type="sibTrans" cxnId="{1A60328B-86C3-4E77-A945-2AEA2DB0DEAA}">
      <dgm:prSet/>
      <dgm:spPr/>
      <dgm:t>
        <a:bodyPr/>
        <a:lstStyle/>
        <a:p>
          <a:endParaRPr lang="es-ES"/>
        </a:p>
      </dgm:t>
    </dgm:pt>
    <dgm:pt modelId="{4DAEB111-864C-48ED-A0BE-1DE3B27714C9}">
      <dgm:prSet phldrT="[Texto]"/>
      <dgm:spPr/>
      <dgm:t>
        <a:bodyPr/>
        <a:lstStyle/>
        <a:p>
          <a:r>
            <a:rPr lang="es-ES" dirty="0"/>
            <a:t>En septiembre de 2023 una nueva </a:t>
          </a:r>
          <a:r>
            <a:rPr lang="es-ES" dirty="0" err="1"/>
            <a:t>botnet</a:t>
          </a:r>
          <a:r>
            <a:rPr lang="es-ES" dirty="0"/>
            <a:t> </a:t>
          </a:r>
          <a:r>
            <a:rPr lang="es-ES" dirty="0" err="1"/>
            <a:t>IoT</a:t>
          </a:r>
          <a:r>
            <a:rPr lang="es-ES" dirty="0"/>
            <a:t>, Pandora, cobró vida. </a:t>
          </a:r>
        </a:p>
      </dgm:t>
    </dgm:pt>
    <dgm:pt modelId="{298659FC-0E25-4345-8987-D33396E98A7A}" type="parTrans" cxnId="{42D2B618-D0FC-43A5-89FE-BA610B82EF8A}">
      <dgm:prSet/>
      <dgm:spPr/>
      <dgm:t>
        <a:bodyPr/>
        <a:lstStyle/>
        <a:p>
          <a:endParaRPr lang="es-ES"/>
        </a:p>
      </dgm:t>
    </dgm:pt>
    <dgm:pt modelId="{18284062-3C17-4D11-A218-554A176E7B61}" type="sibTrans" cxnId="{42D2B618-D0FC-43A5-89FE-BA610B82EF8A}">
      <dgm:prSet/>
      <dgm:spPr/>
      <dgm:t>
        <a:bodyPr/>
        <a:lstStyle/>
        <a:p>
          <a:endParaRPr lang="es-ES"/>
        </a:p>
      </dgm:t>
    </dgm:pt>
    <dgm:pt modelId="{B9872C9B-09B7-4F37-BE0F-048A46650ED1}" type="pres">
      <dgm:prSet presAssocID="{5BE3A06C-3F39-4C10-A54D-B1A54AFDE32C}" presName="linear" presStyleCnt="0">
        <dgm:presLayoutVars>
          <dgm:dir/>
          <dgm:resizeHandles val="exact"/>
        </dgm:presLayoutVars>
      </dgm:prSet>
      <dgm:spPr/>
    </dgm:pt>
    <dgm:pt modelId="{4A985DB9-33AD-4DC2-A947-CC906526225C}" type="pres">
      <dgm:prSet presAssocID="{04756E97-EC3A-473E-8999-3333575E2122}" presName="comp" presStyleCnt="0"/>
      <dgm:spPr/>
    </dgm:pt>
    <dgm:pt modelId="{E93CEE31-7427-49C6-A9D0-D023D25E26A8}" type="pres">
      <dgm:prSet presAssocID="{04756E97-EC3A-473E-8999-3333575E2122}" presName="box" presStyleLbl="node1" presStyleIdx="0" presStyleCnt="1" custLinFactNeighborY="-8289"/>
      <dgm:spPr/>
    </dgm:pt>
    <dgm:pt modelId="{02D64116-B629-4CA9-AF5B-F193FC2CFE22}" type="pres">
      <dgm:prSet presAssocID="{04756E97-EC3A-473E-8999-3333575E2122}" presName="img" presStyleLbl="fgImgPlace1" presStyleIdx="0" presStyleCnt="1"/>
      <dgm:spPr>
        <a:blipFill rotWithShape="1">
          <a:blip xmlns:r="http://schemas.openxmlformats.org/officeDocument/2006/relationships" r:embed="rId1"/>
          <a:srcRect/>
          <a:stretch>
            <a:fillRect t="-20000" b="-20000"/>
          </a:stretch>
        </a:blipFill>
      </dgm:spPr>
    </dgm:pt>
    <dgm:pt modelId="{0CFD8E62-9C6B-47C5-A86C-7C1E7FF05A84}" type="pres">
      <dgm:prSet presAssocID="{04756E97-EC3A-473E-8999-3333575E2122}" presName="text" presStyleLbl="node1" presStyleIdx="0" presStyleCnt="1">
        <dgm:presLayoutVars>
          <dgm:bulletEnabled val="1"/>
        </dgm:presLayoutVars>
      </dgm:prSet>
      <dgm:spPr/>
    </dgm:pt>
  </dgm:ptLst>
  <dgm:cxnLst>
    <dgm:cxn modelId="{42D2B618-D0FC-43A5-89FE-BA610B82EF8A}" srcId="{04756E97-EC3A-473E-8999-3333575E2122}" destId="{4DAEB111-864C-48ED-A0BE-1DE3B27714C9}" srcOrd="0" destOrd="0" parTransId="{298659FC-0E25-4345-8987-D33396E98A7A}" sibTransId="{18284062-3C17-4D11-A218-554A176E7B61}"/>
    <dgm:cxn modelId="{0DB0301D-FB77-4C25-84C7-A22EF6521F5A}" type="presOf" srcId="{04756E97-EC3A-473E-8999-3333575E2122}" destId="{E93CEE31-7427-49C6-A9D0-D023D25E26A8}" srcOrd="0" destOrd="0" presId="urn:microsoft.com/office/officeart/2005/8/layout/vList4"/>
    <dgm:cxn modelId="{D3123B5D-7B0F-480C-B0C8-3F5B2AA007B3}" type="presOf" srcId="{4DAEB111-864C-48ED-A0BE-1DE3B27714C9}" destId="{E93CEE31-7427-49C6-A9D0-D023D25E26A8}" srcOrd="0" destOrd="1" presId="urn:microsoft.com/office/officeart/2005/8/layout/vList4"/>
    <dgm:cxn modelId="{97D2AF6D-C27C-4DB1-99AA-5BCA7E59CA1B}" type="presOf" srcId="{4DAEB111-864C-48ED-A0BE-1DE3B27714C9}" destId="{0CFD8E62-9C6B-47C5-A86C-7C1E7FF05A84}" srcOrd="1" destOrd="1" presId="urn:microsoft.com/office/officeart/2005/8/layout/vList4"/>
    <dgm:cxn modelId="{2C23A575-4282-4C62-84B8-C9A8F97D499D}" type="presOf" srcId="{04756E97-EC3A-473E-8999-3333575E2122}" destId="{0CFD8E62-9C6B-47C5-A86C-7C1E7FF05A84}" srcOrd="1" destOrd="0" presId="urn:microsoft.com/office/officeart/2005/8/layout/vList4"/>
    <dgm:cxn modelId="{1A60328B-86C3-4E77-A945-2AEA2DB0DEAA}" srcId="{5BE3A06C-3F39-4C10-A54D-B1A54AFDE32C}" destId="{04756E97-EC3A-473E-8999-3333575E2122}" srcOrd="0" destOrd="0" parTransId="{E7625E2F-98F8-4DD4-B341-47E6F848D8E8}" sibTransId="{6FB7A925-A6B9-4075-AEC9-BAE5A802FAB7}"/>
    <dgm:cxn modelId="{DCE25393-F2BB-4CF5-83A4-983E6A32C3C8}" type="presOf" srcId="{5BE3A06C-3F39-4C10-A54D-B1A54AFDE32C}" destId="{B9872C9B-09B7-4F37-BE0F-048A46650ED1}" srcOrd="0" destOrd="0" presId="urn:microsoft.com/office/officeart/2005/8/layout/vList4"/>
    <dgm:cxn modelId="{CC248D93-8ADE-4E6C-9517-D05C7919846C}" type="presParOf" srcId="{B9872C9B-09B7-4F37-BE0F-048A46650ED1}" destId="{4A985DB9-33AD-4DC2-A947-CC906526225C}" srcOrd="0" destOrd="0" presId="urn:microsoft.com/office/officeart/2005/8/layout/vList4"/>
    <dgm:cxn modelId="{BAF6C5C9-4FE0-470A-BE6F-4ED4F064561A}" type="presParOf" srcId="{4A985DB9-33AD-4DC2-A947-CC906526225C}" destId="{E93CEE31-7427-49C6-A9D0-D023D25E26A8}" srcOrd="0" destOrd="0" presId="urn:microsoft.com/office/officeart/2005/8/layout/vList4"/>
    <dgm:cxn modelId="{40CE5FF5-F847-452C-BFC3-87915C337033}" type="presParOf" srcId="{4A985DB9-33AD-4DC2-A947-CC906526225C}" destId="{02D64116-B629-4CA9-AF5B-F193FC2CFE22}" srcOrd="1" destOrd="0" presId="urn:microsoft.com/office/officeart/2005/8/layout/vList4"/>
    <dgm:cxn modelId="{1948C404-0F3F-427E-92F2-9219D45FEF57}" type="presParOf" srcId="{4A985DB9-33AD-4DC2-A947-CC906526225C}" destId="{0CFD8E62-9C6B-47C5-A86C-7C1E7FF05A8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7027AE7-7DAB-4736-B742-5A0140DDE8A1}"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s-ES"/>
        </a:p>
      </dgm:t>
    </dgm:pt>
    <dgm:pt modelId="{42BA6902-7825-4533-A81C-AF3AD2AB8660}">
      <dgm:prSet phldrT="[Texto]"/>
      <dgm:spPr/>
      <dgm:t>
        <a:bodyPr/>
        <a:lstStyle/>
        <a:p>
          <a:r>
            <a:rPr lang="es-ES" dirty="0"/>
            <a:t>Pandora</a:t>
          </a:r>
        </a:p>
      </dgm:t>
    </dgm:pt>
    <dgm:pt modelId="{B6E17A03-C9D3-429C-90D1-9E18FFD36A13}" type="parTrans" cxnId="{B72A9C87-2720-4D7A-B778-AD69EB34F26C}">
      <dgm:prSet/>
      <dgm:spPr/>
      <dgm:t>
        <a:bodyPr/>
        <a:lstStyle/>
        <a:p>
          <a:endParaRPr lang="es-ES"/>
        </a:p>
      </dgm:t>
    </dgm:pt>
    <dgm:pt modelId="{64900867-EE9C-4CF1-B25C-86B1AA30C7B5}" type="sibTrans" cxnId="{B72A9C87-2720-4D7A-B778-AD69EB34F26C}">
      <dgm:prSet/>
      <dgm:spPr/>
      <dgm:t>
        <a:bodyPr/>
        <a:lstStyle/>
        <a:p>
          <a:endParaRPr lang="es-ES"/>
        </a:p>
      </dgm:t>
    </dgm:pt>
    <dgm:pt modelId="{95BD3B70-B17C-4FB5-A0EE-49F37BFBD18C}">
      <dgm:prSet phldrT="[Texto]"/>
      <dgm:spPr/>
      <dgm:t>
        <a:bodyPr/>
        <a:lstStyle/>
        <a:p>
          <a:r>
            <a:rPr lang="es-ES" dirty="0"/>
            <a:t>Intentó comprometer decenas de miles de dispositivos Android, sobre todo en América Latina.</a:t>
          </a:r>
        </a:p>
      </dgm:t>
    </dgm:pt>
    <dgm:pt modelId="{02A0F402-9EE4-40D3-9F32-F26F45F115A9}" type="parTrans" cxnId="{B6A31029-186C-419D-9F5C-668A5E76882F}">
      <dgm:prSet/>
      <dgm:spPr/>
      <dgm:t>
        <a:bodyPr/>
        <a:lstStyle/>
        <a:p>
          <a:endParaRPr lang="es-ES"/>
        </a:p>
      </dgm:t>
    </dgm:pt>
    <dgm:pt modelId="{82E0239C-A374-4D74-8C7C-D8756A56AD45}" type="sibTrans" cxnId="{B6A31029-186C-419D-9F5C-668A5E76882F}">
      <dgm:prSet/>
      <dgm:spPr/>
      <dgm:t>
        <a:bodyPr/>
        <a:lstStyle/>
        <a:p>
          <a:endParaRPr lang="es-ES"/>
        </a:p>
      </dgm:t>
    </dgm:pt>
    <dgm:pt modelId="{279AB76F-0F16-4310-BD49-2A324ECBE0F9}">
      <dgm:prSet phldrT="[Texto]"/>
      <dgm:spPr/>
      <dgm:t>
        <a:bodyPr/>
        <a:lstStyle/>
        <a:p>
          <a:r>
            <a:rPr lang="es-ES" dirty="0"/>
            <a:t>Su mayor pico de actividad se detectó el 8 de septiembre con más de dos mil ataques, para luego reducirse a unos quinientos por día.</a:t>
          </a:r>
        </a:p>
      </dgm:t>
    </dgm:pt>
    <dgm:pt modelId="{4027F11C-BDE8-4BB3-BAF9-AA36E9A5367E}" type="parTrans" cxnId="{ADCE5589-049F-47FE-A839-D0B509F64EB5}">
      <dgm:prSet/>
      <dgm:spPr/>
      <dgm:t>
        <a:bodyPr/>
        <a:lstStyle/>
        <a:p>
          <a:endParaRPr lang="es-ES"/>
        </a:p>
      </dgm:t>
    </dgm:pt>
    <dgm:pt modelId="{90E8CD2E-A748-4E6D-9FDF-B1E66E64BDF1}" type="sibTrans" cxnId="{ADCE5589-049F-47FE-A839-D0B509F64EB5}">
      <dgm:prSet/>
      <dgm:spPr/>
      <dgm:t>
        <a:bodyPr/>
        <a:lstStyle/>
        <a:p>
          <a:endParaRPr lang="es-ES"/>
        </a:p>
      </dgm:t>
    </dgm:pt>
    <dgm:pt modelId="{EC1F0D16-6313-43AB-BD6D-4876DEE4A7E8}">
      <dgm:prSet phldrT="[Texto]"/>
      <dgm:spPr/>
      <dgm:t>
        <a:bodyPr/>
        <a:lstStyle/>
        <a:p>
          <a:r>
            <a:rPr lang="es-ES" dirty="0"/>
            <a:t>Se trata de una amenaza que compromete dispositivos Android TV para ejecutar ataques </a:t>
          </a:r>
          <a:r>
            <a:rPr lang="es-ES" dirty="0" err="1"/>
            <a:t>DDoS</a:t>
          </a:r>
          <a:r>
            <a:rPr lang="es-ES" dirty="0"/>
            <a:t>.</a:t>
          </a:r>
        </a:p>
      </dgm:t>
    </dgm:pt>
    <dgm:pt modelId="{7E68EB4E-5E07-4D8F-95AA-12F3ECFAB6F5}" type="parTrans" cxnId="{47DDF8B1-29D3-4CCB-B9F7-AF8175822400}">
      <dgm:prSet/>
      <dgm:spPr/>
      <dgm:t>
        <a:bodyPr/>
        <a:lstStyle/>
        <a:p>
          <a:endParaRPr lang="es-ES"/>
        </a:p>
      </dgm:t>
    </dgm:pt>
    <dgm:pt modelId="{48F248FF-458C-4361-89AC-03247288B48C}" type="sibTrans" cxnId="{47DDF8B1-29D3-4CCB-B9F7-AF8175822400}">
      <dgm:prSet/>
      <dgm:spPr/>
      <dgm:t>
        <a:bodyPr/>
        <a:lstStyle/>
        <a:p>
          <a:endParaRPr lang="es-ES"/>
        </a:p>
      </dgm:t>
    </dgm:pt>
    <dgm:pt modelId="{4E6CC31C-CCE5-46CF-812A-A32875CB1317}">
      <dgm:prSet phldrT="[Texto]"/>
      <dgm:spPr/>
      <dgm:t>
        <a:bodyPr/>
        <a:lstStyle/>
        <a:p>
          <a:r>
            <a:rPr lang="es-ES" dirty="0"/>
            <a:t>Su distribución puede ser a través de las actualizaciones de firmware maliciosas preinstaladas en Android TV Boxes por el revendedor o descargadas e instaladas por una víctima involuntariamente.</a:t>
          </a:r>
        </a:p>
      </dgm:t>
    </dgm:pt>
    <dgm:pt modelId="{634BDE1D-D20B-437F-B6F7-883CC4B7EB86}" type="parTrans" cxnId="{F94077EE-02B6-4A77-8C88-D8AD96AFE0BF}">
      <dgm:prSet/>
      <dgm:spPr/>
    </dgm:pt>
    <dgm:pt modelId="{4F4411D8-C08F-4642-B878-99563A1341FF}" type="sibTrans" cxnId="{F94077EE-02B6-4A77-8C88-D8AD96AFE0BF}">
      <dgm:prSet/>
      <dgm:spPr/>
    </dgm:pt>
    <dgm:pt modelId="{1DA4CC05-3E3E-467D-95F1-501717C7B83B}" type="pres">
      <dgm:prSet presAssocID="{A7027AE7-7DAB-4736-B742-5A0140DDE8A1}" presName="vert0" presStyleCnt="0">
        <dgm:presLayoutVars>
          <dgm:dir/>
          <dgm:animOne val="branch"/>
          <dgm:animLvl val="lvl"/>
        </dgm:presLayoutVars>
      </dgm:prSet>
      <dgm:spPr/>
    </dgm:pt>
    <dgm:pt modelId="{9963FFE0-B819-4CC8-AF00-8B28F1F753A3}" type="pres">
      <dgm:prSet presAssocID="{42BA6902-7825-4533-A81C-AF3AD2AB8660}" presName="thickLine" presStyleLbl="alignNode1" presStyleIdx="0" presStyleCnt="1"/>
      <dgm:spPr/>
    </dgm:pt>
    <dgm:pt modelId="{22302A08-6C99-47EC-82B6-50A736A5F7F1}" type="pres">
      <dgm:prSet presAssocID="{42BA6902-7825-4533-A81C-AF3AD2AB8660}" presName="horz1" presStyleCnt="0"/>
      <dgm:spPr/>
    </dgm:pt>
    <dgm:pt modelId="{0D7337A0-1A88-4F7C-A8FB-C6809D4CCC31}" type="pres">
      <dgm:prSet presAssocID="{42BA6902-7825-4533-A81C-AF3AD2AB8660}" presName="tx1" presStyleLbl="revTx" presStyleIdx="0" presStyleCnt="5"/>
      <dgm:spPr/>
    </dgm:pt>
    <dgm:pt modelId="{0C0C98DC-9146-4E1B-AD1F-0F3E133851F5}" type="pres">
      <dgm:prSet presAssocID="{42BA6902-7825-4533-A81C-AF3AD2AB8660}" presName="vert1" presStyleCnt="0"/>
      <dgm:spPr/>
    </dgm:pt>
    <dgm:pt modelId="{813E2B4F-DECB-4972-BAE4-6DABE7B64028}" type="pres">
      <dgm:prSet presAssocID="{EC1F0D16-6313-43AB-BD6D-4876DEE4A7E8}" presName="vertSpace2a" presStyleCnt="0"/>
      <dgm:spPr/>
    </dgm:pt>
    <dgm:pt modelId="{AE171ED5-9D29-4C50-A6D4-42E0D1900EF8}" type="pres">
      <dgm:prSet presAssocID="{EC1F0D16-6313-43AB-BD6D-4876DEE4A7E8}" presName="horz2" presStyleCnt="0"/>
      <dgm:spPr/>
    </dgm:pt>
    <dgm:pt modelId="{1D734E27-6E54-4101-A1B8-78CA2D12E1B3}" type="pres">
      <dgm:prSet presAssocID="{EC1F0D16-6313-43AB-BD6D-4876DEE4A7E8}" presName="horzSpace2" presStyleCnt="0"/>
      <dgm:spPr/>
    </dgm:pt>
    <dgm:pt modelId="{FC17214E-77BD-46F1-8265-516790BCE6C4}" type="pres">
      <dgm:prSet presAssocID="{EC1F0D16-6313-43AB-BD6D-4876DEE4A7E8}" presName="tx2" presStyleLbl="revTx" presStyleIdx="1" presStyleCnt="5"/>
      <dgm:spPr/>
    </dgm:pt>
    <dgm:pt modelId="{867AE6F5-6BB9-4CDA-A9AD-302ABB59B213}" type="pres">
      <dgm:prSet presAssocID="{EC1F0D16-6313-43AB-BD6D-4876DEE4A7E8}" presName="vert2" presStyleCnt="0"/>
      <dgm:spPr/>
    </dgm:pt>
    <dgm:pt modelId="{EDE48A46-FA16-4128-AED4-7B462E479E0B}" type="pres">
      <dgm:prSet presAssocID="{EC1F0D16-6313-43AB-BD6D-4876DEE4A7E8}" presName="thinLine2b" presStyleLbl="callout" presStyleIdx="0" presStyleCnt="4"/>
      <dgm:spPr/>
    </dgm:pt>
    <dgm:pt modelId="{456A4E4B-63B4-4F08-9B49-C728FCB1162E}" type="pres">
      <dgm:prSet presAssocID="{EC1F0D16-6313-43AB-BD6D-4876DEE4A7E8}" presName="vertSpace2b" presStyleCnt="0"/>
      <dgm:spPr/>
    </dgm:pt>
    <dgm:pt modelId="{6DF399F3-1765-411E-B0AA-3EF8DD31D8B2}" type="pres">
      <dgm:prSet presAssocID="{95BD3B70-B17C-4FB5-A0EE-49F37BFBD18C}" presName="horz2" presStyleCnt="0"/>
      <dgm:spPr/>
    </dgm:pt>
    <dgm:pt modelId="{45FF315E-C1CA-4A1A-9BE9-53DCF9C60AC5}" type="pres">
      <dgm:prSet presAssocID="{95BD3B70-B17C-4FB5-A0EE-49F37BFBD18C}" presName="horzSpace2" presStyleCnt="0"/>
      <dgm:spPr/>
    </dgm:pt>
    <dgm:pt modelId="{B27ECECB-A395-4221-BF7C-6FA3E75CBF20}" type="pres">
      <dgm:prSet presAssocID="{95BD3B70-B17C-4FB5-A0EE-49F37BFBD18C}" presName="tx2" presStyleLbl="revTx" presStyleIdx="2" presStyleCnt="5"/>
      <dgm:spPr/>
    </dgm:pt>
    <dgm:pt modelId="{89E4BDF3-4789-44CD-A346-EF45600CE77B}" type="pres">
      <dgm:prSet presAssocID="{95BD3B70-B17C-4FB5-A0EE-49F37BFBD18C}" presName="vert2" presStyleCnt="0"/>
      <dgm:spPr/>
    </dgm:pt>
    <dgm:pt modelId="{3582BDBB-13A2-4933-857F-54562E62437F}" type="pres">
      <dgm:prSet presAssocID="{95BD3B70-B17C-4FB5-A0EE-49F37BFBD18C}" presName="thinLine2b" presStyleLbl="callout" presStyleIdx="1" presStyleCnt="4"/>
      <dgm:spPr/>
    </dgm:pt>
    <dgm:pt modelId="{74896945-BCFE-4B58-8D00-3EA392B4632C}" type="pres">
      <dgm:prSet presAssocID="{95BD3B70-B17C-4FB5-A0EE-49F37BFBD18C}" presName="vertSpace2b" presStyleCnt="0"/>
      <dgm:spPr/>
    </dgm:pt>
    <dgm:pt modelId="{C5A2B20A-DCDD-4275-99EB-25BD3A1D5774}" type="pres">
      <dgm:prSet presAssocID="{279AB76F-0F16-4310-BD49-2A324ECBE0F9}" presName="horz2" presStyleCnt="0"/>
      <dgm:spPr/>
    </dgm:pt>
    <dgm:pt modelId="{EB7D2E93-343F-4C78-8B0D-46EF2326F073}" type="pres">
      <dgm:prSet presAssocID="{279AB76F-0F16-4310-BD49-2A324ECBE0F9}" presName="horzSpace2" presStyleCnt="0"/>
      <dgm:spPr/>
    </dgm:pt>
    <dgm:pt modelId="{352106D7-B099-4CB5-B880-9AFD4085F458}" type="pres">
      <dgm:prSet presAssocID="{279AB76F-0F16-4310-BD49-2A324ECBE0F9}" presName="tx2" presStyleLbl="revTx" presStyleIdx="3" presStyleCnt="5"/>
      <dgm:spPr/>
    </dgm:pt>
    <dgm:pt modelId="{B8F8B44E-85EA-402C-A95D-08715A16A136}" type="pres">
      <dgm:prSet presAssocID="{279AB76F-0F16-4310-BD49-2A324ECBE0F9}" presName="vert2" presStyleCnt="0"/>
      <dgm:spPr/>
    </dgm:pt>
    <dgm:pt modelId="{B30AAA9C-898D-4EE0-ABFC-601101777545}" type="pres">
      <dgm:prSet presAssocID="{279AB76F-0F16-4310-BD49-2A324ECBE0F9}" presName="thinLine2b" presStyleLbl="callout" presStyleIdx="2" presStyleCnt="4"/>
      <dgm:spPr/>
    </dgm:pt>
    <dgm:pt modelId="{633537B4-3BC8-4F6A-AB70-2FF6FC812886}" type="pres">
      <dgm:prSet presAssocID="{279AB76F-0F16-4310-BD49-2A324ECBE0F9}" presName="vertSpace2b" presStyleCnt="0"/>
      <dgm:spPr/>
    </dgm:pt>
    <dgm:pt modelId="{9796F561-4F01-42E6-AD8D-9F8291E4CFE6}" type="pres">
      <dgm:prSet presAssocID="{4E6CC31C-CCE5-46CF-812A-A32875CB1317}" presName="horz2" presStyleCnt="0"/>
      <dgm:spPr/>
    </dgm:pt>
    <dgm:pt modelId="{A38E38DC-4B30-4F2A-858F-0297BFFE890F}" type="pres">
      <dgm:prSet presAssocID="{4E6CC31C-CCE5-46CF-812A-A32875CB1317}" presName="horzSpace2" presStyleCnt="0"/>
      <dgm:spPr/>
    </dgm:pt>
    <dgm:pt modelId="{F044F195-C139-455E-B267-22E13D498F29}" type="pres">
      <dgm:prSet presAssocID="{4E6CC31C-CCE5-46CF-812A-A32875CB1317}" presName="tx2" presStyleLbl="revTx" presStyleIdx="4" presStyleCnt="5"/>
      <dgm:spPr/>
    </dgm:pt>
    <dgm:pt modelId="{093EECDA-34AF-44F8-8F1A-2DC50AAF13C9}" type="pres">
      <dgm:prSet presAssocID="{4E6CC31C-CCE5-46CF-812A-A32875CB1317}" presName="vert2" presStyleCnt="0"/>
      <dgm:spPr/>
    </dgm:pt>
    <dgm:pt modelId="{2C269BDB-AAD9-445A-8873-5A3047F06F45}" type="pres">
      <dgm:prSet presAssocID="{4E6CC31C-CCE5-46CF-812A-A32875CB1317}" presName="thinLine2b" presStyleLbl="callout" presStyleIdx="3" presStyleCnt="4"/>
      <dgm:spPr/>
    </dgm:pt>
    <dgm:pt modelId="{76270029-5BDB-424D-8149-1D7D707470AC}" type="pres">
      <dgm:prSet presAssocID="{4E6CC31C-CCE5-46CF-812A-A32875CB1317}" presName="vertSpace2b" presStyleCnt="0"/>
      <dgm:spPr/>
    </dgm:pt>
  </dgm:ptLst>
  <dgm:cxnLst>
    <dgm:cxn modelId="{B6A31029-186C-419D-9F5C-668A5E76882F}" srcId="{42BA6902-7825-4533-A81C-AF3AD2AB8660}" destId="{95BD3B70-B17C-4FB5-A0EE-49F37BFBD18C}" srcOrd="1" destOrd="0" parTransId="{02A0F402-9EE4-40D3-9F32-F26F45F115A9}" sibTransId="{82E0239C-A374-4D74-8C7C-D8756A56AD45}"/>
    <dgm:cxn modelId="{FBAA7844-3AA9-4EC1-90F6-A61866EE866B}" type="presOf" srcId="{A7027AE7-7DAB-4736-B742-5A0140DDE8A1}" destId="{1DA4CC05-3E3E-467D-95F1-501717C7B83B}" srcOrd="0" destOrd="0" presId="urn:microsoft.com/office/officeart/2008/layout/LinedList"/>
    <dgm:cxn modelId="{D2FD887A-7027-48FA-9432-0F663FC50AE8}" type="presOf" srcId="{42BA6902-7825-4533-A81C-AF3AD2AB8660}" destId="{0D7337A0-1A88-4F7C-A8FB-C6809D4CCC31}" srcOrd="0" destOrd="0" presId="urn:microsoft.com/office/officeart/2008/layout/LinedList"/>
    <dgm:cxn modelId="{B72A9C87-2720-4D7A-B778-AD69EB34F26C}" srcId="{A7027AE7-7DAB-4736-B742-5A0140DDE8A1}" destId="{42BA6902-7825-4533-A81C-AF3AD2AB8660}" srcOrd="0" destOrd="0" parTransId="{B6E17A03-C9D3-429C-90D1-9E18FFD36A13}" sibTransId="{64900867-EE9C-4CF1-B25C-86B1AA30C7B5}"/>
    <dgm:cxn modelId="{ADCE5589-049F-47FE-A839-D0B509F64EB5}" srcId="{42BA6902-7825-4533-A81C-AF3AD2AB8660}" destId="{279AB76F-0F16-4310-BD49-2A324ECBE0F9}" srcOrd="2" destOrd="0" parTransId="{4027F11C-BDE8-4BB3-BAF9-AA36E9A5367E}" sibTransId="{90E8CD2E-A748-4E6D-9FDF-B1E66E64BDF1}"/>
    <dgm:cxn modelId="{47DDF8B1-29D3-4CCB-B9F7-AF8175822400}" srcId="{42BA6902-7825-4533-A81C-AF3AD2AB8660}" destId="{EC1F0D16-6313-43AB-BD6D-4876DEE4A7E8}" srcOrd="0" destOrd="0" parTransId="{7E68EB4E-5E07-4D8F-95AA-12F3ECFAB6F5}" sibTransId="{48F248FF-458C-4361-89AC-03247288B48C}"/>
    <dgm:cxn modelId="{2B9DDEB7-FB0D-4F62-A88E-E6DBC7669506}" type="presOf" srcId="{EC1F0D16-6313-43AB-BD6D-4876DEE4A7E8}" destId="{FC17214E-77BD-46F1-8265-516790BCE6C4}" srcOrd="0" destOrd="0" presId="urn:microsoft.com/office/officeart/2008/layout/LinedList"/>
    <dgm:cxn modelId="{F4216DDC-958E-4FD8-9B51-E1C04FBBF468}" type="presOf" srcId="{279AB76F-0F16-4310-BD49-2A324ECBE0F9}" destId="{352106D7-B099-4CB5-B880-9AFD4085F458}" srcOrd="0" destOrd="0" presId="urn:microsoft.com/office/officeart/2008/layout/LinedList"/>
    <dgm:cxn modelId="{C827D0E0-DC16-4E4F-A46A-23C40A775D6A}" type="presOf" srcId="{95BD3B70-B17C-4FB5-A0EE-49F37BFBD18C}" destId="{B27ECECB-A395-4221-BF7C-6FA3E75CBF20}" srcOrd="0" destOrd="0" presId="urn:microsoft.com/office/officeart/2008/layout/LinedList"/>
    <dgm:cxn modelId="{4FFF9FE3-3731-4279-A5A1-F7DE456F2502}" type="presOf" srcId="{4E6CC31C-CCE5-46CF-812A-A32875CB1317}" destId="{F044F195-C139-455E-B267-22E13D498F29}" srcOrd="0" destOrd="0" presId="urn:microsoft.com/office/officeart/2008/layout/LinedList"/>
    <dgm:cxn modelId="{F94077EE-02B6-4A77-8C88-D8AD96AFE0BF}" srcId="{42BA6902-7825-4533-A81C-AF3AD2AB8660}" destId="{4E6CC31C-CCE5-46CF-812A-A32875CB1317}" srcOrd="3" destOrd="0" parTransId="{634BDE1D-D20B-437F-B6F7-883CC4B7EB86}" sibTransId="{4F4411D8-C08F-4642-B878-99563A1341FF}"/>
    <dgm:cxn modelId="{B33DFE81-05E2-4C59-9BD1-33029D13C9EE}" type="presParOf" srcId="{1DA4CC05-3E3E-467D-95F1-501717C7B83B}" destId="{9963FFE0-B819-4CC8-AF00-8B28F1F753A3}" srcOrd="0" destOrd="0" presId="urn:microsoft.com/office/officeart/2008/layout/LinedList"/>
    <dgm:cxn modelId="{A0282AF5-7F49-4BAB-9ED6-3E6B05A95FC9}" type="presParOf" srcId="{1DA4CC05-3E3E-467D-95F1-501717C7B83B}" destId="{22302A08-6C99-47EC-82B6-50A736A5F7F1}" srcOrd="1" destOrd="0" presId="urn:microsoft.com/office/officeart/2008/layout/LinedList"/>
    <dgm:cxn modelId="{0F6013CF-B142-44F1-9A6D-D3683CC73C77}" type="presParOf" srcId="{22302A08-6C99-47EC-82B6-50A736A5F7F1}" destId="{0D7337A0-1A88-4F7C-A8FB-C6809D4CCC31}" srcOrd="0" destOrd="0" presId="urn:microsoft.com/office/officeart/2008/layout/LinedList"/>
    <dgm:cxn modelId="{FDEDDE57-2FE1-4750-A4C8-A4F6F36E6842}" type="presParOf" srcId="{22302A08-6C99-47EC-82B6-50A736A5F7F1}" destId="{0C0C98DC-9146-4E1B-AD1F-0F3E133851F5}" srcOrd="1" destOrd="0" presId="urn:microsoft.com/office/officeart/2008/layout/LinedList"/>
    <dgm:cxn modelId="{4AACE0D9-D067-4BD0-B09D-CB9304DBA6F4}" type="presParOf" srcId="{0C0C98DC-9146-4E1B-AD1F-0F3E133851F5}" destId="{813E2B4F-DECB-4972-BAE4-6DABE7B64028}" srcOrd="0" destOrd="0" presId="urn:microsoft.com/office/officeart/2008/layout/LinedList"/>
    <dgm:cxn modelId="{5A57C438-3CF1-4E31-BE72-51B08A841C16}" type="presParOf" srcId="{0C0C98DC-9146-4E1B-AD1F-0F3E133851F5}" destId="{AE171ED5-9D29-4C50-A6D4-42E0D1900EF8}" srcOrd="1" destOrd="0" presId="urn:microsoft.com/office/officeart/2008/layout/LinedList"/>
    <dgm:cxn modelId="{A96C2EA6-BDDF-40FE-8677-1421D08FC04A}" type="presParOf" srcId="{AE171ED5-9D29-4C50-A6D4-42E0D1900EF8}" destId="{1D734E27-6E54-4101-A1B8-78CA2D12E1B3}" srcOrd="0" destOrd="0" presId="urn:microsoft.com/office/officeart/2008/layout/LinedList"/>
    <dgm:cxn modelId="{1F383974-CD83-4904-A829-2F91FACB3D14}" type="presParOf" srcId="{AE171ED5-9D29-4C50-A6D4-42E0D1900EF8}" destId="{FC17214E-77BD-46F1-8265-516790BCE6C4}" srcOrd="1" destOrd="0" presId="urn:microsoft.com/office/officeart/2008/layout/LinedList"/>
    <dgm:cxn modelId="{DE209C6F-CE21-4AAA-BDF2-331EC20FF18B}" type="presParOf" srcId="{AE171ED5-9D29-4C50-A6D4-42E0D1900EF8}" destId="{867AE6F5-6BB9-4CDA-A9AD-302ABB59B213}" srcOrd="2" destOrd="0" presId="urn:microsoft.com/office/officeart/2008/layout/LinedList"/>
    <dgm:cxn modelId="{DA4F6251-9A53-403C-9D20-961738EC29A1}" type="presParOf" srcId="{0C0C98DC-9146-4E1B-AD1F-0F3E133851F5}" destId="{EDE48A46-FA16-4128-AED4-7B462E479E0B}" srcOrd="2" destOrd="0" presId="urn:microsoft.com/office/officeart/2008/layout/LinedList"/>
    <dgm:cxn modelId="{C7A61B5E-0552-4D9C-98D0-19A8F2608108}" type="presParOf" srcId="{0C0C98DC-9146-4E1B-AD1F-0F3E133851F5}" destId="{456A4E4B-63B4-4F08-9B49-C728FCB1162E}" srcOrd="3" destOrd="0" presId="urn:microsoft.com/office/officeart/2008/layout/LinedList"/>
    <dgm:cxn modelId="{7DBDEE81-9D45-4AF5-AF89-3D7FC64A56B8}" type="presParOf" srcId="{0C0C98DC-9146-4E1B-AD1F-0F3E133851F5}" destId="{6DF399F3-1765-411E-B0AA-3EF8DD31D8B2}" srcOrd="4" destOrd="0" presId="urn:microsoft.com/office/officeart/2008/layout/LinedList"/>
    <dgm:cxn modelId="{2FC7FCEB-1FEC-47D5-849F-263413B4DAB8}" type="presParOf" srcId="{6DF399F3-1765-411E-B0AA-3EF8DD31D8B2}" destId="{45FF315E-C1CA-4A1A-9BE9-53DCF9C60AC5}" srcOrd="0" destOrd="0" presId="urn:microsoft.com/office/officeart/2008/layout/LinedList"/>
    <dgm:cxn modelId="{6DB8AAD0-E1CD-4C3F-917F-A046FEC6ED3C}" type="presParOf" srcId="{6DF399F3-1765-411E-B0AA-3EF8DD31D8B2}" destId="{B27ECECB-A395-4221-BF7C-6FA3E75CBF20}" srcOrd="1" destOrd="0" presId="urn:microsoft.com/office/officeart/2008/layout/LinedList"/>
    <dgm:cxn modelId="{E25E53FD-50D5-4F2C-81DC-71E4F6FC3A6D}" type="presParOf" srcId="{6DF399F3-1765-411E-B0AA-3EF8DD31D8B2}" destId="{89E4BDF3-4789-44CD-A346-EF45600CE77B}" srcOrd="2" destOrd="0" presId="urn:microsoft.com/office/officeart/2008/layout/LinedList"/>
    <dgm:cxn modelId="{F187CF4B-DA1B-43E4-939B-D2A16259D258}" type="presParOf" srcId="{0C0C98DC-9146-4E1B-AD1F-0F3E133851F5}" destId="{3582BDBB-13A2-4933-857F-54562E62437F}" srcOrd="5" destOrd="0" presId="urn:microsoft.com/office/officeart/2008/layout/LinedList"/>
    <dgm:cxn modelId="{BCFEF71E-0B02-4174-AA3E-2B1912EC4BC1}" type="presParOf" srcId="{0C0C98DC-9146-4E1B-AD1F-0F3E133851F5}" destId="{74896945-BCFE-4B58-8D00-3EA392B4632C}" srcOrd="6" destOrd="0" presId="urn:microsoft.com/office/officeart/2008/layout/LinedList"/>
    <dgm:cxn modelId="{01E916D4-50DA-4CF2-B820-876A362459B6}" type="presParOf" srcId="{0C0C98DC-9146-4E1B-AD1F-0F3E133851F5}" destId="{C5A2B20A-DCDD-4275-99EB-25BD3A1D5774}" srcOrd="7" destOrd="0" presId="urn:microsoft.com/office/officeart/2008/layout/LinedList"/>
    <dgm:cxn modelId="{DC430510-1D49-4615-B459-E759AA830390}" type="presParOf" srcId="{C5A2B20A-DCDD-4275-99EB-25BD3A1D5774}" destId="{EB7D2E93-343F-4C78-8B0D-46EF2326F073}" srcOrd="0" destOrd="0" presId="urn:microsoft.com/office/officeart/2008/layout/LinedList"/>
    <dgm:cxn modelId="{AE164252-772A-4741-BAE3-8A9F51B27568}" type="presParOf" srcId="{C5A2B20A-DCDD-4275-99EB-25BD3A1D5774}" destId="{352106D7-B099-4CB5-B880-9AFD4085F458}" srcOrd="1" destOrd="0" presId="urn:microsoft.com/office/officeart/2008/layout/LinedList"/>
    <dgm:cxn modelId="{7C4DBD88-EEF6-46FF-8A95-6223E184AA35}" type="presParOf" srcId="{C5A2B20A-DCDD-4275-99EB-25BD3A1D5774}" destId="{B8F8B44E-85EA-402C-A95D-08715A16A136}" srcOrd="2" destOrd="0" presId="urn:microsoft.com/office/officeart/2008/layout/LinedList"/>
    <dgm:cxn modelId="{8EF2F6EE-29DC-4603-AF09-CD6661583698}" type="presParOf" srcId="{0C0C98DC-9146-4E1B-AD1F-0F3E133851F5}" destId="{B30AAA9C-898D-4EE0-ABFC-601101777545}" srcOrd="8" destOrd="0" presId="urn:microsoft.com/office/officeart/2008/layout/LinedList"/>
    <dgm:cxn modelId="{1BF613F4-49A9-4AAF-B055-3D124541500E}" type="presParOf" srcId="{0C0C98DC-9146-4E1B-AD1F-0F3E133851F5}" destId="{633537B4-3BC8-4F6A-AB70-2FF6FC812886}" srcOrd="9" destOrd="0" presId="urn:microsoft.com/office/officeart/2008/layout/LinedList"/>
    <dgm:cxn modelId="{FE43DA02-548A-440F-9C38-04D09953C6F1}" type="presParOf" srcId="{0C0C98DC-9146-4E1B-AD1F-0F3E133851F5}" destId="{9796F561-4F01-42E6-AD8D-9F8291E4CFE6}" srcOrd="10" destOrd="0" presId="urn:microsoft.com/office/officeart/2008/layout/LinedList"/>
    <dgm:cxn modelId="{88528771-B22A-427C-9F3A-1FD5D611065A}" type="presParOf" srcId="{9796F561-4F01-42E6-AD8D-9F8291E4CFE6}" destId="{A38E38DC-4B30-4F2A-858F-0297BFFE890F}" srcOrd="0" destOrd="0" presId="urn:microsoft.com/office/officeart/2008/layout/LinedList"/>
    <dgm:cxn modelId="{2EF3FFE3-B943-4D30-9E42-F463DBB87589}" type="presParOf" srcId="{9796F561-4F01-42E6-AD8D-9F8291E4CFE6}" destId="{F044F195-C139-455E-B267-22E13D498F29}" srcOrd="1" destOrd="0" presId="urn:microsoft.com/office/officeart/2008/layout/LinedList"/>
    <dgm:cxn modelId="{3EEE226A-2A64-4F09-AFB8-67ED8D3BF202}" type="presParOf" srcId="{9796F561-4F01-42E6-AD8D-9F8291E4CFE6}" destId="{093EECDA-34AF-44F8-8F1A-2DC50AAF13C9}" srcOrd="2" destOrd="0" presId="urn:microsoft.com/office/officeart/2008/layout/LinedList"/>
    <dgm:cxn modelId="{0985DE20-192C-4311-B500-84C9F66A17C5}" type="presParOf" srcId="{0C0C98DC-9146-4E1B-AD1F-0F3E133851F5}" destId="{2C269BDB-AAD9-445A-8873-5A3047F06F45}" srcOrd="11" destOrd="0" presId="urn:microsoft.com/office/officeart/2008/layout/LinedList"/>
    <dgm:cxn modelId="{2C9758D2-7C8B-42D5-89A0-0DAF574E87D9}" type="presParOf" srcId="{0C0C98DC-9146-4E1B-AD1F-0F3E133851F5}" destId="{76270029-5BDB-424D-8149-1D7D707470AC}" srcOrd="12"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55B5B96-94B5-44C9-B610-77F14CDB501E}"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s-ES"/>
        </a:p>
      </dgm:t>
    </dgm:pt>
    <dgm:pt modelId="{C87701A3-2402-499E-8684-B77701596686}">
      <dgm:prSet phldrT="[Texto]"/>
      <dgm:spPr/>
      <dgm:t>
        <a:bodyPr/>
        <a:lstStyle/>
        <a:p>
          <a:r>
            <a:rPr lang="es-ES" dirty="0"/>
            <a:t>Imagina que un día no puedes abrir las fotos de tu último viaje porque ha aparecido un mensaje en tu pantalla solicitando un pago para recuperarlas. </a:t>
          </a:r>
        </a:p>
      </dgm:t>
    </dgm:pt>
    <dgm:pt modelId="{1F440ED2-BCD0-4641-BBA6-AB1E4A7F6647}" type="parTrans" cxnId="{E2C75A68-CAB5-4603-9831-94ADFE2A3940}">
      <dgm:prSet/>
      <dgm:spPr/>
      <dgm:t>
        <a:bodyPr/>
        <a:lstStyle/>
        <a:p>
          <a:endParaRPr lang="es-ES"/>
        </a:p>
      </dgm:t>
    </dgm:pt>
    <dgm:pt modelId="{8B5447FE-1DC1-46A5-AAEB-C7F5E4F6443E}" type="sibTrans" cxnId="{E2C75A68-CAB5-4603-9831-94ADFE2A3940}">
      <dgm:prSet/>
      <dgm:spPr/>
      <dgm:t>
        <a:bodyPr/>
        <a:lstStyle/>
        <a:p>
          <a:endParaRPr lang="es-ES"/>
        </a:p>
      </dgm:t>
    </dgm:pt>
    <dgm:pt modelId="{649C623B-50B1-413F-82D8-62644836BE4D}">
      <dgm:prSet/>
      <dgm:spPr/>
      <dgm:t>
        <a:bodyPr/>
        <a:lstStyle/>
        <a:p>
          <a:r>
            <a:rPr lang="es-ES" dirty="0"/>
            <a:t>¿Notas que, al usar tu móvil, este se ralentiza o aparecen anuncios no deseados de repente?</a:t>
          </a:r>
        </a:p>
      </dgm:t>
    </dgm:pt>
    <dgm:pt modelId="{368956A1-5E39-404A-87F9-03DB98D880EA}" type="parTrans" cxnId="{7CC7295E-D7B0-4742-B9F9-9C9DEF4A6148}">
      <dgm:prSet/>
      <dgm:spPr/>
      <dgm:t>
        <a:bodyPr/>
        <a:lstStyle/>
        <a:p>
          <a:endParaRPr lang="es-ES"/>
        </a:p>
      </dgm:t>
    </dgm:pt>
    <dgm:pt modelId="{3AF8011F-F432-4E3F-80A6-EBB9EDD66B33}" type="sibTrans" cxnId="{7CC7295E-D7B0-4742-B9F9-9C9DEF4A6148}">
      <dgm:prSet/>
      <dgm:spPr/>
      <dgm:t>
        <a:bodyPr/>
        <a:lstStyle/>
        <a:p>
          <a:endParaRPr lang="es-ES"/>
        </a:p>
      </dgm:t>
    </dgm:pt>
    <dgm:pt modelId="{E529947A-8201-4494-9865-C871BC031609}">
      <dgm:prSet/>
      <dgm:spPr/>
      <dgm:t>
        <a:bodyPr/>
        <a:lstStyle/>
        <a:p>
          <a:r>
            <a:rPr lang="es-ES" dirty="0"/>
            <a:t>¿Alguna vez te has preguntado cómo han podido obtener tus credenciales sin que hayas sido víctima de un phishing?</a:t>
          </a:r>
        </a:p>
      </dgm:t>
    </dgm:pt>
    <dgm:pt modelId="{673179FC-97A1-41C8-8C3C-928AD06B1E0D}" type="parTrans" cxnId="{A6C49150-87D1-4264-ACA4-F90F1AE8D26F}">
      <dgm:prSet/>
      <dgm:spPr/>
      <dgm:t>
        <a:bodyPr/>
        <a:lstStyle/>
        <a:p>
          <a:endParaRPr lang="es-ES"/>
        </a:p>
      </dgm:t>
    </dgm:pt>
    <dgm:pt modelId="{BC6F9281-0502-4379-AA38-C2784F789499}" type="sibTrans" cxnId="{A6C49150-87D1-4264-ACA4-F90F1AE8D26F}">
      <dgm:prSet/>
      <dgm:spPr/>
      <dgm:t>
        <a:bodyPr/>
        <a:lstStyle/>
        <a:p>
          <a:endParaRPr lang="es-ES"/>
        </a:p>
      </dgm:t>
    </dgm:pt>
    <dgm:pt modelId="{423CEF07-3C11-4A1A-93E6-189D0AE6AD3C}">
      <dgm:prSet/>
      <dgm:spPr/>
      <dgm:t>
        <a:bodyPr/>
        <a:lstStyle/>
        <a:p>
          <a:r>
            <a:rPr lang="es-ES" dirty="0"/>
            <a:t>¿Cómo han podido confirmar una transacción, si es necesario introducir el código que solo yo recibido por SMS en mi móvil? </a:t>
          </a:r>
        </a:p>
      </dgm:t>
    </dgm:pt>
    <dgm:pt modelId="{B6E13E96-ED9F-4BD6-8290-D97EA92B17D5}" type="parTrans" cxnId="{819D73B7-2D6B-4C86-9B37-74A596AAB92A}">
      <dgm:prSet/>
      <dgm:spPr/>
      <dgm:t>
        <a:bodyPr/>
        <a:lstStyle/>
        <a:p>
          <a:endParaRPr lang="es-ES"/>
        </a:p>
      </dgm:t>
    </dgm:pt>
    <dgm:pt modelId="{CA09BFDA-C445-472C-AB81-9ED1F24D62CF}" type="sibTrans" cxnId="{819D73B7-2D6B-4C86-9B37-74A596AAB92A}">
      <dgm:prSet/>
      <dgm:spPr/>
      <dgm:t>
        <a:bodyPr/>
        <a:lstStyle/>
        <a:p>
          <a:endParaRPr lang="es-ES"/>
        </a:p>
      </dgm:t>
    </dgm:pt>
    <dgm:pt modelId="{7DF0F16E-1F63-4D2A-949D-D4CAC8938503}">
      <dgm:prSet phldrT="[Texto]"/>
      <dgm:spPr/>
      <dgm:t>
        <a:bodyPr/>
        <a:lstStyle/>
        <a:p>
          <a:r>
            <a:rPr lang="es-ES" dirty="0"/>
            <a:t>Te has descargado una app que infecta el dispositivo con un virus de tipo </a:t>
          </a:r>
          <a:r>
            <a:rPr lang="es-ES" dirty="0" err="1"/>
            <a:t>ransomware</a:t>
          </a:r>
          <a:r>
            <a:rPr lang="es-ES" dirty="0"/>
            <a:t>.</a:t>
          </a:r>
        </a:p>
      </dgm:t>
    </dgm:pt>
    <dgm:pt modelId="{5444D01B-4304-4C4A-855B-FB3E83AB3F01}" type="parTrans" cxnId="{72C24641-FF7F-4087-8EBA-317BB768747D}">
      <dgm:prSet/>
      <dgm:spPr/>
      <dgm:t>
        <a:bodyPr/>
        <a:lstStyle/>
        <a:p>
          <a:endParaRPr lang="es-ES"/>
        </a:p>
      </dgm:t>
    </dgm:pt>
    <dgm:pt modelId="{FA762EA7-1690-4187-BF90-7DE7E82A70C8}" type="sibTrans" cxnId="{72C24641-FF7F-4087-8EBA-317BB768747D}">
      <dgm:prSet/>
      <dgm:spPr/>
      <dgm:t>
        <a:bodyPr/>
        <a:lstStyle/>
        <a:p>
          <a:endParaRPr lang="es-ES"/>
        </a:p>
      </dgm:t>
    </dgm:pt>
    <dgm:pt modelId="{EB21430B-22B0-482E-8C58-6DB6418F499C}">
      <dgm:prSet/>
      <dgm:spPr/>
      <dgm:t>
        <a:bodyPr/>
        <a:lstStyle/>
        <a:p>
          <a:r>
            <a:rPr lang="es-ES"/>
            <a:t>La </a:t>
          </a:r>
          <a:r>
            <a:rPr lang="es-ES" dirty="0"/>
            <a:t>explicación puede estar en una app, de dudosa reputación, que intenta redirigirte a sitios web con distintos fines: publicitarios, recopilación de datos personales, etc.</a:t>
          </a:r>
        </a:p>
      </dgm:t>
    </dgm:pt>
    <dgm:pt modelId="{49C8361A-5AA6-4946-9A5A-F64E8731AD16}" type="parTrans" cxnId="{2109316B-B023-471C-B407-69391D089AC6}">
      <dgm:prSet/>
      <dgm:spPr/>
      <dgm:t>
        <a:bodyPr/>
        <a:lstStyle/>
        <a:p>
          <a:endParaRPr lang="es-ES"/>
        </a:p>
      </dgm:t>
    </dgm:pt>
    <dgm:pt modelId="{ACE272D5-2B40-41BC-B1D0-05D2D17D414B}" type="sibTrans" cxnId="{2109316B-B023-471C-B407-69391D089AC6}">
      <dgm:prSet/>
      <dgm:spPr/>
      <dgm:t>
        <a:bodyPr/>
        <a:lstStyle/>
        <a:p>
          <a:endParaRPr lang="es-ES"/>
        </a:p>
      </dgm:t>
    </dgm:pt>
    <dgm:pt modelId="{370BD681-90AA-4C30-A264-692F84E2DE44}">
      <dgm:prSet/>
      <dgm:spPr/>
      <dgm:t>
        <a:bodyPr/>
        <a:lstStyle/>
        <a:p>
          <a:r>
            <a:rPr lang="es-ES" dirty="0"/>
            <a:t> Puede que hayas descargado una aplicación que registra las pulsaciones que haces en la pantalla de tu móvil: </a:t>
          </a:r>
          <a:r>
            <a:rPr lang="es-ES" dirty="0" err="1"/>
            <a:t>keylogger</a:t>
          </a:r>
          <a:endParaRPr lang="es-ES" dirty="0"/>
        </a:p>
      </dgm:t>
    </dgm:pt>
    <dgm:pt modelId="{B3485F79-4F39-4EDE-95BF-AC2EB390E113}" type="parTrans" cxnId="{E706DBE0-494C-456A-A6EC-7B24CFA57D57}">
      <dgm:prSet/>
      <dgm:spPr/>
      <dgm:t>
        <a:bodyPr/>
        <a:lstStyle/>
        <a:p>
          <a:endParaRPr lang="es-ES"/>
        </a:p>
      </dgm:t>
    </dgm:pt>
    <dgm:pt modelId="{56B3B070-A84F-4BE4-8E0B-D36C70298EF5}" type="sibTrans" cxnId="{E706DBE0-494C-456A-A6EC-7B24CFA57D57}">
      <dgm:prSet/>
      <dgm:spPr/>
      <dgm:t>
        <a:bodyPr/>
        <a:lstStyle/>
        <a:p>
          <a:endParaRPr lang="es-ES"/>
        </a:p>
      </dgm:t>
    </dgm:pt>
    <dgm:pt modelId="{0E5BD481-74FC-40CD-9FFF-A68FC7732445}">
      <dgm:prSet/>
      <dgm:spPr/>
      <dgm:t>
        <a:bodyPr/>
        <a:lstStyle/>
        <a:p>
          <a:r>
            <a:rPr lang="es-ES"/>
            <a:t>Es </a:t>
          </a:r>
          <a:r>
            <a:rPr lang="es-ES" dirty="0"/>
            <a:t>posible que alguna de tus aplicaciones instaladas tenga permisos para leer los SMS que recibas y, de esta forma, visualizar su contenido.</a:t>
          </a:r>
        </a:p>
      </dgm:t>
    </dgm:pt>
    <dgm:pt modelId="{A1503ED6-3C91-4A2E-A9D4-BEECDAEFAF25}" type="parTrans" cxnId="{578FB6CA-AAAB-4C29-B045-73BAA35E328C}">
      <dgm:prSet/>
      <dgm:spPr/>
      <dgm:t>
        <a:bodyPr/>
        <a:lstStyle/>
        <a:p>
          <a:endParaRPr lang="es-ES"/>
        </a:p>
      </dgm:t>
    </dgm:pt>
    <dgm:pt modelId="{6529D012-42EB-43B9-B9AA-C69336924E1B}" type="sibTrans" cxnId="{578FB6CA-AAAB-4C29-B045-73BAA35E328C}">
      <dgm:prSet/>
      <dgm:spPr/>
      <dgm:t>
        <a:bodyPr/>
        <a:lstStyle/>
        <a:p>
          <a:endParaRPr lang="es-ES"/>
        </a:p>
      </dgm:t>
    </dgm:pt>
    <dgm:pt modelId="{A82DEC41-7116-4DE9-AEEA-61B6C4AFD998}" type="pres">
      <dgm:prSet presAssocID="{F55B5B96-94B5-44C9-B610-77F14CDB501E}" presName="linear" presStyleCnt="0">
        <dgm:presLayoutVars>
          <dgm:animLvl val="lvl"/>
          <dgm:resizeHandles val="exact"/>
        </dgm:presLayoutVars>
      </dgm:prSet>
      <dgm:spPr/>
    </dgm:pt>
    <dgm:pt modelId="{FBAD236B-770C-425F-9188-8E47550B5F8F}" type="pres">
      <dgm:prSet presAssocID="{C87701A3-2402-499E-8684-B77701596686}" presName="parentText" presStyleLbl="node1" presStyleIdx="0" presStyleCnt="4">
        <dgm:presLayoutVars>
          <dgm:chMax val="0"/>
          <dgm:bulletEnabled val="1"/>
        </dgm:presLayoutVars>
      </dgm:prSet>
      <dgm:spPr/>
    </dgm:pt>
    <dgm:pt modelId="{D9CBB5C8-F60E-44F5-B4D7-537710903522}" type="pres">
      <dgm:prSet presAssocID="{C87701A3-2402-499E-8684-B77701596686}" presName="childText" presStyleLbl="revTx" presStyleIdx="0" presStyleCnt="4">
        <dgm:presLayoutVars>
          <dgm:bulletEnabled val="1"/>
        </dgm:presLayoutVars>
      </dgm:prSet>
      <dgm:spPr/>
    </dgm:pt>
    <dgm:pt modelId="{4B585E47-4D52-4041-9420-D4D4532AA20C}" type="pres">
      <dgm:prSet presAssocID="{649C623B-50B1-413F-82D8-62644836BE4D}" presName="parentText" presStyleLbl="node1" presStyleIdx="1" presStyleCnt="4">
        <dgm:presLayoutVars>
          <dgm:chMax val="0"/>
          <dgm:bulletEnabled val="1"/>
        </dgm:presLayoutVars>
      </dgm:prSet>
      <dgm:spPr/>
    </dgm:pt>
    <dgm:pt modelId="{EDD4ACEA-D84F-4233-88F6-840E05A2FCD6}" type="pres">
      <dgm:prSet presAssocID="{649C623B-50B1-413F-82D8-62644836BE4D}" presName="childText" presStyleLbl="revTx" presStyleIdx="1" presStyleCnt="4">
        <dgm:presLayoutVars>
          <dgm:bulletEnabled val="1"/>
        </dgm:presLayoutVars>
      </dgm:prSet>
      <dgm:spPr/>
    </dgm:pt>
    <dgm:pt modelId="{3F6B7D5B-0585-47F2-A5C7-2D7F00286430}" type="pres">
      <dgm:prSet presAssocID="{E529947A-8201-4494-9865-C871BC031609}" presName="parentText" presStyleLbl="node1" presStyleIdx="2" presStyleCnt="4">
        <dgm:presLayoutVars>
          <dgm:chMax val="0"/>
          <dgm:bulletEnabled val="1"/>
        </dgm:presLayoutVars>
      </dgm:prSet>
      <dgm:spPr/>
    </dgm:pt>
    <dgm:pt modelId="{39A0C400-3DDB-4CBB-BCBA-A91E3AE08ED3}" type="pres">
      <dgm:prSet presAssocID="{E529947A-8201-4494-9865-C871BC031609}" presName="childText" presStyleLbl="revTx" presStyleIdx="2" presStyleCnt="4">
        <dgm:presLayoutVars>
          <dgm:bulletEnabled val="1"/>
        </dgm:presLayoutVars>
      </dgm:prSet>
      <dgm:spPr/>
    </dgm:pt>
    <dgm:pt modelId="{2EDE2F66-CAAD-47E6-B629-098CA9F0F063}" type="pres">
      <dgm:prSet presAssocID="{423CEF07-3C11-4A1A-93E6-189D0AE6AD3C}" presName="parentText" presStyleLbl="node1" presStyleIdx="3" presStyleCnt="4">
        <dgm:presLayoutVars>
          <dgm:chMax val="0"/>
          <dgm:bulletEnabled val="1"/>
        </dgm:presLayoutVars>
      </dgm:prSet>
      <dgm:spPr/>
    </dgm:pt>
    <dgm:pt modelId="{4960763D-5E18-484F-AC59-AE8B06850B4F}" type="pres">
      <dgm:prSet presAssocID="{423CEF07-3C11-4A1A-93E6-189D0AE6AD3C}" presName="childText" presStyleLbl="revTx" presStyleIdx="3" presStyleCnt="4">
        <dgm:presLayoutVars>
          <dgm:bulletEnabled val="1"/>
        </dgm:presLayoutVars>
      </dgm:prSet>
      <dgm:spPr/>
    </dgm:pt>
  </dgm:ptLst>
  <dgm:cxnLst>
    <dgm:cxn modelId="{090E4505-5EA7-4473-8128-087C9B9AB749}" type="presOf" srcId="{EB21430B-22B0-482E-8C58-6DB6418F499C}" destId="{EDD4ACEA-D84F-4233-88F6-840E05A2FCD6}" srcOrd="0" destOrd="0" presId="urn:microsoft.com/office/officeart/2005/8/layout/vList2"/>
    <dgm:cxn modelId="{5B2E4F06-9D0D-48C5-8982-C9AB1BDE7507}" type="presOf" srcId="{423CEF07-3C11-4A1A-93E6-189D0AE6AD3C}" destId="{2EDE2F66-CAAD-47E6-B629-098CA9F0F063}" srcOrd="0" destOrd="0" presId="urn:microsoft.com/office/officeart/2005/8/layout/vList2"/>
    <dgm:cxn modelId="{8836AD14-476B-420E-9278-70E7DA9D52EF}" type="presOf" srcId="{E529947A-8201-4494-9865-C871BC031609}" destId="{3F6B7D5B-0585-47F2-A5C7-2D7F00286430}" srcOrd="0" destOrd="0" presId="urn:microsoft.com/office/officeart/2005/8/layout/vList2"/>
    <dgm:cxn modelId="{74008F2F-A755-4E74-A978-92781C3ED708}" type="presOf" srcId="{7DF0F16E-1F63-4D2A-949D-D4CAC8938503}" destId="{D9CBB5C8-F60E-44F5-B4D7-537710903522}" srcOrd="0" destOrd="0" presId="urn:microsoft.com/office/officeart/2005/8/layout/vList2"/>
    <dgm:cxn modelId="{17E56D5D-CDD8-4083-B02A-9D85BDD4F1A6}" type="presOf" srcId="{0E5BD481-74FC-40CD-9FFF-A68FC7732445}" destId="{4960763D-5E18-484F-AC59-AE8B06850B4F}" srcOrd="0" destOrd="0" presId="urn:microsoft.com/office/officeart/2005/8/layout/vList2"/>
    <dgm:cxn modelId="{7CC7295E-D7B0-4742-B9F9-9C9DEF4A6148}" srcId="{F55B5B96-94B5-44C9-B610-77F14CDB501E}" destId="{649C623B-50B1-413F-82D8-62644836BE4D}" srcOrd="1" destOrd="0" parTransId="{368956A1-5E39-404A-87F9-03DB98D880EA}" sibTransId="{3AF8011F-F432-4E3F-80A6-EBB9EDD66B33}"/>
    <dgm:cxn modelId="{72C24641-FF7F-4087-8EBA-317BB768747D}" srcId="{C87701A3-2402-499E-8684-B77701596686}" destId="{7DF0F16E-1F63-4D2A-949D-D4CAC8938503}" srcOrd="0" destOrd="0" parTransId="{5444D01B-4304-4C4A-855B-FB3E83AB3F01}" sibTransId="{FA762EA7-1690-4187-BF90-7DE7E82A70C8}"/>
    <dgm:cxn modelId="{55736D41-4ED5-4D5D-B4CB-C33E23C7A350}" type="presOf" srcId="{370BD681-90AA-4C30-A264-692F84E2DE44}" destId="{39A0C400-3DDB-4CBB-BCBA-A91E3AE08ED3}" srcOrd="0" destOrd="0" presId="urn:microsoft.com/office/officeart/2005/8/layout/vList2"/>
    <dgm:cxn modelId="{E2C75A68-CAB5-4603-9831-94ADFE2A3940}" srcId="{F55B5B96-94B5-44C9-B610-77F14CDB501E}" destId="{C87701A3-2402-499E-8684-B77701596686}" srcOrd="0" destOrd="0" parTransId="{1F440ED2-BCD0-4641-BBA6-AB1E4A7F6647}" sibTransId="{8B5447FE-1DC1-46A5-AAEB-C7F5E4F6443E}"/>
    <dgm:cxn modelId="{2109316B-B023-471C-B407-69391D089AC6}" srcId="{649C623B-50B1-413F-82D8-62644836BE4D}" destId="{EB21430B-22B0-482E-8C58-6DB6418F499C}" srcOrd="0" destOrd="0" parTransId="{49C8361A-5AA6-4946-9A5A-F64E8731AD16}" sibTransId="{ACE272D5-2B40-41BC-B1D0-05D2D17D414B}"/>
    <dgm:cxn modelId="{A6C49150-87D1-4264-ACA4-F90F1AE8D26F}" srcId="{F55B5B96-94B5-44C9-B610-77F14CDB501E}" destId="{E529947A-8201-4494-9865-C871BC031609}" srcOrd="2" destOrd="0" parTransId="{673179FC-97A1-41C8-8C3C-928AD06B1E0D}" sibTransId="{BC6F9281-0502-4379-AA38-C2784F789499}"/>
    <dgm:cxn modelId="{D691D798-E5C7-4CF4-85DF-AC6406FC81B9}" type="presOf" srcId="{C87701A3-2402-499E-8684-B77701596686}" destId="{FBAD236B-770C-425F-9188-8E47550B5F8F}" srcOrd="0" destOrd="0" presId="urn:microsoft.com/office/officeart/2005/8/layout/vList2"/>
    <dgm:cxn modelId="{11CB1FA6-2F97-4502-8408-0E712F7CC16E}" type="presOf" srcId="{F55B5B96-94B5-44C9-B610-77F14CDB501E}" destId="{A82DEC41-7116-4DE9-AEEA-61B6C4AFD998}" srcOrd="0" destOrd="0" presId="urn:microsoft.com/office/officeart/2005/8/layout/vList2"/>
    <dgm:cxn modelId="{819D73B7-2D6B-4C86-9B37-74A596AAB92A}" srcId="{F55B5B96-94B5-44C9-B610-77F14CDB501E}" destId="{423CEF07-3C11-4A1A-93E6-189D0AE6AD3C}" srcOrd="3" destOrd="0" parTransId="{B6E13E96-ED9F-4BD6-8290-D97EA92B17D5}" sibTransId="{CA09BFDA-C445-472C-AB81-9ED1F24D62CF}"/>
    <dgm:cxn modelId="{578FB6CA-AAAB-4C29-B045-73BAA35E328C}" srcId="{423CEF07-3C11-4A1A-93E6-189D0AE6AD3C}" destId="{0E5BD481-74FC-40CD-9FFF-A68FC7732445}" srcOrd="0" destOrd="0" parTransId="{A1503ED6-3C91-4A2E-A9D4-BEECDAEFAF25}" sibTransId="{6529D012-42EB-43B9-B9AA-C69336924E1B}"/>
    <dgm:cxn modelId="{E706DBE0-494C-456A-A6EC-7B24CFA57D57}" srcId="{E529947A-8201-4494-9865-C871BC031609}" destId="{370BD681-90AA-4C30-A264-692F84E2DE44}" srcOrd="0" destOrd="0" parTransId="{B3485F79-4F39-4EDE-95BF-AC2EB390E113}" sibTransId="{56B3B070-A84F-4BE4-8E0B-D36C70298EF5}"/>
    <dgm:cxn modelId="{0B9849ED-D3C4-45F2-B9D6-FB96EFC2EAD7}" type="presOf" srcId="{649C623B-50B1-413F-82D8-62644836BE4D}" destId="{4B585E47-4D52-4041-9420-D4D4532AA20C}" srcOrd="0" destOrd="0" presId="urn:microsoft.com/office/officeart/2005/8/layout/vList2"/>
    <dgm:cxn modelId="{A5AFE5CC-4BE0-4C31-82A0-684E7C014755}" type="presParOf" srcId="{A82DEC41-7116-4DE9-AEEA-61B6C4AFD998}" destId="{FBAD236B-770C-425F-9188-8E47550B5F8F}" srcOrd="0" destOrd="0" presId="urn:microsoft.com/office/officeart/2005/8/layout/vList2"/>
    <dgm:cxn modelId="{0DB4CDE4-F6AD-4868-88E0-67894AE90AA9}" type="presParOf" srcId="{A82DEC41-7116-4DE9-AEEA-61B6C4AFD998}" destId="{D9CBB5C8-F60E-44F5-B4D7-537710903522}" srcOrd="1" destOrd="0" presId="urn:microsoft.com/office/officeart/2005/8/layout/vList2"/>
    <dgm:cxn modelId="{3404FF02-EE09-48EF-9ECE-F3E5DD2CFB23}" type="presParOf" srcId="{A82DEC41-7116-4DE9-AEEA-61B6C4AFD998}" destId="{4B585E47-4D52-4041-9420-D4D4532AA20C}" srcOrd="2" destOrd="0" presId="urn:microsoft.com/office/officeart/2005/8/layout/vList2"/>
    <dgm:cxn modelId="{2AD4C802-E940-41DC-A491-6CC72498A50C}" type="presParOf" srcId="{A82DEC41-7116-4DE9-AEEA-61B6C4AFD998}" destId="{EDD4ACEA-D84F-4233-88F6-840E05A2FCD6}" srcOrd="3" destOrd="0" presId="urn:microsoft.com/office/officeart/2005/8/layout/vList2"/>
    <dgm:cxn modelId="{CD0FCB20-4111-4DDE-980F-CAA877A6D62A}" type="presParOf" srcId="{A82DEC41-7116-4DE9-AEEA-61B6C4AFD998}" destId="{3F6B7D5B-0585-47F2-A5C7-2D7F00286430}" srcOrd="4" destOrd="0" presId="urn:microsoft.com/office/officeart/2005/8/layout/vList2"/>
    <dgm:cxn modelId="{5834A7E0-CEFD-439C-865B-0113FA1D9C3C}" type="presParOf" srcId="{A82DEC41-7116-4DE9-AEEA-61B6C4AFD998}" destId="{39A0C400-3DDB-4CBB-BCBA-A91E3AE08ED3}" srcOrd="5" destOrd="0" presId="urn:microsoft.com/office/officeart/2005/8/layout/vList2"/>
    <dgm:cxn modelId="{2D83B809-1FB9-43F2-A3FB-7B2101396415}" type="presParOf" srcId="{A82DEC41-7116-4DE9-AEEA-61B6C4AFD998}" destId="{2EDE2F66-CAAD-47E6-B629-098CA9F0F063}" srcOrd="6" destOrd="0" presId="urn:microsoft.com/office/officeart/2005/8/layout/vList2"/>
    <dgm:cxn modelId="{0B7093C4-6777-4D9A-8683-7D3CC54A02DE}" type="presParOf" srcId="{A82DEC41-7116-4DE9-AEEA-61B6C4AFD998}" destId="{4960763D-5E18-484F-AC59-AE8B06850B4F}"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78FEC7A-BC71-45DA-B02E-B0E60E70E6E6}"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0EE18B65-EAAC-47A8-B04D-F660E86B7DB6}">
      <dgm:prSet phldrT="[Texto]"/>
      <dgm:spPr/>
      <dgm:t>
        <a:bodyPr/>
        <a:lstStyle/>
        <a:p>
          <a:r>
            <a:rPr lang="es-ES" dirty="0"/>
            <a:t>Un número abrumador de tareas</a:t>
          </a:r>
        </a:p>
      </dgm:t>
    </dgm:pt>
    <dgm:pt modelId="{57EDE4DC-2C4D-4AC6-83B7-CBE6375AC856}" type="parTrans" cxnId="{38F93D28-BEAA-4112-9269-5E5CF4DB9A55}">
      <dgm:prSet/>
      <dgm:spPr/>
      <dgm:t>
        <a:bodyPr/>
        <a:lstStyle/>
        <a:p>
          <a:endParaRPr lang="es-ES"/>
        </a:p>
      </dgm:t>
    </dgm:pt>
    <dgm:pt modelId="{73E1371A-C6D2-4D68-9B33-4B80FE0D3140}" type="sibTrans" cxnId="{38F93D28-BEAA-4112-9269-5E5CF4DB9A55}">
      <dgm:prSet/>
      <dgm:spPr/>
      <dgm:t>
        <a:bodyPr/>
        <a:lstStyle/>
        <a:p>
          <a:endParaRPr lang="es-ES"/>
        </a:p>
      </dgm:t>
    </dgm:pt>
    <dgm:pt modelId="{FC6588F3-7413-42E7-B431-AFE1A3E93F47}">
      <dgm:prSet phldrT="[Texto]"/>
      <dgm:spPr/>
      <dgm:t>
        <a:bodyPr/>
        <a:lstStyle/>
        <a:p>
          <a:r>
            <a:rPr lang="es-ES" dirty="0"/>
            <a:t>La gran cantidad de tareas de análisis y evaluación de las que son responsables están más allá de la escala humana.</a:t>
          </a:r>
        </a:p>
      </dgm:t>
    </dgm:pt>
    <dgm:pt modelId="{185E5442-3C35-4B03-AF5F-247E0B38F03C}" type="parTrans" cxnId="{642770CB-5B8E-43F2-B2C2-8920EC88A223}">
      <dgm:prSet/>
      <dgm:spPr/>
      <dgm:t>
        <a:bodyPr/>
        <a:lstStyle/>
        <a:p>
          <a:endParaRPr lang="es-ES"/>
        </a:p>
      </dgm:t>
    </dgm:pt>
    <dgm:pt modelId="{02EE3061-5A86-4792-8FCE-463D74AA5904}" type="sibTrans" cxnId="{642770CB-5B8E-43F2-B2C2-8920EC88A223}">
      <dgm:prSet/>
      <dgm:spPr/>
      <dgm:t>
        <a:bodyPr/>
        <a:lstStyle/>
        <a:p>
          <a:endParaRPr lang="es-ES"/>
        </a:p>
      </dgm:t>
    </dgm:pt>
    <dgm:pt modelId="{F1419C0A-2392-4BA9-87DF-F09FE9DBE81D}">
      <dgm:prSet phldrT="[Texto]"/>
      <dgm:spPr/>
      <dgm:t>
        <a:bodyPr/>
        <a:lstStyle/>
        <a:p>
          <a:r>
            <a:rPr lang="es-ES" dirty="0"/>
            <a:t>Nunca hay suficiente tiempo</a:t>
          </a:r>
        </a:p>
      </dgm:t>
    </dgm:pt>
    <dgm:pt modelId="{7E3919CC-5D56-4F4B-B300-5A458528B3B0}" type="parTrans" cxnId="{36740BBD-B9BC-4FD9-AA69-18083714D76C}">
      <dgm:prSet/>
      <dgm:spPr/>
      <dgm:t>
        <a:bodyPr/>
        <a:lstStyle/>
        <a:p>
          <a:endParaRPr lang="es-ES"/>
        </a:p>
      </dgm:t>
    </dgm:pt>
    <dgm:pt modelId="{EF08F38A-058F-4EF7-B5F4-2F61DABE3E77}" type="sibTrans" cxnId="{36740BBD-B9BC-4FD9-AA69-18083714D76C}">
      <dgm:prSet/>
      <dgm:spPr/>
      <dgm:t>
        <a:bodyPr/>
        <a:lstStyle/>
        <a:p>
          <a:endParaRPr lang="es-ES"/>
        </a:p>
      </dgm:t>
    </dgm:pt>
    <dgm:pt modelId="{B4FA09CD-A703-466F-B328-5629A4305D6E}">
      <dgm:prSet phldrT="[Texto]"/>
      <dgm:spPr/>
      <dgm:t>
        <a:bodyPr/>
        <a:lstStyle/>
        <a:p>
          <a:r>
            <a:rPr lang="es-ES" dirty="0"/>
            <a:t>El tiempo requerido para responder a los ataques cibernéticos debe minimizarse tanto como sea posible.</a:t>
          </a:r>
        </a:p>
      </dgm:t>
    </dgm:pt>
    <dgm:pt modelId="{55282647-6393-49E1-9A07-48EAB0970C9E}" type="parTrans" cxnId="{C2BA70DB-CB6B-420A-9A88-D0A3E1BFA520}">
      <dgm:prSet/>
      <dgm:spPr/>
      <dgm:t>
        <a:bodyPr/>
        <a:lstStyle/>
        <a:p>
          <a:endParaRPr lang="es-ES"/>
        </a:p>
      </dgm:t>
    </dgm:pt>
    <dgm:pt modelId="{CA60F69B-DE1C-40AB-8234-0D17B5B01120}" type="sibTrans" cxnId="{C2BA70DB-CB6B-420A-9A88-D0A3E1BFA520}">
      <dgm:prSet/>
      <dgm:spPr/>
      <dgm:t>
        <a:bodyPr/>
        <a:lstStyle/>
        <a:p>
          <a:endParaRPr lang="es-ES"/>
        </a:p>
      </dgm:t>
    </dgm:pt>
    <dgm:pt modelId="{432FCBAE-3588-4B04-842E-312FAB6F0476}">
      <dgm:prSet phldrT="[Texto]"/>
      <dgm:spPr/>
      <dgm:t>
        <a:bodyPr/>
        <a:lstStyle/>
        <a:p>
          <a:r>
            <a:rPr lang="es-ES" dirty="0"/>
            <a:t>Demasiados datos para manejar</a:t>
          </a:r>
        </a:p>
      </dgm:t>
    </dgm:pt>
    <dgm:pt modelId="{BE6C919A-A71B-463A-AC9B-885075D51830}" type="parTrans" cxnId="{1DCC84C2-2E26-4755-91DB-88C3D02DFB6E}">
      <dgm:prSet/>
      <dgm:spPr/>
      <dgm:t>
        <a:bodyPr/>
        <a:lstStyle/>
        <a:p>
          <a:endParaRPr lang="es-ES"/>
        </a:p>
      </dgm:t>
    </dgm:pt>
    <dgm:pt modelId="{DD4664D8-5D3F-453E-8E31-7E953B961B3C}" type="sibTrans" cxnId="{1DCC84C2-2E26-4755-91DB-88C3D02DFB6E}">
      <dgm:prSet/>
      <dgm:spPr/>
      <dgm:t>
        <a:bodyPr/>
        <a:lstStyle/>
        <a:p>
          <a:endParaRPr lang="es-ES"/>
        </a:p>
      </dgm:t>
    </dgm:pt>
    <dgm:pt modelId="{0077F583-2802-4C42-8F80-A7B9162E781E}">
      <dgm:prSet phldrT="[Texto]"/>
      <dgm:spPr/>
      <dgm:t>
        <a:bodyPr/>
        <a:lstStyle/>
        <a:p>
          <a:r>
            <a:rPr lang="es-ES" dirty="0"/>
            <a:t>Aunque tener una gran cantidad de datos a su disposición es excelente, todos esos datos deben clasificarse y analizarse.</a:t>
          </a:r>
        </a:p>
      </dgm:t>
    </dgm:pt>
    <dgm:pt modelId="{CD22A8C0-0AD3-4381-B439-EF5126097B44}" type="parTrans" cxnId="{63F68EB5-0715-44C9-A76A-0F5296F1DD98}">
      <dgm:prSet/>
      <dgm:spPr/>
      <dgm:t>
        <a:bodyPr/>
        <a:lstStyle/>
        <a:p>
          <a:endParaRPr lang="es-ES"/>
        </a:p>
      </dgm:t>
    </dgm:pt>
    <dgm:pt modelId="{1EE340F2-2BD6-46B7-8B8E-600CC1A119ED}" type="sibTrans" cxnId="{63F68EB5-0715-44C9-A76A-0F5296F1DD98}">
      <dgm:prSet/>
      <dgm:spPr/>
      <dgm:t>
        <a:bodyPr/>
        <a:lstStyle/>
        <a:p>
          <a:endParaRPr lang="es-ES"/>
        </a:p>
      </dgm:t>
    </dgm:pt>
    <dgm:pt modelId="{935F9A72-047A-461D-BEB9-E826F478D5D9}">
      <dgm:prSet phldrT="[Texto]"/>
      <dgm:spPr/>
      <dgm:t>
        <a:bodyPr/>
        <a:lstStyle/>
        <a:p>
          <a:r>
            <a:rPr lang="es-ES" dirty="0"/>
            <a:t>La industria enfrenta una continua escasez de habilidades</a:t>
          </a:r>
        </a:p>
      </dgm:t>
    </dgm:pt>
    <dgm:pt modelId="{5BF1E712-0DC6-4A8D-990E-478CC5DFFFE7}" type="parTrans" cxnId="{4F14C3D6-AFDC-48B1-913B-A2450A25C3BE}">
      <dgm:prSet/>
      <dgm:spPr/>
      <dgm:t>
        <a:bodyPr/>
        <a:lstStyle/>
        <a:p>
          <a:endParaRPr lang="es-419"/>
        </a:p>
      </dgm:t>
    </dgm:pt>
    <dgm:pt modelId="{8EAFEED8-30D0-498F-8477-EEFD7058F0F8}" type="sibTrans" cxnId="{4F14C3D6-AFDC-48B1-913B-A2450A25C3BE}">
      <dgm:prSet/>
      <dgm:spPr/>
      <dgm:t>
        <a:bodyPr/>
        <a:lstStyle/>
        <a:p>
          <a:endParaRPr lang="es-419"/>
        </a:p>
      </dgm:t>
    </dgm:pt>
    <dgm:pt modelId="{18F620E0-9BF6-48B8-93BB-A6F1E1ABBDFF}">
      <dgm:prSet phldrT="[Texto]"/>
      <dgm:spPr/>
      <dgm:t>
        <a:bodyPr/>
        <a:lstStyle/>
        <a:p>
          <a:r>
            <a:rPr lang="es-ES" dirty="0"/>
            <a:t>Dentro de la industria, las habilidades necesarias no siempre están disponibles.</a:t>
          </a:r>
        </a:p>
      </dgm:t>
    </dgm:pt>
    <dgm:pt modelId="{4A2CFD59-6118-48C9-8D85-0B6154FF1AF9}" type="parTrans" cxnId="{06EB4236-89AF-4CE8-99D3-B192ED36EAC1}">
      <dgm:prSet/>
      <dgm:spPr/>
      <dgm:t>
        <a:bodyPr/>
        <a:lstStyle/>
        <a:p>
          <a:endParaRPr lang="es-419"/>
        </a:p>
      </dgm:t>
    </dgm:pt>
    <dgm:pt modelId="{54F3FC7C-0768-41A2-9D1C-AB176E0BE84E}" type="sibTrans" cxnId="{06EB4236-89AF-4CE8-99D3-B192ED36EAC1}">
      <dgm:prSet/>
      <dgm:spPr/>
      <dgm:t>
        <a:bodyPr/>
        <a:lstStyle/>
        <a:p>
          <a:endParaRPr lang="es-419"/>
        </a:p>
      </dgm:t>
    </dgm:pt>
    <dgm:pt modelId="{F972AC51-7092-4D26-AEDE-DB333FFDEDC7}" type="pres">
      <dgm:prSet presAssocID="{778FEC7A-BC71-45DA-B02E-B0E60E70E6E6}" presName="linear" presStyleCnt="0">
        <dgm:presLayoutVars>
          <dgm:dir/>
          <dgm:resizeHandles val="exact"/>
        </dgm:presLayoutVars>
      </dgm:prSet>
      <dgm:spPr/>
    </dgm:pt>
    <dgm:pt modelId="{6F6AB3D0-1CDC-4CF6-B023-B48C18DE67E1}" type="pres">
      <dgm:prSet presAssocID="{0EE18B65-EAAC-47A8-B04D-F660E86B7DB6}" presName="comp" presStyleCnt="0"/>
      <dgm:spPr/>
    </dgm:pt>
    <dgm:pt modelId="{6FDCBD32-3A33-4DBC-8061-CCEB349172D2}" type="pres">
      <dgm:prSet presAssocID="{0EE18B65-EAAC-47A8-B04D-F660E86B7DB6}" presName="box" presStyleLbl="node1" presStyleIdx="0" presStyleCnt="4"/>
      <dgm:spPr/>
    </dgm:pt>
    <dgm:pt modelId="{70DEA6BD-F41E-42E9-B10E-2760040A69E5}" type="pres">
      <dgm:prSet presAssocID="{0EE18B65-EAAC-47A8-B04D-F660E86B7DB6}" presName="img" presStyleLbl="fgImgPlace1" presStyleIdx="0" presStyleCnt="4"/>
      <dgm:spPr>
        <a:blipFill rotWithShape="1">
          <a:blip xmlns:r="http://schemas.openxmlformats.org/officeDocument/2006/relationships" r:embed="rId1"/>
          <a:srcRect/>
          <a:stretch>
            <a:fillRect t="-15000" b="-15000"/>
          </a:stretch>
        </a:blipFill>
      </dgm:spPr>
    </dgm:pt>
    <dgm:pt modelId="{FCF19486-64B3-49DD-ACC6-F2B1A687D78D}" type="pres">
      <dgm:prSet presAssocID="{0EE18B65-EAAC-47A8-B04D-F660E86B7DB6}" presName="text" presStyleLbl="node1" presStyleIdx="0" presStyleCnt="4">
        <dgm:presLayoutVars>
          <dgm:bulletEnabled val="1"/>
        </dgm:presLayoutVars>
      </dgm:prSet>
      <dgm:spPr/>
    </dgm:pt>
    <dgm:pt modelId="{4E5FADF2-6B4F-4155-BD2E-41B5A3A612E1}" type="pres">
      <dgm:prSet presAssocID="{73E1371A-C6D2-4D68-9B33-4B80FE0D3140}" presName="spacer" presStyleCnt="0"/>
      <dgm:spPr/>
    </dgm:pt>
    <dgm:pt modelId="{4EDFDEC7-336E-47A7-BEB1-5F36AF1FEE4C}" type="pres">
      <dgm:prSet presAssocID="{F1419C0A-2392-4BA9-87DF-F09FE9DBE81D}" presName="comp" presStyleCnt="0"/>
      <dgm:spPr/>
    </dgm:pt>
    <dgm:pt modelId="{86AEB417-7152-4037-B5B2-D2BF97C0FFA6}" type="pres">
      <dgm:prSet presAssocID="{F1419C0A-2392-4BA9-87DF-F09FE9DBE81D}" presName="box" presStyleLbl="node1" presStyleIdx="1" presStyleCnt="4"/>
      <dgm:spPr/>
    </dgm:pt>
    <dgm:pt modelId="{D3DA2E00-4F87-4777-AF3E-03FDD847BFF1}" type="pres">
      <dgm:prSet presAssocID="{F1419C0A-2392-4BA9-87DF-F09FE9DBE81D}" presName="img" presStyleLbl="fgImgPlace1" presStyleIdx="1" presStyleCnt="4"/>
      <dgm:spPr>
        <a:blipFill rotWithShape="1">
          <a:blip xmlns:r="http://schemas.openxmlformats.org/officeDocument/2006/relationships" r:embed="rId2"/>
          <a:srcRect/>
          <a:stretch>
            <a:fillRect t="-51000" b="-51000"/>
          </a:stretch>
        </a:blipFill>
      </dgm:spPr>
    </dgm:pt>
    <dgm:pt modelId="{826C4C65-51DA-4E74-B824-3622FCA3D093}" type="pres">
      <dgm:prSet presAssocID="{F1419C0A-2392-4BA9-87DF-F09FE9DBE81D}" presName="text" presStyleLbl="node1" presStyleIdx="1" presStyleCnt="4">
        <dgm:presLayoutVars>
          <dgm:bulletEnabled val="1"/>
        </dgm:presLayoutVars>
      </dgm:prSet>
      <dgm:spPr/>
    </dgm:pt>
    <dgm:pt modelId="{9B9CB5F8-90C3-4B2D-8A39-D6524539C711}" type="pres">
      <dgm:prSet presAssocID="{EF08F38A-058F-4EF7-B5F4-2F61DABE3E77}" presName="spacer" presStyleCnt="0"/>
      <dgm:spPr/>
    </dgm:pt>
    <dgm:pt modelId="{4DA1DA78-C09A-400C-9EA4-A897710AB598}" type="pres">
      <dgm:prSet presAssocID="{432FCBAE-3588-4B04-842E-312FAB6F0476}" presName="comp" presStyleCnt="0"/>
      <dgm:spPr/>
    </dgm:pt>
    <dgm:pt modelId="{D7350B0C-CE17-4495-BC28-2BDF170B1C0A}" type="pres">
      <dgm:prSet presAssocID="{432FCBAE-3588-4B04-842E-312FAB6F0476}" presName="box" presStyleLbl="node1" presStyleIdx="2" presStyleCnt="4"/>
      <dgm:spPr/>
    </dgm:pt>
    <dgm:pt modelId="{0D07605E-8C06-4EE8-916A-CE34E6B28B6D}" type="pres">
      <dgm:prSet presAssocID="{432FCBAE-3588-4B04-842E-312FAB6F0476}" presName="img" presStyleLbl="fgImgPlace1" presStyleIdx="2" presStyleCnt="4"/>
      <dgm:spPr>
        <a:blipFill rotWithShape="1">
          <a:blip xmlns:r="http://schemas.openxmlformats.org/officeDocument/2006/relationships" r:embed="rId3"/>
          <a:srcRect/>
          <a:stretch>
            <a:fillRect t="-14000" b="-14000"/>
          </a:stretch>
        </a:blipFill>
      </dgm:spPr>
    </dgm:pt>
    <dgm:pt modelId="{69B5CC1F-2802-49E6-98E6-D359F987701B}" type="pres">
      <dgm:prSet presAssocID="{432FCBAE-3588-4B04-842E-312FAB6F0476}" presName="text" presStyleLbl="node1" presStyleIdx="2" presStyleCnt="4">
        <dgm:presLayoutVars>
          <dgm:bulletEnabled val="1"/>
        </dgm:presLayoutVars>
      </dgm:prSet>
      <dgm:spPr/>
    </dgm:pt>
    <dgm:pt modelId="{063AE262-858A-4605-9D51-AA70EE3123C9}" type="pres">
      <dgm:prSet presAssocID="{DD4664D8-5D3F-453E-8E31-7E953B961B3C}" presName="spacer" presStyleCnt="0"/>
      <dgm:spPr/>
    </dgm:pt>
    <dgm:pt modelId="{8193E707-5467-47CB-952E-0279E1D682CA}" type="pres">
      <dgm:prSet presAssocID="{935F9A72-047A-461D-BEB9-E826F478D5D9}" presName="comp" presStyleCnt="0"/>
      <dgm:spPr/>
    </dgm:pt>
    <dgm:pt modelId="{42E469F2-F406-471F-8F50-B6588607E6F1}" type="pres">
      <dgm:prSet presAssocID="{935F9A72-047A-461D-BEB9-E826F478D5D9}" presName="box" presStyleLbl="node1" presStyleIdx="3" presStyleCnt="4"/>
      <dgm:spPr/>
    </dgm:pt>
    <dgm:pt modelId="{FD3B4621-E266-40ED-AFE3-BAE55FF02173}" type="pres">
      <dgm:prSet presAssocID="{935F9A72-047A-461D-BEB9-E826F478D5D9}" presName="img" presStyleLbl="fgImgPlace1" presStyleIdx="3" presStyleCnt="4"/>
      <dgm:spPr>
        <a:blipFill rotWithShape="1">
          <a:blip xmlns:r="http://schemas.openxmlformats.org/officeDocument/2006/relationships" r:embed="rId4"/>
          <a:srcRect/>
          <a:stretch>
            <a:fillRect t="-44000" b="-44000"/>
          </a:stretch>
        </a:blipFill>
      </dgm:spPr>
    </dgm:pt>
    <dgm:pt modelId="{547E49CB-FE9C-47C6-9277-6CCFBE7204C6}" type="pres">
      <dgm:prSet presAssocID="{935F9A72-047A-461D-BEB9-E826F478D5D9}" presName="text" presStyleLbl="node1" presStyleIdx="3" presStyleCnt="4">
        <dgm:presLayoutVars>
          <dgm:bulletEnabled val="1"/>
        </dgm:presLayoutVars>
      </dgm:prSet>
      <dgm:spPr/>
    </dgm:pt>
  </dgm:ptLst>
  <dgm:cxnLst>
    <dgm:cxn modelId="{97E3831F-44F9-4187-AE23-CBA4BFA95FF8}" type="presOf" srcId="{FC6588F3-7413-42E7-B431-AFE1A3E93F47}" destId="{6FDCBD32-3A33-4DBC-8061-CCEB349172D2}" srcOrd="0" destOrd="1" presId="urn:microsoft.com/office/officeart/2005/8/layout/vList4"/>
    <dgm:cxn modelId="{38F93D28-BEAA-4112-9269-5E5CF4DB9A55}" srcId="{778FEC7A-BC71-45DA-B02E-B0E60E70E6E6}" destId="{0EE18B65-EAAC-47A8-B04D-F660E86B7DB6}" srcOrd="0" destOrd="0" parTransId="{57EDE4DC-2C4D-4AC6-83B7-CBE6375AC856}" sibTransId="{73E1371A-C6D2-4D68-9B33-4B80FE0D3140}"/>
    <dgm:cxn modelId="{06EB4236-89AF-4CE8-99D3-B192ED36EAC1}" srcId="{935F9A72-047A-461D-BEB9-E826F478D5D9}" destId="{18F620E0-9BF6-48B8-93BB-A6F1E1ABBDFF}" srcOrd="0" destOrd="0" parTransId="{4A2CFD59-6118-48C9-8D85-0B6154FF1AF9}" sibTransId="{54F3FC7C-0768-41A2-9D1C-AB176E0BE84E}"/>
    <dgm:cxn modelId="{10A6053E-347F-4C63-80F4-D2A8694A3AB7}" type="presOf" srcId="{0077F583-2802-4C42-8F80-A7B9162E781E}" destId="{D7350B0C-CE17-4495-BC28-2BDF170B1C0A}" srcOrd="0" destOrd="1" presId="urn:microsoft.com/office/officeart/2005/8/layout/vList4"/>
    <dgm:cxn modelId="{0C3F705E-19AE-442F-9210-9C3C5F4E9277}" type="presOf" srcId="{935F9A72-047A-461D-BEB9-E826F478D5D9}" destId="{547E49CB-FE9C-47C6-9277-6CCFBE7204C6}" srcOrd="1" destOrd="0" presId="urn:microsoft.com/office/officeart/2005/8/layout/vList4"/>
    <dgm:cxn modelId="{F779EA64-77FB-42C7-A6FD-B99E3227BA3A}" type="presOf" srcId="{F1419C0A-2392-4BA9-87DF-F09FE9DBE81D}" destId="{86AEB417-7152-4037-B5B2-D2BF97C0FFA6}" srcOrd="0" destOrd="0" presId="urn:microsoft.com/office/officeart/2005/8/layout/vList4"/>
    <dgm:cxn modelId="{20FF656A-F220-440E-BE66-521E89614190}" type="presOf" srcId="{432FCBAE-3588-4B04-842E-312FAB6F0476}" destId="{D7350B0C-CE17-4495-BC28-2BDF170B1C0A}" srcOrd="0" destOrd="0" presId="urn:microsoft.com/office/officeart/2005/8/layout/vList4"/>
    <dgm:cxn modelId="{0CD16C8C-2A69-4987-9255-50EE9DCF7C5C}" type="presOf" srcId="{B4FA09CD-A703-466F-B328-5629A4305D6E}" destId="{826C4C65-51DA-4E74-B824-3622FCA3D093}" srcOrd="1" destOrd="1" presId="urn:microsoft.com/office/officeart/2005/8/layout/vList4"/>
    <dgm:cxn modelId="{C6D01E98-7B71-4379-BF40-239C35549D07}" type="presOf" srcId="{18F620E0-9BF6-48B8-93BB-A6F1E1ABBDFF}" destId="{547E49CB-FE9C-47C6-9277-6CCFBE7204C6}" srcOrd="1" destOrd="1" presId="urn:microsoft.com/office/officeart/2005/8/layout/vList4"/>
    <dgm:cxn modelId="{C41D9998-D905-466F-844F-5E5381465424}" type="presOf" srcId="{F1419C0A-2392-4BA9-87DF-F09FE9DBE81D}" destId="{826C4C65-51DA-4E74-B824-3622FCA3D093}" srcOrd="1" destOrd="0" presId="urn:microsoft.com/office/officeart/2005/8/layout/vList4"/>
    <dgm:cxn modelId="{D5A0A2A4-349E-4CB6-A8E7-2F12CAD022F0}" type="presOf" srcId="{FC6588F3-7413-42E7-B431-AFE1A3E93F47}" destId="{FCF19486-64B3-49DD-ACC6-F2B1A687D78D}" srcOrd="1" destOrd="1" presId="urn:microsoft.com/office/officeart/2005/8/layout/vList4"/>
    <dgm:cxn modelId="{63F68EB5-0715-44C9-A76A-0F5296F1DD98}" srcId="{432FCBAE-3588-4B04-842E-312FAB6F0476}" destId="{0077F583-2802-4C42-8F80-A7B9162E781E}" srcOrd="0" destOrd="0" parTransId="{CD22A8C0-0AD3-4381-B439-EF5126097B44}" sibTransId="{1EE340F2-2BD6-46B7-8B8E-600CC1A119ED}"/>
    <dgm:cxn modelId="{E8F428B8-C7C6-4F78-9445-6235F976658C}" type="presOf" srcId="{935F9A72-047A-461D-BEB9-E826F478D5D9}" destId="{42E469F2-F406-471F-8F50-B6588607E6F1}" srcOrd="0" destOrd="0" presId="urn:microsoft.com/office/officeart/2005/8/layout/vList4"/>
    <dgm:cxn modelId="{7A6057BB-48DD-4DCA-A2BE-31CB689E3FE1}" type="presOf" srcId="{0EE18B65-EAAC-47A8-B04D-F660E86B7DB6}" destId="{FCF19486-64B3-49DD-ACC6-F2B1A687D78D}" srcOrd="1" destOrd="0" presId="urn:microsoft.com/office/officeart/2005/8/layout/vList4"/>
    <dgm:cxn modelId="{36740BBD-B9BC-4FD9-AA69-18083714D76C}" srcId="{778FEC7A-BC71-45DA-B02E-B0E60E70E6E6}" destId="{F1419C0A-2392-4BA9-87DF-F09FE9DBE81D}" srcOrd="1" destOrd="0" parTransId="{7E3919CC-5D56-4F4B-B300-5A458528B3B0}" sibTransId="{EF08F38A-058F-4EF7-B5F4-2F61DABE3E77}"/>
    <dgm:cxn modelId="{511094BD-6881-4996-BE13-E6F32CE31D38}" type="presOf" srcId="{0077F583-2802-4C42-8F80-A7B9162E781E}" destId="{69B5CC1F-2802-49E6-98E6-D359F987701B}" srcOrd="1" destOrd="1" presId="urn:microsoft.com/office/officeart/2005/8/layout/vList4"/>
    <dgm:cxn modelId="{1DCC84C2-2E26-4755-91DB-88C3D02DFB6E}" srcId="{778FEC7A-BC71-45DA-B02E-B0E60E70E6E6}" destId="{432FCBAE-3588-4B04-842E-312FAB6F0476}" srcOrd="2" destOrd="0" parTransId="{BE6C919A-A71B-463A-AC9B-885075D51830}" sibTransId="{DD4664D8-5D3F-453E-8E31-7E953B961B3C}"/>
    <dgm:cxn modelId="{642770CB-5B8E-43F2-B2C2-8920EC88A223}" srcId="{0EE18B65-EAAC-47A8-B04D-F660E86B7DB6}" destId="{FC6588F3-7413-42E7-B431-AFE1A3E93F47}" srcOrd="0" destOrd="0" parTransId="{185E5442-3C35-4B03-AF5F-247E0B38F03C}" sibTransId="{02EE3061-5A86-4792-8FCE-463D74AA5904}"/>
    <dgm:cxn modelId="{C6443DCC-826E-437D-9C30-A4AFCEB2CE69}" type="presOf" srcId="{0EE18B65-EAAC-47A8-B04D-F660E86B7DB6}" destId="{6FDCBD32-3A33-4DBC-8061-CCEB349172D2}" srcOrd="0" destOrd="0" presId="urn:microsoft.com/office/officeart/2005/8/layout/vList4"/>
    <dgm:cxn modelId="{05D865D2-E764-460B-8034-4151E76C945D}" type="presOf" srcId="{18F620E0-9BF6-48B8-93BB-A6F1E1ABBDFF}" destId="{42E469F2-F406-471F-8F50-B6588607E6F1}" srcOrd="0" destOrd="1" presId="urn:microsoft.com/office/officeart/2005/8/layout/vList4"/>
    <dgm:cxn modelId="{4F14C3D6-AFDC-48B1-913B-A2450A25C3BE}" srcId="{778FEC7A-BC71-45DA-B02E-B0E60E70E6E6}" destId="{935F9A72-047A-461D-BEB9-E826F478D5D9}" srcOrd="3" destOrd="0" parTransId="{5BF1E712-0DC6-4A8D-990E-478CC5DFFFE7}" sibTransId="{8EAFEED8-30D0-498F-8477-EEFD7058F0F8}"/>
    <dgm:cxn modelId="{C2BA70DB-CB6B-420A-9A88-D0A3E1BFA520}" srcId="{F1419C0A-2392-4BA9-87DF-F09FE9DBE81D}" destId="{B4FA09CD-A703-466F-B328-5629A4305D6E}" srcOrd="0" destOrd="0" parTransId="{55282647-6393-49E1-9A07-48EAB0970C9E}" sibTransId="{CA60F69B-DE1C-40AB-8234-0D17B5B01120}"/>
    <dgm:cxn modelId="{75988FE7-A16A-4616-A2AB-D1576DB90A4A}" type="presOf" srcId="{778FEC7A-BC71-45DA-B02E-B0E60E70E6E6}" destId="{F972AC51-7092-4D26-AEDE-DB333FFDEDC7}" srcOrd="0" destOrd="0" presId="urn:microsoft.com/office/officeart/2005/8/layout/vList4"/>
    <dgm:cxn modelId="{AFF441EE-5D62-4D7F-A413-0D29119BACBF}" type="presOf" srcId="{432FCBAE-3588-4B04-842E-312FAB6F0476}" destId="{69B5CC1F-2802-49E6-98E6-D359F987701B}" srcOrd="1" destOrd="0" presId="urn:microsoft.com/office/officeart/2005/8/layout/vList4"/>
    <dgm:cxn modelId="{9A2565F7-5072-4780-AF05-ED55C9EBE915}" type="presOf" srcId="{B4FA09CD-A703-466F-B328-5629A4305D6E}" destId="{86AEB417-7152-4037-B5B2-D2BF97C0FFA6}" srcOrd="0" destOrd="1" presId="urn:microsoft.com/office/officeart/2005/8/layout/vList4"/>
    <dgm:cxn modelId="{9A8032CA-2057-4B09-8443-52449671551C}" type="presParOf" srcId="{F972AC51-7092-4D26-AEDE-DB333FFDEDC7}" destId="{6F6AB3D0-1CDC-4CF6-B023-B48C18DE67E1}" srcOrd="0" destOrd="0" presId="urn:microsoft.com/office/officeart/2005/8/layout/vList4"/>
    <dgm:cxn modelId="{92C3CE5B-26D7-4C0A-9BCF-8366940468EF}" type="presParOf" srcId="{6F6AB3D0-1CDC-4CF6-B023-B48C18DE67E1}" destId="{6FDCBD32-3A33-4DBC-8061-CCEB349172D2}" srcOrd="0" destOrd="0" presId="urn:microsoft.com/office/officeart/2005/8/layout/vList4"/>
    <dgm:cxn modelId="{2468C9B5-C858-4F41-8C19-A0216D9E0093}" type="presParOf" srcId="{6F6AB3D0-1CDC-4CF6-B023-B48C18DE67E1}" destId="{70DEA6BD-F41E-42E9-B10E-2760040A69E5}" srcOrd="1" destOrd="0" presId="urn:microsoft.com/office/officeart/2005/8/layout/vList4"/>
    <dgm:cxn modelId="{537C64D6-C4BB-4FFF-B5B4-922059237F49}" type="presParOf" srcId="{6F6AB3D0-1CDC-4CF6-B023-B48C18DE67E1}" destId="{FCF19486-64B3-49DD-ACC6-F2B1A687D78D}" srcOrd="2" destOrd="0" presId="urn:microsoft.com/office/officeart/2005/8/layout/vList4"/>
    <dgm:cxn modelId="{9DE0B4BE-5D26-477F-A0CE-F90482117144}" type="presParOf" srcId="{F972AC51-7092-4D26-AEDE-DB333FFDEDC7}" destId="{4E5FADF2-6B4F-4155-BD2E-41B5A3A612E1}" srcOrd="1" destOrd="0" presId="urn:microsoft.com/office/officeart/2005/8/layout/vList4"/>
    <dgm:cxn modelId="{8594B1CA-D22C-47DC-BB04-243DAF1FE7DD}" type="presParOf" srcId="{F972AC51-7092-4D26-AEDE-DB333FFDEDC7}" destId="{4EDFDEC7-336E-47A7-BEB1-5F36AF1FEE4C}" srcOrd="2" destOrd="0" presId="urn:microsoft.com/office/officeart/2005/8/layout/vList4"/>
    <dgm:cxn modelId="{45B5E3CF-D12E-42F3-AA9D-33D8FF78C8A8}" type="presParOf" srcId="{4EDFDEC7-336E-47A7-BEB1-5F36AF1FEE4C}" destId="{86AEB417-7152-4037-B5B2-D2BF97C0FFA6}" srcOrd="0" destOrd="0" presId="urn:microsoft.com/office/officeart/2005/8/layout/vList4"/>
    <dgm:cxn modelId="{7EC13783-6D83-4E05-8B4D-CB644732DBE3}" type="presParOf" srcId="{4EDFDEC7-336E-47A7-BEB1-5F36AF1FEE4C}" destId="{D3DA2E00-4F87-4777-AF3E-03FDD847BFF1}" srcOrd="1" destOrd="0" presId="urn:microsoft.com/office/officeart/2005/8/layout/vList4"/>
    <dgm:cxn modelId="{6DA1CEBB-6790-4D2B-8D92-E7D64E78218F}" type="presParOf" srcId="{4EDFDEC7-336E-47A7-BEB1-5F36AF1FEE4C}" destId="{826C4C65-51DA-4E74-B824-3622FCA3D093}" srcOrd="2" destOrd="0" presId="urn:microsoft.com/office/officeart/2005/8/layout/vList4"/>
    <dgm:cxn modelId="{9A627930-508D-4196-8DE5-DD4098BA44FA}" type="presParOf" srcId="{F972AC51-7092-4D26-AEDE-DB333FFDEDC7}" destId="{9B9CB5F8-90C3-4B2D-8A39-D6524539C711}" srcOrd="3" destOrd="0" presId="urn:microsoft.com/office/officeart/2005/8/layout/vList4"/>
    <dgm:cxn modelId="{9FC83879-8CFA-4367-8D40-887BE67B2CC1}" type="presParOf" srcId="{F972AC51-7092-4D26-AEDE-DB333FFDEDC7}" destId="{4DA1DA78-C09A-400C-9EA4-A897710AB598}" srcOrd="4" destOrd="0" presId="urn:microsoft.com/office/officeart/2005/8/layout/vList4"/>
    <dgm:cxn modelId="{05A6BE93-4886-4E33-89BB-3C861D98E615}" type="presParOf" srcId="{4DA1DA78-C09A-400C-9EA4-A897710AB598}" destId="{D7350B0C-CE17-4495-BC28-2BDF170B1C0A}" srcOrd="0" destOrd="0" presId="urn:microsoft.com/office/officeart/2005/8/layout/vList4"/>
    <dgm:cxn modelId="{3AF0BDC2-887F-41A2-A2B6-96259F922693}" type="presParOf" srcId="{4DA1DA78-C09A-400C-9EA4-A897710AB598}" destId="{0D07605E-8C06-4EE8-916A-CE34E6B28B6D}" srcOrd="1" destOrd="0" presId="urn:microsoft.com/office/officeart/2005/8/layout/vList4"/>
    <dgm:cxn modelId="{11D72E21-2212-402C-A1F5-3AD5ADF4481F}" type="presParOf" srcId="{4DA1DA78-C09A-400C-9EA4-A897710AB598}" destId="{69B5CC1F-2802-49E6-98E6-D359F987701B}" srcOrd="2" destOrd="0" presId="urn:microsoft.com/office/officeart/2005/8/layout/vList4"/>
    <dgm:cxn modelId="{68A21E6E-52EE-4FAC-9CD3-6C273FD7CD40}" type="presParOf" srcId="{F972AC51-7092-4D26-AEDE-DB333FFDEDC7}" destId="{063AE262-858A-4605-9D51-AA70EE3123C9}" srcOrd="5" destOrd="0" presId="urn:microsoft.com/office/officeart/2005/8/layout/vList4"/>
    <dgm:cxn modelId="{DD8CD8D2-B437-4FF1-A46C-8254BC481DC2}" type="presParOf" srcId="{F972AC51-7092-4D26-AEDE-DB333FFDEDC7}" destId="{8193E707-5467-47CB-952E-0279E1D682CA}" srcOrd="6" destOrd="0" presId="urn:microsoft.com/office/officeart/2005/8/layout/vList4"/>
    <dgm:cxn modelId="{13EA138E-81C3-403A-9785-2AE1513E8BDB}" type="presParOf" srcId="{8193E707-5467-47CB-952E-0279E1D682CA}" destId="{42E469F2-F406-471F-8F50-B6588607E6F1}" srcOrd="0" destOrd="0" presId="urn:microsoft.com/office/officeart/2005/8/layout/vList4"/>
    <dgm:cxn modelId="{B5FC3A7C-37BC-4503-93AC-42CDF2FAD75C}" type="presParOf" srcId="{8193E707-5467-47CB-952E-0279E1D682CA}" destId="{FD3B4621-E266-40ED-AFE3-BAE55FF02173}" srcOrd="1" destOrd="0" presId="urn:microsoft.com/office/officeart/2005/8/layout/vList4"/>
    <dgm:cxn modelId="{78305843-CA16-4E22-B216-D0BE37696DCD}" type="presParOf" srcId="{8193E707-5467-47CB-952E-0279E1D682CA}" destId="{547E49CB-FE9C-47C6-9277-6CCFBE7204C6}"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A697324-9172-443C-8308-67ADD17D7FDD}"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s-ES"/>
        </a:p>
      </dgm:t>
    </dgm:pt>
    <dgm:pt modelId="{9675BADB-D2FC-4D62-9EA1-071BC9FC38F9}">
      <dgm:prSet phldrT="[Texto]"/>
      <dgm:spPr/>
      <dgm:t>
        <a:bodyPr/>
        <a:lstStyle/>
        <a:p>
          <a:r>
            <a:rPr lang="es-ES" dirty="0"/>
            <a:t>Detección de anomalías con la IA</a:t>
          </a:r>
        </a:p>
      </dgm:t>
    </dgm:pt>
    <dgm:pt modelId="{C5F151EB-FB79-48A0-8FB9-9AA82C7615B3}" type="parTrans" cxnId="{52549126-F012-4AF0-918F-49A32FEB64A1}">
      <dgm:prSet/>
      <dgm:spPr/>
      <dgm:t>
        <a:bodyPr/>
        <a:lstStyle/>
        <a:p>
          <a:endParaRPr lang="es-ES"/>
        </a:p>
      </dgm:t>
    </dgm:pt>
    <dgm:pt modelId="{19875C24-CB14-4CF7-B2FE-8B96F06BB584}" type="sibTrans" cxnId="{52549126-F012-4AF0-918F-49A32FEB64A1}">
      <dgm:prSet/>
      <dgm:spPr/>
      <dgm:t>
        <a:bodyPr/>
        <a:lstStyle/>
        <a:p>
          <a:endParaRPr lang="es-ES"/>
        </a:p>
      </dgm:t>
    </dgm:pt>
    <dgm:pt modelId="{AD95BCE7-5D28-44D4-AA7E-E41B1D809C28}">
      <dgm:prSet phldrT="[Texto]"/>
      <dgm:spPr/>
      <dgm:t>
        <a:bodyPr/>
        <a:lstStyle/>
        <a:p>
          <a:r>
            <a:rPr lang="es-ES" dirty="0"/>
            <a:t>La IA permite analizar el tráfico de red y el comportamiento de los usuarios para identificar patrones de actividad inusuales que podrían ser indicativos de ataques cibernéticos, como los malware. </a:t>
          </a:r>
        </a:p>
      </dgm:t>
    </dgm:pt>
    <dgm:pt modelId="{BCB710F7-CC04-4666-AE2F-426EDD5E97F0}" type="parTrans" cxnId="{35CA47DE-7420-444C-AF79-9BCC071A75D3}">
      <dgm:prSet/>
      <dgm:spPr/>
      <dgm:t>
        <a:bodyPr/>
        <a:lstStyle/>
        <a:p>
          <a:endParaRPr lang="es-ES"/>
        </a:p>
      </dgm:t>
    </dgm:pt>
    <dgm:pt modelId="{EE1F003F-EC0A-45BF-8521-ABE1C4C2188F}" type="sibTrans" cxnId="{35CA47DE-7420-444C-AF79-9BCC071A75D3}">
      <dgm:prSet/>
      <dgm:spPr/>
      <dgm:t>
        <a:bodyPr/>
        <a:lstStyle/>
        <a:p>
          <a:endParaRPr lang="es-ES"/>
        </a:p>
      </dgm:t>
    </dgm:pt>
    <dgm:pt modelId="{C62ED04E-E8A5-46AA-B44F-980A77016E10}">
      <dgm:prSet phldrT="[Texto]"/>
      <dgm:spPr/>
      <dgm:t>
        <a:bodyPr/>
        <a:lstStyle/>
        <a:p>
          <a:r>
            <a:rPr lang="es-ES" dirty="0"/>
            <a:t>Predicción de amenazas y adaptabilidad con IA</a:t>
          </a:r>
        </a:p>
      </dgm:t>
    </dgm:pt>
    <dgm:pt modelId="{15046AA6-C349-4DC6-ABFB-31A03146368E}" type="parTrans" cxnId="{BE37F82E-1D72-461B-8C01-9AB41F1CF265}">
      <dgm:prSet/>
      <dgm:spPr/>
      <dgm:t>
        <a:bodyPr/>
        <a:lstStyle/>
        <a:p>
          <a:endParaRPr lang="es-ES"/>
        </a:p>
      </dgm:t>
    </dgm:pt>
    <dgm:pt modelId="{CE5F06F4-B17D-43CE-9D05-9D773C915618}" type="sibTrans" cxnId="{BE37F82E-1D72-461B-8C01-9AB41F1CF265}">
      <dgm:prSet/>
      <dgm:spPr/>
      <dgm:t>
        <a:bodyPr/>
        <a:lstStyle/>
        <a:p>
          <a:endParaRPr lang="es-ES"/>
        </a:p>
      </dgm:t>
    </dgm:pt>
    <dgm:pt modelId="{26619CEB-BDEF-4F52-96C8-922A40ADE008}">
      <dgm:prSet phldrT="[Texto]"/>
      <dgm:spPr/>
      <dgm:t>
        <a:bodyPr/>
        <a:lstStyle/>
        <a:p>
          <a:r>
            <a:rPr lang="es-ES" dirty="0"/>
            <a:t>Puede analizar datos históricos de amenazas y tendencias de seguridad para predecir posibles futuros ataques y vulnerabilidades, permitiendo a las organizaciones tomar medidas proactivas para mitigar riesgos. </a:t>
          </a:r>
        </a:p>
      </dgm:t>
    </dgm:pt>
    <dgm:pt modelId="{85B111DA-863F-4C15-8A37-126C248B3025}" type="parTrans" cxnId="{978321EC-6A88-4418-B225-DBA7D9D1DC5D}">
      <dgm:prSet/>
      <dgm:spPr/>
      <dgm:t>
        <a:bodyPr/>
        <a:lstStyle/>
        <a:p>
          <a:endParaRPr lang="es-ES"/>
        </a:p>
      </dgm:t>
    </dgm:pt>
    <dgm:pt modelId="{D06D3676-34AD-4525-9B27-7D5162AE0E94}" type="sibTrans" cxnId="{978321EC-6A88-4418-B225-DBA7D9D1DC5D}">
      <dgm:prSet/>
      <dgm:spPr/>
      <dgm:t>
        <a:bodyPr/>
        <a:lstStyle/>
        <a:p>
          <a:endParaRPr lang="es-ES"/>
        </a:p>
      </dgm:t>
    </dgm:pt>
    <dgm:pt modelId="{F41CF5DA-1E8C-4BA1-9189-38B03CAF8E1A}">
      <dgm:prSet phldrT="[Texto]"/>
      <dgm:spPr/>
      <dgm:t>
        <a:bodyPr/>
        <a:lstStyle/>
        <a:p>
          <a:r>
            <a:rPr lang="es-ES" dirty="0"/>
            <a:t>Integración con otras herramientas de seguridad</a:t>
          </a:r>
        </a:p>
      </dgm:t>
    </dgm:pt>
    <dgm:pt modelId="{DEDBF6CE-0AB7-473B-8B42-7924FF7F7D36}" type="parTrans" cxnId="{85A158E1-01D6-4100-938D-420D2C1A70D0}">
      <dgm:prSet/>
      <dgm:spPr/>
      <dgm:t>
        <a:bodyPr/>
        <a:lstStyle/>
        <a:p>
          <a:endParaRPr lang="es-ES"/>
        </a:p>
      </dgm:t>
    </dgm:pt>
    <dgm:pt modelId="{21912F57-E222-4676-BED8-27885FF73A93}" type="sibTrans" cxnId="{85A158E1-01D6-4100-938D-420D2C1A70D0}">
      <dgm:prSet/>
      <dgm:spPr/>
      <dgm:t>
        <a:bodyPr/>
        <a:lstStyle/>
        <a:p>
          <a:endParaRPr lang="es-ES"/>
        </a:p>
      </dgm:t>
    </dgm:pt>
    <dgm:pt modelId="{A65344CF-E4A5-4FBB-A64D-3E307C952401}">
      <dgm:prSet phldrT="[Texto]"/>
      <dgm:spPr/>
      <dgm:t>
        <a:bodyPr/>
        <a:lstStyle/>
        <a:p>
          <a:r>
            <a:rPr lang="es-ES" dirty="0"/>
            <a:t>La IA puede integrarse con herramientas de seguridad, como sistemas de gestión de eventos e información de seguridad y sistemas de prevención/detección de intrusiones, para proporcionar una respuesta coordinada y efectiva.</a:t>
          </a:r>
        </a:p>
      </dgm:t>
    </dgm:pt>
    <dgm:pt modelId="{FB160B7C-F0A8-4D2A-B62C-E114199F5195}" type="parTrans" cxnId="{41FBBE36-5A24-4FCB-887D-A141D45DFF1F}">
      <dgm:prSet/>
      <dgm:spPr/>
      <dgm:t>
        <a:bodyPr/>
        <a:lstStyle/>
        <a:p>
          <a:endParaRPr lang="es-ES"/>
        </a:p>
      </dgm:t>
    </dgm:pt>
    <dgm:pt modelId="{80C11762-4518-4F5A-831D-732910698D2E}" type="sibTrans" cxnId="{41FBBE36-5A24-4FCB-887D-A141D45DFF1F}">
      <dgm:prSet/>
      <dgm:spPr/>
      <dgm:t>
        <a:bodyPr/>
        <a:lstStyle/>
        <a:p>
          <a:endParaRPr lang="es-ES"/>
        </a:p>
      </dgm:t>
    </dgm:pt>
    <dgm:pt modelId="{912959AB-01A7-4D0E-8D6C-6F15F0069A8D}" type="pres">
      <dgm:prSet presAssocID="{CA697324-9172-443C-8308-67ADD17D7FDD}" presName="linear" presStyleCnt="0">
        <dgm:presLayoutVars>
          <dgm:dir/>
          <dgm:resizeHandles val="exact"/>
        </dgm:presLayoutVars>
      </dgm:prSet>
      <dgm:spPr/>
    </dgm:pt>
    <dgm:pt modelId="{28AECBB9-D007-45E1-9727-EC99FBB2B194}" type="pres">
      <dgm:prSet presAssocID="{9675BADB-D2FC-4D62-9EA1-071BC9FC38F9}" presName="comp" presStyleCnt="0"/>
      <dgm:spPr/>
    </dgm:pt>
    <dgm:pt modelId="{D3EC99F1-3B68-469E-885A-246EE39992D1}" type="pres">
      <dgm:prSet presAssocID="{9675BADB-D2FC-4D62-9EA1-071BC9FC38F9}" presName="box" presStyleLbl="node1" presStyleIdx="0" presStyleCnt="3" custLinFactNeighborX="355" custLinFactNeighborY="-14202"/>
      <dgm:spPr/>
    </dgm:pt>
    <dgm:pt modelId="{B69F5314-AC1F-493E-8C16-5986810BF996}" type="pres">
      <dgm:prSet presAssocID="{9675BADB-D2FC-4D62-9EA1-071BC9FC38F9}" presName="img" presStyleLbl="fgImgPlace1" presStyleIdx="0" presStyleCnt="3"/>
      <dgm:spPr>
        <a:blipFill rotWithShape="1">
          <a:blip xmlns:r="http://schemas.openxmlformats.org/officeDocument/2006/relationships" r:embed="rId1"/>
          <a:srcRect/>
          <a:stretch>
            <a:fillRect t="-3000" b="-3000"/>
          </a:stretch>
        </a:blipFill>
      </dgm:spPr>
    </dgm:pt>
    <dgm:pt modelId="{D6AF5727-A07E-4F69-9175-202488FCD466}" type="pres">
      <dgm:prSet presAssocID="{9675BADB-D2FC-4D62-9EA1-071BC9FC38F9}" presName="text" presStyleLbl="node1" presStyleIdx="0" presStyleCnt="3">
        <dgm:presLayoutVars>
          <dgm:bulletEnabled val="1"/>
        </dgm:presLayoutVars>
      </dgm:prSet>
      <dgm:spPr/>
    </dgm:pt>
    <dgm:pt modelId="{C67A9392-F108-4608-B14B-A4A59E48CDBC}" type="pres">
      <dgm:prSet presAssocID="{19875C24-CB14-4CF7-B2FE-8B96F06BB584}" presName="spacer" presStyleCnt="0"/>
      <dgm:spPr/>
    </dgm:pt>
    <dgm:pt modelId="{DF68E87B-30CE-46C0-A127-3896883895B7}" type="pres">
      <dgm:prSet presAssocID="{C62ED04E-E8A5-46AA-B44F-980A77016E10}" presName="comp" presStyleCnt="0"/>
      <dgm:spPr/>
    </dgm:pt>
    <dgm:pt modelId="{85B2BD39-47D4-4816-87B4-1A451D35B83E}" type="pres">
      <dgm:prSet presAssocID="{C62ED04E-E8A5-46AA-B44F-980A77016E10}" presName="box" presStyleLbl="node1" presStyleIdx="1" presStyleCnt="3"/>
      <dgm:spPr/>
    </dgm:pt>
    <dgm:pt modelId="{ABC2ADA7-E3B0-46A3-88C9-8293987CEDDA}" type="pres">
      <dgm:prSet presAssocID="{C62ED04E-E8A5-46AA-B44F-980A77016E10}" presName="img" presStyleLbl="fgImgPlace1" presStyleIdx="1" presStyleCnt="3"/>
      <dgm:spPr>
        <a:blipFill rotWithShape="1">
          <a:blip xmlns:r="http://schemas.openxmlformats.org/officeDocument/2006/relationships" r:embed="rId2"/>
          <a:srcRect/>
          <a:stretch>
            <a:fillRect t="-35000" b="-35000"/>
          </a:stretch>
        </a:blipFill>
      </dgm:spPr>
    </dgm:pt>
    <dgm:pt modelId="{1EBB415B-7277-498B-AFBE-A38038A19C51}" type="pres">
      <dgm:prSet presAssocID="{C62ED04E-E8A5-46AA-B44F-980A77016E10}" presName="text" presStyleLbl="node1" presStyleIdx="1" presStyleCnt="3">
        <dgm:presLayoutVars>
          <dgm:bulletEnabled val="1"/>
        </dgm:presLayoutVars>
      </dgm:prSet>
      <dgm:spPr/>
    </dgm:pt>
    <dgm:pt modelId="{DBB79A5C-268A-417E-9AE4-7A59C36FF293}" type="pres">
      <dgm:prSet presAssocID="{CE5F06F4-B17D-43CE-9D05-9D773C915618}" presName="spacer" presStyleCnt="0"/>
      <dgm:spPr/>
    </dgm:pt>
    <dgm:pt modelId="{CC4A4F05-37F2-46C6-808F-4A4C806601BE}" type="pres">
      <dgm:prSet presAssocID="{F41CF5DA-1E8C-4BA1-9189-38B03CAF8E1A}" presName="comp" presStyleCnt="0"/>
      <dgm:spPr/>
    </dgm:pt>
    <dgm:pt modelId="{BC029F14-7F0A-4FDC-AE8C-261323CED6C0}" type="pres">
      <dgm:prSet presAssocID="{F41CF5DA-1E8C-4BA1-9189-38B03CAF8E1A}" presName="box" presStyleLbl="node1" presStyleIdx="2" presStyleCnt="3"/>
      <dgm:spPr/>
    </dgm:pt>
    <dgm:pt modelId="{4E2563A5-C582-4029-B0DE-912A4CC7919F}" type="pres">
      <dgm:prSet presAssocID="{F41CF5DA-1E8C-4BA1-9189-38B03CAF8E1A}" presName="img" presStyleLbl="fgImgPlace1" presStyleIdx="2" presStyleCnt="3"/>
      <dgm:spPr>
        <a:blipFill rotWithShape="1">
          <a:blip xmlns:r="http://schemas.openxmlformats.org/officeDocument/2006/relationships" r:embed="rId3"/>
          <a:srcRect/>
          <a:stretch>
            <a:fillRect t="-11000" b="-11000"/>
          </a:stretch>
        </a:blipFill>
      </dgm:spPr>
    </dgm:pt>
    <dgm:pt modelId="{0C3AAEA6-20BB-421F-8AC5-636EA66E19D9}" type="pres">
      <dgm:prSet presAssocID="{F41CF5DA-1E8C-4BA1-9189-38B03CAF8E1A}" presName="text" presStyleLbl="node1" presStyleIdx="2" presStyleCnt="3">
        <dgm:presLayoutVars>
          <dgm:bulletEnabled val="1"/>
        </dgm:presLayoutVars>
      </dgm:prSet>
      <dgm:spPr/>
    </dgm:pt>
  </dgm:ptLst>
  <dgm:cxnLst>
    <dgm:cxn modelId="{C0383800-AB13-4CC3-9E75-B43AEFC82968}" type="presOf" srcId="{AD95BCE7-5D28-44D4-AA7E-E41B1D809C28}" destId="{D3EC99F1-3B68-469E-885A-246EE39992D1}" srcOrd="0" destOrd="1" presId="urn:microsoft.com/office/officeart/2005/8/layout/vList4"/>
    <dgm:cxn modelId="{DF6E6B03-2278-4190-AC06-0447557E4AD5}" type="presOf" srcId="{A65344CF-E4A5-4FBB-A64D-3E307C952401}" destId="{BC029F14-7F0A-4FDC-AE8C-261323CED6C0}" srcOrd="0" destOrd="1" presId="urn:microsoft.com/office/officeart/2005/8/layout/vList4"/>
    <dgm:cxn modelId="{F15E4E09-979C-4FCE-A325-EA9E558D6F77}" type="presOf" srcId="{AD95BCE7-5D28-44D4-AA7E-E41B1D809C28}" destId="{D6AF5727-A07E-4F69-9175-202488FCD466}" srcOrd="1" destOrd="1" presId="urn:microsoft.com/office/officeart/2005/8/layout/vList4"/>
    <dgm:cxn modelId="{F293E01E-0B09-458B-8167-0B2014E54CC4}" type="presOf" srcId="{9675BADB-D2FC-4D62-9EA1-071BC9FC38F9}" destId="{D6AF5727-A07E-4F69-9175-202488FCD466}" srcOrd="1" destOrd="0" presId="urn:microsoft.com/office/officeart/2005/8/layout/vList4"/>
    <dgm:cxn modelId="{52549126-F012-4AF0-918F-49A32FEB64A1}" srcId="{CA697324-9172-443C-8308-67ADD17D7FDD}" destId="{9675BADB-D2FC-4D62-9EA1-071BC9FC38F9}" srcOrd="0" destOrd="0" parTransId="{C5F151EB-FB79-48A0-8FB9-9AA82C7615B3}" sibTransId="{19875C24-CB14-4CF7-B2FE-8B96F06BB584}"/>
    <dgm:cxn modelId="{71652C28-94EB-4F57-BDA2-AD28EF729ABE}" type="presOf" srcId="{CA697324-9172-443C-8308-67ADD17D7FDD}" destId="{912959AB-01A7-4D0E-8D6C-6F15F0069A8D}" srcOrd="0" destOrd="0" presId="urn:microsoft.com/office/officeart/2005/8/layout/vList4"/>
    <dgm:cxn modelId="{BE37F82E-1D72-461B-8C01-9AB41F1CF265}" srcId="{CA697324-9172-443C-8308-67ADD17D7FDD}" destId="{C62ED04E-E8A5-46AA-B44F-980A77016E10}" srcOrd="1" destOrd="0" parTransId="{15046AA6-C349-4DC6-ABFB-31A03146368E}" sibTransId="{CE5F06F4-B17D-43CE-9D05-9D773C915618}"/>
    <dgm:cxn modelId="{3D85C532-9094-43B6-AB9B-CFB39E4C6F11}" type="presOf" srcId="{A65344CF-E4A5-4FBB-A64D-3E307C952401}" destId="{0C3AAEA6-20BB-421F-8AC5-636EA66E19D9}" srcOrd="1" destOrd="1" presId="urn:microsoft.com/office/officeart/2005/8/layout/vList4"/>
    <dgm:cxn modelId="{41FBBE36-5A24-4FCB-887D-A141D45DFF1F}" srcId="{F41CF5DA-1E8C-4BA1-9189-38B03CAF8E1A}" destId="{A65344CF-E4A5-4FBB-A64D-3E307C952401}" srcOrd="0" destOrd="0" parTransId="{FB160B7C-F0A8-4D2A-B62C-E114199F5195}" sibTransId="{80C11762-4518-4F5A-831D-732910698D2E}"/>
    <dgm:cxn modelId="{3B4EB841-7FE4-47B1-A8BE-5C4EE9EC95D5}" type="presOf" srcId="{C62ED04E-E8A5-46AA-B44F-980A77016E10}" destId="{1EBB415B-7277-498B-AFBE-A38038A19C51}" srcOrd="1" destOrd="0" presId="urn:microsoft.com/office/officeart/2005/8/layout/vList4"/>
    <dgm:cxn modelId="{AC71BA50-F1FB-4BDC-872B-5C212A30C74B}" type="presOf" srcId="{C62ED04E-E8A5-46AA-B44F-980A77016E10}" destId="{85B2BD39-47D4-4816-87B4-1A451D35B83E}" srcOrd="0" destOrd="0" presId="urn:microsoft.com/office/officeart/2005/8/layout/vList4"/>
    <dgm:cxn modelId="{FE249988-EB17-4AF6-BF03-DF803655A992}" type="presOf" srcId="{F41CF5DA-1E8C-4BA1-9189-38B03CAF8E1A}" destId="{BC029F14-7F0A-4FDC-AE8C-261323CED6C0}" srcOrd="0" destOrd="0" presId="urn:microsoft.com/office/officeart/2005/8/layout/vList4"/>
    <dgm:cxn modelId="{1C6C7592-44CD-470B-9D4A-DCDD01A2DA95}" type="presOf" srcId="{F41CF5DA-1E8C-4BA1-9189-38B03CAF8E1A}" destId="{0C3AAEA6-20BB-421F-8AC5-636EA66E19D9}" srcOrd="1" destOrd="0" presId="urn:microsoft.com/office/officeart/2005/8/layout/vList4"/>
    <dgm:cxn modelId="{26EA95D5-5DAB-45F4-B6A3-68F714EF6F7F}" type="presOf" srcId="{9675BADB-D2FC-4D62-9EA1-071BC9FC38F9}" destId="{D3EC99F1-3B68-469E-885A-246EE39992D1}" srcOrd="0" destOrd="0" presId="urn:microsoft.com/office/officeart/2005/8/layout/vList4"/>
    <dgm:cxn modelId="{D0C68DDD-CB44-40EA-9963-37CB76DD28C7}" type="presOf" srcId="{26619CEB-BDEF-4F52-96C8-922A40ADE008}" destId="{85B2BD39-47D4-4816-87B4-1A451D35B83E}" srcOrd="0" destOrd="1" presId="urn:microsoft.com/office/officeart/2005/8/layout/vList4"/>
    <dgm:cxn modelId="{35CA47DE-7420-444C-AF79-9BCC071A75D3}" srcId="{9675BADB-D2FC-4D62-9EA1-071BC9FC38F9}" destId="{AD95BCE7-5D28-44D4-AA7E-E41B1D809C28}" srcOrd="0" destOrd="0" parTransId="{BCB710F7-CC04-4666-AE2F-426EDD5E97F0}" sibTransId="{EE1F003F-EC0A-45BF-8521-ABE1C4C2188F}"/>
    <dgm:cxn modelId="{85A158E1-01D6-4100-938D-420D2C1A70D0}" srcId="{CA697324-9172-443C-8308-67ADD17D7FDD}" destId="{F41CF5DA-1E8C-4BA1-9189-38B03CAF8E1A}" srcOrd="2" destOrd="0" parTransId="{DEDBF6CE-0AB7-473B-8B42-7924FF7F7D36}" sibTransId="{21912F57-E222-4676-BED8-27885FF73A93}"/>
    <dgm:cxn modelId="{059195E2-A83B-48F5-B13F-E7F78E3BB7D9}" type="presOf" srcId="{26619CEB-BDEF-4F52-96C8-922A40ADE008}" destId="{1EBB415B-7277-498B-AFBE-A38038A19C51}" srcOrd="1" destOrd="1" presId="urn:microsoft.com/office/officeart/2005/8/layout/vList4"/>
    <dgm:cxn modelId="{978321EC-6A88-4418-B225-DBA7D9D1DC5D}" srcId="{C62ED04E-E8A5-46AA-B44F-980A77016E10}" destId="{26619CEB-BDEF-4F52-96C8-922A40ADE008}" srcOrd="0" destOrd="0" parTransId="{85B111DA-863F-4C15-8A37-126C248B3025}" sibTransId="{D06D3676-34AD-4525-9B27-7D5162AE0E94}"/>
    <dgm:cxn modelId="{E63029D8-98F6-465D-BA69-D7DB20572A07}" type="presParOf" srcId="{912959AB-01A7-4D0E-8D6C-6F15F0069A8D}" destId="{28AECBB9-D007-45E1-9727-EC99FBB2B194}" srcOrd="0" destOrd="0" presId="urn:microsoft.com/office/officeart/2005/8/layout/vList4"/>
    <dgm:cxn modelId="{19B7C934-AAC3-4FE7-83AE-1C958B219F09}" type="presParOf" srcId="{28AECBB9-D007-45E1-9727-EC99FBB2B194}" destId="{D3EC99F1-3B68-469E-885A-246EE39992D1}" srcOrd="0" destOrd="0" presId="urn:microsoft.com/office/officeart/2005/8/layout/vList4"/>
    <dgm:cxn modelId="{CD7B96B4-F571-4993-A9CF-5838770ECE9E}" type="presParOf" srcId="{28AECBB9-D007-45E1-9727-EC99FBB2B194}" destId="{B69F5314-AC1F-493E-8C16-5986810BF996}" srcOrd="1" destOrd="0" presId="urn:microsoft.com/office/officeart/2005/8/layout/vList4"/>
    <dgm:cxn modelId="{C49A2FCB-AD33-416C-A2A8-BCE030A86D0F}" type="presParOf" srcId="{28AECBB9-D007-45E1-9727-EC99FBB2B194}" destId="{D6AF5727-A07E-4F69-9175-202488FCD466}" srcOrd="2" destOrd="0" presId="urn:microsoft.com/office/officeart/2005/8/layout/vList4"/>
    <dgm:cxn modelId="{4D059AB6-4DC5-4104-940A-2760C765D6CC}" type="presParOf" srcId="{912959AB-01A7-4D0E-8D6C-6F15F0069A8D}" destId="{C67A9392-F108-4608-B14B-A4A59E48CDBC}" srcOrd="1" destOrd="0" presId="urn:microsoft.com/office/officeart/2005/8/layout/vList4"/>
    <dgm:cxn modelId="{E86CAE27-D391-4358-BD9E-9879547977C8}" type="presParOf" srcId="{912959AB-01A7-4D0E-8D6C-6F15F0069A8D}" destId="{DF68E87B-30CE-46C0-A127-3896883895B7}" srcOrd="2" destOrd="0" presId="urn:microsoft.com/office/officeart/2005/8/layout/vList4"/>
    <dgm:cxn modelId="{525E4FB8-7161-4E5A-B4F5-CA8FCDCF0223}" type="presParOf" srcId="{DF68E87B-30CE-46C0-A127-3896883895B7}" destId="{85B2BD39-47D4-4816-87B4-1A451D35B83E}" srcOrd="0" destOrd="0" presId="urn:microsoft.com/office/officeart/2005/8/layout/vList4"/>
    <dgm:cxn modelId="{739783C9-101C-4B32-8D11-1A96630A63C6}" type="presParOf" srcId="{DF68E87B-30CE-46C0-A127-3896883895B7}" destId="{ABC2ADA7-E3B0-46A3-88C9-8293987CEDDA}" srcOrd="1" destOrd="0" presId="urn:microsoft.com/office/officeart/2005/8/layout/vList4"/>
    <dgm:cxn modelId="{2FC9D1EC-C3F5-4081-A2AD-74FD31A3AC78}" type="presParOf" srcId="{DF68E87B-30CE-46C0-A127-3896883895B7}" destId="{1EBB415B-7277-498B-AFBE-A38038A19C51}" srcOrd="2" destOrd="0" presId="urn:microsoft.com/office/officeart/2005/8/layout/vList4"/>
    <dgm:cxn modelId="{1CF466DD-E208-4073-8B07-97DAB7C4E472}" type="presParOf" srcId="{912959AB-01A7-4D0E-8D6C-6F15F0069A8D}" destId="{DBB79A5C-268A-417E-9AE4-7A59C36FF293}" srcOrd="3" destOrd="0" presId="urn:microsoft.com/office/officeart/2005/8/layout/vList4"/>
    <dgm:cxn modelId="{DA3A795C-4298-4635-9B69-4D34CA069E0D}" type="presParOf" srcId="{912959AB-01A7-4D0E-8D6C-6F15F0069A8D}" destId="{CC4A4F05-37F2-46C6-808F-4A4C806601BE}" srcOrd="4" destOrd="0" presId="urn:microsoft.com/office/officeart/2005/8/layout/vList4"/>
    <dgm:cxn modelId="{85416A98-9056-44B4-935C-C931B6A196CC}" type="presParOf" srcId="{CC4A4F05-37F2-46C6-808F-4A4C806601BE}" destId="{BC029F14-7F0A-4FDC-AE8C-261323CED6C0}" srcOrd="0" destOrd="0" presId="urn:microsoft.com/office/officeart/2005/8/layout/vList4"/>
    <dgm:cxn modelId="{AA42AFAA-C18A-4B4C-A387-7E872CE418F0}" type="presParOf" srcId="{CC4A4F05-37F2-46C6-808F-4A4C806601BE}" destId="{4E2563A5-C582-4029-B0DE-912A4CC7919F}" srcOrd="1" destOrd="0" presId="urn:microsoft.com/office/officeart/2005/8/layout/vList4"/>
    <dgm:cxn modelId="{7BF72F69-2307-43CA-9815-A4BBC222D43F}" type="presParOf" srcId="{CC4A4F05-37F2-46C6-808F-4A4C806601BE}" destId="{0C3AAEA6-20BB-421F-8AC5-636EA66E19D9}"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B9E1C6E-0658-4A30-B0F6-45603B5CEB80}"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s-ES"/>
        </a:p>
      </dgm:t>
    </dgm:pt>
    <dgm:pt modelId="{EAAD4EE9-981B-45C9-8533-D68A13C64F18}">
      <dgm:prSet phldrT="[Texto]"/>
      <dgm:spPr/>
      <dgm:t>
        <a:bodyPr/>
        <a:lstStyle/>
        <a:p>
          <a:r>
            <a:rPr lang="es-ES" dirty="0"/>
            <a:t>Está basada en </a:t>
          </a:r>
          <a:r>
            <a:rPr lang="es-ES" dirty="0" err="1"/>
            <a:t>Sec-PaLM</a:t>
          </a:r>
          <a:r>
            <a:rPr lang="es-ES" dirty="0"/>
            <a:t>, un modelo generativo de IA alojado en Google Cloud AI.</a:t>
          </a:r>
        </a:p>
      </dgm:t>
    </dgm:pt>
    <dgm:pt modelId="{88790129-28DD-455C-B3FD-34C5E933FC3E}" type="parTrans" cxnId="{7499A3A1-5BBA-4E3A-AB33-A5F0F94E8A97}">
      <dgm:prSet/>
      <dgm:spPr/>
      <dgm:t>
        <a:bodyPr/>
        <a:lstStyle/>
        <a:p>
          <a:endParaRPr lang="es-ES"/>
        </a:p>
      </dgm:t>
    </dgm:pt>
    <dgm:pt modelId="{60162DF8-A201-40CD-B758-C3DCA9C98992}" type="sibTrans" cxnId="{7499A3A1-5BBA-4E3A-AB33-A5F0F94E8A97}">
      <dgm:prSet/>
      <dgm:spPr/>
      <dgm:t>
        <a:bodyPr/>
        <a:lstStyle/>
        <a:p>
          <a:endParaRPr lang="es-ES"/>
        </a:p>
      </dgm:t>
    </dgm:pt>
    <dgm:pt modelId="{328EFEF7-3E56-4E79-B8C4-6CFE7C254BD7}">
      <dgm:prSet phldrT="[Texto]"/>
      <dgm:spPr/>
      <dgm:t>
        <a:bodyPr/>
        <a:lstStyle/>
        <a:p>
          <a:r>
            <a:rPr lang="es-ES" dirty="0"/>
            <a:t>Ofrece una visión más profunda del propósito y la operación del código analizado.</a:t>
          </a:r>
        </a:p>
      </dgm:t>
    </dgm:pt>
    <dgm:pt modelId="{F0B9F887-3B65-4787-8A50-A39CDB8DFA4D}" type="parTrans" cxnId="{037472DE-F061-451A-9896-484DB05577A2}">
      <dgm:prSet/>
      <dgm:spPr/>
      <dgm:t>
        <a:bodyPr/>
        <a:lstStyle/>
        <a:p>
          <a:endParaRPr lang="es-ES"/>
        </a:p>
      </dgm:t>
    </dgm:pt>
    <dgm:pt modelId="{58CF58A7-BF3D-4150-9318-861D00EAC749}" type="sibTrans" cxnId="{037472DE-F061-451A-9896-484DB05577A2}">
      <dgm:prSet/>
      <dgm:spPr/>
      <dgm:t>
        <a:bodyPr/>
        <a:lstStyle/>
        <a:p>
          <a:endParaRPr lang="es-ES"/>
        </a:p>
      </dgm:t>
    </dgm:pt>
    <dgm:pt modelId="{2A009114-8352-4FB3-A10C-D3C6002F93B3}">
      <dgm:prSet phldrT="[Texto]"/>
      <dgm:spPr/>
      <dgm:t>
        <a:bodyPr/>
        <a:lstStyle/>
        <a:p>
          <a:r>
            <a:rPr lang="es-ES" b="0" i="0" dirty="0"/>
            <a:t>Permite transformar el código en explicaciones de lenguaje natural, facilitando su comprensión y acelerando el proceso de detección de malwares.</a:t>
          </a:r>
          <a:endParaRPr lang="es-ES" b="0" dirty="0"/>
        </a:p>
      </dgm:t>
    </dgm:pt>
    <dgm:pt modelId="{224F72B8-2F33-4554-964C-F3E9FD9D7466}" type="parTrans" cxnId="{25C79ED8-A297-4738-9173-B8C2CBDBE887}">
      <dgm:prSet/>
      <dgm:spPr/>
      <dgm:t>
        <a:bodyPr/>
        <a:lstStyle/>
        <a:p>
          <a:endParaRPr lang="es-ES"/>
        </a:p>
      </dgm:t>
    </dgm:pt>
    <dgm:pt modelId="{34E107D3-0153-4483-929E-C745FB780A46}" type="sibTrans" cxnId="{25C79ED8-A297-4738-9173-B8C2CBDBE887}">
      <dgm:prSet/>
      <dgm:spPr/>
      <dgm:t>
        <a:bodyPr/>
        <a:lstStyle/>
        <a:p>
          <a:endParaRPr lang="es-ES"/>
        </a:p>
      </dgm:t>
    </dgm:pt>
    <dgm:pt modelId="{7D3A8D9A-B3F2-44BD-B197-C0CB4D105BBB}">
      <dgm:prSet phldrT="[Texto]"/>
      <dgm:spPr/>
      <dgm:t>
        <a:bodyPr/>
        <a:lstStyle/>
        <a:p>
          <a:r>
            <a:rPr lang="es-ES" dirty="0" err="1"/>
            <a:t>Sec-PaLM</a:t>
          </a:r>
          <a:r>
            <a:rPr lang="es-ES" dirty="0"/>
            <a:t> es una versión especializada de </a:t>
          </a:r>
          <a:r>
            <a:rPr lang="es-ES" dirty="0" err="1"/>
            <a:t>PaLM</a:t>
          </a:r>
          <a:r>
            <a:rPr lang="es-ES" dirty="0"/>
            <a:t> 2, diseñada para tareas específicas de seguridad.</a:t>
          </a:r>
        </a:p>
      </dgm:t>
    </dgm:pt>
    <dgm:pt modelId="{F89AADC1-DE77-4828-9EC2-A91A8EBC4E57}" type="parTrans" cxnId="{F60CB499-CF95-4CF4-A98E-47E3634BC583}">
      <dgm:prSet/>
      <dgm:spPr/>
      <dgm:t>
        <a:bodyPr/>
        <a:lstStyle/>
        <a:p>
          <a:endParaRPr lang="es-ES"/>
        </a:p>
      </dgm:t>
    </dgm:pt>
    <dgm:pt modelId="{52A34DC0-1A04-4226-B52E-FC42D5948534}" type="sibTrans" cxnId="{F60CB499-CF95-4CF4-A98E-47E3634BC583}">
      <dgm:prSet/>
      <dgm:spPr/>
      <dgm:t>
        <a:bodyPr/>
        <a:lstStyle/>
        <a:p>
          <a:endParaRPr lang="es-ES"/>
        </a:p>
      </dgm:t>
    </dgm:pt>
    <dgm:pt modelId="{71146D63-8933-4DF7-8B4D-E1681D5AA01C}" type="pres">
      <dgm:prSet presAssocID="{AB9E1C6E-0658-4A30-B0F6-45603B5CEB80}" presName="vert0" presStyleCnt="0">
        <dgm:presLayoutVars>
          <dgm:dir/>
          <dgm:animOne val="branch"/>
          <dgm:animLvl val="lvl"/>
        </dgm:presLayoutVars>
      </dgm:prSet>
      <dgm:spPr/>
    </dgm:pt>
    <dgm:pt modelId="{6714BBB0-347E-4B63-84D0-F514F8657349}" type="pres">
      <dgm:prSet presAssocID="{EAAD4EE9-981B-45C9-8533-D68A13C64F18}" presName="thickLine" presStyleLbl="alignNode1" presStyleIdx="0" presStyleCnt="4"/>
      <dgm:spPr/>
    </dgm:pt>
    <dgm:pt modelId="{C066BC2F-3552-4E03-B740-200A14BAADA8}" type="pres">
      <dgm:prSet presAssocID="{EAAD4EE9-981B-45C9-8533-D68A13C64F18}" presName="horz1" presStyleCnt="0"/>
      <dgm:spPr/>
    </dgm:pt>
    <dgm:pt modelId="{E9E86112-F591-4493-A421-72B75ABBDFAC}" type="pres">
      <dgm:prSet presAssocID="{EAAD4EE9-981B-45C9-8533-D68A13C64F18}" presName="tx1" presStyleLbl="revTx" presStyleIdx="0" presStyleCnt="4"/>
      <dgm:spPr/>
    </dgm:pt>
    <dgm:pt modelId="{D165210A-94AF-4A3C-90F7-2AE563908518}" type="pres">
      <dgm:prSet presAssocID="{EAAD4EE9-981B-45C9-8533-D68A13C64F18}" presName="vert1" presStyleCnt="0"/>
      <dgm:spPr/>
    </dgm:pt>
    <dgm:pt modelId="{F99FD86C-92A9-4C7F-8EDF-F30E53B7D514}" type="pres">
      <dgm:prSet presAssocID="{7D3A8D9A-B3F2-44BD-B197-C0CB4D105BBB}" presName="thickLine" presStyleLbl="alignNode1" presStyleIdx="1" presStyleCnt="4"/>
      <dgm:spPr/>
    </dgm:pt>
    <dgm:pt modelId="{83CD9685-03D4-46B7-B336-E221CBF8FECE}" type="pres">
      <dgm:prSet presAssocID="{7D3A8D9A-B3F2-44BD-B197-C0CB4D105BBB}" presName="horz1" presStyleCnt="0"/>
      <dgm:spPr/>
    </dgm:pt>
    <dgm:pt modelId="{C8DEE46D-79A4-4D1C-966B-67FAE29D622C}" type="pres">
      <dgm:prSet presAssocID="{7D3A8D9A-B3F2-44BD-B197-C0CB4D105BBB}" presName="tx1" presStyleLbl="revTx" presStyleIdx="1" presStyleCnt="4"/>
      <dgm:spPr/>
    </dgm:pt>
    <dgm:pt modelId="{F73C9ECF-62A2-4184-B02A-4E9C092AB616}" type="pres">
      <dgm:prSet presAssocID="{7D3A8D9A-B3F2-44BD-B197-C0CB4D105BBB}" presName="vert1" presStyleCnt="0"/>
      <dgm:spPr/>
    </dgm:pt>
    <dgm:pt modelId="{AFA7D0D0-8A0B-473C-AA4F-0B01AFFB7153}" type="pres">
      <dgm:prSet presAssocID="{2A009114-8352-4FB3-A10C-D3C6002F93B3}" presName="thickLine" presStyleLbl="alignNode1" presStyleIdx="2" presStyleCnt="4"/>
      <dgm:spPr/>
    </dgm:pt>
    <dgm:pt modelId="{5134EEEB-F9EB-49FC-9704-F53B39667FF1}" type="pres">
      <dgm:prSet presAssocID="{2A009114-8352-4FB3-A10C-D3C6002F93B3}" presName="horz1" presStyleCnt="0"/>
      <dgm:spPr/>
    </dgm:pt>
    <dgm:pt modelId="{6F9ADA51-E10F-40CD-9F8C-BCAC81881C72}" type="pres">
      <dgm:prSet presAssocID="{2A009114-8352-4FB3-A10C-D3C6002F93B3}" presName="tx1" presStyleLbl="revTx" presStyleIdx="2" presStyleCnt="4"/>
      <dgm:spPr/>
    </dgm:pt>
    <dgm:pt modelId="{8B705A88-414B-4B4D-87B5-B3EA27EC14EB}" type="pres">
      <dgm:prSet presAssocID="{2A009114-8352-4FB3-A10C-D3C6002F93B3}" presName="vert1" presStyleCnt="0"/>
      <dgm:spPr/>
    </dgm:pt>
    <dgm:pt modelId="{14C84047-B28E-46E1-A2DC-8B7B56CEAAFB}" type="pres">
      <dgm:prSet presAssocID="{328EFEF7-3E56-4E79-B8C4-6CFE7C254BD7}" presName="thickLine" presStyleLbl="alignNode1" presStyleIdx="3" presStyleCnt="4"/>
      <dgm:spPr/>
    </dgm:pt>
    <dgm:pt modelId="{32E0560E-7A1E-4E06-BC49-847667E224BA}" type="pres">
      <dgm:prSet presAssocID="{328EFEF7-3E56-4E79-B8C4-6CFE7C254BD7}" presName="horz1" presStyleCnt="0"/>
      <dgm:spPr/>
    </dgm:pt>
    <dgm:pt modelId="{F1817D51-30EF-477B-B9A9-BC2F3E3F1FD0}" type="pres">
      <dgm:prSet presAssocID="{328EFEF7-3E56-4E79-B8C4-6CFE7C254BD7}" presName="tx1" presStyleLbl="revTx" presStyleIdx="3" presStyleCnt="4"/>
      <dgm:spPr/>
    </dgm:pt>
    <dgm:pt modelId="{058244DB-4736-4D65-9809-B2144247B6FF}" type="pres">
      <dgm:prSet presAssocID="{328EFEF7-3E56-4E79-B8C4-6CFE7C254BD7}" presName="vert1" presStyleCnt="0"/>
      <dgm:spPr/>
    </dgm:pt>
  </dgm:ptLst>
  <dgm:cxnLst>
    <dgm:cxn modelId="{7C1C2807-52E3-4A70-B741-61B1AA0B2CAA}" type="presOf" srcId="{328EFEF7-3E56-4E79-B8C4-6CFE7C254BD7}" destId="{F1817D51-30EF-477B-B9A9-BC2F3E3F1FD0}" srcOrd="0" destOrd="0" presId="urn:microsoft.com/office/officeart/2008/layout/LinedList"/>
    <dgm:cxn modelId="{4CF58421-719F-49CB-A202-EEF97BAF7F99}" type="presOf" srcId="{7D3A8D9A-B3F2-44BD-B197-C0CB4D105BBB}" destId="{C8DEE46D-79A4-4D1C-966B-67FAE29D622C}" srcOrd="0" destOrd="0" presId="urn:microsoft.com/office/officeart/2008/layout/LinedList"/>
    <dgm:cxn modelId="{1215C284-9465-41C6-A4AF-317F56B82189}" type="presOf" srcId="{2A009114-8352-4FB3-A10C-D3C6002F93B3}" destId="{6F9ADA51-E10F-40CD-9F8C-BCAC81881C72}" srcOrd="0" destOrd="0" presId="urn:microsoft.com/office/officeart/2008/layout/LinedList"/>
    <dgm:cxn modelId="{F60CB499-CF95-4CF4-A98E-47E3634BC583}" srcId="{AB9E1C6E-0658-4A30-B0F6-45603B5CEB80}" destId="{7D3A8D9A-B3F2-44BD-B197-C0CB4D105BBB}" srcOrd="1" destOrd="0" parTransId="{F89AADC1-DE77-4828-9EC2-A91A8EBC4E57}" sibTransId="{52A34DC0-1A04-4226-B52E-FC42D5948534}"/>
    <dgm:cxn modelId="{7499A3A1-5BBA-4E3A-AB33-A5F0F94E8A97}" srcId="{AB9E1C6E-0658-4A30-B0F6-45603B5CEB80}" destId="{EAAD4EE9-981B-45C9-8533-D68A13C64F18}" srcOrd="0" destOrd="0" parTransId="{88790129-28DD-455C-B3FD-34C5E933FC3E}" sibTransId="{60162DF8-A201-40CD-B758-C3DCA9C98992}"/>
    <dgm:cxn modelId="{E8B04CBA-9D01-4A10-85B4-1BBA96722D88}" type="presOf" srcId="{EAAD4EE9-981B-45C9-8533-D68A13C64F18}" destId="{E9E86112-F591-4493-A421-72B75ABBDFAC}" srcOrd="0" destOrd="0" presId="urn:microsoft.com/office/officeart/2008/layout/LinedList"/>
    <dgm:cxn modelId="{3B1E08CB-2A46-4841-8D2B-DCC772013DCF}" type="presOf" srcId="{AB9E1C6E-0658-4A30-B0F6-45603B5CEB80}" destId="{71146D63-8933-4DF7-8B4D-E1681D5AA01C}" srcOrd="0" destOrd="0" presId="urn:microsoft.com/office/officeart/2008/layout/LinedList"/>
    <dgm:cxn modelId="{25C79ED8-A297-4738-9173-B8C2CBDBE887}" srcId="{AB9E1C6E-0658-4A30-B0F6-45603B5CEB80}" destId="{2A009114-8352-4FB3-A10C-D3C6002F93B3}" srcOrd="2" destOrd="0" parTransId="{224F72B8-2F33-4554-964C-F3E9FD9D7466}" sibTransId="{34E107D3-0153-4483-929E-C745FB780A46}"/>
    <dgm:cxn modelId="{037472DE-F061-451A-9896-484DB05577A2}" srcId="{AB9E1C6E-0658-4A30-B0F6-45603B5CEB80}" destId="{328EFEF7-3E56-4E79-B8C4-6CFE7C254BD7}" srcOrd="3" destOrd="0" parTransId="{F0B9F887-3B65-4787-8A50-A39CDB8DFA4D}" sibTransId="{58CF58A7-BF3D-4150-9318-861D00EAC749}"/>
    <dgm:cxn modelId="{C2C13051-1BF7-47A1-87F1-6CD9986B60A9}" type="presParOf" srcId="{71146D63-8933-4DF7-8B4D-E1681D5AA01C}" destId="{6714BBB0-347E-4B63-84D0-F514F8657349}" srcOrd="0" destOrd="0" presId="urn:microsoft.com/office/officeart/2008/layout/LinedList"/>
    <dgm:cxn modelId="{E06F1BA7-193C-414A-BB7A-A050E34A107F}" type="presParOf" srcId="{71146D63-8933-4DF7-8B4D-E1681D5AA01C}" destId="{C066BC2F-3552-4E03-B740-200A14BAADA8}" srcOrd="1" destOrd="0" presId="urn:microsoft.com/office/officeart/2008/layout/LinedList"/>
    <dgm:cxn modelId="{4F4FBD87-00B2-4F0E-A79F-6AA67E3DE61A}" type="presParOf" srcId="{C066BC2F-3552-4E03-B740-200A14BAADA8}" destId="{E9E86112-F591-4493-A421-72B75ABBDFAC}" srcOrd="0" destOrd="0" presId="urn:microsoft.com/office/officeart/2008/layout/LinedList"/>
    <dgm:cxn modelId="{8025ECC6-7E74-4B80-8F6A-64E60EEC08E4}" type="presParOf" srcId="{C066BC2F-3552-4E03-B740-200A14BAADA8}" destId="{D165210A-94AF-4A3C-90F7-2AE563908518}" srcOrd="1" destOrd="0" presId="urn:microsoft.com/office/officeart/2008/layout/LinedList"/>
    <dgm:cxn modelId="{96F1033D-C41E-4FAE-931F-C2BC566C1067}" type="presParOf" srcId="{71146D63-8933-4DF7-8B4D-E1681D5AA01C}" destId="{F99FD86C-92A9-4C7F-8EDF-F30E53B7D514}" srcOrd="2" destOrd="0" presId="urn:microsoft.com/office/officeart/2008/layout/LinedList"/>
    <dgm:cxn modelId="{85D20C88-18AB-4497-B384-58F1C133BCD6}" type="presParOf" srcId="{71146D63-8933-4DF7-8B4D-E1681D5AA01C}" destId="{83CD9685-03D4-46B7-B336-E221CBF8FECE}" srcOrd="3" destOrd="0" presId="urn:microsoft.com/office/officeart/2008/layout/LinedList"/>
    <dgm:cxn modelId="{C783F0DA-C6CE-4D76-897E-30FD3AB65E6E}" type="presParOf" srcId="{83CD9685-03D4-46B7-B336-E221CBF8FECE}" destId="{C8DEE46D-79A4-4D1C-966B-67FAE29D622C}" srcOrd="0" destOrd="0" presId="urn:microsoft.com/office/officeart/2008/layout/LinedList"/>
    <dgm:cxn modelId="{D90C95A2-A704-47F3-BAE7-E125CFC3C4C6}" type="presParOf" srcId="{83CD9685-03D4-46B7-B336-E221CBF8FECE}" destId="{F73C9ECF-62A2-4184-B02A-4E9C092AB616}" srcOrd="1" destOrd="0" presId="urn:microsoft.com/office/officeart/2008/layout/LinedList"/>
    <dgm:cxn modelId="{0BFE7301-7BE4-4578-9E0E-F0B1B887F956}" type="presParOf" srcId="{71146D63-8933-4DF7-8B4D-E1681D5AA01C}" destId="{AFA7D0D0-8A0B-473C-AA4F-0B01AFFB7153}" srcOrd="4" destOrd="0" presId="urn:microsoft.com/office/officeart/2008/layout/LinedList"/>
    <dgm:cxn modelId="{1CFEF2D7-8D34-4FE8-B6E0-89EBAAA56750}" type="presParOf" srcId="{71146D63-8933-4DF7-8B4D-E1681D5AA01C}" destId="{5134EEEB-F9EB-49FC-9704-F53B39667FF1}" srcOrd="5" destOrd="0" presId="urn:microsoft.com/office/officeart/2008/layout/LinedList"/>
    <dgm:cxn modelId="{61E45FCB-DA29-4288-94A9-7428FDBA0BC3}" type="presParOf" srcId="{5134EEEB-F9EB-49FC-9704-F53B39667FF1}" destId="{6F9ADA51-E10F-40CD-9F8C-BCAC81881C72}" srcOrd="0" destOrd="0" presId="urn:microsoft.com/office/officeart/2008/layout/LinedList"/>
    <dgm:cxn modelId="{A068E0C6-5487-4D75-8DE1-DF07C14DC851}" type="presParOf" srcId="{5134EEEB-F9EB-49FC-9704-F53B39667FF1}" destId="{8B705A88-414B-4B4D-87B5-B3EA27EC14EB}" srcOrd="1" destOrd="0" presId="urn:microsoft.com/office/officeart/2008/layout/LinedList"/>
    <dgm:cxn modelId="{B4DAC0D6-8DAE-431B-BC59-2C8A1C741CD5}" type="presParOf" srcId="{71146D63-8933-4DF7-8B4D-E1681D5AA01C}" destId="{14C84047-B28E-46E1-A2DC-8B7B56CEAAFB}" srcOrd="6" destOrd="0" presId="urn:microsoft.com/office/officeart/2008/layout/LinedList"/>
    <dgm:cxn modelId="{BB411521-842D-4B96-B7E3-64131013D505}" type="presParOf" srcId="{71146D63-8933-4DF7-8B4D-E1681D5AA01C}" destId="{32E0560E-7A1E-4E06-BC49-847667E224BA}" srcOrd="7" destOrd="0" presId="urn:microsoft.com/office/officeart/2008/layout/LinedList"/>
    <dgm:cxn modelId="{856B7ABA-0F10-4371-A8A0-619AE68CFFEA}" type="presParOf" srcId="{32E0560E-7A1E-4E06-BC49-847667E224BA}" destId="{F1817D51-30EF-477B-B9A9-BC2F3E3F1FD0}" srcOrd="0" destOrd="0" presId="urn:microsoft.com/office/officeart/2008/layout/LinedList"/>
    <dgm:cxn modelId="{31444C14-A52D-40E4-9E06-7E4EBB2E8160}" type="presParOf" srcId="{32E0560E-7A1E-4E06-BC49-847667E224BA}" destId="{058244DB-4736-4D65-9809-B2144247B6FF}"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29CDD63-5167-423B-AEC1-24FE7E8AAE97}"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s-ES"/>
        </a:p>
      </dgm:t>
    </dgm:pt>
    <dgm:pt modelId="{10FCF914-844B-4B2A-8773-5DA9A7F9C0B5}">
      <dgm:prSet phldrT="[Texto]"/>
      <dgm:spPr/>
      <dgm:t>
        <a:bodyPr/>
        <a:lstStyle/>
        <a:p>
          <a:r>
            <a:rPr lang="es-ES" dirty="0"/>
            <a:t>Detección de </a:t>
          </a:r>
          <a:r>
            <a:rPr lang="es-ES" dirty="0" err="1"/>
            <a:t>APKs</a:t>
          </a:r>
          <a:r>
            <a:rPr lang="es-ES" dirty="0"/>
            <a:t> maliciosas explorando técnicas de Aprendizaje Automático.</a:t>
          </a:r>
        </a:p>
      </dgm:t>
    </dgm:pt>
    <dgm:pt modelId="{21C77CCF-5AC9-438D-96EB-C97E94E54194}" type="parTrans" cxnId="{B880E195-4A8B-4D41-9AD8-CAFF14BBB58D}">
      <dgm:prSet/>
      <dgm:spPr/>
      <dgm:t>
        <a:bodyPr/>
        <a:lstStyle/>
        <a:p>
          <a:endParaRPr lang="es-ES"/>
        </a:p>
      </dgm:t>
    </dgm:pt>
    <dgm:pt modelId="{DAC8CDEF-B1F0-4C22-B6A0-1102554196FF}" type="sibTrans" cxnId="{B880E195-4A8B-4D41-9AD8-CAFF14BBB58D}">
      <dgm:prSet/>
      <dgm:spPr/>
      <dgm:t>
        <a:bodyPr/>
        <a:lstStyle/>
        <a:p>
          <a:endParaRPr lang="es-ES"/>
        </a:p>
      </dgm:t>
    </dgm:pt>
    <dgm:pt modelId="{8DC4954D-17A3-4A9F-A7AC-D70D58D2C380}" type="pres">
      <dgm:prSet presAssocID="{729CDD63-5167-423B-AEC1-24FE7E8AAE97}" presName="Name0" presStyleCnt="0">
        <dgm:presLayoutVars>
          <dgm:dir/>
          <dgm:resizeHandles val="exact"/>
        </dgm:presLayoutVars>
      </dgm:prSet>
      <dgm:spPr/>
    </dgm:pt>
    <dgm:pt modelId="{959F41EB-F974-43B6-9589-911184216228}" type="pres">
      <dgm:prSet presAssocID="{10FCF914-844B-4B2A-8773-5DA9A7F9C0B5}" presName="composite" presStyleCnt="0"/>
      <dgm:spPr/>
    </dgm:pt>
    <dgm:pt modelId="{712FDF56-FA53-4F73-9E3C-6A57392F1019}" type="pres">
      <dgm:prSet presAssocID="{10FCF914-844B-4B2A-8773-5DA9A7F9C0B5}" presName="rect1" presStyleLbl="trAlignAcc1" presStyleIdx="0" presStyleCnt="1">
        <dgm:presLayoutVars>
          <dgm:bulletEnabled val="1"/>
        </dgm:presLayoutVars>
      </dgm:prSet>
      <dgm:spPr/>
    </dgm:pt>
    <dgm:pt modelId="{5D49EF26-6752-4B6C-A6D3-0BD9DB0DA52F}" type="pres">
      <dgm:prSet presAssocID="{10FCF914-844B-4B2A-8773-5DA9A7F9C0B5}" presName="rect2" presStyleLbl="fgImgPlace1" presStyleIdx="0" presStyleCnt="1"/>
      <dgm:spPr>
        <a:blipFill rotWithShape="1">
          <a:blip xmlns:r="http://schemas.openxmlformats.org/officeDocument/2006/relationships" r:embed="rId1"/>
          <a:srcRect/>
          <a:stretch>
            <a:fillRect l="-55000" r="-55000"/>
          </a:stretch>
        </a:blipFill>
      </dgm:spPr>
    </dgm:pt>
  </dgm:ptLst>
  <dgm:cxnLst>
    <dgm:cxn modelId="{B9CBD648-70BC-4B76-B6B3-64408444203B}" type="presOf" srcId="{10FCF914-844B-4B2A-8773-5DA9A7F9C0B5}" destId="{712FDF56-FA53-4F73-9E3C-6A57392F1019}" srcOrd="0" destOrd="0" presId="urn:microsoft.com/office/officeart/2008/layout/PictureStrips"/>
    <dgm:cxn modelId="{D3AB0184-7790-4BDD-94CE-B9DEB948988F}" type="presOf" srcId="{729CDD63-5167-423B-AEC1-24FE7E8AAE97}" destId="{8DC4954D-17A3-4A9F-A7AC-D70D58D2C380}" srcOrd="0" destOrd="0" presId="urn:microsoft.com/office/officeart/2008/layout/PictureStrips"/>
    <dgm:cxn modelId="{B880E195-4A8B-4D41-9AD8-CAFF14BBB58D}" srcId="{729CDD63-5167-423B-AEC1-24FE7E8AAE97}" destId="{10FCF914-844B-4B2A-8773-5DA9A7F9C0B5}" srcOrd="0" destOrd="0" parTransId="{21C77CCF-5AC9-438D-96EB-C97E94E54194}" sibTransId="{DAC8CDEF-B1F0-4C22-B6A0-1102554196FF}"/>
    <dgm:cxn modelId="{BB46517D-D422-4BF0-9B31-A88605C86E8D}" type="presParOf" srcId="{8DC4954D-17A3-4A9F-A7AC-D70D58D2C380}" destId="{959F41EB-F974-43B6-9589-911184216228}" srcOrd="0" destOrd="0" presId="urn:microsoft.com/office/officeart/2008/layout/PictureStrips"/>
    <dgm:cxn modelId="{0DDE92A0-7165-42AA-A780-737A7FA5EAEE}" type="presParOf" srcId="{959F41EB-F974-43B6-9589-911184216228}" destId="{712FDF56-FA53-4F73-9E3C-6A57392F1019}" srcOrd="0" destOrd="0" presId="urn:microsoft.com/office/officeart/2008/layout/PictureStrips"/>
    <dgm:cxn modelId="{DE66ABAE-C8B2-4766-B74A-8CE115733C75}" type="presParOf" srcId="{959F41EB-F974-43B6-9589-911184216228}" destId="{5D49EF26-6752-4B6C-A6D3-0BD9DB0DA52F}"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E775FC1-F3A8-4D77-BD24-24499D593ABA}" type="doc">
      <dgm:prSet loTypeId="urn:microsoft.com/office/officeart/2005/8/layout/vList3" loCatId="list" qsTypeId="urn:microsoft.com/office/officeart/2005/8/quickstyle/simple1" qsCatId="simple" csTypeId="urn:microsoft.com/office/officeart/2005/8/colors/accent0_3" csCatId="mainScheme" phldr="1"/>
      <dgm:spPr/>
      <dgm:t>
        <a:bodyPr/>
        <a:lstStyle/>
        <a:p>
          <a:endParaRPr lang="es-ES"/>
        </a:p>
      </dgm:t>
    </dgm:pt>
    <dgm:pt modelId="{AA181841-6FB9-4A33-A01A-FF415958005B}">
      <dgm:prSet phldrT="[Texto]"/>
      <dgm:spPr/>
      <dgm:t>
        <a:bodyPr/>
        <a:lstStyle/>
        <a:p>
          <a:r>
            <a:rPr lang="es-ES" dirty="0"/>
            <a:t>200 muestras (</a:t>
          </a:r>
          <a:r>
            <a:rPr lang="es-ES" dirty="0" err="1"/>
            <a:t>type</a:t>
          </a:r>
          <a:r>
            <a:rPr lang="es-ES" dirty="0"/>
            <a:t> = 1)</a:t>
          </a:r>
        </a:p>
      </dgm:t>
    </dgm:pt>
    <dgm:pt modelId="{959F4024-ED14-47CB-AA9E-9200E90C2094}" type="parTrans" cxnId="{9516B574-8705-44B4-8F0D-09451D7E1826}">
      <dgm:prSet/>
      <dgm:spPr/>
      <dgm:t>
        <a:bodyPr/>
        <a:lstStyle/>
        <a:p>
          <a:endParaRPr lang="es-ES"/>
        </a:p>
      </dgm:t>
    </dgm:pt>
    <dgm:pt modelId="{074DBE79-2962-43A3-A244-8F92FBD8588A}" type="sibTrans" cxnId="{9516B574-8705-44B4-8F0D-09451D7E1826}">
      <dgm:prSet/>
      <dgm:spPr/>
      <dgm:t>
        <a:bodyPr/>
        <a:lstStyle/>
        <a:p>
          <a:endParaRPr lang="es-ES"/>
        </a:p>
      </dgm:t>
    </dgm:pt>
    <dgm:pt modelId="{3DBB0391-94FD-463C-81F1-5502B56CCC8C}">
      <dgm:prSet phldrT="[Texto]"/>
      <dgm:spPr/>
      <dgm:t>
        <a:bodyPr/>
        <a:lstStyle/>
        <a:p>
          <a:r>
            <a:rPr lang="es-ES" dirty="0"/>
            <a:t>Benignas</a:t>
          </a:r>
        </a:p>
      </dgm:t>
    </dgm:pt>
    <dgm:pt modelId="{1542AA0C-5B98-468D-8FB3-C5E8B6662EA5}" type="parTrans" cxnId="{A3628CA3-B362-46EE-B1C6-FFBF8321C095}">
      <dgm:prSet/>
      <dgm:spPr/>
      <dgm:t>
        <a:bodyPr/>
        <a:lstStyle/>
        <a:p>
          <a:endParaRPr lang="es-ES"/>
        </a:p>
      </dgm:t>
    </dgm:pt>
    <dgm:pt modelId="{0E594E15-6108-4ECC-A0C7-746C0D33FA6A}" type="sibTrans" cxnId="{A3628CA3-B362-46EE-B1C6-FFBF8321C095}">
      <dgm:prSet/>
      <dgm:spPr/>
      <dgm:t>
        <a:bodyPr/>
        <a:lstStyle/>
        <a:p>
          <a:endParaRPr lang="es-ES"/>
        </a:p>
      </dgm:t>
    </dgm:pt>
    <dgm:pt modelId="{A0148B2C-03F0-4E0B-A7BC-A5AACE2B98C9}">
      <dgm:prSet phldrT="[Texto]"/>
      <dgm:spPr/>
      <dgm:t>
        <a:bodyPr/>
        <a:lstStyle/>
        <a:p>
          <a:r>
            <a:rPr lang="es-ES" dirty="0"/>
            <a:t>200 muestras (</a:t>
          </a:r>
          <a:r>
            <a:rPr lang="es-ES" dirty="0" err="1"/>
            <a:t>type</a:t>
          </a:r>
          <a:r>
            <a:rPr lang="es-ES" dirty="0"/>
            <a:t> = 0)</a:t>
          </a:r>
        </a:p>
      </dgm:t>
    </dgm:pt>
    <dgm:pt modelId="{799F8E13-546C-4491-B60A-2E26990DD70A}" type="parTrans" cxnId="{84B2E511-B707-4D50-82F0-5453259B22D4}">
      <dgm:prSet/>
      <dgm:spPr/>
      <dgm:t>
        <a:bodyPr/>
        <a:lstStyle/>
        <a:p>
          <a:endParaRPr lang="es-ES"/>
        </a:p>
      </dgm:t>
    </dgm:pt>
    <dgm:pt modelId="{9CD91378-4630-49E2-AFD8-0443A0F4636A}" type="sibTrans" cxnId="{84B2E511-B707-4D50-82F0-5453259B22D4}">
      <dgm:prSet/>
      <dgm:spPr/>
      <dgm:t>
        <a:bodyPr/>
        <a:lstStyle/>
        <a:p>
          <a:endParaRPr lang="es-ES"/>
        </a:p>
      </dgm:t>
    </dgm:pt>
    <dgm:pt modelId="{7B4EAAB9-C5CA-4972-BEC2-5C8A9D4EB6A8}">
      <dgm:prSet phldrT="[Texto]"/>
      <dgm:spPr/>
      <dgm:t>
        <a:bodyPr/>
        <a:lstStyle/>
        <a:p>
          <a:r>
            <a:rPr lang="es-ES" dirty="0"/>
            <a:t>Atributos</a:t>
          </a:r>
        </a:p>
      </dgm:t>
    </dgm:pt>
    <dgm:pt modelId="{AD4EA42D-0F69-4A17-96A4-7E5021F55EAD}" type="parTrans" cxnId="{B6A6EB7D-D0F0-4682-A30F-612A3DE50088}">
      <dgm:prSet/>
      <dgm:spPr/>
      <dgm:t>
        <a:bodyPr/>
        <a:lstStyle/>
        <a:p>
          <a:endParaRPr lang="es-ES"/>
        </a:p>
      </dgm:t>
    </dgm:pt>
    <dgm:pt modelId="{4C2E8CA5-8558-4526-81BE-79FFDFC9DA98}" type="sibTrans" cxnId="{B6A6EB7D-D0F0-4682-A30F-612A3DE50088}">
      <dgm:prSet/>
      <dgm:spPr/>
      <dgm:t>
        <a:bodyPr/>
        <a:lstStyle/>
        <a:p>
          <a:endParaRPr lang="es-ES"/>
        </a:p>
      </dgm:t>
    </dgm:pt>
    <dgm:pt modelId="{D0A07274-04BB-48D0-A48F-1E3424D51292}">
      <dgm:prSet phldrT="[Texto]"/>
      <dgm:spPr/>
      <dgm:t>
        <a:bodyPr/>
        <a:lstStyle/>
        <a:p>
          <a:r>
            <a:rPr lang="es-ES" dirty="0"/>
            <a:t>Cada muestra se representa mediante los permisos que Android pone a disposición de los desarrolladores. </a:t>
          </a:r>
        </a:p>
      </dgm:t>
    </dgm:pt>
    <dgm:pt modelId="{015E4FE8-FC56-423D-9FD8-124BE2607369}" type="parTrans" cxnId="{2DE606F3-5930-444F-9CC5-F144913F3318}">
      <dgm:prSet/>
      <dgm:spPr/>
      <dgm:t>
        <a:bodyPr/>
        <a:lstStyle/>
        <a:p>
          <a:endParaRPr lang="es-ES"/>
        </a:p>
      </dgm:t>
    </dgm:pt>
    <dgm:pt modelId="{BB9C20BA-F9BB-48F1-B96A-F341E38982EE}" type="sibTrans" cxnId="{2DE606F3-5930-444F-9CC5-F144913F3318}">
      <dgm:prSet/>
      <dgm:spPr/>
      <dgm:t>
        <a:bodyPr/>
        <a:lstStyle/>
        <a:p>
          <a:endParaRPr lang="es-ES"/>
        </a:p>
      </dgm:t>
    </dgm:pt>
    <dgm:pt modelId="{261E7A69-95B0-437A-962D-BDC0D3E6C2B7}">
      <dgm:prSet phldrT="[Texto]"/>
      <dgm:spPr/>
      <dgm:t>
        <a:bodyPr/>
        <a:lstStyle/>
        <a:p>
          <a:r>
            <a:rPr lang="es-ES" dirty="0"/>
            <a:t>Maliciosas</a:t>
          </a:r>
        </a:p>
      </dgm:t>
    </dgm:pt>
    <dgm:pt modelId="{74ED25F8-4C19-4741-B4FB-42FF38705A9F}" type="parTrans" cxnId="{56227988-7D43-486B-8429-13109F3460DE}">
      <dgm:prSet/>
      <dgm:spPr/>
      <dgm:t>
        <a:bodyPr/>
        <a:lstStyle/>
        <a:p>
          <a:endParaRPr lang="es-ES"/>
        </a:p>
      </dgm:t>
    </dgm:pt>
    <dgm:pt modelId="{B42C1822-7502-479D-9CCF-0F72B57F8F89}" type="sibTrans" cxnId="{56227988-7D43-486B-8429-13109F3460DE}">
      <dgm:prSet/>
      <dgm:spPr/>
      <dgm:t>
        <a:bodyPr/>
        <a:lstStyle/>
        <a:p>
          <a:endParaRPr lang="es-ES"/>
        </a:p>
      </dgm:t>
    </dgm:pt>
    <dgm:pt modelId="{E51D09C8-B1D1-4F7D-8597-B7622C49C0F1}">
      <dgm:prSet phldrT="[Texto]"/>
      <dgm:spPr/>
      <dgm:t>
        <a:bodyPr/>
        <a:lstStyle/>
        <a:p>
          <a:r>
            <a:rPr lang="es-ES" dirty="0"/>
            <a:t>Si requiere de un permiso, se marca con 1 la celda correspondiente; y 0 en caso contrario.</a:t>
          </a:r>
        </a:p>
      </dgm:t>
    </dgm:pt>
    <dgm:pt modelId="{93C78FAE-3689-4F43-BB2C-0B4521CA3452}" type="parTrans" cxnId="{D66017A7-1EE9-49A1-A355-1741FD5CB6AC}">
      <dgm:prSet/>
      <dgm:spPr/>
      <dgm:t>
        <a:bodyPr/>
        <a:lstStyle/>
        <a:p>
          <a:endParaRPr lang="es-ES"/>
        </a:p>
      </dgm:t>
    </dgm:pt>
    <dgm:pt modelId="{BBC37A04-5C8E-4DCD-A61D-8D29CD7028EE}" type="sibTrans" cxnId="{D66017A7-1EE9-49A1-A355-1741FD5CB6AC}">
      <dgm:prSet/>
      <dgm:spPr/>
      <dgm:t>
        <a:bodyPr/>
        <a:lstStyle/>
        <a:p>
          <a:endParaRPr lang="es-ES"/>
        </a:p>
      </dgm:t>
    </dgm:pt>
    <dgm:pt modelId="{5C49F519-84F7-4F34-B79D-A3C65692F7E1}" type="pres">
      <dgm:prSet presAssocID="{AE775FC1-F3A8-4D77-BD24-24499D593ABA}" presName="linearFlow" presStyleCnt="0">
        <dgm:presLayoutVars>
          <dgm:dir/>
          <dgm:resizeHandles val="exact"/>
        </dgm:presLayoutVars>
      </dgm:prSet>
      <dgm:spPr/>
    </dgm:pt>
    <dgm:pt modelId="{14183589-4792-4D6B-BC9A-9865F1743AD1}" type="pres">
      <dgm:prSet presAssocID="{261E7A69-95B0-437A-962D-BDC0D3E6C2B7}" presName="composite" presStyleCnt="0"/>
      <dgm:spPr/>
    </dgm:pt>
    <dgm:pt modelId="{900AA6B7-7E9E-4D3A-A41C-7F66F1D374C8}" type="pres">
      <dgm:prSet presAssocID="{261E7A69-95B0-437A-962D-BDC0D3E6C2B7}" presName="imgShp" presStyleLbl="fgImgPlace1" presStyleIdx="0" presStyleCnt="3"/>
      <dgm:spPr>
        <a:blipFill rotWithShape="1">
          <a:blip xmlns:r="http://schemas.openxmlformats.org/officeDocument/2006/relationships" r:embed="rId1"/>
          <a:srcRect/>
          <a:stretch>
            <a:fillRect l="-31000" r="-31000"/>
          </a:stretch>
        </a:blipFill>
      </dgm:spPr>
    </dgm:pt>
    <dgm:pt modelId="{9F6769AB-A0FC-44A3-8A49-EC644B6628E7}" type="pres">
      <dgm:prSet presAssocID="{261E7A69-95B0-437A-962D-BDC0D3E6C2B7}" presName="txShp" presStyleLbl="node1" presStyleIdx="0" presStyleCnt="3">
        <dgm:presLayoutVars>
          <dgm:bulletEnabled val="1"/>
        </dgm:presLayoutVars>
      </dgm:prSet>
      <dgm:spPr/>
    </dgm:pt>
    <dgm:pt modelId="{F305FD49-CBE0-453C-813D-4F79FC8E3068}" type="pres">
      <dgm:prSet presAssocID="{B42C1822-7502-479D-9CCF-0F72B57F8F89}" presName="spacing" presStyleCnt="0"/>
      <dgm:spPr/>
    </dgm:pt>
    <dgm:pt modelId="{32D1B1BB-20E1-46D1-B95B-1CDF368F7A85}" type="pres">
      <dgm:prSet presAssocID="{3DBB0391-94FD-463C-81F1-5502B56CCC8C}" presName="composite" presStyleCnt="0"/>
      <dgm:spPr/>
    </dgm:pt>
    <dgm:pt modelId="{AAD98E5D-F560-4434-AA10-702814F04B2A}" type="pres">
      <dgm:prSet presAssocID="{3DBB0391-94FD-463C-81F1-5502B56CCC8C}" presName="imgShp" presStyleLbl="fgImgPlace1" presStyleIdx="1" presStyleCnt="3"/>
      <dgm:spPr>
        <a:blipFill rotWithShape="1">
          <a:blip xmlns:r="http://schemas.openxmlformats.org/officeDocument/2006/relationships" r:embed="rId2"/>
          <a:srcRect/>
          <a:stretch>
            <a:fillRect l="-23000" r="-23000"/>
          </a:stretch>
        </a:blipFill>
      </dgm:spPr>
    </dgm:pt>
    <dgm:pt modelId="{6BC7099C-E689-4426-8B3F-8CB67B3B4309}" type="pres">
      <dgm:prSet presAssocID="{3DBB0391-94FD-463C-81F1-5502B56CCC8C}" presName="txShp" presStyleLbl="node1" presStyleIdx="1" presStyleCnt="3">
        <dgm:presLayoutVars>
          <dgm:bulletEnabled val="1"/>
        </dgm:presLayoutVars>
      </dgm:prSet>
      <dgm:spPr/>
    </dgm:pt>
    <dgm:pt modelId="{B6071198-9061-4CBD-9A54-B3D358B12FE4}" type="pres">
      <dgm:prSet presAssocID="{0E594E15-6108-4ECC-A0C7-746C0D33FA6A}" presName="spacing" presStyleCnt="0"/>
      <dgm:spPr/>
    </dgm:pt>
    <dgm:pt modelId="{2ECD7622-0244-4AC4-9C11-8941F4D488D0}" type="pres">
      <dgm:prSet presAssocID="{7B4EAAB9-C5CA-4972-BEC2-5C8A9D4EB6A8}" presName="composite" presStyleCnt="0"/>
      <dgm:spPr/>
    </dgm:pt>
    <dgm:pt modelId="{4F53653C-14FC-426F-8BE2-7346C5327ED6}" type="pres">
      <dgm:prSet presAssocID="{7B4EAAB9-C5CA-4972-BEC2-5C8A9D4EB6A8}" presName="imgShp" presStyleLbl="fgImgPlace1" presStyleIdx="2" presStyleCnt="3"/>
      <dgm:spPr>
        <a:blipFill rotWithShape="1">
          <a:blip xmlns:r="http://schemas.openxmlformats.org/officeDocument/2006/relationships" r:embed="rId3"/>
          <a:srcRect/>
          <a:stretch>
            <a:fillRect l="-37000" r="-37000"/>
          </a:stretch>
        </a:blipFill>
      </dgm:spPr>
    </dgm:pt>
    <dgm:pt modelId="{3655021F-517B-40BA-B05E-BFB122246E80}" type="pres">
      <dgm:prSet presAssocID="{7B4EAAB9-C5CA-4972-BEC2-5C8A9D4EB6A8}" presName="txShp" presStyleLbl="node1" presStyleIdx="2" presStyleCnt="3">
        <dgm:presLayoutVars>
          <dgm:bulletEnabled val="1"/>
        </dgm:presLayoutVars>
      </dgm:prSet>
      <dgm:spPr/>
    </dgm:pt>
  </dgm:ptLst>
  <dgm:cxnLst>
    <dgm:cxn modelId="{84B2E511-B707-4D50-82F0-5453259B22D4}" srcId="{3DBB0391-94FD-463C-81F1-5502B56CCC8C}" destId="{A0148B2C-03F0-4E0B-A7BC-A5AACE2B98C9}" srcOrd="0" destOrd="0" parTransId="{799F8E13-546C-4491-B60A-2E26990DD70A}" sibTransId="{9CD91378-4630-49E2-AFD8-0443A0F4636A}"/>
    <dgm:cxn modelId="{1C6FE35D-FE64-41E5-9103-CEB78B948D36}" type="presOf" srcId="{A0148B2C-03F0-4E0B-A7BC-A5AACE2B98C9}" destId="{6BC7099C-E689-4426-8B3F-8CB67B3B4309}" srcOrd="0" destOrd="1" presId="urn:microsoft.com/office/officeart/2005/8/layout/vList3"/>
    <dgm:cxn modelId="{07C88B6E-0D40-4185-A661-6A1FCBB043AF}" type="presOf" srcId="{D0A07274-04BB-48D0-A48F-1E3424D51292}" destId="{3655021F-517B-40BA-B05E-BFB122246E80}" srcOrd="0" destOrd="1" presId="urn:microsoft.com/office/officeart/2005/8/layout/vList3"/>
    <dgm:cxn modelId="{9516B574-8705-44B4-8F0D-09451D7E1826}" srcId="{261E7A69-95B0-437A-962D-BDC0D3E6C2B7}" destId="{AA181841-6FB9-4A33-A01A-FF415958005B}" srcOrd="0" destOrd="0" parTransId="{959F4024-ED14-47CB-AA9E-9200E90C2094}" sibTransId="{074DBE79-2962-43A3-A244-8F92FBD8588A}"/>
    <dgm:cxn modelId="{B6A6EB7D-D0F0-4682-A30F-612A3DE50088}" srcId="{AE775FC1-F3A8-4D77-BD24-24499D593ABA}" destId="{7B4EAAB9-C5CA-4972-BEC2-5C8A9D4EB6A8}" srcOrd="2" destOrd="0" parTransId="{AD4EA42D-0F69-4A17-96A4-7E5021F55EAD}" sibTransId="{4C2E8CA5-8558-4526-81BE-79FFDFC9DA98}"/>
    <dgm:cxn modelId="{26BEA886-36EC-464B-842D-BC6A811558A3}" type="presOf" srcId="{261E7A69-95B0-437A-962D-BDC0D3E6C2B7}" destId="{9F6769AB-A0FC-44A3-8A49-EC644B6628E7}" srcOrd="0" destOrd="0" presId="urn:microsoft.com/office/officeart/2005/8/layout/vList3"/>
    <dgm:cxn modelId="{56227988-7D43-486B-8429-13109F3460DE}" srcId="{AE775FC1-F3A8-4D77-BD24-24499D593ABA}" destId="{261E7A69-95B0-437A-962D-BDC0D3E6C2B7}" srcOrd="0" destOrd="0" parTransId="{74ED25F8-4C19-4741-B4FB-42FF38705A9F}" sibTransId="{B42C1822-7502-479D-9CCF-0F72B57F8F89}"/>
    <dgm:cxn modelId="{A3628CA3-B362-46EE-B1C6-FFBF8321C095}" srcId="{AE775FC1-F3A8-4D77-BD24-24499D593ABA}" destId="{3DBB0391-94FD-463C-81F1-5502B56CCC8C}" srcOrd="1" destOrd="0" parTransId="{1542AA0C-5B98-468D-8FB3-C5E8B6662EA5}" sibTransId="{0E594E15-6108-4ECC-A0C7-746C0D33FA6A}"/>
    <dgm:cxn modelId="{FD9273A4-ADFE-40CD-A566-E2BFF2C9C11C}" type="presOf" srcId="{E51D09C8-B1D1-4F7D-8597-B7622C49C0F1}" destId="{3655021F-517B-40BA-B05E-BFB122246E80}" srcOrd="0" destOrd="2" presId="urn:microsoft.com/office/officeart/2005/8/layout/vList3"/>
    <dgm:cxn modelId="{D66017A7-1EE9-49A1-A355-1741FD5CB6AC}" srcId="{7B4EAAB9-C5CA-4972-BEC2-5C8A9D4EB6A8}" destId="{E51D09C8-B1D1-4F7D-8597-B7622C49C0F1}" srcOrd="1" destOrd="0" parTransId="{93C78FAE-3689-4F43-BB2C-0B4521CA3452}" sibTransId="{BBC37A04-5C8E-4DCD-A61D-8D29CD7028EE}"/>
    <dgm:cxn modelId="{33A6C6AA-78BA-47E4-BD20-89D225A1C7BD}" type="presOf" srcId="{3DBB0391-94FD-463C-81F1-5502B56CCC8C}" destId="{6BC7099C-E689-4426-8B3F-8CB67B3B4309}" srcOrd="0" destOrd="0" presId="urn:microsoft.com/office/officeart/2005/8/layout/vList3"/>
    <dgm:cxn modelId="{6E5C35B5-8628-496F-AC3D-2134DDD66DF7}" type="presOf" srcId="{AE775FC1-F3A8-4D77-BD24-24499D593ABA}" destId="{5C49F519-84F7-4F34-B79D-A3C65692F7E1}" srcOrd="0" destOrd="0" presId="urn:microsoft.com/office/officeart/2005/8/layout/vList3"/>
    <dgm:cxn modelId="{BAB6BBD5-4C43-448E-9A7D-7B39A5467150}" type="presOf" srcId="{AA181841-6FB9-4A33-A01A-FF415958005B}" destId="{9F6769AB-A0FC-44A3-8A49-EC644B6628E7}" srcOrd="0" destOrd="1" presId="urn:microsoft.com/office/officeart/2005/8/layout/vList3"/>
    <dgm:cxn modelId="{FBBAEADA-D76F-42DF-A0E8-0EF6CD582C00}" type="presOf" srcId="{7B4EAAB9-C5CA-4972-BEC2-5C8A9D4EB6A8}" destId="{3655021F-517B-40BA-B05E-BFB122246E80}" srcOrd="0" destOrd="0" presId="urn:microsoft.com/office/officeart/2005/8/layout/vList3"/>
    <dgm:cxn modelId="{2DE606F3-5930-444F-9CC5-F144913F3318}" srcId="{7B4EAAB9-C5CA-4972-BEC2-5C8A9D4EB6A8}" destId="{D0A07274-04BB-48D0-A48F-1E3424D51292}" srcOrd="0" destOrd="0" parTransId="{015E4FE8-FC56-423D-9FD8-124BE2607369}" sibTransId="{BB9C20BA-F9BB-48F1-B96A-F341E38982EE}"/>
    <dgm:cxn modelId="{96BA20C4-A543-47E5-9285-F6B21249D90E}" type="presParOf" srcId="{5C49F519-84F7-4F34-B79D-A3C65692F7E1}" destId="{14183589-4792-4D6B-BC9A-9865F1743AD1}" srcOrd="0" destOrd="0" presId="urn:microsoft.com/office/officeart/2005/8/layout/vList3"/>
    <dgm:cxn modelId="{643A9339-E299-4E20-ABDE-F1260B09590F}" type="presParOf" srcId="{14183589-4792-4D6B-BC9A-9865F1743AD1}" destId="{900AA6B7-7E9E-4D3A-A41C-7F66F1D374C8}" srcOrd="0" destOrd="0" presId="urn:microsoft.com/office/officeart/2005/8/layout/vList3"/>
    <dgm:cxn modelId="{882A0A80-EB0C-4810-B659-70BCCDA34280}" type="presParOf" srcId="{14183589-4792-4D6B-BC9A-9865F1743AD1}" destId="{9F6769AB-A0FC-44A3-8A49-EC644B6628E7}" srcOrd="1" destOrd="0" presId="urn:microsoft.com/office/officeart/2005/8/layout/vList3"/>
    <dgm:cxn modelId="{4EE11320-D88C-404E-BDC1-40C25AB86473}" type="presParOf" srcId="{5C49F519-84F7-4F34-B79D-A3C65692F7E1}" destId="{F305FD49-CBE0-453C-813D-4F79FC8E3068}" srcOrd="1" destOrd="0" presId="urn:microsoft.com/office/officeart/2005/8/layout/vList3"/>
    <dgm:cxn modelId="{B32C8323-A6D6-42A2-A2F3-1133BE6FF1BF}" type="presParOf" srcId="{5C49F519-84F7-4F34-B79D-A3C65692F7E1}" destId="{32D1B1BB-20E1-46D1-B95B-1CDF368F7A85}" srcOrd="2" destOrd="0" presId="urn:microsoft.com/office/officeart/2005/8/layout/vList3"/>
    <dgm:cxn modelId="{A50ACA7A-8E35-4588-A3FA-13116427AAA8}" type="presParOf" srcId="{32D1B1BB-20E1-46D1-B95B-1CDF368F7A85}" destId="{AAD98E5D-F560-4434-AA10-702814F04B2A}" srcOrd="0" destOrd="0" presId="urn:microsoft.com/office/officeart/2005/8/layout/vList3"/>
    <dgm:cxn modelId="{6423E0CA-0F97-416D-8422-A22FFD6B1F5A}" type="presParOf" srcId="{32D1B1BB-20E1-46D1-B95B-1CDF368F7A85}" destId="{6BC7099C-E689-4426-8B3F-8CB67B3B4309}" srcOrd="1" destOrd="0" presId="urn:microsoft.com/office/officeart/2005/8/layout/vList3"/>
    <dgm:cxn modelId="{9C67B102-E649-42E9-BB2B-E6FF4AE6956E}" type="presParOf" srcId="{5C49F519-84F7-4F34-B79D-A3C65692F7E1}" destId="{B6071198-9061-4CBD-9A54-B3D358B12FE4}" srcOrd="3" destOrd="0" presId="urn:microsoft.com/office/officeart/2005/8/layout/vList3"/>
    <dgm:cxn modelId="{EC5BA63A-2D23-45E4-AF17-CB002376842C}" type="presParOf" srcId="{5C49F519-84F7-4F34-B79D-A3C65692F7E1}" destId="{2ECD7622-0244-4AC4-9C11-8941F4D488D0}" srcOrd="4" destOrd="0" presId="urn:microsoft.com/office/officeart/2005/8/layout/vList3"/>
    <dgm:cxn modelId="{0945DC4F-274C-4412-9ED7-E2E74817EFAB}" type="presParOf" srcId="{2ECD7622-0244-4AC4-9C11-8941F4D488D0}" destId="{4F53653C-14FC-426F-8BE2-7346C5327ED6}" srcOrd="0" destOrd="0" presId="urn:microsoft.com/office/officeart/2005/8/layout/vList3"/>
    <dgm:cxn modelId="{39E7EC99-7033-4AED-BB64-D64FB0BDAC43}" type="presParOf" srcId="{2ECD7622-0244-4AC4-9C11-8941F4D488D0}" destId="{3655021F-517B-40BA-B05E-BFB122246E8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BA46B12-7A94-4E00-8476-21466459FF5B}" type="doc">
      <dgm:prSet loTypeId="urn:microsoft.com/office/officeart/2005/8/layout/process1" loCatId="process" qsTypeId="urn:microsoft.com/office/officeart/2005/8/quickstyle/simple1" qsCatId="simple" csTypeId="urn:microsoft.com/office/officeart/2005/8/colors/accent0_3" csCatId="mainScheme" phldr="1"/>
      <dgm:spPr/>
      <dgm:t>
        <a:bodyPr/>
        <a:lstStyle/>
        <a:p>
          <a:endParaRPr lang="es-ES"/>
        </a:p>
      </dgm:t>
    </dgm:pt>
    <dgm:pt modelId="{895043B8-B594-4EFF-8956-5F005103720B}">
      <dgm:prSet phldrT="[Texto]"/>
      <dgm:spPr>
        <a:solidFill>
          <a:srgbClr val="44546A"/>
        </a:solidFill>
      </dgm:spPr>
      <dgm:t>
        <a:bodyPr/>
        <a:lstStyle/>
        <a:p>
          <a:r>
            <a:rPr lang="es-ES" dirty="0"/>
            <a:t>Análisis Exploratorio de Datos</a:t>
          </a:r>
        </a:p>
      </dgm:t>
    </dgm:pt>
    <dgm:pt modelId="{1B71517B-BCEA-472D-B167-B001B99DF687}" type="parTrans" cxnId="{84D1F444-B649-4E85-9090-0F8DFFCD6B35}">
      <dgm:prSet/>
      <dgm:spPr/>
      <dgm:t>
        <a:bodyPr/>
        <a:lstStyle/>
        <a:p>
          <a:endParaRPr lang="es-ES"/>
        </a:p>
      </dgm:t>
    </dgm:pt>
    <dgm:pt modelId="{B191165E-160D-4C48-9078-AB485D64CB83}" type="sibTrans" cxnId="{84D1F444-B649-4E85-9090-0F8DFFCD6B35}">
      <dgm:prSet/>
      <dgm:spPr/>
      <dgm:t>
        <a:bodyPr/>
        <a:lstStyle/>
        <a:p>
          <a:endParaRPr lang="es-ES"/>
        </a:p>
      </dgm:t>
    </dgm:pt>
    <dgm:pt modelId="{D0E287B4-72FB-4267-8AE5-9DDF8DEF2A61}">
      <dgm:prSet phldrT="[Texto]"/>
      <dgm:spPr>
        <a:solidFill>
          <a:srgbClr val="00B050"/>
        </a:solidFill>
      </dgm:spPr>
      <dgm:t>
        <a:bodyPr/>
        <a:lstStyle/>
        <a:p>
          <a:r>
            <a:rPr lang="es-ES" dirty="0"/>
            <a:t>Clasificación</a:t>
          </a:r>
        </a:p>
      </dgm:t>
    </dgm:pt>
    <dgm:pt modelId="{4A77DF37-A544-4AAA-880E-481D5134E8F4}" type="parTrans" cxnId="{1B074396-D946-40AB-84AA-04E1CADC5E7F}">
      <dgm:prSet/>
      <dgm:spPr/>
      <dgm:t>
        <a:bodyPr/>
        <a:lstStyle/>
        <a:p>
          <a:endParaRPr lang="es-ES"/>
        </a:p>
      </dgm:t>
    </dgm:pt>
    <dgm:pt modelId="{5468E03D-5E73-4D2C-9FD9-DF67A927937D}" type="sibTrans" cxnId="{1B074396-D946-40AB-84AA-04E1CADC5E7F}">
      <dgm:prSet/>
      <dgm:spPr/>
      <dgm:t>
        <a:bodyPr/>
        <a:lstStyle/>
        <a:p>
          <a:endParaRPr lang="es-ES"/>
        </a:p>
      </dgm:t>
    </dgm:pt>
    <dgm:pt modelId="{C101BEB9-C752-4C01-8574-52200D9BD6AB}">
      <dgm:prSet phldrT="[Texto]"/>
      <dgm:spPr/>
      <dgm:t>
        <a:bodyPr/>
        <a:lstStyle/>
        <a:p>
          <a:r>
            <a:rPr lang="es-ES" dirty="0"/>
            <a:t>Agrupamiento</a:t>
          </a:r>
        </a:p>
      </dgm:t>
    </dgm:pt>
    <dgm:pt modelId="{F72E6DE2-CA86-4DBF-ADF8-ACFBBAD09BE4}" type="parTrans" cxnId="{63CC349F-2BA0-4596-A721-8D35C3E6B5D0}">
      <dgm:prSet/>
      <dgm:spPr/>
      <dgm:t>
        <a:bodyPr/>
        <a:lstStyle/>
        <a:p>
          <a:endParaRPr lang="es-ES"/>
        </a:p>
      </dgm:t>
    </dgm:pt>
    <dgm:pt modelId="{3789AEB5-B32B-4130-9A33-CB24F5F71D6C}" type="sibTrans" cxnId="{63CC349F-2BA0-4596-A721-8D35C3E6B5D0}">
      <dgm:prSet/>
      <dgm:spPr/>
      <dgm:t>
        <a:bodyPr/>
        <a:lstStyle/>
        <a:p>
          <a:endParaRPr lang="es-ES"/>
        </a:p>
      </dgm:t>
    </dgm:pt>
    <dgm:pt modelId="{9CB5B044-E214-4C19-A175-EBCD8742AB82}">
      <dgm:prSet phldrT="[Texto]"/>
      <dgm:spPr>
        <a:solidFill>
          <a:srgbClr val="44546A"/>
        </a:solidFill>
        <a:ln>
          <a:solidFill>
            <a:srgbClr val="00B050"/>
          </a:solidFill>
        </a:ln>
      </dgm:spPr>
      <dgm:t>
        <a:bodyPr/>
        <a:lstStyle/>
        <a:p>
          <a:r>
            <a:rPr lang="es-ES" dirty="0"/>
            <a:t>Visualización</a:t>
          </a:r>
        </a:p>
      </dgm:t>
    </dgm:pt>
    <dgm:pt modelId="{BDBAE1B0-3433-4F96-A7C5-C1A3DE821E35}" type="parTrans" cxnId="{62387FE1-C337-4480-A107-E2902437AF88}">
      <dgm:prSet/>
      <dgm:spPr/>
      <dgm:t>
        <a:bodyPr/>
        <a:lstStyle/>
        <a:p>
          <a:endParaRPr lang="es-ES"/>
        </a:p>
      </dgm:t>
    </dgm:pt>
    <dgm:pt modelId="{5AAF7C65-61AF-41C0-AAAB-73ABA7C2EBBE}" type="sibTrans" cxnId="{62387FE1-C337-4480-A107-E2902437AF88}">
      <dgm:prSet/>
      <dgm:spPr/>
      <dgm:t>
        <a:bodyPr/>
        <a:lstStyle/>
        <a:p>
          <a:endParaRPr lang="es-ES"/>
        </a:p>
      </dgm:t>
    </dgm:pt>
    <dgm:pt modelId="{80829468-1F89-4003-BB43-538B5DD054EB}">
      <dgm:prSet phldrT="[Texto]"/>
      <dgm:spPr>
        <a:solidFill>
          <a:srgbClr val="00B050"/>
        </a:solidFill>
      </dgm:spPr>
      <dgm:t>
        <a:bodyPr/>
        <a:lstStyle/>
        <a:p>
          <a:r>
            <a:rPr lang="es-ES" dirty="0"/>
            <a:t>Validación cruzada</a:t>
          </a:r>
        </a:p>
      </dgm:t>
    </dgm:pt>
    <dgm:pt modelId="{28C3B0CB-6791-491B-9D5E-70F55B519941}" type="parTrans" cxnId="{4C28550A-E388-4C52-9325-81DF4ED597FB}">
      <dgm:prSet/>
      <dgm:spPr/>
      <dgm:t>
        <a:bodyPr/>
        <a:lstStyle/>
        <a:p>
          <a:endParaRPr lang="es-ES"/>
        </a:p>
      </dgm:t>
    </dgm:pt>
    <dgm:pt modelId="{03938E42-C67C-4CC9-95FC-F151EDE45BB8}" type="sibTrans" cxnId="{4C28550A-E388-4C52-9325-81DF4ED597FB}">
      <dgm:prSet/>
      <dgm:spPr/>
      <dgm:t>
        <a:bodyPr/>
        <a:lstStyle/>
        <a:p>
          <a:endParaRPr lang="es-ES"/>
        </a:p>
      </dgm:t>
    </dgm:pt>
    <dgm:pt modelId="{2B2EF147-62DC-4BE5-A929-194DF930A44C}" type="pres">
      <dgm:prSet presAssocID="{BBA46B12-7A94-4E00-8476-21466459FF5B}" presName="Name0" presStyleCnt="0">
        <dgm:presLayoutVars>
          <dgm:dir/>
          <dgm:resizeHandles val="exact"/>
        </dgm:presLayoutVars>
      </dgm:prSet>
      <dgm:spPr/>
    </dgm:pt>
    <dgm:pt modelId="{0BBA265A-C98E-42C9-9EF2-98B55BCB6005}" type="pres">
      <dgm:prSet presAssocID="{895043B8-B594-4EFF-8956-5F005103720B}" presName="node" presStyleLbl="node1" presStyleIdx="0" presStyleCnt="4" custScaleX="123168" custLinFactNeighborX="-7094" custLinFactNeighborY="-1182">
        <dgm:presLayoutVars>
          <dgm:bulletEnabled val="1"/>
        </dgm:presLayoutVars>
      </dgm:prSet>
      <dgm:spPr/>
    </dgm:pt>
    <dgm:pt modelId="{244CDE42-7FA2-4F7B-8CAA-829F550F3462}" type="pres">
      <dgm:prSet presAssocID="{B191165E-160D-4C48-9078-AB485D64CB83}" presName="sibTrans" presStyleLbl="sibTrans2D1" presStyleIdx="0" presStyleCnt="3"/>
      <dgm:spPr/>
    </dgm:pt>
    <dgm:pt modelId="{88BC629C-A7C2-41E0-967C-217DA1B207D9}" type="pres">
      <dgm:prSet presAssocID="{B191165E-160D-4C48-9078-AB485D64CB83}" presName="connectorText" presStyleLbl="sibTrans2D1" presStyleIdx="0" presStyleCnt="3"/>
      <dgm:spPr/>
    </dgm:pt>
    <dgm:pt modelId="{2E638456-ABFB-4FF4-9678-BDD7B2616D15}" type="pres">
      <dgm:prSet presAssocID="{C101BEB9-C752-4C01-8574-52200D9BD6AB}" presName="node" presStyleLbl="node1" presStyleIdx="1" presStyleCnt="4">
        <dgm:presLayoutVars>
          <dgm:bulletEnabled val="1"/>
        </dgm:presLayoutVars>
      </dgm:prSet>
      <dgm:spPr/>
    </dgm:pt>
    <dgm:pt modelId="{E62A29C7-CE31-4B62-B1E6-424721E6FEF2}" type="pres">
      <dgm:prSet presAssocID="{3789AEB5-B32B-4130-9A33-CB24F5F71D6C}" presName="sibTrans" presStyleLbl="sibTrans2D1" presStyleIdx="1" presStyleCnt="3"/>
      <dgm:spPr/>
    </dgm:pt>
    <dgm:pt modelId="{1E780B98-7901-4A56-A297-0A7FCE6EFF36}" type="pres">
      <dgm:prSet presAssocID="{3789AEB5-B32B-4130-9A33-CB24F5F71D6C}" presName="connectorText" presStyleLbl="sibTrans2D1" presStyleIdx="1" presStyleCnt="3"/>
      <dgm:spPr/>
    </dgm:pt>
    <dgm:pt modelId="{2DD93F05-2084-4044-B42A-1F4205BB0E9A}" type="pres">
      <dgm:prSet presAssocID="{9CB5B044-E214-4C19-A175-EBCD8742AB82}" presName="node" presStyleLbl="node1" presStyleIdx="2" presStyleCnt="4">
        <dgm:presLayoutVars>
          <dgm:bulletEnabled val="1"/>
        </dgm:presLayoutVars>
      </dgm:prSet>
      <dgm:spPr/>
    </dgm:pt>
    <dgm:pt modelId="{B9AACDCD-1CEA-4BBB-9449-DA638E3CF7B6}" type="pres">
      <dgm:prSet presAssocID="{5AAF7C65-61AF-41C0-AAAB-73ABA7C2EBBE}" presName="sibTrans" presStyleLbl="sibTrans2D1" presStyleIdx="2" presStyleCnt="3"/>
      <dgm:spPr/>
    </dgm:pt>
    <dgm:pt modelId="{F172F695-5FF3-4FDF-9798-1C1973999351}" type="pres">
      <dgm:prSet presAssocID="{5AAF7C65-61AF-41C0-AAAB-73ABA7C2EBBE}" presName="connectorText" presStyleLbl="sibTrans2D1" presStyleIdx="2" presStyleCnt="3"/>
      <dgm:spPr/>
    </dgm:pt>
    <dgm:pt modelId="{DEEE57DF-F999-4E79-8E61-3444D43FA019}" type="pres">
      <dgm:prSet presAssocID="{D0E287B4-72FB-4267-8AE5-9DDF8DEF2A61}" presName="node" presStyleLbl="node1" presStyleIdx="3" presStyleCnt="4">
        <dgm:presLayoutVars>
          <dgm:bulletEnabled val="1"/>
        </dgm:presLayoutVars>
      </dgm:prSet>
      <dgm:spPr/>
    </dgm:pt>
  </dgm:ptLst>
  <dgm:cxnLst>
    <dgm:cxn modelId="{4C28550A-E388-4C52-9325-81DF4ED597FB}" srcId="{D0E287B4-72FB-4267-8AE5-9DDF8DEF2A61}" destId="{80829468-1F89-4003-BB43-538B5DD054EB}" srcOrd="0" destOrd="0" parTransId="{28C3B0CB-6791-491B-9D5E-70F55B519941}" sibTransId="{03938E42-C67C-4CC9-95FC-F151EDE45BB8}"/>
    <dgm:cxn modelId="{EB7B163A-5D86-48E5-926B-10DBDF04A503}" type="presOf" srcId="{9CB5B044-E214-4C19-A175-EBCD8742AB82}" destId="{2DD93F05-2084-4044-B42A-1F4205BB0E9A}" srcOrd="0" destOrd="0" presId="urn:microsoft.com/office/officeart/2005/8/layout/process1"/>
    <dgm:cxn modelId="{1434635C-A764-4585-92CC-EE9A979224E4}" type="presOf" srcId="{3789AEB5-B32B-4130-9A33-CB24F5F71D6C}" destId="{E62A29C7-CE31-4B62-B1E6-424721E6FEF2}" srcOrd="0" destOrd="0" presId="urn:microsoft.com/office/officeart/2005/8/layout/process1"/>
    <dgm:cxn modelId="{443C4C63-2969-46C6-92AF-33EC10854AE3}" type="presOf" srcId="{80829468-1F89-4003-BB43-538B5DD054EB}" destId="{DEEE57DF-F999-4E79-8E61-3444D43FA019}" srcOrd="0" destOrd="1" presId="urn:microsoft.com/office/officeart/2005/8/layout/process1"/>
    <dgm:cxn modelId="{84D1F444-B649-4E85-9090-0F8DFFCD6B35}" srcId="{BBA46B12-7A94-4E00-8476-21466459FF5B}" destId="{895043B8-B594-4EFF-8956-5F005103720B}" srcOrd="0" destOrd="0" parTransId="{1B71517B-BCEA-472D-B167-B001B99DF687}" sibTransId="{B191165E-160D-4C48-9078-AB485D64CB83}"/>
    <dgm:cxn modelId="{1BA55050-1A42-4CF7-B41F-59D8B271E924}" type="presOf" srcId="{895043B8-B594-4EFF-8956-5F005103720B}" destId="{0BBA265A-C98E-42C9-9EF2-98B55BCB6005}" srcOrd="0" destOrd="0" presId="urn:microsoft.com/office/officeart/2005/8/layout/process1"/>
    <dgm:cxn modelId="{3161F259-E52F-4A13-AE59-85D2972755D0}" type="presOf" srcId="{BBA46B12-7A94-4E00-8476-21466459FF5B}" destId="{2B2EF147-62DC-4BE5-A929-194DF930A44C}" srcOrd="0" destOrd="0" presId="urn:microsoft.com/office/officeart/2005/8/layout/process1"/>
    <dgm:cxn modelId="{1B074396-D946-40AB-84AA-04E1CADC5E7F}" srcId="{BBA46B12-7A94-4E00-8476-21466459FF5B}" destId="{D0E287B4-72FB-4267-8AE5-9DDF8DEF2A61}" srcOrd="3" destOrd="0" parTransId="{4A77DF37-A544-4AAA-880E-481D5134E8F4}" sibTransId="{5468E03D-5E73-4D2C-9FD9-DF67A927937D}"/>
    <dgm:cxn modelId="{63CC349F-2BA0-4596-A721-8D35C3E6B5D0}" srcId="{BBA46B12-7A94-4E00-8476-21466459FF5B}" destId="{C101BEB9-C752-4C01-8574-52200D9BD6AB}" srcOrd="1" destOrd="0" parTransId="{F72E6DE2-CA86-4DBF-ADF8-ACFBBAD09BE4}" sibTransId="{3789AEB5-B32B-4130-9A33-CB24F5F71D6C}"/>
    <dgm:cxn modelId="{778FBBA7-D029-41D2-9F78-240A7EF1EC2E}" type="presOf" srcId="{B191165E-160D-4C48-9078-AB485D64CB83}" destId="{88BC629C-A7C2-41E0-967C-217DA1B207D9}" srcOrd="1" destOrd="0" presId="urn:microsoft.com/office/officeart/2005/8/layout/process1"/>
    <dgm:cxn modelId="{ACCDC1B0-B192-4A0E-855B-6DA76EA465B7}" type="presOf" srcId="{C101BEB9-C752-4C01-8574-52200D9BD6AB}" destId="{2E638456-ABFB-4FF4-9678-BDD7B2616D15}" srcOrd="0" destOrd="0" presId="urn:microsoft.com/office/officeart/2005/8/layout/process1"/>
    <dgm:cxn modelId="{367091BF-F61E-4154-A3A1-1F4D04BC1A4A}" type="presOf" srcId="{D0E287B4-72FB-4267-8AE5-9DDF8DEF2A61}" destId="{DEEE57DF-F999-4E79-8E61-3444D43FA019}" srcOrd="0" destOrd="0" presId="urn:microsoft.com/office/officeart/2005/8/layout/process1"/>
    <dgm:cxn modelId="{D732EBD0-AD0E-47E6-962E-6AE7AE8FF8D4}" type="presOf" srcId="{5AAF7C65-61AF-41C0-AAAB-73ABA7C2EBBE}" destId="{F172F695-5FF3-4FDF-9798-1C1973999351}" srcOrd="1" destOrd="0" presId="urn:microsoft.com/office/officeart/2005/8/layout/process1"/>
    <dgm:cxn modelId="{8FAD6DDE-F3A5-4B15-A7BB-B68F2F9745D9}" type="presOf" srcId="{5AAF7C65-61AF-41C0-AAAB-73ABA7C2EBBE}" destId="{B9AACDCD-1CEA-4BBB-9449-DA638E3CF7B6}" srcOrd="0" destOrd="0" presId="urn:microsoft.com/office/officeart/2005/8/layout/process1"/>
    <dgm:cxn modelId="{62387FE1-C337-4480-A107-E2902437AF88}" srcId="{BBA46B12-7A94-4E00-8476-21466459FF5B}" destId="{9CB5B044-E214-4C19-A175-EBCD8742AB82}" srcOrd="2" destOrd="0" parTransId="{BDBAE1B0-3433-4F96-A7C5-C1A3DE821E35}" sibTransId="{5AAF7C65-61AF-41C0-AAAB-73ABA7C2EBBE}"/>
    <dgm:cxn modelId="{141AC1E1-E50A-4C3C-B6F6-67138C4E5A18}" type="presOf" srcId="{B191165E-160D-4C48-9078-AB485D64CB83}" destId="{244CDE42-7FA2-4F7B-8CAA-829F550F3462}" srcOrd="0" destOrd="0" presId="urn:microsoft.com/office/officeart/2005/8/layout/process1"/>
    <dgm:cxn modelId="{16BB69E5-55A8-4EF9-8666-7DAB20E9684B}" type="presOf" srcId="{3789AEB5-B32B-4130-9A33-CB24F5F71D6C}" destId="{1E780B98-7901-4A56-A297-0A7FCE6EFF36}" srcOrd="1" destOrd="0" presId="urn:microsoft.com/office/officeart/2005/8/layout/process1"/>
    <dgm:cxn modelId="{FF270D23-8183-4257-B3E5-0DDA348C550D}" type="presParOf" srcId="{2B2EF147-62DC-4BE5-A929-194DF930A44C}" destId="{0BBA265A-C98E-42C9-9EF2-98B55BCB6005}" srcOrd="0" destOrd="0" presId="urn:microsoft.com/office/officeart/2005/8/layout/process1"/>
    <dgm:cxn modelId="{563E0F85-AB43-4A22-97DA-E11CE0934B0E}" type="presParOf" srcId="{2B2EF147-62DC-4BE5-A929-194DF930A44C}" destId="{244CDE42-7FA2-4F7B-8CAA-829F550F3462}" srcOrd="1" destOrd="0" presId="urn:microsoft.com/office/officeart/2005/8/layout/process1"/>
    <dgm:cxn modelId="{670093CD-60F2-4CFD-87B4-5529046C7D46}" type="presParOf" srcId="{244CDE42-7FA2-4F7B-8CAA-829F550F3462}" destId="{88BC629C-A7C2-41E0-967C-217DA1B207D9}" srcOrd="0" destOrd="0" presId="urn:microsoft.com/office/officeart/2005/8/layout/process1"/>
    <dgm:cxn modelId="{33C118DD-943C-4745-831E-4318022CB989}" type="presParOf" srcId="{2B2EF147-62DC-4BE5-A929-194DF930A44C}" destId="{2E638456-ABFB-4FF4-9678-BDD7B2616D15}" srcOrd="2" destOrd="0" presId="urn:microsoft.com/office/officeart/2005/8/layout/process1"/>
    <dgm:cxn modelId="{D8AE9C11-ED19-4E45-9279-8E9EB03618FA}" type="presParOf" srcId="{2B2EF147-62DC-4BE5-A929-194DF930A44C}" destId="{E62A29C7-CE31-4B62-B1E6-424721E6FEF2}" srcOrd="3" destOrd="0" presId="urn:microsoft.com/office/officeart/2005/8/layout/process1"/>
    <dgm:cxn modelId="{757AF973-6F3B-46E6-B23E-86A9FDCD0ADD}" type="presParOf" srcId="{E62A29C7-CE31-4B62-B1E6-424721E6FEF2}" destId="{1E780B98-7901-4A56-A297-0A7FCE6EFF36}" srcOrd="0" destOrd="0" presId="urn:microsoft.com/office/officeart/2005/8/layout/process1"/>
    <dgm:cxn modelId="{2DB914BF-2A4A-41A4-AB13-5B9A8C11B0A6}" type="presParOf" srcId="{2B2EF147-62DC-4BE5-A929-194DF930A44C}" destId="{2DD93F05-2084-4044-B42A-1F4205BB0E9A}" srcOrd="4" destOrd="0" presId="urn:microsoft.com/office/officeart/2005/8/layout/process1"/>
    <dgm:cxn modelId="{6C892930-270C-4893-BC06-20F0AC635F1F}" type="presParOf" srcId="{2B2EF147-62DC-4BE5-A929-194DF930A44C}" destId="{B9AACDCD-1CEA-4BBB-9449-DA638E3CF7B6}" srcOrd="5" destOrd="0" presId="urn:microsoft.com/office/officeart/2005/8/layout/process1"/>
    <dgm:cxn modelId="{B3A4711C-8494-47AC-85F7-69AEEF0603B4}" type="presParOf" srcId="{B9AACDCD-1CEA-4BBB-9449-DA638E3CF7B6}" destId="{F172F695-5FF3-4FDF-9798-1C1973999351}" srcOrd="0" destOrd="0" presId="urn:microsoft.com/office/officeart/2005/8/layout/process1"/>
    <dgm:cxn modelId="{4B46BB86-4B0F-4F6A-BF9E-B101FE8D95B0}" type="presParOf" srcId="{2B2EF147-62DC-4BE5-A929-194DF930A44C}" destId="{DEEE57DF-F999-4E79-8E61-3444D43FA019}"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28AD1CC-CDE9-43D5-9F89-C1FC4108D3A9}"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s-ES"/>
        </a:p>
      </dgm:t>
    </dgm:pt>
    <dgm:pt modelId="{73021CCC-8E1B-40EE-B406-B4F2C8AB12C6}">
      <dgm:prSet phldrT="[Texto]"/>
      <dgm:spPr/>
      <dgm:t>
        <a:bodyPr/>
        <a:lstStyle/>
        <a:p>
          <a:r>
            <a:rPr lang="es-ES" dirty="0"/>
            <a:t>La validación cruzada es un método que permite probar el rendimiento de un modelo predictivo de Machine </a:t>
          </a:r>
          <a:r>
            <a:rPr lang="es-ES" dirty="0" err="1"/>
            <a:t>Learning</a:t>
          </a:r>
          <a:r>
            <a:rPr lang="es-ES" dirty="0"/>
            <a:t>.</a:t>
          </a:r>
        </a:p>
      </dgm:t>
    </dgm:pt>
    <dgm:pt modelId="{BDA2E815-6C75-4579-9710-2DCD09CF37BF}" type="parTrans" cxnId="{8DE5E4DB-7A05-4B48-82D1-110B7B2C3F4A}">
      <dgm:prSet/>
      <dgm:spPr/>
      <dgm:t>
        <a:bodyPr/>
        <a:lstStyle/>
        <a:p>
          <a:endParaRPr lang="es-ES"/>
        </a:p>
      </dgm:t>
    </dgm:pt>
    <dgm:pt modelId="{54941090-9134-457A-BC57-C5C7A47815B1}" type="sibTrans" cxnId="{8DE5E4DB-7A05-4B48-82D1-110B7B2C3F4A}">
      <dgm:prSet/>
      <dgm:spPr/>
      <dgm:t>
        <a:bodyPr/>
        <a:lstStyle/>
        <a:p>
          <a:endParaRPr lang="es-ES"/>
        </a:p>
      </dgm:t>
    </dgm:pt>
    <dgm:pt modelId="{27D075C9-7E14-457D-872D-0BF37C37B2B0}" type="pres">
      <dgm:prSet presAssocID="{928AD1CC-CDE9-43D5-9F89-C1FC4108D3A9}" presName="linear" presStyleCnt="0">
        <dgm:presLayoutVars>
          <dgm:animLvl val="lvl"/>
          <dgm:resizeHandles val="exact"/>
        </dgm:presLayoutVars>
      </dgm:prSet>
      <dgm:spPr/>
    </dgm:pt>
    <dgm:pt modelId="{71641A04-6646-4BB6-AABA-1D8381FE30CD}" type="pres">
      <dgm:prSet presAssocID="{73021CCC-8E1B-40EE-B406-B4F2C8AB12C6}" presName="parentText" presStyleLbl="node1" presStyleIdx="0" presStyleCnt="1" custLinFactNeighborX="-21309" custLinFactNeighborY="-51519">
        <dgm:presLayoutVars>
          <dgm:chMax val="0"/>
          <dgm:bulletEnabled val="1"/>
        </dgm:presLayoutVars>
      </dgm:prSet>
      <dgm:spPr/>
    </dgm:pt>
  </dgm:ptLst>
  <dgm:cxnLst>
    <dgm:cxn modelId="{1AD38063-D60B-422F-AABB-EAFBA440FF7D}" type="presOf" srcId="{928AD1CC-CDE9-43D5-9F89-C1FC4108D3A9}" destId="{27D075C9-7E14-457D-872D-0BF37C37B2B0}" srcOrd="0" destOrd="0" presId="urn:microsoft.com/office/officeart/2005/8/layout/vList2"/>
    <dgm:cxn modelId="{78AD6344-2CCE-4108-A1C0-8C3657BDBC0C}" type="presOf" srcId="{73021CCC-8E1B-40EE-B406-B4F2C8AB12C6}" destId="{71641A04-6646-4BB6-AABA-1D8381FE30CD}" srcOrd="0" destOrd="0" presId="urn:microsoft.com/office/officeart/2005/8/layout/vList2"/>
    <dgm:cxn modelId="{8DE5E4DB-7A05-4B48-82D1-110B7B2C3F4A}" srcId="{928AD1CC-CDE9-43D5-9F89-C1FC4108D3A9}" destId="{73021CCC-8E1B-40EE-B406-B4F2C8AB12C6}" srcOrd="0" destOrd="0" parTransId="{BDA2E815-6C75-4579-9710-2DCD09CF37BF}" sibTransId="{54941090-9134-457A-BC57-C5C7A47815B1}"/>
    <dgm:cxn modelId="{F8BF6350-CD90-4D5E-B90A-BA0033FBE9B0}" type="presParOf" srcId="{27D075C9-7E14-457D-872D-0BF37C37B2B0}" destId="{71641A04-6646-4BB6-AABA-1D8381FE30CD}"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B628DFB-9766-446A-8F8F-3D231035F157}"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s-ES"/>
        </a:p>
      </dgm:t>
    </dgm:pt>
    <dgm:pt modelId="{FBE58B4D-D912-4DCB-A0D2-D2308A645814}">
      <dgm:prSet phldrT="[Texto]"/>
      <dgm:spPr/>
      <dgm:t>
        <a:bodyPr/>
        <a:lstStyle/>
        <a:p>
          <a:r>
            <a:rPr lang="es-ES" dirty="0"/>
            <a:t>Método K-</a:t>
          </a:r>
          <a:r>
            <a:rPr lang="es-ES" dirty="0" err="1"/>
            <a:t>Folds</a:t>
          </a:r>
          <a:endParaRPr lang="es-ES" dirty="0"/>
        </a:p>
      </dgm:t>
    </dgm:pt>
    <dgm:pt modelId="{795814D4-59AD-463B-9DDD-628F6C778B2A}" type="parTrans" cxnId="{4706C95B-0D52-4E5B-9908-3F997F08C37F}">
      <dgm:prSet/>
      <dgm:spPr/>
      <dgm:t>
        <a:bodyPr/>
        <a:lstStyle/>
        <a:p>
          <a:endParaRPr lang="es-ES"/>
        </a:p>
      </dgm:t>
    </dgm:pt>
    <dgm:pt modelId="{A073DB59-3AAD-4F9A-994A-6FB91B81CD7B}" type="sibTrans" cxnId="{4706C95B-0D52-4E5B-9908-3F997F08C37F}">
      <dgm:prSet/>
      <dgm:spPr/>
      <dgm:t>
        <a:bodyPr/>
        <a:lstStyle/>
        <a:p>
          <a:endParaRPr lang="es-ES"/>
        </a:p>
      </dgm:t>
    </dgm:pt>
    <dgm:pt modelId="{4073A13D-C44E-40D0-9850-4249F691B087}">
      <dgm:prSet phldrT="[Texto]"/>
      <dgm:spPr/>
      <dgm:t>
        <a:bodyPr/>
        <a:lstStyle/>
        <a:p>
          <a:r>
            <a:rPr lang="es-ES" dirty="0"/>
            <a:t>El valor de K no debe ser ni demasiado bajo ni demasiado alto y, por lo general, se elige un valor comprendido entre 5 y 10.</a:t>
          </a:r>
        </a:p>
      </dgm:t>
    </dgm:pt>
    <dgm:pt modelId="{52986FD3-25B9-43A9-A65F-688ACAAF2264}" type="parTrans" cxnId="{4CAC20B1-00CE-4049-A0D6-8A7494AD514F}">
      <dgm:prSet/>
      <dgm:spPr/>
      <dgm:t>
        <a:bodyPr/>
        <a:lstStyle/>
        <a:p>
          <a:endParaRPr lang="es-ES"/>
        </a:p>
      </dgm:t>
    </dgm:pt>
    <dgm:pt modelId="{299F073A-24D1-4D80-A356-38514FA57BEB}" type="sibTrans" cxnId="{4CAC20B1-00CE-4049-A0D6-8A7494AD514F}">
      <dgm:prSet/>
      <dgm:spPr/>
      <dgm:t>
        <a:bodyPr/>
        <a:lstStyle/>
        <a:p>
          <a:endParaRPr lang="es-ES"/>
        </a:p>
      </dgm:t>
    </dgm:pt>
    <dgm:pt modelId="{DFDCC6E6-8825-4652-A3AD-9EEB949C7FCB}">
      <dgm:prSet phldrT="[Texto]"/>
      <dgm:spPr/>
      <dgm:t>
        <a:bodyPr/>
        <a:lstStyle/>
        <a:p>
          <a:r>
            <a:rPr lang="es-ES" dirty="0"/>
            <a:t>Un valor K más alto lleva a un modelo con menos sesgo.</a:t>
          </a:r>
        </a:p>
      </dgm:t>
    </dgm:pt>
    <dgm:pt modelId="{D0916322-C6C0-4CE8-B3BE-019C5C0E8CC4}" type="parTrans" cxnId="{3EF1FE2A-8163-4B69-BEDB-35D5E715EC4A}">
      <dgm:prSet/>
      <dgm:spPr/>
      <dgm:t>
        <a:bodyPr/>
        <a:lstStyle/>
        <a:p>
          <a:endParaRPr lang="es-ES"/>
        </a:p>
      </dgm:t>
    </dgm:pt>
    <dgm:pt modelId="{7E180BA7-9681-4196-A3C4-083C9429FE6D}" type="sibTrans" cxnId="{3EF1FE2A-8163-4B69-BEDB-35D5E715EC4A}">
      <dgm:prSet/>
      <dgm:spPr/>
      <dgm:t>
        <a:bodyPr/>
        <a:lstStyle/>
        <a:p>
          <a:endParaRPr lang="es-ES"/>
        </a:p>
      </dgm:t>
    </dgm:pt>
    <dgm:pt modelId="{BC43B3B7-7C59-40CF-BC87-3581E935D376}">
      <dgm:prSet phldrT="[Texto]"/>
      <dgm:spPr/>
      <dgm:t>
        <a:bodyPr/>
        <a:lstStyle/>
        <a:p>
          <a:r>
            <a:rPr lang="es-ES" dirty="0"/>
            <a:t>Después se ajusta el modelo utilizando los </a:t>
          </a:r>
          <a:r>
            <a:rPr lang="es-ES" dirty="0" err="1"/>
            <a:t>folds</a:t>
          </a:r>
          <a:r>
            <a:rPr lang="es-ES" dirty="0"/>
            <a:t> K-1 (K menos 1). </a:t>
          </a:r>
        </a:p>
      </dgm:t>
    </dgm:pt>
    <dgm:pt modelId="{689BE8EC-F818-429B-9D9D-5C1DC600739A}" type="parTrans" cxnId="{A9C87E60-B963-4515-BB45-03FA11C96A11}">
      <dgm:prSet/>
      <dgm:spPr/>
      <dgm:t>
        <a:bodyPr/>
        <a:lstStyle/>
        <a:p>
          <a:endParaRPr lang="es-ES"/>
        </a:p>
      </dgm:t>
    </dgm:pt>
    <dgm:pt modelId="{041805F0-56F4-4831-8098-6BE2B20E317A}" type="sibTrans" cxnId="{A9C87E60-B963-4515-BB45-03FA11C96A11}">
      <dgm:prSet/>
      <dgm:spPr/>
      <dgm:t>
        <a:bodyPr/>
        <a:lstStyle/>
        <a:p>
          <a:endParaRPr lang="es-ES"/>
        </a:p>
      </dgm:t>
    </dgm:pt>
    <dgm:pt modelId="{2A8F8656-CC63-443D-9DE7-0EB0CF42741C}">
      <dgm:prSet phldrT="[Texto]"/>
      <dgm:spPr/>
      <dgm:t>
        <a:bodyPr/>
        <a:lstStyle/>
        <a:p>
          <a:r>
            <a:rPr lang="es-ES" dirty="0"/>
            <a:t>El proceso se repite hasta que cada K-</a:t>
          </a:r>
          <a:r>
            <a:rPr lang="es-ES" dirty="0" err="1"/>
            <a:t>fold</a:t>
          </a:r>
          <a:r>
            <a:rPr lang="es-ES" dirty="0"/>
            <a:t> sirva dentro de la serie de entrenamiento. </a:t>
          </a:r>
        </a:p>
      </dgm:t>
    </dgm:pt>
    <dgm:pt modelId="{D561ACEE-419D-461B-B162-001D8FC92CD3}" type="parTrans" cxnId="{5CE41AD5-D68E-43BE-B59B-17070276EB38}">
      <dgm:prSet/>
      <dgm:spPr/>
      <dgm:t>
        <a:bodyPr/>
        <a:lstStyle/>
        <a:p>
          <a:endParaRPr lang="es-ES"/>
        </a:p>
      </dgm:t>
    </dgm:pt>
    <dgm:pt modelId="{FBB21298-421F-4F88-A04E-762AED12B212}" type="sibTrans" cxnId="{5CE41AD5-D68E-43BE-B59B-17070276EB38}">
      <dgm:prSet/>
      <dgm:spPr/>
      <dgm:t>
        <a:bodyPr/>
        <a:lstStyle/>
        <a:p>
          <a:endParaRPr lang="es-ES"/>
        </a:p>
      </dgm:t>
    </dgm:pt>
    <dgm:pt modelId="{5D2CC7AB-BD47-483C-A7EB-B1AACCA21334}">
      <dgm:prSet phldrT="[Texto]"/>
      <dgm:spPr/>
      <dgm:t>
        <a:bodyPr/>
        <a:lstStyle/>
        <a:p>
          <a:r>
            <a:rPr lang="es-ES"/>
            <a:t>La </a:t>
          </a:r>
          <a:r>
            <a:rPr lang="es-ES" dirty="0"/>
            <a:t>media de las puntuaciones registradas es la métrica de rendimiento del modelo.</a:t>
          </a:r>
        </a:p>
      </dgm:t>
    </dgm:pt>
    <dgm:pt modelId="{53FC8FF8-0D0A-4248-B96A-44C234AE9AC7}" type="parTrans" cxnId="{1017407F-0603-49AC-BFBD-3A7C11258100}">
      <dgm:prSet/>
      <dgm:spPr/>
      <dgm:t>
        <a:bodyPr/>
        <a:lstStyle/>
        <a:p>
          <a:endParaRPr lang="es-ES"/>
        </a:p>
      </dgm:t>
    </dgm:pt>
    <dgm:pt modelId="{CA1D1661-7A9B-4472-910A-B4B26DEBC8B1}" type="sibTrans" cxnId="{1017407F-0603-49AC-BFBD-3A7C11258100}">
      <dgm:prSet/>
      <dgm:spPr/>
      <dgm:t>
        <a:bodyPr/>
        <a:lstStyle/>
        <a:p>
          <a:endParaRPr lang="es-ES"/>
        </a:p>
      </dgm:t>
    </dgm:pt>
    <dgm:pt modelId="{45F1BE0B-BBCD-4DA1-808B-F11233CAE218}" type="pres">
      <dgm:prSet presAssocID="{AB628DFB-9766-446A-8F8F-3D231035F157}" presName="vert0" presStyleCnt="0">
        <dgm:presLayoutVars>
          <dgm:dir/>
          <dgm:animOne val="branch"/>
          <dgm:animLvl val="lvl"/>
        </dgm:presLayoutVars>
      </dgm:prSet>
      <dgm:spPr/>
    </dgm:pt>
    <dgm:pt modelId="{F9E711D3-795B-4FF0-951E-4B6FE2402EE5}" type="pres">
      <dgm:prSet presAssocID="{FBE58B4D-D912-4DCB-A0D2-D2308A645814}" presName="thickLine" presStyleLbl="alignNode1" presStyleIdx="0" presStyleCnt="1"/>
      <dgm:spPr/>
    </dgm:pt>
    <dgm:pt modelId="{93C10A56-CDCA-4B40-AC97-555CD94D469A}" type="pres">
      <dgm:prSet presAssocID="{FBE58B4D-D912-4DCB-A0D2-D2308A645814}" presName="horz1" presStyleCnt="0"/>
      <dgm:spPr/>
    </dgm:pt>
    <dgm:pt modelId="{BF646980-5E2F-46BA-AF78-5E194FA60B62}" type="pres">
      <dgm:prSet presAssocID="{FBE58B4D-D912-4DCB-A0D2-D2308A645814}" presName="tx1" presStyleLbl="revTx" presStyleIdx="0" presStyleCnt="6"/>
      <dgm:spPr/>
    </dgm:pt>
    <dgm:pt modelId="{27ED3F02-D531-47E7-AF3D-28950208C135}" type="pres">
      <dgm:prSet presAssocID="{FBE58B4D-D912-4DCB-A0D2-D2308A645814}" presName="vert1" presStyleCnt="0"/>
      <dgm:spPr/>
    </dgm:pt>
    <dgm:pt modelId="{4A4A3EFF-74DF-41A9-ABEC-F3E13D57675A}" type="pres">
      <dgm:prSet presAssocID="{4073A13D-C44E-40D0-9850-4249F691B087}" presName="vertSpace2a" presStyleCnt="0"/>
      <dgm:spPr/>
    </dgm:pt>
    <dgm:pt modelId="{587BBA49-DEF2-48B2-A404-BE5A61620492}" type="pres">
      <dgm:prSet presAssocID="{4073A13D-C44E-40D0-9850-4249F691B087}" presName="horz2" presStyleCnt="0"/>
      <dgm:spPr/>
    </dgm:pt>
    <dgm:pt modelId="{B8BC7C0C-E888-4FA9-AB61-7A86CBF17D1D}" type="pres">
      <dgm:prSet presAssocID="{4073A13D-C44E-40D0-9850-4249F691B087}" presName="horzSpace2" presStyleCnt="0"/>
      <dgm:spPr/>
    </dgm:pt>
    <dgm:pt modelId="{60F4A61C-108F-4930-8619-C7E0FAD199AC}" type="pres">
      <dgm:prSet presAssocID="{4073A13D-C44E-40D0-9850-4249F691B087}" presName="tx2" presStyleLbl="revTx" presStyleIdx="1" presStyleCnt="6"/>
      <dgm:spPr/>
    </dgm:pt>
    <dgm:pt modelId="{F43EADB0-74BB-464C-8DB1-83B63F099593}" type="pres">
      <dgm:prSet presAssocID="{4073A13D-C44E-40D0-9850-4249F691B087}" presName="vert2" presStyleCnt="0"/>
      <dgm:spPr/>
    </dgm:pt>
    <dgm:pt modelId="{DA70C8FC-B8E8-4917-90FE-8151813761B5}" type="pres">
      <dgm:prSet presAssocID="{4073A13D-C44E-40D0-9850-4249F691B087}" presName="thinLine2b" presStyleLbl="callout" presStyleIdx="0" presStyleCnt="5"/>
      <dgm:spPr/>
    </dgm:pt>
    <dgm:pt modelId="{93C62F5C-9F84-4315-B2E6-4F9DC18781B1}" type="pres">
      <dgm:prSet presAssocID="{4073A13D-C44E-40D0-9850-4249F691B087}" presName="vertSpace2b" presStyleCnt="0"/>
      <dgm:spPr/>
    </dgm:pt>
    <dgm:pt modelId="{ECC9EA3B-FF09-4745-B2FA-1684593563C1}" type="pres">
      <dgm:prSet presAssocID="{DFDCC6E6-8825-4652-A3AD-9EEB949C7FCB}" presName="horz2" presStyleCnt="0"/>
      <dgm:spPr/>
    </dgm:pt>
    <dgm:pt modelId="{B6DE0446-2E17-4C50-A409-50F398252786}" type="pres">
      <dgm:prSet presAssocID="{DFDCC6E6-8825-4652-A3AD-9EEB949C7FCB}" presName="horzSpace2" presStyleCnt="0"/>
      <dgm:spPr/>
    </dgm:pt>
    <dgm:pt modelId="{30C768CC-F4F4-4122-9EE5-F5581C308254}" type="pres">
      <dgm:prSet presAssocID="{DFDCC6E6-8825-4652-A3AD-9EEB949C7FCB}" presName="tx2" presStyleLbl="revTx" presStyleIdx="2" presStyleCnt="6"/>
      <dgm:spPr/>
    </dgm:pt>
    <dgm:pt modelId="{895B0E12-C602-49E4-8E59-DA0C4B5FE4AF}" type="pres">
      <dgm:prSet presAssocID="{DFDCC6E6-8825-4652-A3AD-9EEB949C7FCB}" presName="vert2" presStyleCnt="0"/>
      <dgm:spPr/>
    </dgm:pt>
    <dgm:pt modelId="{771AE77F-57DA-448F-9AE7-358D2248AD56}" type="pres">
      <dgm:prSet presAssocID="{DFDCC6E6-8825-4652-A3AD-9EEB949C7FCB}" presName="thinLine2b" presStyleLbl="callout" presStyleIdx="1" presStyleCnt="5"/>
      <dgm:spPr/>
    </dgm:pt>
    <dgm:pt modelId="{BB01471E-3560-44EF-B3A2-550AC1CEB92A}" type="pres">
      <dgm:prSet presAssocID="{DFDCC6E6-8825-4652-A3AD-9EEB949C7FCB}" presName="vertSpace2b" presStyleCnt="0"/>
      <dgm:spPr/>
    </dgm:pt>
    <dgm:pt modelId="{74E53C59-5226-4F23-82E2-437C9386080D}" type="pres">
      <dgm:prSet presAssocID="{BC43B3B7-7C59-40CF-BC87-3581E935D376}" presName="horz2" presStyleCnt="0"/>
      <dgm:spPr/>
    </dgm:pt>
    <dgm:pt modelId="{22D2EF34-DA89-441F-9AD9-DF1B859114F1}" type="pres">
      <dgm:prSet presAssocID="{BC43B3B7-7C59-40CF-BC87-3581E935D376}" presName="horzSpace2" presStyleCnt="0"/>
      <dgm:spPr/>
    </dgm:pt>
    <dgm:pt modelId="{B4278260-169B-41AB-836A-0CA8CA78972F}" type="pres">
      <dgm:prSet presAssocID="{BC43B3B7-7C59-40CF-BC87-3581E935D376}" presName="tx2" presStyleLbl="revTx" presStyleIdx="3" presStyleCnt="6"/>
      <dgm:spPr/>
    </dgm:pt>
    <dgm:pt modelId="{E36B675E-3B62-4ADD-B8E3-3537F1544EBC}" type="pres">
      <dgm:prSet presAssocID="{BC43B3B7-7C59-40CF-BC87-3581E935D376}" presName="vert2" presStyleCnt="0"/>
      <dgm:spPr/>
    </dgm:pt>
    <dgm:pt modelId="{EF0EB3C0-84FF-41A1-9880-7E5241823F2D}" type="pres">
      <dgm:prSet presAssocID="{BC43B3B7-7C59-40CF-BC87-3581E935D376}" presName="thinLine2b" presStyleLbl="callout" presStyleIdx="2" presStyleCnt="5"/>
      <dgm:spPr/>
    </dgm:pt>
    <dgm:pt modelId="{49FC7148-87AA-460F-9151-1D5499A41939}" type="pres">
      <dgm:prSet presAssocID="{BC43B3B7-7C59-40CF-BC87-3581E935D376}" presName="vertSpace2b" presStyleCnt="0"/>
      <dgm:spPr/>
    </dgm:pt>
    <dgm:pt modelId="{A3F62962-FC31-442B-A73B-FA8C8367386E}" type="pres">
      <dgm:prSet presAssocID="{2A8F8656-CC63-443D-9DE7-0EB0CF42741C}" presName="horz2" presStyleCnt="0"/>
      <dgm:spPr/>
    </dgm:pt>
    <dgm:pt modelId="{25E2F4B7-0F76-4B2E-A59B-0F53D469886D}" type="pres">
      <dgm:prSet presAssocID="{2A8F8656-CC63-443D-9DE7-0EB0CF42741C}" presName="horzSpace2" presStyleCnt="0"/>
      <dgm:spPr/>
    </dgm:pt>
    <dgm:pt modelId="{D495CB5D-9581-4676-B784-D0F0417EC617}" type="pres">
      <dgm:prSet presAssocID="{2A8F8656-CC63-443D-9DE7-0EB0CF42741C}" presName="tx2" presStyleLbl="revTx" presStyleIdx="4" presStyleCnt="6"/>
      <dgm:spPr/>
    </dgm:pt>
    <dgm:pt modelId="{9DECAD3D-56E4-4D82-8914-987974FAD679}" type="pres">
      <dgm:prSet presAssocID="{2A8F8656-CC63-443D-9DE7-0EB0CF42741C}" presName="vert2" presStyleCnt="0"/>
      <dgm:spPr/>
    </dgm:pt>
    <dgm:pt modelId="{63BC413C-06AB-4441-82C5-9EB599397EFD}" type="pres">
      <dgm:prSet presAssocID="{2A8F8656-CC63-443D-9DE7-0EB0CF42741C}" presName="thinLine2b" presStyleLbl="callout" presStyleIdx="3" presStyleCnt="5"/>
      <dgm:spPr/>
    </dgm:pt>
    <dgm:pt modelId="{A2B43587-D9F8-41EB-8B3F-F6D4C1FD174A}" type="pres">
      <dgm:prSet presAssocID="{2A8F8656-CC63-443D-9DE7-0EB0CF42741C}" presName="vertSpace2b" presStyleCnt="0"/>
      <dgm:spPr/>
    </dgm:pt>
    <dgm:pt modelId="{3CCE3CA1-003D-4CA7-BC7F-B4C741191128}" type="pres">
      <dgm:prSet presAssocID="{5D2CC7AB-BD47-483C-A7EB-B1AACCA21334}" presName="horz2" presStyleCnt="0"/>
      <dgm:spPr/>
    </dgm:pt>
    <dgm:pt modelId="{1EEDA5FB-622C-4DF5-AECD-478EFB31BD3F}" type="pres">
      <dgm:prSet presAssocID="{5D2CC7AB-BD47-483C-A7EB-B1AACCA21334}" presName="horzSpace2" presStyleCnt="0"/>
      <dgm:spPr/>
    </dgm:pt>
    <dgm:pt modelId="{D3AAA9B6-086C-4134-BC0B-B5B6790E0EB9}" type="pres">
      <dgm:prSet presAssocID="{5D2CC7AB-BD47-483C-A7EB-B1AACCA21334}" presName="tx2" presStyleLbl="revTx" presStyleIdx="5" presStyleCnt="6"/>
      <dgm:spPr/>
    </dgm:pt>
    <dgm:pt modelId="{ECEFBB10-DC21-4E66-AD74-65B3AED3DC9D}" type="pres">
      <dgm:prSet presAssocID="{5D2CC7AB-BD47-483C-A7EB-B1AACCA21334}" presName="vert2" presStyleCnt="0"/>
      <dgm:spPr/>
    </dgm:pt>
    <dgm:pt modelId="{F008BB6C-CBE9-4B2D-8B5F-9D6639B2FBDC}" type="pres">
      <dgm:prSet presAssocID="{5D2CC7AB-BD47-483C-A7EB-B1AACCA21334}" presName="thinLine2b" presStyleLbl="callout" presStyleIdx="4" presStyleCnt="5"/>
      <dgm:spPr/>
    </dgm:pt>
    <dgm:pt modelId="{63CF97FD-DB17-4483-8CE7-EFDF35B448B9}" type="pres">
      <dgm:prSet presAssocID="{5D2CC7AB-BD47-483C-A7EB-B1AACCA21334}" presName="vertSpace2b" presStyleCnt="0"/>
      <dgm:spPr/>
    </dgm:pt>
  </dgm:ptLst>
  <dgm:cxnLst>
    <dgm:cxn modelId="{9887700E-08CA-4906-8D0A-8A058E344250}" type="presOf" srcId="{AB628DFB-9766-446A-8F8F-3D231035F157}" destId="{45F1BE0B-BBCD-4DA1-808B-F11233CAE218}" srcOrd="0" destOrd="0" presId="urn:microsoft.com/office/officeart/2008/layout/LinedList"/>
    <dgm:cxn modelId="{63327F18-721D-48C1-9DBA-5F302D44848B}" type="presOf" srcId="{BC43B3B7-7C59-40CF-BC87-3581E935D376}" destId="{B4278260-169B-41AB-836A-0CA8CA78972F}" srcOrd="0" destOrd="0" presId="urn:microsoft.com/office/officeart/2008/layout/LinedList"/>
    <dgm:cxn modelId="{3EF1FE2A-8163-4B69-BEDB-35D5E715EC4A}" srcId="{FBE58B4D-D912-4DCB-A0D2-D2308A645814}" destId="{DFDCC6E6-8825-4652-A3AD-9EEB949C7FCB}" srcOrd="1" destOrd="0" parTransId="{D0916322-C6C0-4CE8-B3BE-019C5C0E8CC4}" sibTransId="{7E180BA7-9681-4196-A3C4-083C9429FE6D}"/>
    <dgm:cxn modelId="{4706C95B-0D52-4E5B-9908-3F997F08C37F}" srcId="{AB628DFB-9766-446A-8F8F-3D231035F157}" destId="{FBE58B4D-D912-4DCB-A0D2-D2308A645814}" srcOrd="0" destOrd="0" parTransId="{795814D4-59AD-463B-9DDD-628F6C778B2A}" sibTransId="{A073DB59-3AAD-4F9A-994A-6FB91B81CD7B}"/>
    <dgm:cxn modelId="{A9C87E60-B963-4515-BB45-03FA11C96A11}" srcId="{FBE58B4D-D912-4DCB-A0D2-D2308A645814}" destId="{BC43B3B7-7C59-40CF-BC87-3581E935D376}" srcOrd="2" destOrd="0" parTransId="{689BE8EC-F818-429B-9D9D-5C1DC600739A}" sibTransId="{041805F0-56F4-4831-8098-6BE2B20E317A}"/>
    <dgm:cxn modelId="{5662D641-A3E2-47B9-8424-8CDFA5F37512}" type="presOf" srcId="{2A8F8656-CC63-443D-9DE7-0EB0CF42741C}" destId="{D495CB5D-9581-4676-B784-D0F0417EC617}" srcOrd="0" destOrd="0" presId="urn:microsoft.com/office/officeart/2008/layout/LinedList"/>
    <dgm:cxn modelId="{1017407F-0603-49AC-BFBD-3A7C11258100}" srcId="{FBE58B4D-D912-4DCB-A0D2-D2308A645814}" destId="{5D2CC7AB-BD47-483C-A7EB-B1AACCA21334}" srcOrd="4" destOrd="0" parTransId="{53FC8FF8-0D0A-4248-B96A-44C234AE9AC7}" sibTransId="{CA1D1661-7A9B-4472-910A-B4B26DEBC8B1}"/>
    <dgm:cxn modelId="{97274196-8016-4E32-914D-4E06115CA615}" type="presOf" srcId="{DFDCC6E6-8825-4652-A3AD-9EEB949C7FCB}" destId="{30C768CC-F4F4-4122-9EE5-F5581C308254}" srcOrd="0" destOrd="0" presId="urn:microsoft.com/office/officeart/2008/layout/LinedList"/>
    <dgm:cxn modelId="{4CAC20B1-00CE-4049-A0D6-8A7494AD514F}" srcId="{FBE58B4D-D912-4DCB-A0D2-D2308A645814}" destId="{4073A13D-C44E-40D0-9850-4249F691B087}" srcOrd="0" destOrd="0" parTransId="{52986FD3-25B9-43A9-A65F-688ACAAF2264}" sibTransId="{299F073A-24D1-4D80-A356-38514FA57BEB}"/>
    <dgm:cxn modelId="{B8D7A0C7-E0CA-4E5A-8A92-6281C63711D8}" type="presOf" srcId="{4073A13D-C44E-40D0-9850-4249F691B087}" destId="{60F4A61C-108F-4930-8619-C7E0FAD199AC}" srcOrd="0" destOrd="0" presId="urn:microsoft.com/office/officeart/2008/layout/LinedList"/>
    <dgm:cxn modelId="{5CE41AD5-D68E-43BE-B59B-17070276EB38}" srcId="{FBE58B4D-D912-4DCB-A0D2-D2308A645814}" destId="{2A8F8656-CC63-443D-9DE7-0EB0CF42741C}" srcOrd="3" destOrd="0" parTransId="{D561ACEE-419D-461B-B162-001D8FC92CD3}" sibTransId="{FBB21298-421F-4F88-A04E-762AED12B212}"/>
    <dgm:cxn modelId="{043535E8-721F-4B8A-B95A-086AC972744C}" type="presOf" srcId="{5D2CC7AB-BD47-483C-A7EB-B1AACCA21334}" destId="{D3AAA9B6-086C-4134-BC0B-B5B6790E0EB9}" srcOrd="0" destOrd="0" presId="urn:microsoft.com/office/officeart/2008/layout/LinedList"/>
    <dgm:cxn modelId="{089FB7F4-B1EA-46DC-AC57-2D1FD0025ED4}" type="presOf" srcId="{FBE58B4D-D912-4DCB-A0D2-D2308A645814}" destId="{BF646980-5E2F-46BA-AF78-5E194FA60B62}" srcOrd="0" destOrd="0" presId="urn:microsoft.com/office/officeart/2008/layout/LinedList"/>
    <dgm:cxn modelId="{3DD03716-9392-4603-8DC9-1AD9105E12A8}" type="presParOf" srcId="{45F1BE0B-BBCD-4DA1-808B-F11233CAE218}" destId="{F9E711D3-795B-4FF0-951E-4B6FE2402EE5}" srcOrd="0" destOrd="0" presId="urn:microsoft.com/office/officeart/2008/layout/LinedList"/>
    <dgm:cxn modelId="{10629812-A220-4C49-B2F0-82B376B42348}" type="presParOf" srcId="{45F1BE0B-BBCD-4DA1-808B-F11233CAE218}" destId="{93C10A56-CDCA-4B40-AC97-555CD94D469A}" srcOrd="1" destOrd="0" presId="urn:microsoft.com/office/officeart/2008/layout/LinedList"/>
    <dgm:cxn modelId="{079A59FB-B155-460D-BDCD-7412EA29DB34}" type="presParOf" srcId="{93C10A56-CDCA-4B40-AC97-555CD94D469A}" destId="{BF646980-5E2F-46BA-AF78-5E194FA60B62}" srcOrd="0" destOrd="0" presId="urn:microsoft.com/office/officeart/2008/layout/LinedList"/>
    <dgm:cxn modelId="{914E8803-C650-49E9-8B66-7D4DA1945EFC}" type="presParOf" srcId="{93C10A56-CDCA-4B40-AC97-555CD94D469A}" destId="{27ED3F02-D531-47E7-AF3D-28950208C135}" srcOrd="1" destOrd="0" presId="urn:microsoft.com/office/officeart/2008/layout/LinedList"/>
    <dgm:cxn modelId="{4829322C-DBE4-4972-AFB9-3504BD291FBC}" type="presParOf" srcId="{27ED3F02-D531-47E7-AF3D-28950208C135}" destId="{4A4A3EFF-74DF-41A9-ABEC-F3E13D57675A}" srcOrd="0" destOrd="0" presId="urn:microsoft.com/office/officeart/2008/layout/LinedList"/>
    <dgm:cxn modelId="{F4F3A713-6336-4CB4-B64E-E7F928FBB8E1}" type="presParOf" srcId="{27ED3F02-D531-47E7-AF3D-28950208C135}" destId="{587BBA49-DEF2-48B2-A404-BE5A61620492}" srcOrd="1" destOrd="0" presId="urn:microsoft.com/office/officeart/2008/layout/LinedList"/>
    <dgm:cxn modelId="{D3680EAC-A40E-429E-8563-0C2B90810B2B}" type="presParOf" srcId="{587BBA49-DEF2-48B2-A404-BE5A61620492}" destId="{B8BC7C0C-E888-4FA9-AB61-7A86CBF17D1D}" srcOrd="0" destOrd="0" presId="urn:microsoft.com/office/officeart/2008/layout/LinedList"/>
    <dgm:cxn modelId="{EF2C3960-6C16-440A-BA80-9A8FA74A23C0}" type="presParOf" srcId="{587BBA49-DEF2-48B2-A404-BE5A61620492}" destId="{60F4A61C-108F-4930-8619-C7E0FAD199AC}" srcOrd="1" destOrd="0" presId="urn:microsoft.com/office/officeart/2008/layout/LinedList"/>
    <dgm:cxn modelId="{AB284E41-0C31-4F68-8426-1E77CF4C80D3}" type="presParOf" srcId="{587BBA49-DEF2-48B2-A404-BE5A61620492}" destId="{F43EADB0-74BB-464C-8DB1-83B63F099593}" srcOrd="2" destOrd="0" presId="urn:microsoft.com/office/officeart/2008/layout/LinedList"/>
    <dgm:cxn modelId="{1854BBAD-8CC1-4AAE-A642-E29996DD9A8A}" type="presParOf" srcId="{27ED3F02-D531-47E7-AF3D-28950208C135}" destId="{DA70C8FC-B8E8-4917-90FE-8151813761B5}" srcOrd="2" destOrd="0" presId="urn:microsoft.com/office/officeart/2008/layout/LinedList"/>
    <dgm:cxn modelId="{5E7E26B7-B038-41AC-9AF6-F32DBF3C0968}" type="presParOf" srcId="{27ED3F02-D531-47E7-AF3D-28950208C135}" destId="{93C62F5C-9F84-4315-B2E6-4F9DC18781B1}" srcOrd="3" destOrd="0" presId="urn:microsoft.com/office/officeart/2008/layout/LinedList"/>
    <dgm:cxn modelId="{452F02F2-BAB3-4E1E-9EDA-453E50472B46}" type="presParOf" srcId="{27ED3F02-D531-47E7-AF3D-28950208C135}" destId="{ECC9EA3B-FF09-4745-B2FA-1684593563C1}" srcOrd="4" destOrd="0" presId="urn:microsoft.com/office/officeart/2008/layout/LinedList"/>
    <dgm:cxn modelId="{60B3FEA3-B2AD-477B-A62C-2A48C5817938}" type="presParOf" srcId="{ECC9EA3B-FF09-4745-B2FA-1684593563C1}" destId="{B6DE0446-2E17-4C50-A409-50F398252786}" srcOrd="0" destOrd="0" presId="urn:microsoft.com/office/officeart/2008/layout/LinedList"/>
    <dgm:cxn modelId="{BA0C27B8-F11E-44F3-8ACB-68657771DF88}" type="presParOf" srcId="{ECC9EA3B-FF09-4745-B2FA-1684593563C1}" destId="{30C768CC-F4F4-4122-9EE5-F5581C308254}" srcOrd="1" destOrd="0" presId="urn:microsoft.com/office/officeart/2008/layout/LinedList"/>
    <dgm:cxn modelId="{0077AD96-D1D2-476C-A69C-39BAABA849ED}" type="presParOf" srcId="{ECC9EA3B-FF09-4745-B2FA-1684593563C1}" destId="{895B0E12-C602-49E4-8E59-DA0C4B5FE4AF}" srcOrd="2" destOrd="0" presId="urn:microsoft.com/office/officeart/2008/layout/LinedList"/>
    <dgm:cxn modelId="{2AD19A97-2A34-4F10-9247-97938598C4FA}" type="presParOf" srcId="{27ED3F02-D531-47E7-AF3D-28950208C135}" destId="{771AE77F-57DA-448F-9AE7-358D2248AD56}" srcOrd="5" destOrd="0" presId="urn:microsoft.com/office/officeart/2008/layout/LinedList"/>
    <dgm:cxn modelId="{1FD48F02-8997-4732-9A65-6933CB508C96}" type="presParOf" srcId="{27ED3F02-D531-47E7-AF3D-28950208C135}" destId="{BB01471E-3560-44EF-B3A2-550AC1CEB92A}" srcOrd="6" destOrd="0" presId="urn:microsoft.com/office/officeart/2008/layout/LinedList"/>
    <dgm:cxn modelId="{DE1CDCE6-DDF6-493C-8D3B-C8CA8984F16A}" type="presParOf" srcId="{27ED3F02-D531-47E7-AF3D-28950208C135}" destId="{74E53C59-5226-4F23-82E2-437C9386080D}" srcOrd="7" destOrd="0" presId="urn:microsoft.com/office/officeart/2008/layout/LinedList"/>
    <dgm:cxn modelId="{24FAB478-53E4-4A83-A027-D76B167FD1AF}" type="presParOf" srcId="{74E53C59-5226-4F23-82E2-437C9386080D}" destId="{22D2EF34-DA89-441F-9AD9-DF1B859114F1}" srcOrd="0" destOrd="0" presId="urn:microsoft.com/office/officeart/2008/layout/LinedList"/>
    <dgm:cxn modelId="{5E5A013D-CF24-451A-859D-DF547D2442D9}" type="presParOf" srcId="{74E53C59-5226-4F23-82E2-437C9386080D}" destId="{B4278260-169B-41AB-836A-0CA8CA78972F}" srcOrd="1" destOrd="0" presId="urn:microsoft.com/office/officeart/2008/layout/LinedList"/>
    <dgm:cxn modelId="{51DB27D8-C869-43A3-9AC0-5F36B5FF8EE3}" type="presParOf" srcId="{74E53C59-5226-4F23-82E2-437C9386080D}" destId="{E36B675E-3B62-4ADD-B8E3-3537F1544EBC}" srcOrd="2" destOrd="0" presId="urn:microsoft.com/office/officeart/2008/layout/LinedList"/>
    <dgm:cxn modelId="{214A3C00-E369-46F6-9609-DDB4F1CC4D4F}" type="presParOf" srcId="{27ED3F02-D531-47E7-AF3D-28950208C135}" destId="{EF0EB3C0-84FF-41A1-9880-7E5241823F2D}" srcOrd="8" destOrd="0" presId="urn:microsoft.com/office/officeart/2008/layout/LinedList"/>
    <dgm:cxn modelId="{2446562D-E0E7-439D-B97D-A5055FE9C153}" type="presParOf" srcId="{27ED3F02-D531-47E7-AF3D-28950208C135}" destId="{49FC7148-87AA-460F-9151-1D5499A41939}" srcOrd="9" destOrd="0" presId="urn:microsoft.com/office/officeart/2008/layout/LinedList"/>
    <dgm:cxn modelId="{6766EFDF-E19B-4019-91C1-EDE9B7DB1E0D}" type="presParOf" srcId="{27ED3F02-D531-47E7-AF3D-28950208C135}" destId="{A3F62962-FC31-442B-A73B-FA8C8367386E}" srcOrd="10" destOrd="0" presId="urn:microsoft.com/office/officeart/2008/layout/LinedList"/>
    <dgm:cxn modelId="{EB68BC4F-2132-416B-9204-5D2F3E807FAA}" type="presParOf" srcId="{A3F62962-FC31-442B-A73B-FA8C8367386E}" destId="{25E2F4B7-0F76-4B2E-A59B-0F53D469886D}" srcOrd="0" destOrd="0" presId="urn:microsoft.com/office/officeart/2008/layout/LinedList"/>
    <dgm:cxn modelId="{D072FE35-1971-47AB-BEBE-F45346386A86}" type="presParOf" srcId="{A3F62962-FC31-442B-A73B-FA8C8367386E}" destId="{D495CB5D-9581-4676-B784-D0F0417EC617}" srcOrd="1" destOrd="0" presId="urn:microsoft.com/office/officeart/2008/layout/LinedList"/>
    <dgm:cxn modelId="{D3C89D7F-89B5-4A65-99D3-870935998D7A}" type="presParOf" srcId="{A3F62962-FC31-442B-A73B-FA8C8367386E}" destId="{9DECAD3D-56E4-4D82-8914-987974FAD679}" srcOrd="2" destOrd="0" presId="urn:microsoft.com/office/officeart/2008/layout/LinedList"/>
    <dgm:cxn modelId="{F6FD514D-E389-4A12-B10F-8239C8B6E51E}" type="presParOf" srcId="{27ED3F02-D531-47E7-AF3D-28950208C135}" destId="{63BC413C-06AB-4441-82C5-9EB599397EFD}" srcOrd="11" destOrd="0" presId="urn:microsoft.com/office/officeart/2008/layout/LinedList"/>
    <dgm:cxn modelId="{8F015DC3-E3C2-47A4-9C3E-10840211DEC8}" type="presParOf" srcId="{27ED3F02-D531-47E7-AF3D-28950208C135}" destId="{A2B43587-D9F8-41EB-8B3F-F6D4C1FD174A}" srcOrd="12" destOrd="0" presId="urn:microsoft.com/office/officeart/2008/layout/LinedList"/>
    <dgm:cxn modelId="{3DAD9332-8E51-4A3E-9E69-3BA65229D7D7}" type="presParOf" srcId="{27ED3F02-D531-47E7-AF3D-28950208C135}" destId="{3CCE3CA1-003D-4CA7-BC7F-B4C741191128}" srcOrd="13" destOrd="0" presId="urn:microsoft.com/office/officeart/2008/layout/LinedList"/>
    <dgm:cxn modelId="{B4194D99-4279-4EE3-8011-950962C7B197}" type="presParOf" srcId="{3CCE3CA1-003D-4CA7-BC7F-B4C741191128}" destId="{1EEDA5FB-622C-4DF5-AECD-478EFB31BD3F}" srcOrd="0" destOrd="0" presId="urn:microsoft.com/office/officeart/2008/layout/LinedList"/>
    <dgm:cxn modelId="{C8AEF91C-A912-4976-85C3-DC7B57F3BB24}" type="presParOf" srcId="{3CCE3CA1-003D-4CA7-BC7F-B4C741191128}" destId="{D3AAA9B6-086C-4134-BC0B-B5B6790E0EB9}" srcOrd="1" destOrd="0" presId="urn:microsoft.com/office/officeart/2008/layout/LinedList"/>
    <dgm:cxn modelId="{D51B62ED-BBCE-4824-AE89-C44D60456197}" type="presParOf" srcId="{3CCE3CA1-003D-4CA7-BC7F-B4C741191128}" destId="{ECEFBB10-DC21-4E66-AD74-65B3AED3DC9D}" srcOrd="2" destOrd="0" presId="urn:microsoft.com/office/officeart/2008/layout/LinedList"/>
    <dgm:cxn modelId="{514544CE-54E8-496A-829A-8C61AF54D075}" type="presParOf" srcId="{27ED3F02-D531-47E7-AF3D-28950208C135}" destId="{F008BB6C-CBE9-4B2D-8B5F-9D6639B2FBDC}" srcOrd="14" destOrd="0" presId="urn:microsoft.com/office/officeart/2008/layout/LinedList"/>
    <dgm:cxn modelId="{8E6A8370-227D-43E5-8FF9-B4F21B224805}" type="presParOf" srcId="{27ED3F02-D531-47E7-AF3D-28950208C135}" destId="{63CF97FD-DB17-4483-8CE7-EFDF35B448B9}" srcOrd="15"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B602BB5-64F9-46D8-AB72-D178162E1C47}"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s-ES"/>
        </a:p>
      </dgm:t>
    </dgm:pt>
    <dgm:pt modelId="{82F02166-050A-4A39-939C-046FB4FC0817}">
      <dgm:prSet phldrT="[Texto]"/>
      <dgm:spPr/>
      <dgm:t>
        <a:bodyPr/>
        <a:lstStyle/>
        <a:p>
          <a:r>
            <a:rPr lang="es-ES" dirty="0"/>
            <a:t>Objetivo</a:t>
          </a:r>
        </a:p>
      </dgm:t>
    </dgm:pt>
    <dgm:pt modelId="{C75A1770-CE48-4DE9-BFC4-16BCA447CDCB}" type="parTrans" cxnId="{870382AA-EA35-4970-8B68-91B4CDE63BB5}">
      <dgm:prSet/>
      <dgm:spPr/>
      <dgm:t>
        <a:bodyPr/>
        <a:lstStyle/>
        <a:p>
          <a:endParaRPr lang="es-ES"/>
        </a:p>
      </dgm:t>
    </dgm:pt>
    <dgm:pt modelId="{00095DCD-9925-42A2-8C2B-11B1A201CD80}" type="sibTrans" cxnId="{870382AA-EA35-4970-8B68-91B4CDE63BB5}">
      <dgm:prSet/>
      <dgm:spPr/>
      <dgm:t>
        <a:bodyPr/>
        <a:lstStyle/>
        <a:p>
          <a:endParaRPr lang="es-ES"/>
        </a:p>
      </dgm:t>
    </dgm:pt>
    <dgm:pt modelId="{B62A94F2-B316-4D0A-BF00-B24A124E6094}">
      <dgm:prSet phldrT="[Texto]"/>
      <dgm:spPr/>
      <dgm:t>
        <a:bodyPr/>
        <a:lstStyle/>
        <a:p>
          <a:pPr>
            <a:buFont typeface="+mj-lt"/>
            <a:buAutoNum type="arabicPeriod"/>
          </a:pPr>
          <a:r>
            <a:rPr lang="es-MX" b="1" dirty="0"/>
            <a:t>Tareas</a:t>
          </a:r>
          <a:endParaRPr lang="es-ES" dirty="0"/>
        </a:p>
      </dgm:t>
    </dgm:pt>
    <dgm:pt modelId="{BA655E28-95D5-49FE-9055-CC43E83F3D12}" type="parTrans" cxnId="{4BA3CB60-6F44-45B4-9BFF-0CCAF1A57EA1}">
      <dgm:prSet/>
      <dgm:spPr/>
      <dgm:t>
        <a:bodyPr/>
        <a:lstStyle/>
        <a:p>
          <a:endParaRPr lang="es-ES"/>
        </a:p>
      </dgm:t>
    </dgm:pt>
    <dgm:pt modelId="{6776DAC8-1F22-46EF-8E61-D92EAD0E6AAE}" type="sibTrans" cxnId="{4BA3CB60-6F44-45B4-9BFF-0CCAF1A57EA1}">
      <dgm:prSet/>
      <dgm:spPr/>
      <dgm:t>
        <a:bodyPr/>
        <a:lstStyle/>
        <a:p>
          <a:endParaRPr lang="es-ES"/>
        </a:p>
      </dgm:t>
    </dgm:pt>
    <dgm:pt modelId="{A8AEDBB4-0B85-43BA-9AD0-2204E4FB6F8A}">
      <dgm:prSet/>
      <dgm:spPr/>
      <dgm:t>
        <a:bodyPr/>
        <a:lstStyle/>
        <a:p>
          <a:r>
            <a:rPr lang="es-ES" dirty="0"/>
            <a:t>Aplicar técnicas y algoritmos de Aprendizaje Automatizado y clasificación de datos para la detección de </a:t>
          </a:r>
          <a:r>
            <a:rPr lang="es-ES" dirty="0" err="1"/>
            <a:t>APKs</a:t>
          </a:r>
          <a:r>
            <a:rPr lang="es-ES" dirty="0"/>
            <a:t> maliciosas.</a:t>
          </a:r>
        </a:p>
      </dgm:t>
    </dgm:pt>
    <dgm:pt modelId="{51E46FBB-5013-4D70-847C-3AC76853E5B3}" type="parTrans" cxnId="{A21E1F27-2122-474C-98B2-DA961CF0E313}">
      <dgm:prSet/>
      <dgm:spPr/>
      <dgm:t>
        <a:bodyPr/>
        <a:lstStyle/>
        <a:p>
          <a:endParaRPr lang="es-ES"/>
        </a:p>
      </dgm:t>
    </dgm:pt>
    <dgm:pt modelId="{440E231C-DE1B-4231-ACFE-5E1C437532D5}" type="sibTrans" cxnId="{A21E1F27-2122-474C-98B2-DA961CF0E313}">
      <dgm:prSet/>
      <dgm:spPr/>
      <dgm:t>
        <a:bodyPr/>
        <a:lstStyle/>
        <a:p>
          <a:endParaRPr lang="es-ES"/>
        </a:p>
      </dgm:t>
    </dgm:pt>
    <dgm:pt modelId="{E3436780-ADA6-4A66-9DFB-4375D6A090BC}">
      <dgm:prSet phldrT="[Texto]"/>
      <dgm:spPr/>
      <dgm:t>
        <a:bodyPr/>
        <a:lstStyle/>
        <a:p>
          <a:r>
            <a:rPr lang="es-ES" dirty="0"/>
            <a:t>Analizar documentos para conocer los permisos que Android pone a disposición de los desarrolladores.</a:t>
          </a:r>
        </a:p>
      </dgm:t>
    </dgm:pt>
    <dgm:pt modelId="{1E574BBD-32F8-47E3-BA74-01B51BCE5477}" type="parTrans" cxnId="{0A4ECD41-B1C3-498D-B3A8-56D5A4EEC559}">
      <dgm:prSet/>
      <dgm:spPr/>
      <dgm:t>
        <a:bodyPr/>
        <a:lstStyle/>
        <a:p>
          <a:endParaRPr lang="es-ES"/>
        </a:p>
      </dgm:t>
    </dgm:pt>
    <dgm:pt modelId="{081E681E-2CE8-48CC-8A81-ACC6963ED6E0}" type="sibTrans" cxnId="{0A4ECD41-B1C3-498D-B3A8-56D5A4EEC559}">
      <dgm:prSet/>
      <dgm:spPr/>
      <dgm:t>
        <a:bodyPr/>
        <a:lstStyle/>
        <a:p>
          <a:endParaRPr lang="es-ES"/>
        </a:p>
      </dgm:t>
    </dgm:pt>
    <dgm:pt modelId="{274FC1A8-F812-4A84-B531-98D2782CCF95}">
      <dgm:prSet phldrT="[Texto]"/>
      <dgm:spPr/>
      <dgm:t>
        <a:bodyPr/>
        <a:lstStyle/>
        <a:p>
          <a:r>
            <a:rPr lang="es-MX" dirty="0"/>
            <a:t>Obtención de datos.</a:t>
          </a:r>
          <a:endParaRPr lang="es-ES" dirty="0"/>
        </a:p>
      </dgm:t>
    </dgm:pt>
    <dgm:pt modelId="{A83D7EC4-C659-4B82-BBA2-96611865D279}" type="parTrans" cxnId="{3FC46D4C-38F2-4282-BEDE-374FF61B262F}">
      <dgm:prSet/>
      <dgm:spPr/>
      <dgm:t>
        <a:bodyPr/>
        <a:lstStyle/>
        <a:p>
          <a:endParaRPr lang="es-ES"/>
        </a:p>
      </dgm:t>
    </dgm:pt>
    <dgm:pt modelId="{026B406F-530E-43F7-87A0-F6FD968AD117}" type="sibTrans" cxnId="{3FC46D4C-38F2-4282-BEDE-374FF61B262F}">
      <dgm:prSet/>
      <dgm:spPr/>
      <dgm:t>
        <a:bodyPr/>
        <a:lstStyle/>
        <a:p>
          <a:endParaRPr lang="es-ES"/>
        </a:p>
      </dgm:t>
    </dgm:pt>
    <dgm:pt modelId="{7385116C-74B9-4092-96F5-9A72B6B498DC}">
      <dgm:prSet phldrT="[Texto]"/>
      <dgm:spPr/>
      <dgm:t>
        <a:bodyPr/>
        <a:lstStyle/>
        <a:p>
          <a:r>
            <a:rPr lang="es-MX" dirty="0"/>
            <a:t>Realiza el Análisis Exploratorio de Datos.</a:t>
          </a:r>
          <a:endParaRPr lang="es-ES" dirty="0"/>
        </a:p>
      </dgm:t>
    </dgm:pt>
    <dgm:pt modelId="{F5511E0D-E141-4A32-B29F-242B702B8A4A}" type="parTrans" cxnId="{95E53044-6A0E-497A-9D4D-D68873114227}">
      <dgm:prSet/>
      <dgm:spPr/>
      <dgm:t>
        <a:bodyPr/>
        <a:lstStyle/>
        <a:p>
          <a:endParaRPr lang="es-ES"/>
        </a:p>
      </dgm:t>
    </dgm:pt>
    <dgm:pt modelId="{FC69BDA5-E68E-44F1-A8B5-7671ACADBEBC}" type="sibTrans" cxnId="{95E53044-6A0E-497A-9D4D-D68873114227}">
      <dgm:prSet/>
      <dgm:spPr/>
      <dgm:t>
        <a:bodyPr/>
        <a:lstStyle/>
        <a:p>
          <a:endParaRPr lang="es-ES"/>
        </a:p>
      </dgm:t>
    </dgm:pt>
    <dgm:pt modelId="{0E8E1039-1108-45C8-8ED4-23F4ACE3BFFD}">
      <dgm:prSet phldrT="[Texto]"/>
      <dgm:spPr/>
      <dgm:t>
        <a:bodyPr/>
        <a:lstStyle/>
        <a:p>
          <a:r>
            <a:rPr lang="es-MX" dirty="0"/>
            <a:t>Aplica un algoritmo de agrupamiento.</a:t>
          </a:r>
          <a:endParaRPr lang="es-ES" dirty="0"/>
        </a:p>
      </dgm:t>
    </dgm:pt>
    <dgm:pt modelId="{F8285F86-ED09-430E-8DD2-5F32B5BEEFEE}" type="parTrans" cxnId="{991C486C-117B-4FDC-A735-49076E73E677}">
      <dgm:prSet/>
      <dgm:spPr/>
      <dgm:t>
        <a:bodyPr/>
        <a:lstStyle/>
        <a:p>
          <a:endParaRPr lang="es-ES"/>
        </a:p>
      </dgm:t>
    </dgm:pt>
    <dgm:pt modelId="{BEDFD85A-B00F-4C40-BBDC-63C7E2B95BC3}" type="sibTrans" cxnId="{991C486C-117B-4FDC-A735-49076E73E677}">
      <dgm:prSet/>
      <dgm:spPr/>
      <dgm:t>
        <a:bodyPr/>
        <a:lstStyle/>
        <a:p>
          <a:endParaRPr lang="es-ES"/>
        </a:p>
      </dgm:t>
    </dgm:pt>
    <dgm:pt modelId="{9406A22E-96AD-4BBB-9EBF-2F648967F30B}">
      <dgm:prSet phldrT="[Texto]"/>
      <dgm:spPr/>
      <dgm:t>
        <a:bodyPr/>
        <a:lstStyle/>
        <a:p>
          <a:r>
            <a:rPr lang="es-419" dirty="0"/>
            <a:t>Selección de los algoritmos de clasificación a emplear.</a:t>
          </a:r>
          <a:endParaRPr lang="es-ES" dirty="0"/>
        </a:p>
      </dgm:t>
    </dgm:pt>
    <dgm:pt modelId="{10DA535D-1259-4AE1-BDAF-7BD7AC8E2DEB}" type="parTrans" cxnId="{2BA13FF0-992A-4AEB-B783-6E6F1625536D}">
      <dgm:prSet/>
      <dgm:spPr/>
      <dgm:t>
        <a:bodyPr/>
        <a:lstStyle/>
        <a:p>
          <a:endParaRPr lang="es-ES"/>
        </a:p>
      </dgm:t>
    </dgm:pt>
    <dgm:pt modelId="{FBFA9F4F-03CF-4C25-AA18-34E98983CAAE}" type="sibTrans" cxnId="{2BA13FF0-992A-4AEB-B783-6E6F1625536D}">
      <dgm:prSet/>
      <dgm:spPr/>
      <dgm:t>
        <a:bodyPr/>
        <a:lstStyle/>
        <a:p>
          <a:endParaRPr lang="es-ES"/>
        </a:p>
      </dgm:t>
    </dgm:pt>
    <dgm:pt modelId="{40DD923B-BAB8-40C6-A9E1-603C03C93FB8}">
      <dgm:prSet phldrT="[Texto]"/>
      <dgm:spPr/>
      <dgm:t>
        <a:bodyPr/>
        <a:lstStyle/>
        <a:p>
          <a:r>
            <a:rPr lang="es-419" dirty="0"/>
            <a:t>Entrenamiento y Evaluación de Modelos.</a:t>
          </a:r>
          <a:endParaRPr lang="es-ES" dirty="0"/>
        </a:p>
      </dgm:t>
    </dgm:pt>
    <dgm:pt modelId="{50C504F3-53F2-44F4-B105-EA751B414CB3}" type="parTrans" cxnId="{C20B1FC6-D897-4490-9A90-BB91898E64F0}">
      <dgm:prSet/>
      <dgm:spPr/>
      <dgm:t>
        <a:bodyPr/>
        <a:lstStyle/>
        <a:p>
          <a:endParaRPr lang="es-ES"/>
        </a:p>
      </dgm:t>
    </dgm:pt>
    <dgm:pt modelId="{D44B23BB-C37A-4FA6-AE4F-595E573981B3}" type="sibTrans" cxnId="{C20B1FC6-D897-4490-9A90-BB91898E64F0}">
      <dgm:prSet/>
      <dgm:spPr/>
      <dgm:t>
        <a:bodyPr/>
        <a:lstStyle/>
        <a:p>
          <a:endParaRPr lang="es-ES"/>
        </a:p>
      </dgm:t>
    </dgm:pt>
    <dgm:pt modelId="{8A05A04C-C841-4F56-A9EF-E922B6D924CA}">
      <dgm:prSet phldrT="[Texto]"/>
      <dgm:spPr/>
      <dgm:t>
        <a:bodyPr/>
        <a:lstStyle/>
        <a:p>
          <a:r>
            <a:rPr lang="es-419" dirty="0"/>
            <a:t>Selección del Mejor Clasificador.</a:t>
          </a:r>
          <a:endParaRPr lang="es-ES" dirty="0"/>
        </a:p>
      </dgm:t>
    </dgm:pt>
    <dgm:pt modelId="{30A8CBFF-DDAF-4B76-993E-4F0B27102288}" type="parTrans" cxnId="{3EFD1334-57C0-435C-BBFF-B5E092A1A5A1}">
      <dgm:prSet/>
      <dgm:spPr/>
      <dgm:t>
        <a:bodyPr/>
        <a:lstStyle/>
        <a:p>
          <a:endParaRPr lang="es-ES"/>
        </a:p>
      </dgm:t>
    </dgm:pt>
    <dgm:pt modelId="{A7B738EB-7740-43B5-8617-3CE8A3725E93}" type="sibTrans" cxnId="{3EFD1334-57C0-435C-BBFF-B5E092A1A5A1}">
      <dgm:prSet/>
      <dgm:spPr/>
      <dgm:t>
        <a:bodyPr/>
        <a:lstStyle/>
        <a:p>
          <a:endParaRPr lang="es-ES"/>
        </a:p>
      </dgm:t>
    </dgm:pt>
    <dgm:pt modelId="{532C4306-F3B5-4301-869F-39221E1E76C1}">
      <dgm:prSet phldrT="[Texto]"/>
      <dgm:spPr/>
      <dgm:t>
        <a:bodyPr/>
        <a:lstStyle/>
        <a:p>
          <a:r>
            <a:rPr lang="es-419" dirty="0"/>
            <a:t>Implementación del Modelo de Clasificación.</a:t>
          </a:r>
          <a:endParaRPr lang="es-ES" dirty="0"/>
        </a:p>
      </dgm:t>
    </dgm:pt>
    <dgm:pt modelId="{F59E300D-1268-406B-BB22-011B320B21C0}" type="parTrans" cxnId="{2BA1FB20-9B7C-41BF-A637-2381AA219D41}">
      <dgm:prSet/>
      <dgm:spPr/>
      <dgm:t>
        <a:bodyPr/>
        <a:lstStyle/>
        <a:p>
          <a:endParaRPr lang="es-ES"/>
        </a:p>
      </dgm:t>
    </dgm:pt>
    <dgm:pt modelId="{625B7ADC-A8A8-4237-AF24-17B64975A431}" type="sibTrans" cxnId="{2BA1FB20-9B7C-41BF-A637-2381AA219D41}">
      <dgm:prSet/>
      <dgm:spPr/>
      <dgm:t>
        <a:bodyPr/>
        <a:lstStyle/>
        <a:p>
          <a:endParaRPr lang="es-ES"/>
        </a:p>
      </dgm:t>
    </dgm:pt>
    <dgm:pt modelId="{0857FFE3-76F2-4629-AFD9-EB5CDA2C3C04}">
      <dgm:prSet phldrT="[Texto]"/>
      <dgm:spPr/>
      <dgm:t>
        <a:bodyPr/>
        <a:lstStyle/>
        <a:p>
          <a:r>
            <a:rPr lang="es-ES" dirty="0"/>
            <a:t>Conclusiones</a:t>
          </a:r>
        </a:p>
      </dgm:t>
    </dgm:pt>
    <dgm:pt modelId="{01145961-E19A-48EB-A988-B3337D14198E}" type="parTrans" cxnId="{40D1CA7B-0951-4112-835B-4784ED70A161}">
      <dgm:prSet/>
      <dgm:spPr/>
      <dgm:t>
        <a:bodyPr/>
        <a:lstStyle/>
        <a:p>
          <a:endParaRPr lang="es-ES"/>
        </a:p>
      </dgm:t>
    </dgm:pt>
    <dgm:pt modelId="{3056D6EC-F5E6-4399-ACB0-86D5021FDD77}" type="sibTrans" cxnId="{40D1CA7B-0951-4112-835B-4784ED70A161}">
      <dgm:prSet/>
      <dgm:spPr/>
      <dgm:t>
        <a:bodyPr/>
        <a:lstStyle/>
        <a:p>
          <a:endParaRPr lang="es-ES"/>
        </a:p>
      </dgm:t>
    </dgm:pt>
    <dgm:pt modelId="{65EAE5B0-5A7D-4CC1-A786-D3EF10340A25}" type="pres">
      <dgm:prSet presAssocID="{FB602BB5-64F9-46D8-AB72-D178162E1C47}" presName="linear" presStyleCnt="0">
        <dgm:presLayoutVars>
          <dgm:dir/>
          <dgm:animLvl val="lvl"/>
          <dgm:resizeHandles val="exact"/>
        </dgm:presLayoutVars>
      </dgm:prSet>
      <dgm:spPr/>
    </dgm:pt>
    <dgm:pt modelId="{5C8533AA-F7FB-490B-B9B3-DAC1D51F85E1}" type="pres">
      <dgm:prSet presAssocID="{82F02166-050A-4A39-939C-046FB4FC0817}" presName="parentLin" presStyleCnt="0"/>
      <dgm:spPr/>
    </dgm:pt>
    <dgm:pt modelId="{399FAC7B-4592-45A6-9115-73149543AF28}" type="pres">
      <dgm:prSet presAssocID="{82F02166-050A-4A39-939C-046FB4FC0817}" presName="parentLeftMargin" presStyleLbl="node1" presStyleIdx="0" presStyleCnt="2"/>
      <dgm:spPr/>
    </dgm:pt>
    <dgm:pt modelId="{B47ECD0F-D3D9-4325-8377-D51EA7B0DEAB}" type="pres">
      <dgm:prSet presAssocID="{82F02166-050A-4A39-939C-046FB4FC0817}" presName="parentText" presStyleLbl="node1" presStyleIdx="0" presStyleCnt="2">
        <dgm:presLayoutVars>
          <dgm:chMax val="0"/>
          <dgm:bulletEnabled val="1"/>
        </dgm:presLayoutVars>
      </dgm:prSet>
      <dgm:spPr/>
    </dgm:pt>
    <dgm:pt modelId="{8AE931B6-A3BF-492B-8FB1-702EA5A7E160}" type="pres">
      <dgm:prSet presAssocID="{82F02166-050A-4A39-939C-046FB4FC0817}" presName="negativeSpace" presStyleCnt="0"/>
      <dgm:spPr/>
    </dgm:pt>
    <dgm:pt modelId="{715DD7D1-24CF-4312-9D00-CBE3487B57EA}" type="pres">
      <dgm:prSet presAssocID="{82F02166-050A-4A39-939C-046FB4FC0817}" presName="childText" presStyleLbl="conFgAcc1" presStyleIdx="0" presStyleCnt="2">
        <dgm:presLayoutVars>
          <dgm:bulletEnabled val="1"/>
        </dgm:presLayoutVars>
      </dgm:prSet>
      <dgm:spPr/>
    </dgm:pt>
    <dgm:pt modelId="{F1B49B1B-9CFB-4135-84C1-4BA74275ECDE}" type="pres">
      <dgm:prSet presAssocID="{00095DCD-9925-42A2-8C2B-11B1A201CD80}" presName="spaceBetweenRectangles" presStyleCnt="0"/>
      <dgm:spPr/>
    </dgm:pt>
    <dgm:pt modelId="{6FF9991D-EB79-49E7-88F0-B2E1E19A0AD1}" type="pres">
      <dgm:prSet presAssocID="{B62A94F2-B316-4D0A-BF00-B24A124E6094}" presName="parentLin" presStyleCnt="0"/>
      <dgm:spPr/>
    </dgm:pt>
    <dgm:pt modelId="{E49D2CDF-F947-4320-961D-EA306221BFD1}" type="pres">
      <dgm:prSet presAssocID="{B62A94F2-B316-4D0A-BF00-B24A124E6094}" presName="parentLeftMargin" presStyleLbl="node1" presStyleIdx="0" presStyleCnt="2"/>
      <dgm:spPr/>
    </dgm:pt>
    <dgm:pt modelId="{B95FC6DB-B961-475A-844B-1B38D28C7B5E}" type="pres">
      <dgm:prSet presAssocID="{B62A94F2-B316-4D0A-BF00-B24A124E6094}" presName="parentText" presStyleLbl="node1" presStyleIdx="1" presStyleCnt="2">
        <dgm:presLayoutVars>
          <dgm:chMax val="0"/>
          <dgm:bulletEnabled val="1"/>
        </dgm:presLayoutVars>
      </dgm:prSet>
      <dgm:spPr/>
    </dgm:pt>
    <dgm:pt modelId="{BB3B5D47-AE7E-4897-A95C-35F9873578B3}" type="pres">
      <dgm:prSet presAssocID="{B62A94F2-B316-4D0A-BF00-B24A124E6094}" presName="negativeSpace" presStyleCnt="0"/>
      <dgm:spPr/>
    </dgm:pt>
    <dgm:pt modelId="{12EAAA59-8DBB-4686-ADA1-12085BD3A2AC}" type="pres">
      <dgm:prSet presAssocID="{B62A94F2-B316-4D0A-BF00-B24A124E6094}" presName="childText" presStyleLbl="conFgAcc1" presStyleIdx="1" presStyleCnt="2">
        <dgm:presLayoutVars>
          <dgm:bulletEnabled val="1"/>
        </dgm:presLayoutVars>
      </dgm:prSet>
      <dgm:spPr/>
    </dgm:pt>
  </dgm:ptLst>
  <dgm:cxnLst>
    <dgm:cxn modelId="{84F55814-FAA4-4FF3-AB92-90B8CF64F9DC}" type="presOf" srcId="{9406A22E-96AD-4BBB-9EBF-2F648967F30B}" destId="{12EAAA59-8DBB-4686-ADA1-12085BD3A2AC}" srcOrd="0" destOrd="4" presId="urn:microsoft.com/office/officeart/2005/8/layout/list1"/>
    <dgm:cxn modelId="{2BA1FB20-9B7C-41BF-A637-2381AA219D41}" srcId="{B62A94F2-B316-4D0A-BF00-B24A124E6094}" destId="{532C4306-F3B5-4301-869F-39221E1E76C1}" srcOrd="7" destOrd="0" parTransId="{F59E300D-1268-406B-BB22-011B320B21C0}" sibTransId="{625B7ADC-A8A8-4237-AF24-17B64975A431}"/>
    <dgm:cxn modelId="{A21E1F27-2122-474C-98B2-DA961CF0E313}" srcId="{82F02166-050A-4A39-939C-046FB4FC0817}" destId="{A8AEDBB4-0B85-43BA-9AD0-2204E4FB6F8A}" srcOrd="0" destOrd="0" parTransId="{51E46FBB-5013-4D70-847C-3AC76853E5B3}" sibTransId="{440E231C-DE1B-4231-ACFE-5E1C437532D5}"/>
    <dgm:cxn modelId="{3EFD1334-57C0-435C-BBFF-B5E092A1A5A1}" srcId="{B62A94F2-B316-4D0A-BF00-B24A124E6094}" destId="{8A05A04C-C841-4F56-A9EF-E922B6D924CA}" srcOrd="6" destOrd="0" parTransId="{30A8CBFF-DDAF-4B76-993E-4F0B27102288}" sibTransId="{A7B738EB-7740-43B5-8617-3CE8A3725E93}"/>
    <dgm:cxn modelId="{69C00E40-E8BE-4F95-8357-23D329BE9964}" type="presOf" srcId="{8A05A04C-C841-4F56-A9EF-E922B6D924CA}" destId="{12EAAA59-8DBB-4686-ADA1-12085BD3A2AC}" srcOrd="0" destOrd="6" presId="urn:microsoft.com/office/officeart/2005/8/layout/list1"/>
    <dgm:cxn modelId="{513EA85D-E793-47CE-B804-AC134876381E}" type="presOf" srcId="{7385116C-74B9-4092-96F5-9A72B6B498DC}" destId="{12EAAA59-8DBB-4686-ADA1-12085BD3A2AC}" srcOrd="0" destOrd="2" presId="urn:microsoft.com/office/officeart/2005/8/layout/list1"/>
    <dgm:cxn modelId="{4BA3CB60-6F44-45B4-9BFF-0CCAF1A57EA1}" srcId="{FB602BB5-64F9-46D8-AB72-D178162E1C47}" destId="{B62A94F2-B316-4D0A-BF00-B24A124E6094}" srcOrd="1" destOrd="0" parTransId="{BA655E28-95D5-49FE-9055-CC43E83F3D12}" sibTransId="{6776DAC8-1F22-46EF-8E61-D92EAD0E6AAE}"/>
    <dgm:cxn modelId="{0A4ECD41-B1C3-498D-B3A8-56D5A4EEC559}" srcId="{B62A94F2-B316-4D0A-BF00-B24A124E6094}" destId="{E3436780-ADA6-4A66-9DFB-4375D6A090BC}" srcOrd="0" destOrd="0" parTransId="{1E574BBD-32F8-47E3-BA74-01B51BCE5477}" sibTransId="{081E681E-2CE8-48CC-8A81-ACC6963ED6E0}"/>
    <dgm:cxn modelId="{A1B6DD41-F65A-4F9D-B5E3-46206690496E}" type="presOf" srcId="{B62A94F2-B316-4D0A-BF00-B24A124E6094}" destId="{E49D2CDF-F947-4320-961D-EA306221BFD1}" srcOrd="0" destOrd="0" presId="urn:microsoft.com/office/officeart/2005/8/layout/list1"/>
    <dgm:cxn modelId="{95E53044-6A0E-497A-9D4D-D68873114227}" srcId="{B62A94F2-B316-4D0A-BF00-B24A124E6094}" destId="{7385116C-74B9-4092-96F5-9A72B6B498DC}" srcOrd="2" destOrd="0" parTransId="{F5511E0D-E141-4A32-B29F-242B702B8A4A}" sibTransId="{FC69BDA5-E68E-44F1-A8B5-7671ACADBEBC}"/>
    <dgm:cxn modelId="{B772B346-0683-4D19-8851-6348483A14CD}" type="presOf" srcId="{0857FFE3-76F2-4629-AFD9-EB5CDA2C3C04}" destId="{12EAAA59-8DBB-4686-ADA1-12085BD3A2AC}" srcOrd="0" destOrd="8" presId="urn:microsoft.com/office/officeart/2005/8/layout/list1"/>
    <dgm:cxn modelId="{2829F767-A4DD-4EB5-B559-E42E8B054DE1}" type="presOf" srcId="{0E8E1039-1108-45C8-8ED4-23F4ACE3BFFD}" destId="{12EAAA59-8DBB-4686-ADA1-12085BD3A2AC}" srcOrd="0" destOrd="3" presId="urn:microsoft.com/office/officeart/2005/8/layout/list1"/>
    <dgm:cxn modelId="{991C486C-117B-4FDC-A735-49076E73E677}" srcId="{B62A94F2-B316-4D0A-BF00-B24A124E6094}" destId="{0E8E1039-1108-45C8-8ED4-23F4ACE3BFFD}" srcOrd="3" destOrd="0" parTransId="{F8285F86-ED09-430E-8DD2-5F32B5BEEFEE}" sibTransId="{BEDFD85A-B00F-4C40-BBDC-63C7E2B95BC3}"/>
    <dgm:cxn modelId="{3FC46D4C-38F2-4282-BEDE-374FF61B262F}" srcId="{B62A94F2-B316-4D0A-BF00-B24A124E6094}" destId="{274FC1A8-F812-4A84-B531-98D2782CCF95}" srcOrd="1" destOrd="0" parTransId="{A83D7EC4-C659-4B82-BBA2-96611865D279}" sibTransId="{026B406F-530E-43F7-87A0-F6FD968AD117}"/>
    <dgm:cxn modelId="{CC52E44D-6E1B-4F80-A47D-EE9E86726A45}" type="presOf" srcId="{FB602BB5-64F9-46D8-AB72-D178162E1C47}" destId="{65EAE5B0-5A7D-4CC1-A786-D3EF10340A25}" srcOrd="0" destOrd="0" presId="urn:microsoft.com/office/officeart/2005/8/layout/list1"/>
    <dgm:cxn modelId="{B6485F76-5C87-46FC-A832-72BCD504A7C2}" type="presOf" srcId="{274FC1A8-F812-4A84-B531-98D2782CCF95}" destId="{12EAAA59-8DBB-4686-ADA1-12085BD3A2AC}" srcOrd="0" destOrd="1" presId="urn:microsoft.com/office/officeart/2005/8/layout/list1"/>
    <dgm:cxn modelId="{40D1CA7B-0951-4112-835B-4784ED70A161}" srcId="{B62A94F2-B316-4D0A-BF00-B24A124E6094}" destId="{0857FFE3-76F2-4629-AFD9-EB5CDA2C3C04}" srcOrd="8" destOrd="0" parTransId="{01145961-E19A-48EB-A988-B3337D14198E}" sibTransId="{3056D6EC-F5E6-4399-ACB0-86D5021FDD77}"/>
    <dgm:cxn modelId="{4867BC90-DFB6-4129-A459-175A8711B792}" type="presOf" srcId="{532C4306-F3B5-4301-869F-39221E1E76C1}" destId="{12EAAA59-8DBB-4686-ADA1-12085BD3A2AC}" srcOrd="0" destOrd="7" presId="urn:microsoft.com/office/officeart/2005/8/layout/list1"/>
    <dgm:cxn modelId="{68CB779A-F426-4771-8C7E-3A0FF9AAF3FD}" type="presOf" srcId="{B62A94F2-B316-4D0A-BF00-B24A124E6094}" destId="{B95FC6DB-B961-475A-844B-1B38D28C7B5E}" srcOrd="1" destOrd="0" presId="urn:microsoft.com/office/officeart/2005/8/layout/list1"/>
    <dgm:cxn modelId="{FAAD739F-7291-44DB-9CB8-39D831AE5876}" type="presOf" srcId="{82F02166-050A-4A39-939C-046FB4FC0817}" destId="{399FAC7B-4592-45A6-9115-73149543AF28}" srcOrd="0" destOrd="0" presId="urn:microsoft.com/office/officeart/2005/8/layout/list1"/>
    <dgm:cxn modelId="{870382AA-EA35-4970-8B68-91B4CDE63BB5}" srcId="{FB602BB5-64F9-46D8-AB72-D178162E1C47}" destId="{82F02166-050A-4A39-939C-046FB4FC0817}" srcOrd="0" destOrd="0" parTransId="{C75A1770-CE48-4DE9-BFC4-16BCA447CDCB}" sibTransId="{00095DCD-9925-42A2-8C2B-11B1A201CD80}"/>
    <dgm:cxn modelId="{8C2FCCBE-2B5E-4CD0-8868-2AA84D6DEE93}" type="presOf" srcId="{E3436780-ADA6-4A66-9DFB-4375D6A090BC}" destId="{12EAAA59-8DBB-4686-ADA1-12085BD3A2AC}" srcOrd="0" destOrd="0" presId="urn:microsoft.com/office/officeart/2005/8/layout/list1"/>
    <dgm:cxn modelId="{C20B1FC6-D897-4490-9A90-BB91898E64F0}" srcId="{B62A94F2-B316-4D0A-BF00-B24A124E6094}" destId="{40DD923B-BAB8-40C6-A9E1-603C03C93FB8}" srcOrd="5" destOrd="0" parTransId="{50C504F3-53F2-44F4-B105-EA751B414CB3}" sibTransId="{D44B23BB-C37A-4FA6-AE4F-595E573981B3}"/>
    <dgm:cxn modelId="{2313F3C9-3B4C-49C0-9387-F44F621AB7C9}" type="presOf" srcId="{82F02166-050A-4A39-939C-046FB4FC0817}" destId="{B47ECD0F-D3D9-4325-8377-D51EA7B0DEAB}" srcOrd="1" destOrd="0" presId="urn:microsoft.com/office/officeart/2005/8/layout/list1"/>
    <dgm:cxn modelId="{FC9A69E6-2223-4CCE-AB46-0FDB001D60BE}" type="presOf" srcId="{40DD923B-BAB8-40C6-A9E1-603C03C93FB8}" destId="{12EAAA59-8DBB-4686-ADA1-12085BD3A2AC}" srcOrd="0" destOrd="5" presId="urn:microsoft.com/office/officeart/2005/8/layout/list1"/>
    <dgm:cxn modelId="{403E4BE8-A0A4-4310-B1FE-4FE72E301415}" type="presOf" srcId="{A8AEDBB4-0B85-43BA-9AD0-2204E4FB6F8A}" destId="{715DD7D1-24CF-4312-9D00-CBE3487B57EA}" srcOrd="0" destOrd="0" presId="urn:microsoft.com/office/officeart/2005/8/layout/list1"/>
    <dgm:cxn modelId="{2BA13FF0-992A-4AEB-B783-6E6F1625536D}" srcId="{B62A94F2-B316-4D0A-BF00-B24A124E6094}" destId="{9406A22E-96AD-4BBB-9EBF-2F648967F30B}" srcOrd="4" destOrd="0" parTransId="{10DA535D-1259-4AE1-BDAF-7BD7AC8E2DEB}" sibTransId="{FBFA9F4F-03CF-4C25-AA18-34E98983CAAE}"/>
    <dgm:cxn modelId="{022D0B88-1430-4EC7-B141-19501361B053}" type="presParOf" srcId="{65EAE5B0-5A7D-4CC1-A786-D3EF10340A25}" destId="{5C8533AA-F7FB-490B-B9B3-DAC1D51F85E1}" srcOrd="0" destOrd="0" presId="urn:microsoft.com/office/officeart/2005/8/layout/list1"/>
    <dgm:cxn modelId="{1652E665-EDF3-4947-BC98-D54EE8BC72B9}" type="presParOf" srcId="{5C8533AA-F7FB-490B-B9B3-DAC1D51F85E1}" destId="{399FAC7B-4592-45A6-9115-73149543AF28}" srcOrd="0" destOrd="0" presId="urn:microsoft.com/office/officeart/2005/8/layout/list1"/>
    <dgm:cxn modelId="{A718EEF5-9706-4DC1-A95D-85C5CC14A7F7}" type="presParOf" srcId="{5C8533AA-F7FB-490B-B9B3-DAC1D51F85E1}" destId="{B47ECD0F-D3D9-4325-8377-D51EA7B0DEAB}" srcOrd="1" destOrd="0" presId="urn:microsoft.com/office/officeart/2005/8/layout/list1"/>
    <dgm:cxn modelId="{2DB20C6D-8EAC-4874-9B7B-ED0FEC0E1366}" type="presParOf" srcId="{65EAE5B0-5A7D-4CC1-A786-D3EF10340A25}" destId="{8AE931B6-A3BF-492B-8FB1-702EA5A7E160}" srcOrd="1" destOrd="0" presId="urn:microsoft.com/office/officeart/2005/8/layout/list1"/>
    <dgm:cxn modelId="{C213E8BF-C4CB-4ABD-90C9-F23CA320F1A8}" type="presParOf" srcId="{65EAE5B0-5A7D-4CC1-A786-D3EF10340A25}" destId="{715DD7D1-24CF-4312-9D00-CBE3487B57EA}" srcOrd="2" destOrd="0" presId="urn:microsoft.com/office/officeart/2005/8/layout/list1"/>
    <dgm:cxn modelId="{719E0314-8E47-417A-89CA-3B5EA0461CAE}" type="presParOf" srcId="{65EAE5B0-5A7D-4CC1-A786-D3EF10340A25}" destId="{F1B49B1B-9CFB-4135-84C1-4BA74275ECDE}" srcOrd="3" destOrd="0" presId="urn:microsoft.com/office/officeart/2005/8/layout/list1"/>
    <dgm:cxn modelId="{41E4AE18-FEBE-4856-AC0D-806156B8B0B7}" type="presParOf" srcId="{65EAE5B0-5A7D-4CC1-A786-D3EF10340A25}" destId="{6FF9991D-EB79-49E7-88F0-B2E1E19A0AD1}" srcOrd="4" destOrd="0" presId="urn:microsoft.com/office/officeart/2005/8/layout/list1"/>
    <dgm:cxn modelId="{297F25FA-F078-4D34-A2EC-6E72F727CF8D}" type="presParOf" srcId="{6FF9991D-EB79-49E7-88F0-B2E1E19A0AD1}" destId="{E49D2CDF-F947-4320-961D-EA306221BFD1}" srcOrd="0" destOrd="0" presId="urn:microsoft.com/office/officeart/2005/8/layout/list1"/>
    <dgm:cxn modelId="{DAF2C741-6505-4315-BF28-731B93EF7CF9}" type="presParOf" srcId="{6FF9991D-EB79-49E7-88F0-B2E1E19A0AD1}" destId="{B95FC6DB-B961-475A-844B-1B38D28C7B5E}" srcOrd="1" destOrd="0" presId="urn:microsoft.com/office/officeart/2005/8/layout/list1"/>
    <dgm:cxn modelId="{FEED4308-A2E0-47D9-9A1F-01F7BEA939CD}" type="presParOf" srcId="{65EAE5B0-5A7D-4CC1-A786-D3EF10340A25}" destId="{BB3B5D47-AE7E-4897-A95C-35F9873578B3}" srcOrd="5" destOrd="0" presId="urn:microsoft.com/office/officeart/2005/8/layout/list1"/>
    <dgm:cxn modelId="{94984D16-DCB6-4693-BCAA-57D1183FF3AB}" type="presParOf" srcId="{65EAE5B0-5A7D-4CC1-A786-D3EF10340A25}" destId="{12EAAA59-8DBB-4686-ADA1-12085BD3A2A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CEE31-7427-49C6-A9D0-D023D25E26A8}">
      <dsp:nvSpPr>
        <dsp:cNvPr id="0" name=""/>
        <dsp:cNvSpPr/>
      </dsp:nvSpPr>
      <dsp:spPr>
        <a:xfrm>
          <a:off x="0" y="0"/>
          <a:ext cx="7763870" cy="58602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dirty="0"/>
            <a:t>Informe anual de Kaspersky Security Network 2023</a:t>
          </a:r>
        </a:p>
      </dsp:txBody>
      <dsp:txXfrm>
        <a:off x="1611376" y="0"/>
        <a:ext cx="6152493" cy="586029"/>
      </dsp:txXfrm>
    </dsp:sp>
    <dsp:sp modelId="{02D64116-B629-4CA9-AF5B-F193FC2CFE22}">
      <dsp:nvSpPr>
        <dsp:cNvPr id="0" name=""/>
        <dsp:cNvSpPr/>
      </dsp:nvSpPr>
      <dsp:spPr>
        <a:xfrm>
          <a:off x="58602" y="58602"/>
          <a:ext cx="1552774" cy="468823"/>
        </a:xfrm>
        <a:prstGeom prst="roundRect">
          <a:avLst>
            <a:gd name="adj" fmla="val 10000"/>
          </a:avLst>
        </a:prstGeom>
        <a:blipFill rotWithShape="1">
          <a:blip xmlns:r="http://schemas.openxmlformats.org/officeDocument/2006/relationships" r:embed="rId1"/>
          <a:srcRect/>
          <a:stretch>
            <a:fillRect t="-27000" b="-27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8A0192-AAFE-4FD8-B694-7C4E5381DF0A}">
      <dsp:nvSpPr>
        <dsp:cNvPr id="0" name=""/>
        <dsp:cNvSpPr/>
      </dsp:nvSpPr>
      <dsp:spPr>
        <a:xfrm>
          <a:off x="0" y="0"/>
          <a:ext cx="5957346" cy="102845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Funcionalidades</a:t>
          </a:r>
        </a:p>
        <a:p>
          <a:pPr marL="171450" lvl="1" indent="-171450" algn="l" defTabSz="755650">
            <a:lnSpc>
              <a:spcPct val="90000"/>
            </a:lnSpc>
            <a:spcBef>
              <a:spcPct val="0"/>
            </a:spcBef>
            <a:spcAft>
              <a:spcPct val="15000"/>
            </a:spcAft>
            <a:buChar char="•"/>
          </a:pPr>
          <a:r>
            <a:rPr lang="es-ES" sz="1700" kern="1200" dirty="0"/>
            <a:t>Seguimiento GPS, registro de llamadas, mensajes, contactos y espionaje de redes sociales.</a:t>
          </a:r>
        </a:p>
      </dsp:txBody>
      <dsp:txXfrm>
        <a:off x="1294314" y="0"/>
        <a:ext cx="4663031" cy="1028451"/>
      </dsp:txXfrm>
    </dsp:sp>
    <dsp:sp modelId="{F0164F85-4DBB-4649-AD28-62DC47518553}">
      <dsp:nvSpPr>
        <dsp:cNvPr id="0" name=""/>
        <dsp:cNvSpPr/>
      </dsp:nvSpPr>
      <dsp:spPr>
        <a:xfrm>
          <a:off x="102845" y="102845"/>
          <a:ext cx="1191469" cy="822760"/>
        </a:xfrm>
        <a:prstGeom prst="roundRect">
          <a:avLst>
            <a:gd name="adj" fmla="val 10000"/>
          </a:avLst>
        </a:prstGeom>
        <a:blipFill rotWithShape="1">
          <a:blip xmlns:r="http://schemas.openxmlformats.org/officeDocument/2006/relationships" r:embed="rId1"/>
          <a:srcRect/>
          <a:stretch>
            <a:fillRect l="-27000" r="-27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CEE31-7427-49C6-A9D0-D023D25E26A8}">
      <dsp:nvSpPr>
        <dsp:cNvPr id="0" name=""/>
        <dsp:cNvSpPr/>
      </dsp:nvSpPr>
      <dsp:spPr>
        <a:xfrm>
          <a:off x="0" y="0"/>
          <a:ext cx="10960547" cy="98970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ES" sz="1700" kern="1200" dirty="0"/>
            <a:t>Informe de predicciones 2024 de </a:t>
          </a:r>
          <a:r>
            <a:rPr lang="es-ES" sz="1700" kern="1200" dirty="0" err="1"/>
            <a:t>Trend</a:t>
          </a:r>
          <a:endParaRPr lang="es-ES" sz="1700" kern="1200" dirty="0"/>
        </a:p>
        <a:p>
          <a:pPr marL="114300" lvl="1" indent="-114300" algn="l" defTabSz="577850">
            <a:lnSpc>
              <a:spcPct val="90000"/>
            </a:lnSpc>
            <a:spcBef>
              <a:spcPct val="0"/>
            </a:spcBef>
            <a:spcAft>
              <a:spcPct val="15000"/>
            </a:spcAft>
            <a:buChar char="•"/>
          </a:pPr>
          <a:r>
            <a:rPr lang="es-ES" sz="1300" kern="1200" dirty="0"/>
            <a:t>Aumento en los ataques de gusanos nativos de la nube, dirigidos a vulnerabilidades y configuraciones erróneas, que utilizan un alto grado de automatización para afectar a múltiples contenedores, cuentas y servicios con el mínimo esfuerzo.</a:t>
          </a:r>
        </a:p>
      </dsp:txBody>
      <dsp:txXfrm>
        <a:off x="2291079" y="0"/>
        <a:ext cx="8669467" cy="989703"/>
      </dsp:txXfrm>
    </dsp:sp>
    <dsp:sp modelId="{02D64116-B629-4CA9-AF5B-F193FC2CFE22}">
      <dsp:nvSpPr>
        <dsp:cNvPr id="0" name=""/>
        <dsp:cNvSpPr/>
      </dsp:nvSpPr>
      <dsp:spPr>
        <a:xfrm>
          <a:off x="98970" y="98970"/>
          <a:ext cx="2192109" cy="791762"/>
        </a:xfrm>
        <a:prstGeom prst="roundRect">
          <a:avLst>
            <a:gd name="adj" fmla="val 10000"/>
          </a:avLst>
        </a:prstGeom>
        <a:blipFill rotWithShape="1">
          <a:blip xmlns:r="http://schemas.openxmlformats.org/officeDocument/2006/relationships" r:embed="rId1"/>
          <a:srcRect/>
          <a:stretch>
            <a:fillRect t="-29000" b="-29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D3AF4-77C7-4A50-8B30-AE7C681C6D5C}">
      <dsp:nvSpPr>
        <dsp:cNvPr id="0" name=""/>
        <dsp:cNvSpPr/>
      </dsp:nvSpPr>
      <dsp:spPr>
        <a:xfrm>
          <a:off x="0" y="0"/>
          <a:ext cx="8662146"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5A2F52-BCBA-41C9-9A8A-BC55C542F191}">
      <dsp:nvSpPr>
        <dsp:cNvPr id="0" name=""/>
        <dsp:cNvSpPr/>
      </dsp:nvSpPr>
      <dsp:spPr>
        <a:xfrm>
          <a:off x="0" y="0"/>
          <a:ext cx="1732429" cy="3582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s-ES" sz="3600" kern="1200" dirty="0"/>
            <a:t>Morris II (gusano basado en IA)</a:t>
          </a:r>
        </a:p>
      </dsp:txBody>
      <dsp:txXfrm>
        <a:off x="0" y="0"/>
        <a:ext cx="1732429" cy="3582297"/>
      </dsp:txXfrm>
    </dsp:sp>
    <dsp:sp modelId="{A930E3EE-55CE-4C63-A847-359223A2EDE6}">
      <dsp:nvSpPr>
        <dsp:cNvPr id="0" name=""/>
        <dsp:cNvSpPr/>
      </dsp:nvSpPr>
      <dsp:spPr>
        <a:xfrm>
          <a:off x="1862361" y="55973"/>
          <a:ext cx="6799784" cy="1119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s-ES" sz="2300" kern="1200" dirty="0"/>
            <a:t>Utiliza lo que se conoce como “</a:t>
          </a:r>
          <a:r>
            <a:rPr lang="es-ES" sz="2300" kern="1200" dirty="0" err="1"/>
            <a:t>prompt</a:t>
          </a:r>
          <a:r>
            <a:rPr lang="es-ES" sz="2300" kern="1200" dirty="0"/>
            <a:t> </a:t>
          </a:r>
          <a:r>
            <a:rPr lang="es-ES" sz="2300" kern="1200" dirty="0" err="1"/>
            <a:t>autorreplicante</a:t>
          </a:r>
          <a:r>
            <a:rPr lang="es-ES" sz="2300" kern="1200" dirty="0"/>
            <a:t> adverso”, que provoca que el modelo de IA generativa emita, en su respuesta, otro </a:t>
          </a:r>
          <a:r>
            <a:rPr lang="es-ES" sz="2300" kern="1200" dirty="0" err="1"/>
            <a:t>prompt</a:t>
          </a:r>
          <a:r>
            <a:rPr lang="es-ES" sz="2300" kern="1200" dirty="0"/>
            <a:t>.</a:t>
          </a:r>
        </a:p>
      </dsp:txBody>
      <dsp:txXfrm>
        <a:off x="1862361" y="55973"/>
        <a:ext cx="6799784" cy="1119467"/>
      </dsp:txXfrm>
    </dsp:sp>
    <dsp:sp modelId="{E42467EB-F3C8-49A3-8681-A997B7CD1133}">
      <dsp:nvSpPr>
        <dsp:cNvPr id="0" name=""/>
        <dsp:cNvSpPr/>
      </dsp:nvSpPr>
      <dsp:spPr>
        <a:xfrm>
          <a:off x="1732429" y="1175441"/>
          <a:ext cx="6929716"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34EC5D-226E-4224-BC6E-42263F23E5BD}">
      <dsp:nvSpPr>
        <dsp:cNvPr id="0" name=""/>
        <dsp:cNvSpPr/>
      </dsp:nvSpPr>
      <dsp:spPr>
        <a:xfrm>
          <a:off x="1862361" y="1231414"/>
          <a:ext cx="6799784" cy="1119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s-ES" sz="2300" b="0" i="0" kern="1200" dirty="0"/>
            <a:t>Se propaga en sistemas de IA como </a:t>
          </a:r>
          <a:r>
            <a:rPr lang="es-ES" sz="2300" b="0" i="0" kern="1200" dirty="0" err="1"/>
            <a:t>ChatGPT</a:t>
          </a:r>
          <a:r>
            <a:rPr lang="es-ES" sz="2300" b="0" i="0" kern="1200" dirty="0"/>
            <a:t> y Gemini.</a:t>
          </a:r>
          <a:endParaRPr lang="es-ES" sz="2300" kern="1200" dirty="0"/>
        </a:p>
      </dsp:txBody>
      <dsp:txXfrm>
        <a:off x="1862361" y="1231414"/>
        <a:ext cx="6799784" cy="1119467"/>
      </dsp:txXfrm>
    </dsp:sp>
    <dsp:sp modelId="{63DE359B-6825-4A95-A010-254DB7CB6492}">
      <dsp:nvSpPr>
        <dsp:cNvPr id="0" name=""/>
        <dsp:cNvSpPr/>
      </dsp:nvSpPr>
      <dsp:spPr>
        <a:xfrm>
          <a:off x="1732429" y="2350882"/>
          <a:ext cx="6929716"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28B150-90B7-4319-9B5A-E2E500131240}">
      <dsp:nvSpPr>
        <dsp:cNvPr id="0" name=""/>
        <dsp:cNvSpPr/>
      </dsp:nvSpPr>
      <dsp:spPr>
        <a:xfrm>
          <a:off x="1862361" y="2406855"/>
          <a:ext cx="6799784" cy="1119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s-ES" sz="2300" kern="1200" dirty="0"/>
            <a:t>Puede atacar a un asistente de correo electrónico de IA generativa para robar datos de los correos electrónicos y enviar mensajes de spam.</a:t>
          </a:r>
        </a:p>
      </dsp:txBody>
      <dsp:txXfrm>
        <a:off x="1862361" y="2406855"/>
        <a:ext cx="6799784" cy="1119467"/>
      </dsp:txXfrm>
    </dsp:sp>
    <dsp:sp modelId="{D78F2C23-B9D5-4704-98EA-F54A4930F880}">
      <dsp:nvSpPr>
        <dsp:cNvPr id="0" name=""/>
        <dsp:cNvSpPr/>
      </dsp:nvSpPr>
      <dsp:spPr>
        <a:xfrm>
          <a:off x="1732429" y="3526323"/>
          <a:ext cx="6929716"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CEE31-7427-49C6-A9D0-D023D25E26A8}">
      <dsp:nvSpPr>
        <dsp:cNvPr id="0" name=""/>
        <dsp:cNvSpPr/>
      </dsp:nvSpPr>
      <dsp:spPr>
        <a:xfrm>
          <a:off x="0" y="0"/>
          <a:ext cx="11006529" cy="122463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kern="1200" dirty="0"/>
            <a:t>Informe sobre </a:t>
          </a:r>
          <a:r>
            <a:rPr lang="es-ES" sz="2100" kern="1200" dirty="0" err="1"/>
            <a:t>crimeware</a:t>
          </a:r>
          <a:r>
            <a:rPr lang="es-ES" sz="2100" kern="1200" dirty="0"/>
            <a:t> y las predicciones para 2024</a:t>
          </a:r>
        </a:p>
        <a:p>
          <a:pPr marL="171450" lvl="1" indent="-171450" algn="l" defTabSz="711200">
            <a:lnSpc>
              <a:spcPct val="90000"/>
            </a:lnSpc>
            <a:spcBef>
              <a:spcPct val="0"/>
            </a:spcBef>
            <a:spcAft>
              <a:spcPct val="15000"/>
            </a:spcAft>
            <a:buChar char="•"/>
          </a:pPr>
          <a:r>
            <a:rPr lang="es-ES" sz="1600" kern="1200" dirty="0"/>
            <a:t>Mayor explotación de los troyanos bancarios en móviles.</a:t>
          </a:r>
        </a:p>
        <a:p>
          <a:pPr marL="171450" lvl="1" indent="-171450" algn="l" defTabSz="711200">
            <a:lnSpc>
              <a:spcPct val="90000"/>
            </a:lnSpc>
            <a:spcBef>
              <a:spcPct val="0"/>
            </a:spcBef>
            <a:spcAft>
              <a:spcPct val="15000"/>
            </a:spcAft>
            <a:buChar char="•"/>
          </a:pPr>
          <a:r>
            <a:rPr lang="es-ES" sz="1600" kern="1200" dirty="0"/>
            <a:t> Familias como ‘</a:t>
          </a:r>
          <a:r>
            <a:rPr lang="es-ES" sz="1600" kern="1200" dirty="0" err="1"/>
            <a:t>Grandoreiro</a:t>
          </a:r>
          <a:r>
            <a:rPr lang="es-ES" sz="1600" kern="1200" dirty="0"/>
            <a:t>’ ya se han expandido desde Brasil a otras regiones, amenazando a más de 900 bancos de 40 países.</a:t>
          </a:r>
        </a:p>
      </dsp:txBody>
      <dsp:txXfrm>
        <a:off x="2323769" y="0"/>
        <a:ext cx="8682759" cy="1224635"/>
      </dsp:txXfrm>
    </dsp:sp>
    <dsp:sp modelId="{02D64116-B629-4CA9-AF5B-F193FC2CFE22}">
      <dsp:nvSpPr>
        <dsp:cNvPr id="0" name=""/>
        <dsp:cNvSpPr/>
      </dsp:nvSpPr>
      <dsp:spPr>
        <a:xfrm>
          <a:off x="122463" y="122463"/>
          <a:ext cx="2201305" cy="979708"/>
        </a:xfrm>
        <a:prstGeom prst="roundRect">
          <a:avLst>
            <a:gd name="adj" fmla="val 10000"/>
          </a:avLst>
        </a:prstGeom>
        <a:blipFill rotWithShape="1">
          <a:blip xmlns:r="http://schemas.openxmlformats.org/officeDocument/2006/relationships" r:embed="rId1"/>
          <a:srcRect/>
          <a:stretch>
            <a:fillRect t="-27000" b="-27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3FFE0-B819-4CC8-AF00-8B28F1F753A3}">
      <dsp:nvSpPr>
        <dsp:cNvPr id="0" name=""/>
        <dsp:cNvSpPr/>
      </dsp:nvSpPr>
      <dsp:spPr>
        <a:xfrm>
          <a:off x="0" y="0"/>
          <a:ext cx="7522117"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7337A0-1A88-4F7C-A8FB-C6809D4CCC31}">
      <dsp:nvSpPr>
        <dsp:cNvPr id="0" name=""/>
        <dsp:cNvSpPr/>
      </dsp:nvSpPr>
      <dsp:spPr>
        <a:xfrm>
          <a:off x="0" y="0"/>
          <a:ext cx="1504423" cy="3722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err="1"/>
            <a:t>Grandoreiro</a:t>
          </a:r>
          <a:endParaRPr lang="es-ES" sz="2000" kern="1200" dirty="0"/>
        </a:p>
      </dsp:txBody>
      <dsp:txXfrm>
        <a:off x="0" y="0"/>
        <a:ext cx="1504423" cy="3722146"/>
      </dsp:txXfrm>
    </dsp:sp>
    <dsp:sp modelId="{3433874F-8CEF-4A36-9A28-A2FC54352163}">
      <dsp:nvSpPr>
        <dsp:cNvPr id="0" name=""/>
        <dsp:cNvSpPr/>
      </dsp:nvSpPr>
      <dsp:spPr>
        <a:xfrm>
          <a:off x="1617255" y="43755"/>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Troyano bancario que ha estado activo desde al menos 2017 y se dirige principalmente a usuarios en países como Brasil, México, España y Perú</a:t>
          </a:r>
        </a:p>
      </dsp:txBody>
      <dsp:txXfrm>
        <a:off x="1617255" y="43755"/>
        <a:ext cx="5904861" cy="875104"/>
      </dsp:txXfrm>
    </dsp:sp>
    <dsp:sp modelId="{CAED4EA4-79B8-4292-9442-660C1BB880C6}">
      <dsp:nvSpPr>
        <dsp:cNvPr id="0" name=""/>
        <dsp:cNvSpPr/>
      </dsp:nvSpPr>
      <dsp:spPr>
        <a:xfrm>
          <a:off x="1504423" y="918859"/>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1276DB-FAA0-49EF-9040-F7631BFC6B34}">
      <dsp:nvSpPr>
        <dsp:cNvPr id="0" name=""/>
        <dsp:cNvSpPr/>
      </dsp:nvSpPr>
      <dsp:spPr>
        <a:xfrm>
          <a:off x="1617255" y="962614"/>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Sus binarios crecen en tamaño, llegando a ser de cientos de megabytes lo cual dificulta su detección.</a:t>
          </a:r>
        </a:p>
      </dsp:txBody>
      <dsp:txXfrm>
        <a:off x="1617255" y="962614"/>
        <a:ext cx="5904861" cy="875104"/>
      </dsp:txXfrm>
    </dsp:sp>
    <dsp:sp modelId="{7D6840EE-2606-4AD1-B703-834E246A81A8}">
      <dsp:nvSpPr>
        <dsp:cNvPr id="0" name=""/>
        <dsp:cNvSpPr/>
      </dsp:nvSpPr>
      <dsp:spPr>
        <a:xfrm>
          <a:off x="1504423" y="1837718"/>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EC9A67-9306-42A2-9407-A3288AB25DF9}">
      <dsp:nvSpPr>
        <dsp:cNvPr id="0" name=""/>
        <dsp:cNvSpPr/>
      </dsp:nvSpPr>
      <dsp:spPr>
        <a:xfrm>
          <a:off x="1617255" y="1881473"/>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Cuenta con funcionalidades de backdoor, que le permiten manipular ventanas, registrar pulsaciones de teclado, simular acciones de mouse y teclado, entre otras.</a:t>
          </a:r>
        </a:p>
      </dsp:txBody>
      <dsp:txXfrm>
        <a:off x="1617255" y="1881473"/>
        <a:ext cx="5904861" cy="875104"/>
      </dsp:txXfrm>
    </dsp:sp>
    <dsp:sp modelId="{6793C0A9-9AC5-4738-82B4-782309324508}">
      <dsp:nvSpPr>
        <dsp:cNvPr id="0" name=""/>
        <dsp:cNvSpPr/>
      </dsp:nvSpPr>
      <dsp:spPr>
        <a:xfrm>
          <a:off x="1504423" y="2756578"/>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918367-D0CC-441B-9BC9-F610CE485A3C}">
      <dsp:nvSpPr>
        <dsp:cNvPr id="0" name=""/>
        <dsp:cNvSpPr/>
      </dsp:nvSpPr>
      <dsp:spPr>
        <a:xfrm>
          <a:off x="1617255" y="2800333"/>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Parece estar en permanente desarrollo, ya que se observan varias versiones nuevas cada mes, lo cual es un indicio de que están trabajando en al menos dos variantes simultáneamente.</a:t>
          </a:r>
        </a:p>
      </dsp:txBody>
      <dsp:txXfrm>
        <a:off x="1617255" y="2800333"/>
        <a:ext cx="5904861" cy="875104"/>
      </dsp:txXfrm>
    </dsp:sp>
    <dsp:sp modelId="{B22324A4-D028-43FC-8EFE-A2FF0175093A}">
      <dsp:nvSpPr>
        <dsp:cNvPr id="0" name=""/>
        <dsp:cNvSpPr/>
      </dsp:nvSpPr>
      <dsp:spPr>
        <a:xfrm>
          <a:off x="1504423" y="3675437"/>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CEE31-7427-49C6-A9D0-D023D25E26A8}">
      <dsp:nvSpPr>
        <dsp:cNvPr id="0" name=""/>
        <dsp:cNvSpPr/>
      </dsp:nvSpPr>
      <dsp:spPr>
        <a:xfrm>
          <a:off x="0" y="0"/>
          <a:ext cx="11006529" cy="122463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s-ES" sz="3100" kern="1200" dirty="0"/>
            <a:t>Informe cibercrimen 2024</a:t>
          </a:r>
        </a:p>
        <a:p>
          <a:pPr marL="228600" lvl="1" indent="-228600" algn="l" defTabSz="1066800">
            <a:lnSpc>
              <a:spcPct val="90000"/>
            </a:lnSpc>
            <a:spcBef>
              <a:spcPct val="0"/>
            </a:spcBef>
            <a:spcAft>
              <a:spcPct val="15000"/>
            </a:spcAft>
            <a:buChar char="•"/>
          </a:pPr>
          <a:r>
            <a:rPr lang="es-ES" sz="2400" kern="1200" dirty="0"/>
            <a:t>En septiembre de 2023 una nueva </a:t>
          </a:r>
          <a:r>
            <a:rPr lang="es-ES" sz="2400" kern="1200" dirty="0" err="1"/>
            <a:t>botnet</a:t>
          </a:r>
          <a:r>
            <a:rPr lang="es-ES" sz="2400" kern="1200" dirty="0"/>
            <a:t> </a:t>
          </a:r>
          <a:r>
            <a:rPr lang="es-ES" sz="2400" kern="1200" dirty="0" err="1"/>
            <a:t>IoT</a:t>
          </a:r>
          <a:r>
            <a:rPr lang="es-ES" sz="2400" kern="1200" dirty="0"/>
            <a:t>, Pandora, cobró vida. </a:t>
          </a:r>
        </a:p>
      </dsp:txBody>
      <dsp:txXfrm>
        <a:off x="2323769" y="0"/>
        <a:ext cx="8682759" cy="1224635"/>
      </dsp:txXfrm>
    </dsp:sp>
    <dsp:sp modelId="{02D64116-B629-4CA9-AF5B-F193FC2CFE22}">
      <dsp:nvSpPr>
        <dsp:cNvPr id="0" name=""/>
        <dsp:cNvSpPr/>
      </dsp:nvSpPr>
      <dsp:spPr>
        <a:xfrm>
          <a:off x="122463" y="122463"/>
          <a:ext cx="2201305" cy="979708"/>
        </a:xfrm>
        <a:prstGeom prst="roundRect">
          <a:avLst>
            <a:gd name="adj" fmla="val 10000"/>
          </a:avLst>
        </a:prstGeom>
        <a:blipFill rotWithShape="1">
          <a:blip xmlns:r="http://schemas.openxmlformats.org/officeDocument/2006/relationships" r:embed="rId1"/>
          <a:srcRect/>
          <a:stretch>
            <a:fillRect t="-20000" b="-20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3FFE0-B819-4CC8-AF00-8B28F1F753A3}">
      <dsp:nvSpPr>
        <dsp:cNvPr id="0" name=""/>
        <dsp:cNvSpPr/>
      </dsp:nvSpPr>
      <dsp:spPr>
        <a:xfrm>
          <a:off x="0" y="0"/>
          <a:ext cx="7522117"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7337A0-1A88-4F7C-A8FB-C6809D4CCC31}">
      <dsp:nvSpPr>
        <dsp:cNvPr id="0" name=""/>
        <dsp:cNvSpPr/>
      </dsp:nvSpPr>
      <dsp:spPr>
        <a:xfrm>
          <a:off x="0" y="0"/>
          <a:ext cx="1504423" cy="3722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s-ES" sz="3000" kern="1200" dirty="0"/>
            <a:t>Pandora</a:t>
          </a:r>
        </a:p>
      </dsp:txBody>
      <dsp:txXfrm>
        <a:off x="0" y="0"/>
        <a:ext cx="1504423" cy="3722146"/>
      </dsp:txXfrm>
    </dsp:sp>
    <dsp:sp modelId="{FC17214E-77BD-46F1-8265-516790BCE6C4}">
      <dsp:nvSpPr>
        <dsp:cNvPr id="0" name=""/>
        <dsp:cNvSpPr/>
      </dsp:nvSpPr>
      <dsp:spPr>
        <a:xfrm>
          <a:off x="1617255" y="43755"/>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Se trata de una amenaza que compromete dispositivos Android TV para ejecutar ataques </a:t>
          </a:r>
          <a:r>
            <a:rPr lang="es-ES" sz="1600" kern="1200" dirty="0" err="1"/>
            <a:t>DDoS</a:t>
          </a:r>
          <a:r>
            <a:rPr lang="es-ES" sz="1600" kern="1200" dirty="0"/>
            <a:t>.</a:t>
          </a:r>
        </a:p>
      </dsp:txBody>
      <dsp:txXfrm>
        <a:off x="1617255" y="43755"/>
        <a:ext cx="5904861" cy="875104"/>
      </dsp:txXfrm>
    </dsp:sp>
    <dsp:sp modelId="{EDE48A46-FA16-4128-AED4-7B462E479E0B}">
      <dsp:nvSpPr>
        <dsp:cNvPr id="0" name=""/>
        <dsp:cNvSpPr/>
      </dsp:nvSpPr>
      <dsp:spPr>
        <a:xfrm>
          <a:off x="1504423" y="918859"/>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7ECECB-A395-4221-BF7C-6FA3E75CBF20}">
      <dsp:nvSpPr>
        <dsp:cNvPr id="0" name=""/>
        <dsp:cNvSpPr/>
      </dsp:nvSpPr>
      <dsp:spPr>
        <a:xfrm>
          <a:off x="1617255" y="962614"/>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Intentó comprometer decenas de miles de dispositivos Android, sobre todo en América Latina.</a:t>
          </a:r>
        </a:p>
      </dsp:txBody>
      <dsp:txXfrm>
        <a:off x="1617255" y="962614"/>
        <a:ext cx="5904861" cy="875104"/>
      </dsp:txXfrm>
    </dsp:sp>
    <dsp:sp modelId="{3582BDBB-13A2-4933-857F-54562E62437F}">
      <dsp:nvSpPr>
        <dsp:cNvPr id="0" name=""/>
        <dsp:cNvSpPr/>
      </dsp:nvSpPr>
      <dsp:spPr>
        <a:xfrm>
          <a:off x="1504423" y="1837718"/>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2106D7-B099-4CB5-B880-9AFD4085F458}">
      <dsp:nvSpPr>
        <dsp:cNvPr id="0" name=""/>
        <dsp:cNvSpPr/>
      </dsp:nvSpPr>
      <dsp:spPr>
        <a:xfrm>
          <a:off x="1617255" y="1881473"/>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Su mayor pico de actividad se detectó el 8 de septiembre con más de dos mil ataques, para luego reducirse a unos quinientos por día.</a:t>
          </a:r>
        </a:p>
      </dsp:txBody>
      <dsp:txXfrm>
        <a:off x="1617255" y="1881473"/>
        <a:ext cx="5904861" cy="875104"/>
      </dsp:txXfrm>
    </dsp:sp>
    <dsp:sp modelId="{B30AAA9C-898D-4EE0-ABFC-601101777545}">
      <dsp:nvSpPr>
        <dsp:cNvPr id="0" name=""/>
        <dsp:cNvSpPr/>
      </dsp:nvSpPr>
      <dsp:spPr>
        <a:xfrm>
          <a:off x="1504423" y="2756578"/>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44F195-C139-455E-B267-22E13D498F29}">
      <dsp:nvSpPr>
        <dsp:cNvPr id="0" name=""/>
        <dsp:cNvSpPr/>
      </dsp:nvSpPr>
      <dsp:spPr>
        <a:xfrm>
          <a:off x="1617255" y="2800333"/>
          <a:ext cx="5904861" cy="875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Su distribución puede ser a través de las actualizaciones de firmware maliciosas preinstaladas en Android TV Boxes por el revendedor o descargadas e instaladas por una víctima involuntariamente.</a:t>
          </a:r>
        </a:p>
      </dsp:txBody>
      <dsp:txXfrm>
        <a:off x="1617255" y="2800333"/>
        <a:ext cx="5904861" cy="875104"/>
      </dsp:txXfrm>
    </dsp:sp>
    <dsp:sp modelId="{2C269BDB-AAD9-445A-8873-5A3047F06F45}">
      <dsp:nvSpPr>
        <dsp:cNvPr id="0" name=""/>
        <dsp:cNvSpPr/>
      </dsp:nvSpPr>
      <dsp:spPr>
        <a:xfrm>
          <a:off x="1504423" y="3675437"/>
          <a:ext cx="6017693"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D236B-770C-425F-9188-8E47550B5F8F}">
      <dsp:nvSpPr>
        <dsp:cNvPr id="0" name=""/>
        <dsp:cNvSpPr/>
      </dsp:nvSpPr>
      <dsp:spPr>
        <a:xfrm>
          <a:off x="0" y="78591"/>
          <a:ext cx="10515600"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kern="1200" dirty="0"/>
            <a:t>Imagina que un día no puedes abrir las fotos de tu último viaje porque ha aparecido un mensaje en tu pantalla solicitando un pago para recuperarlas. </a:t>
          </a:r>
        </a:p>
      </dsp:txBody>
      <dsp:txXfrm>
        <a:off x="37696" y="116287"/>
        <a:ext cx="10440208" cy="696808"/>
      </dsp:txXfrm>
    </dsp:sp>
    <dsp:sp modelId="{D9CBB5C8-F60E-44F5-B4D7-537710903522}">
      <dsp:nvSpPr>
        <dsp:cNvPr id="0" name=""/>
        <dsp:cNvSpPr/>
      </dsp:nvSpPr>
      <dsp:spPr>
        <a:xfrm>
          <a:off x="0" y="850791"/>
          <a:ext cx="10515600"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s-ES" sz="1600" kern="1200" dirty="0"/>
            <a:t>Te has descargado una app que infecta el dispositivo con un virus de tipo </a:t>
          </a:r>
          <a:r>
            <a:rPr lang="es-ES" sz="1600" kern="1200" dirty="0" err="1"/>
            <a:t>ransomware</a:t>
          </a:r>
          <a:r>
            <a:rPr lang="es-ES" sz="1600" kern="1200" dirty="0"/>
            <a:t>.</a:t>
          </a:r>
        </a:p>
      </dsp:txBody>
      <dsp:txXfrm>
        <a:off x="0" y="850791"/>
        <a:ext cx="10515600" cy="331200"/>
      </dsp:txXfrm>
    </dsp:sp>
    <dsp:sp modelId="{4B585E47-4D52-4041-9420-D4D4532AA20C}">
      <dsp:nvSpPr>
        <dsp:cNvPr id="0" name=""/>
        <dsp:cNvSpPr/>
      </dsp:nvSpPr>
      <dsp:spPr>
        <a:xfrm>
          <a:off x="0" y="1181991"/>
          <a:ext cx="10515600"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kern="1200" dirty="0"/>
            <a:t>¿Notas que, al usar tu móvil, este se ralentiza o aparecen anuncios no deseados de repente?</a:t>
          </a:r>
        </a:p>
      </dsp:txBody>
      <dsp:txXfrm>
        <a:off x="37696" y="1219687"/>
        <a:ext cx="10440208" cy="696808"/>
      </dsp:txXfrm>
    </dsp:sp>
    <dsp:sp modelId="{EDD4ACEA-D84F-4233-88F6-840E05A2FCD6}">
      <dsp:nvSpPr>
        <dsp:cNvPr id="0" name=""/>
        <dsp:cNvSpPr/>
      </dsp:nvSpPr>
      <dsp:spPr>
        <a:xfrm>
          <a:off x="0" y="1954191"/>
          <a:ext cx="10515600" cy="476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s-ES" sz="1600" kern="1200"/>
            <a:t>La </a:t>
          </a:r>
          <a:r>
            <a:rPr lang="es-ES" sz="1600" kern="1200" dirty="0"/>
            <a:t>explicación puede estar en una app, de dudosa reputación, que intenta redirigirte a sitios web con distintos fines: publicitarios, recopilación de datos personales, etc.</a:t>
          </a:r>
        </a:p>
      </dsp:txBody>
      <dsp:txXfrm>
        <a:off x="0" y="1954191"/>
        <a:ext cx="10515600" cy="476100"/>
      </dsp:txXfrm>
    </dsp:sp>
    <dsp:sp modelId="{3F6B7D5B-0585-47F2-A5C7-2D7F00286430}">
      <dsp:nvSpPr>
        <dsp:cNvPr id="0" name=""/>
        <dsp:cNvSpPr/>
      </dsp:nvSpPr>
      <dsp:spPr>
        <a:xfrm>
          <a:off x="0" y="2430291"/>
          <a:ext cx="10515600"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kern="1200" dirty="0"/>
            <a:t>¿Alguna vez te has preguntado cómo han podido obtener tus credenciales sin que hayas sido víctima de un phishing?</a:t>
          </a:r>
        </a:p>
      </dsp:txBody>
      <dsp:txXfrm>
        <a:off x="37696" y="2467987"/>
        <a:ext cx="10440208" cy="696808"/>
      </dsp:txXfrm>
    </dsp:sp>
    <dsp:sp modelId="{39A0C400-3DDB-4CBB-BCBA-A91E3AE08ED3}">
      <dsp:nvSpPr>
        <dsp:cNvPr id="0" name=""/>
        <dsp:cNvSpPr/>
      </dsp:nvSpPr>
      <dsp:spPr>
        <a:xfrm>
          <a:off x="0" y="3202491"/>
          <a:ext cx="10515600"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s-ES" sz="1600" kern="1200" dirty="0"/>
            <a:t> Puede que hayas descargado una aplicación que registra las pulsaciones que haces en la pantalla de tu móvil: </a:t>
          </a:r>
          <a:r>
            <a:rPr lang="es-ES" sz="1600" kern="1200" dirty="0" err="1"/>
            <a:t>keylogger</a:t>
          </a:r>
          <a:endParaRPr lang="es-ES" sz="1600" kern="1200" dirty="0"/>
        </a:p>
      </dsp:txBody>
      <dsp:txXfrm>
        <a:off x="0" y="3202491"/>
        <a:ext cx="10515600" cy="331200"/>
      </dsp:txXfrm>
    </dsp:sp>
    <dsp:sp modelId="{2EDE2F66-CAAD-47E6-B629-098CA9F0F063}">
      <dsp:nvSpPr>
        <dsp:cNvPr id="0" name=""/>
        <dsp:cNvSpPr/>
      </dsp:nvSpPr>
      <dsp:spPr>
        <a:xfrm>
          <a:off x="0" y="3533691"/>
          <a:ext cx="10515600" cy="7722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kern="1200" dirty="0"/>
            <a:t>¿Cómo han podido confirmar una transacción, si es necesario introducir el código que solo yo recibido por SMS en mi móvil? </a:t>
          </a:r>
        </a:p>
      </dsp:txBody>
      <dsp:txXfrm>
        <a:off x="37696" y="3571387"/>
        <a:ext cx="10440208" cy="696808"/>
      </dsp:txXfrm>
    </dsp:sp>
    <dsp:sp modelId="{4960763D-5E18-484F-AC59-AE8B06850B4F}">
      <dsp:nvSpPr>
        <dsp:cNvPr id="0" name=""/>
        <dsp:cNvSpPr/>
      </dsp:nvSpPr>
      <dsp:spPr>
        <a:xfrm>
          <a:off x="0" y="4305891"/>
          <a:ext cx="10515600" cy="476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s-ES" sz="1600" kern="1200"/>
            <a:t>Es </a:t>
          </a:r>
          <a:r>
            <a:rPr lang="es-ES" sz="1600" kern="1200" dirty="0"/>
            <a:t>posible que alguna de tus aplicaciones instaladas tenga permisos para leer los SMS que recibas y, de esta forma, visualizar su contenido.</a:t>
          </a:r>
        </a:p>
      </dsp:txBody>
      <dsp:txXfrm>
        <a:off x="0" y="4305891"/>
        <a:ext cx="10515600" cy="4761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DCBD32-3A33-4DBC-8061-CCEB349172D2}">
      <dsp:nvSpPr>
        <dsp:cNvPr id="0" name=""/>
        <dsp:cNvSpPr/>
      </dsp:nvSpPr>
      <dsp:spPr>
        <a:xfrm>
          <a:off x="0" y="0"/>
          <a:ext cx="10983356" cy="105407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Un número abrumador de tareas</a:t>
          </a:r>
        </a:p>
        <a:p>
          <a:pPr marL="171450" lvl="1" indent="-171450" algn="l" defTabSz="755650">
            <a:lnSpc>
              <a:spcPct val="90000"/>
            </a:lnSpc>
            <a:spcBef>
              <a:spcPct val="0"/>
            </a:spcBef>
            <a:spcAft>
              <a:spcPct val="15000"/>
            </a:spcAft>
            <a:buChar char="•"/>
          </a:pPr>
          <a:r>
            <a:rPr lang="es-ES" sz="1700" kern="1200" dirty="0"/>
            <a:t>La gran cantidad de tareas de análisis y evaluación de las que son responsables están más allá de la escala humana.</a:t>
          </a:r>
        </a:p>
      </dsp:txBody>
      <dsp:txXfrm>
        <a:off x="2302078" y="0"/>
        <a:ext cx="8681277" cy="1054071"/>
      </dsp:txXfrm>
    </dsp:sp>
    <dsp:sp modelId="{70DEA6BD-F41E-42E9-B10E-2760040A69E5}">
      <dsp:nvSpPr>
        <dsp:cNvPr id="0" name=""/>
        <dsp:cNvSpPr/>
      </dsp:nvSpPr>
      <dsp:spPr>
        <a:xfrm>
          <a:off x="105407" y="105407"/>
          <a:ext cx="2196671" cy="843257"/>
        </a:xfrm>
        <a:prstGeom prst="roundRect">
          <a:avLst>
            <a:gd name="adj" fmla="val 10000"/>
          </a:avLst>
        </a:prstGeom>
        <a:blipFill rotWithShape="1">
          <a:blip xmlns:r="http://schemas.openxmlformats.org/officeDocument/2006/relationships" r:embed="rId1"/>
          <a:srcRect/>
          <a:stretch>
            <a:fillRect t="-15000" b="-15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AEB417-7152-4037-B5B2-D2BF97C0FFA6}">
      <dsp:nvSpPr>
        <dsp:cNvPr id="0" name=""/>
        <dsp:cNvSpPr/>
      </dsp:nvSpPr>
      <dsp:spPr>
        <a:xfrm>
          <a:off x="0" y="1159478"/>
          <a:ext cx="10983356" cy="105407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Nunca hay suficiente tiempo</a:t>
          </a:r>
        </a:p>
        <a:p>
          <a:pPr marL="171450" lvl="1" indent="-171450" algn="l" defTabSz="755650">
            <a:lnSpc>
              <a:spcPct val="90000"/>
            </a:lnSpc>
            <a:spcBef>
              <a:spcPct val="0"/>
            </a:spcBef>
            <a:spcAft>
              <a:spcPct val="15000"/>
            </a:spcAft>
            <a:buChar char="•"/>
          </a:pPr>
          <a:r>
            <a:rPr lang="es-ES" sz="1700" kern="1200" dirty="0"/>
            <a:t>El tiempo requerido para responder a los ataques cibernéticos debe minimizarse tanto como sea posible.</a:t>
          </a:r>
        </a:p>
      </dsp:txBody>
      <dsp:txXfrm>
        <a:off x="2302078" y="1159478"/>
        <a:ext cx="8681277" cy="1054071"/>
      </dsp:txXfrm>
    </dsp:sp>
    <dsp:sp modelId="{D3DA2E00-4F87-4777-AF3E-03FDD847BFF1}">
      <dsp:nvSpPr>
        <dsp:cNvPr id="0" name=""/>
        <dsp:cNvSpPr/>
      </dsp:nvSpPr>
      <dsp:spPr>
        <a:xfrm>
          <a:off x="105407" y="1264885"/>
          <a:ext cx="2196671" cy="843257"/>
        </a:xfrm>
        <a:prstGeom prst="roundRect">
          <a:avLst>
            <a:gd name="adj" fmla="val 10000"/>
          </a:avLst>
        </a:prstGeom>
        <a:blipFill rotWithShape="1">
          <a:blip xmlns:r="http://schemas.openxmlformats.org/officeDocument/2006/relationships" r:embed="rId2"/>
          <a:srcRect/>
          <a:stretch>
            <a:fillRect t="-51000" b="-51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7350B0C-CE17-4495-BC28-2BDF170B1C0A}">
      <dsp:nvSpPr>
        <dsp:cNvPr id="0" name=""/>
        <dsp:cNvSpPr/>
      </dsp:nvSpPr>
      <dsp:spPr>
        <a:xfrm>
          <a:off x="0" y="2318956"/>
          <a:ext cx="10983356" cy="105407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Demasiados datos para manejar</a:t>
          </a:r>
        </a:p>
        <a:p>
          <a:pPr marL="171450" lvl="1" indent="-171450" algn="l" defTabSz="755650">
            <a:lnSpc>
              <a:spcPct val="90000"/>
            </a:lnSpc>
            <a:spcBef>
              <a:spcPct val="0"/>
            </a:spcBef>
            <a:spcAft>
              <a:spcPct val="15000"/>
            </a:spcAft>
            <a:buChar char="•"/>
          </a:pPr>
          <a:r>
            <a:rPr lang="es-ES" sz="1700" kern="1200" dirty="0"/>
            <a:t>Aunque tener una gran cantidad de datos a su disposición es excelente, todos esos datos deben clasificarse y analizarse.</a:t>
          </a:r>
        </a:p>
      </dsp:txBody>
      <dsp:txXfrm>
        <a:off x="2302078" y="2318956"/>
        <a:ext cx="8681277" cy="1054071"/>
      </dsp:txXfrm>
    </dsp:sp>
    <dsp:sp modelId="{0D07605E-8C06-4EE8-916A-CE34E6B28B6D}">
      <dsp:nvSpPr>
        <dsp:cNvPr id="0" name=""/>
        <dsp:cNvSpPr/>
      </dsp:nvSpPr>
      <dsp:spPr>
        <a:xfrm>
          <a:off x="105407" y="2424364"/>
          <a:ext cx="2196671" cy="843257"/>
        </a:xfrm>
        <a:prstGeom prst="roundRect">
          <a:avLst>
            <a:gd name="adj" fmla="val 10000"/>
          </a:avLst>
        </a:prstGeom>
        <a:blipFill rotWithShape="1">
          <a:blip xmlns:r="http://schemas.openxmlformats.org/officeDocument/2006/relationships" r:embed="rId3"/>
          <a:srcRect/>
          <a:stretch>
            <a:fillRect t="-14000" b="-14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E469F2-F406-471F-8F50-B6588607E6F1}">
      <dsp:nvSpPr>
        <dsp:cNvPr id="0" name=""/>
        <dsp:cNvSpPr/>
      </dsp:nvSpPr>
      <dsp:spPr>
        <a:xfrm>
          <a:off x="0" y="3478435"/>
          <a:ext cx="10983356" cy="105407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La industria enfrenta una continua escasez de habilidades</a:t>
          </a:r>
        </a:p>
        <a:p>
          <a:pPr marL="171450" lvl="1" indent="-171450" algn="l" defTabSz="755650">
            <a:lnSpc>
              <a:spcPct val="90000"/>
            </a:lnSpc>
            <a:spcBef>
              <a:spcPct val="0"/>
            </a:spcBef>
            <a:spcAft>
              <a:spcPct val="15000"/>
            </a:spcAft>
            <a:buChar char="•"/>
          </a:pPr>
          <a:r>
            <a:rPr lang="es-ES" sz="1700" kern="1200" dirty="0"/>
            <a:t>Dentro de la industria, las habilidades necesarias no siempre están disponibles.</a:t>
          </a:r>
        </a:p>
      </dsp:txBody>
      <dsp:txXfrm>
        <a:off x="2302078" y="3478435"/>
        <a:ext cx="8681277" cy="1054071"/>
      </dsp:txXfrm>
    </dsp:sp>
    <dsp:sp modelId="{FD3B4621-E266-40ED-AFE3-BAE55FF02173}">
      <dsp:nvSpPr>
        <dsp:cNvPr id="0" name=""/>
        <dsp:cNvSpPr/>
      </dsp:nvSpPr>
      <dsp:spPr>
        <a:xfrm>
          <a:off x="105407" y="3583842"/>
          <a:ext cx="2196671" cy="843257"/>
        </a:xfrm>
        <a:prstGeom prst="roundRect">
          <a:avLst>
            <a:gd name="adj" fmla="val 10000"/>
          </a:avLst>
        </a:prstGeom>
        <a:blipFill rotWithShape="1">
          <a:blip xmlns:r="http://schemas.openxmlformats.org/officeDocument/2006/relationships" r:embed="rId4"/>
          <a:srcRect/>
          <a:stretch>
            <a:fillRect t="-44000" b="-44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C99F1-3B68-469E-885A-246EE39992D1}">
      <dsp:nvSpPr>
        <dsp:cNvPr id="0" name=""/>
        <dsp:cNvSpPr/>
      </dsp:nvSpPr>
      <dsp:spPr>
        <a:xfrm>
          <a:off x="0" y="0"/>
          <a:ext cx="10782465" cy="130219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Detección de anomalías con la IA</a:t>
          </a:r>
        </a:p>
        <a:p>
          <a:pPr marL="171450" lvl="1" indent="-171450" algn="l" defTabSz="755650">
            <a:lnSpc>
              <a:spcPct val="90000"/>
            </a:lnSpc>
            <a:spcBef>
              <a:spcPct val="0"/>
            </a:spcBef>
            <a:spcAft>
              <a:spcPct val="15000"/>
            </a:spcAft>
            <a:buChar char="•"/>
          </a:pPr>
          <a:r>
            <a:rPr lang="es-ES" sz="1700" kern="1200" dirty="0"/>
            <a:t>La IA permite analizar el tráfico de red y el comportamiento de los usuarios para identificar patrones de actividad inusuales que podrían ser indicativos de ataques cibernéticos, como los malware. </a:t>
          </a:r>
        </a:p>
      </dsp:txBody>
      <dsp:txXfrm>
        <a:off x="2286712" y="0"/>
        <a:ext cx="8495752" cy="1302196"/>
      </dsp:txXfrm>
    </dsp:sp>
    <dsp:sp modelId="{B69F5314-AC1F-493E-8C16-5986810BF996}">
      <dsp:nvSpPr>
        <dsp:cNvPr id="0" name=""/>
        <dsp:cNvSpPr/>
      </dsp:nvSpPr>
      <dsp:spPr>
        <a:xfrm>
          <a:off x="130219" y="130219"/>
          <a:ext cx="2156493" cy="1041757"/>
        </a:xfrm>
        <a:prstGeom prst="roundRect">
          <a:avLst>
            <a:gd name="adj" fmla="val 10000"/>
          </a:avLst>
        </a:prstGeom>
        <a:blipFill rotWithShape="1">
          <a:blip xmlns:r="http://schemas.openxmlformats.org/officeDocument/2006/relationships" r:embed="rId1"/>
          <a:srcRect/>
          <a:stretch>
            <a:fillRect t="-3000" b="-3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B2BD39-47D4-4816-87B4-1A451D35B83E}">
      <dsp:nvSpPr>
        <dsp:cNvPr id="0" name=""/>
        <dsp:cNvSpPr/>
      </dsp:nvSpPr>
      <dsp:spPr>
        <a:xfrm>
          <a:off x="0" y="1432416"/>
          <a:ext cx="10782465" cy="130219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Predicción de amenazas y adaptabilidad con IA</a:t>
          </a:r>
        </a:p>
        <a:p>
          <a:pPr marL="171450" lvl="1" indent="-171450" algn="l" defTabSz="755650">
            <a:lnSpc>
              <a:spcPct val="90000"/>
            </a:lnSpc>
            <a:spcBef>
              <a:spcPct val="0"/>
            </a:spcBef>
            <a:spcAft>
              <a:spcPct val="15000"/>
            </a:spcAft>
            <a:buChar char="•"/>
          </a:pPr>
          <a:r>
            <a:rPr lang="es-ES" sz="1700" kern="1200" dirty="0"/>
            <a:t>Puede analizar datos históricos de amenazas y tendencias de seguridad para predecir posibles futuros ataques y vulnerabilidades, permitiendo a las organizaciones tomar medidas proactivas para mitigar riesgos. </a:t>
          </a:r>
        </a:p>
      </dsp:txBody>
      <dsp:txXfrm>
        <a:off x="2286712" y="1432416"/>
        <a:ext cx="8495752" cy="1302196"/>
      </dsp:txXfrm>
    </dsp:sp>
    <dsp:sp modelId="{ABC2ADA7-E3B0-46A3-88C9-8293987CEDDA}">
      <dsp:nvSpPr>
        <dsp:cNvPr id="0" name=""/>
        <dsp:cNvSpPr/>
      </dsp:nvSpPr>
      <dsp:spPr>
        <a:xfrm>
          <a:off x="130219" y="1562635"/>
          <a:ext cx="2156493" cy="1041757"/>
        </a:xfrm>
        <a:prstGeom prst="roundRect">
          <a:avLst>
            <a:gd name="adj" fmla="val 10000"/>
          </a:avLst>
        </a:prstGeom>
        <a:blipFill rotWithShape="1">
          <a:blip xmlns:r="http://schemas.openxmlformats.org/officeDocument/2006/relationships" r:embed="rId2"/>
          <a:srcRect/>
          <a:stretch>
            <a:fillRect t="-35000" b="-35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029F14-7F0A-4FDC-AE8C-261323CED6C0}">
      <dsp:nvSpPr>
        <dsp:cNvPr id="0" name=""/>
        <dsp:cNvSpPr/>
      </dsp:nvSpPr>
      <dsp:spPr>
        <a:xfrm>
          <a:off x="0" y="2864832"/>
          <a:ext cx="10782465" cy="130219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s-ES" sz="2200" kern="1200" dirty="0"/>
            <a:t>Integración con otras herramientas de seguridad</a:t>
          </a:r>
        </a:p>
        <a:p>
          <a:pPr marL="171450" lvl="1" indent="-171450" algn="l" defTabSz="755650">
            <a:lnSpc>
              <a:spcPct val="90000"/>
            </a:lnSpc>
            <a:spcBef>
              <a:spcPct val="0"/>
            </a:spcBef>
            <a:spcAft>
              <a:spcPct val="15000"/>
            </a:spcAft>
            <a:buChar char="•"/>
          </a:pPr>
          <a:r>
            <a:rPr lang="es-ES" sz="1700" kern="1200" dirty="0"/>
            <a:t>La IA puede integrarse con herramientas de seguridad, como sistemas de gestión de eventos e información de seguridad y sistemas de prevención/detección de intrusiones, para proporcionar una respuesta coordinada y efectiva.</a:t>
          </a:r>
        </a:p>
      </dsp:txBody>
      <dsp:txXfrm>
        <a:off x="2286712" y="2864832"/>
        <a:ext cx="8495752" cy="1302196"/>
      </dsp:txXfrm>
    </dsp:sp>
    <dsp:sp modelId="{4E2563A5-C582-4029-B0DE-912A4CC7919F}">
      <dsp:nvSpPr>
        <dsp:cNvPr id="0" name=""/>
        <dsp:cNvSpPr/>
      </dsp:nvSpPr>
      <dsp:spPr>
        <a:xfrm>
          <a:off x="130219" y="2995052"/>
          <a:ext cx="2156493" cy="1041757"/>
        </a:xfrm>
        <a:prstGeom prst="roundRect">
          <a:avLst>
            <a:gd name="adj" fmla="val 10000"/>
          </a:avLst>
        </a:prstGeom>
        <a:blipFill rotWithShape="1">
          <a:blip xmlns:r="http://schemas.openxmlformats.org/officeDocument/2006/relationships" r:embed="rId3"/>
          <a:srcRect/>
          <a:stretch>
            <a:fillRect t="-11000" b="-11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4BBB0-347E-4B63-84D0-F514F8657349}">
      <dsp:nvSpPr>
        <dsp:cNvPr id="0" name=""/>
        <dsp:cNvSpPr/>
      </dsp:nvSpPr>
      <dsp:spPr>
        <a:xfrm>
          <a:off x="0" y="0"/>
          <a:ext cx="5248893"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E86112-F591-4493-A421-72B75ABBDFAC}">
      <dsp:nvSpPr>
        <dsp:cNvPr id="0" name=""/>
        <dsp:cNvSpPr/>
      </dsp:nvSpPr>
      <dsp:spPr>
        <a:xfrm>
          <a:off x="0" y="0"/>
          <a:ext cx="5248893" cy="1200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a:t>Está basada en </a:t>
          </a:r>
          <a:r>
            <a:rPr lang="es-ES" sz="2000" kern="1200" dirty="0" err="1"/>
            <a:t>Sec-PaLM</a:t>
          </a:r>
          <a:r>
            <a:rPr lang="es-ES" sz="2000" kern="1200" dirty="0"/>
            <a:t>, un modelo generativo de IA alojado en Google Cloud AI.</a:t>
          </a:r>
        </a:p>
      </dsp:txBody>
      <dsp:txXfrm>
        <a:off x="0" y="0"/>
        <a:ext cx="5248893" cy="1200546"/>
      </dsp:txXfrm>
    </dsp:sp>
    <dsp:sp modelId="{F99FD86C-92A9-4C7F-8EDF-F30E53B7D514}">
      <dsp:nvSpPr>
        <dsp:cNvPr id="0" name=""/>
        <dsp:cNvSpPr/>
      </dsp:nvSpPr>
      <dsp:spPr>
        <a:xfrm>
          <a:off x="0" y="1200546"/>
          <a:ext cx="5248893"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DEE46D-79A4-4D1C-966B-67FAE29D622C}">
      <dsp:nvSpPr>
        <dsp:cNvPr id="0" name=""/>
        <dsp:cNvSpPr/>
      </dsp:nvSpPr>
      <dsp:spPr>
        <a:xfrm>
          <a:off x="0" y="1200546"/>
          <a:ext cx="5248893" cy="1200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err="1"/>
            <a:t>Sec-PaLM</a:t>
          </a:r>
          <a:r>
            <a:rPr lang="es-ES" sz="2000" kern="1200" dirty="0"/>
            <a:t> es una versión especializada de </a:t>
          </a:r>
          <a:r>
            <a:rPr lang="es-ES" sz="2000" kern="1200" dirty="0" err="1"/>
            <a:t>PaLM</a:t>
          </a:r>
          <a:r>
            <a:rPr lang="es-ES" sz="2000" kern="1200" dirty="0"/>
            <a:t> 2, diseñada para tareas específicas de seguridad.</a:t>
          </a:r>
        </a:p>
      </dsp:txBody>
      <dsp:txXfrm>
        <a:off x="0" y="1200546"/>
        <a:ext cx="5248893" cy="1200546"/>
      </dsp:txXfrm>
    </dsp:sp>
    <dsp:sp modelId="{AFA7D0D0-8A0B-473C-AA4F-0B01AFFB7153}">
      <dsp:nvSpPr>
        <dsp:cNvPr id="0" name=""/>
        <dsp:cNvSpPr/>
      </dsp:nvSpPr>
      <dsp:spPr>
        <a:xfrm>
          <a:off x="0" y="2401093"/>
          <a:ext cx="5248893"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9ADA51-E10F-40CD-9F8C-BCAC81881C72}">
      <dsp:nvSpPr>
        <dsp:cNvPr id="0" name=""/>
        <dsp:cNvSpPr/>
      </dsp:nvSpPr>
      <dsp:spPr>
        <a:xfrm>
          <a:off x="0" y="2401093"/>
          <a:ext cx="5248893" cy="1200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b="0" i="0" kern="1200" dirty="0"/>
            <a:t>Permite transformar el código en explicaciones de lenguaje natural, facilitando su comprensión y acelerando el proceso de detección de malwares.</a:t>
          </a:r>
          <a:endParaRPr lang="es-ES" sz="2000" b="0" kern="1200" dirty="0"/>
        </a:p>
      </dsp:txBody>
      <dsp:txXfrm>
        <a:off x="0" y="2401093"/>
        <a:ext cx="5248893" cy="1200546"/>
      </dsp:txXfrm>
    </dsp:sp>
    <dsp:sp modelId="{14C84047-B28E-46E1-A2DC-8B7B56CEAAFB}">
      <dsp:nvSpPr>
        <dsp:cNvPr id="0" name=""/>
        <dsp:cNvSpPr/>
      </dsp:nvSpPr>
      <dsp:spPr>
        <a:xfrm>
          <a:off x="0" y="3601640"/>
          <a:ext cx="5248893"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817D51-30EF-477B-B9A9-BC2F3E3F1FD0}">
      <dsp:nvSpPr>
        <dsp:cNvPr id="0" name=""/>
        <dsp:cNvSpPr/>
      </dsp:nvSpPr>
      <dsp:spPr>
        <a:xfrm>
          <a:off x="0" y="3601640"/>
          <a:ext cx="5248893" cy="1200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a:t>Ofrece una visión más profunda del propósito y la operación del código analizado.</a:t>
          </a:r>
        </a:p>
      </dsp:txBody>
      <dsp:txXfrm>
        <a:off x="0" y="3601640"/>
        <a:ext cx="5248893" cy="12005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FDF56-FA53-4F73-9E3C-6A57392F1019}">
      <dsp:nvSpPr>
        <dsp:cNvPr id="0" name=""/>
        <dsp:cNvSpPr/>
      </dsp:nvSpPr>
      <dsp:spPr>
        <a:xfrm>
          <a:off x="828802" y="387749"/>
          <a:ext cx="8441759" cy="263804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86839" tIns="163830" rIns="163830" bIns="163830" numCol="1" spcCol="1270" anchor="ctr" anchorCtr="0">
          <a:noAutofit/>
        </a:bodyPr>
        <a:lstStyle/>
        <a:p>
          <a:pPr marL="0" lvl="0" indent="0" algn="l" defTabSz="1911350">
            <a:lnSpc>
              <a:spcPct val="90000"/>
            </a:lnSpc>
            <a:spcBef>
              <a:spcPct val="0"/>
            </a:spcBef>
            <a:spcAft>
              <a:spcPct val="35000"/>
            </a:spcAft>
            <a:buNone/>
          </a:pPr>
          <a:r>
            <a:rPr lang="es-ES" sz="4300" kern="1200" dirty="0"/>
            <a:t>Detección de </a:t>
          </a:r>
          <a:r>
            <a:rPr lang="es-ES" sz="4300" kern="1200" dirty="0" err="1"/>
            <a:t>APKs</a:t>
          </a:r>
          <a:r>
            <a:rPr lang="es-ES" sz="4300" kern="1200" dirty="0"/>
            <a:t> maliciosas explorando técnicas de Aprendizaje Automático.</a:t>
          </a:r>
        </a:p>
      </dsp:txBody>
      <dsp:txXfrm>
        <a:off x="828802" y="387749"/>
        <a:ext cx="8441759" cy="2638049"/>
      </dsp:txXfrm>
    </dsp:sp>
    <dsp:sp modelId="{5D49EF26-6752-4B6C-A6D3-0BD9DB0DA52F}">
      <dsp:nvSpPr>
        <dsp:cNvPr id="0" name=""/>
        <dsp:cNvSpPr/>
      </dsp:nvSpPr>
      <dsp:spPr>
        <a:xfrm>
          <a:off x="477062" y="6698"/>
          <a:ext cx="1846634" cy="2769952"/>
        </a:xfrm>
        <a:prstGeom prst="rect">
          <a:avLst/>
        </a:prstGeom>
        <a:blipFill rotWithShape="1">
          <a:blip xmlns:r="http://schemas.openxmlformats.org/officeDocument/2006/relationships" r:embed="rId1"/>
          <a:srcRect/>
          <a:stretch>
            <a:fillRect l="-55000" r="-55000"/>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769AB-A0FC-44A3-8A49-EC644B6628E7}">
      <dsp:nvSpPr>
        <dsp:cNvPr id="0" name=""/>
        <dsp:cNvSpPr/>
      </dsp:nvSpPr>
      <dsp:spPr>
        <a:xfrm rot="10800000">
          <a:off x="1792750" y="1475"/>
          <a:ext cx="5854062" cy="1272925"/>
        </a:xfrm>
        <a:prstGeom prst="homePlat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1325" tIns="68580" rIns="128016" bIns="68580" numCol="1" spcCol="1270" anchor="t" anchorCtr="0">
          <a:noAutofit/>
        </a:bodyPr>
        <a:lstStyle/>
        <a:p>
          <a:pPr marL="0" lvl="0" indent="0" algn="l" defTabSz="800100">
            <a:lnSpc>
              <a:spcPct val="90000"/>
            </a:lnSpc>
            <a:spcBef>
              <a:spcPct val="0"/>
            </a:spcBef>
            <a:spcAft>
              <a:spcPct val="35000"/>
            </a:spcAft>
            <a:buNone/>
          </a:pPr>
          <a:r>
            <a:rPr lang="es-ES" sz="1800" kern="1200" dirty="0"/>
            <a:t>Maliciosas</a:t>
          </a:r>
        </a:p>
        <a:p>
          <a:pPr marL="114300" lvl="1" indent="-114300" algn="l" defTabSz="622300">
            <a:lnSpc>
              <a:spcPct val="90000"/>
            </a:lnSpc>
            <a:spcBef>
              <a:spcPct val="0"/>
            </a:spcBef>
            <a:spcAft>
              <a:spcPct val="15000"/>
            </a:spcAft>
            <a:buChar char="•"/>
          </a:pPr>
          <a:r>
            <a:rPr lang="es-ES" sz="1400" kern="1200" dirty="0"/>
            <a:t>200 muestras (</a:t>
          </a:r>
          <a:r>
            <a:rPr lang="es-ES" sz="1400" kern="1200" dirty="0" err="1"/>
            <a:t>type</a:t>
          </a:r>
          <a:r>
            <a:rPr lang="es-ES" sz="1400" kern="1200" dirty="0"/>
            <a:t> = 1)</a:t>
          </a:r>
        </a:p>
      </dsp:txBody>
      <dsp:txXfrm rot="10800000">
        <a:off x="2110981" y="1475"/>
        <a:ext cx="5535831" cy="1272925"/>
      </dsp:txXfrm>
    </dsp:sp>
    <dsp:sp modelId="{900AA6B7-7E9E-4D3A-A41C-7F66F1D374C8}">
      <dsp:nvSpPr>
        <dsp:cNvPr id="0" name=""/>
        <dsp:cNvSpPr/>
      </dsp:nvSpPr>
      <dsp:spPr>
        <a:xfrm>
          <a:off x="1156288" y="1475"/>
          <a:ext cx="1272925" cy="1272925"/>
        </a:xfrm>
        <a:prstGeom prst="ellipse">
          <a:avLst/>
        </a:prstGeom>
        <a:blipFill rotWithShape="1">
          <a:blip xmlns:r="http://schemas.openxmlformats.org/officeDocument/2006/relationships" r:embed="rId1"/>
          <a:srcRect/>
          <a:stretch>
            <a:fillRect l="-31000" r="-31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C7099C-E689-4426-8B3F-8CB67B3B4309}">
      <dsp:nvSpPr>
        <dsp:cNvPr id="0" name=""/>
        <dsp:cNvSpPr/>
      </dsp:nvSpPr>
      <dsp:spPr>
        <a:xfrm rot="10800000">
          <a:off x="1792750" y="1654378"/>
          <a:ext cx="5854062" cy="1272925"/>
        </a:xfrm>
        <a:prstGeom prst="homePlat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1325" tIns="68580" rIns="128016" bIns="68580" numCol="1" spcCol="1270" anchor="t" anchorCtr="0">
          <a:noAutofit/>
        </a:bodyPr>
        <a:lstStyle/>
        <a:p>
          <a:pPr marL="0" lvl="0" indent="0" algn="l" defTabSz="800100">
            <a:lnSpc>
              <a:spcPct val="90000"/>
            </a:lnSpc>
            <a:spcBef>
              <a:spcPct val="0"/>
            </a:spcBef>
            <a:spcAft>
              <a:spcPct val="35000"/>
            </a:spcAft>
            <a:buNone/>
          </a:pPr>
          <a:r>
            <a:rPr lang="es-ES" sz="1800" kern="1200" dirty="0"/>
            <a:t>Benignas</a:t>
          </a:r>
        </a:p>
        <a:p>
          <a:pPr marL="114300" lvl="1" indent="-114300" algn="l" defTabSz="622300">
            <a:lnSpc>
              <a:spcPct val="90000"/>
            </a:lnSpc>
            <a:spcBef>
              <a:spcPct val="0"/>
            </a:spcBef>
            <a:spcAft>
              <a:spcPct val="15000"/>
            </a:spcAft>
            <a:buChar char="•"/>
          </a:pPr>
          <a:r>
            <a:rPr lang="es-ES" sz="1400" kern="1200" dirty="0"/>
            <a:t>200 muestras (</a:t>
          </a:r>
          <a:r>
            <a:rPr lang="es-ES" sz="1400" kern="1200" dirty="0" err="1"/>
            <a:t>type</a:t>
          </a:r>
          <a:r>
            <a:rPr lang="es-ES" sz="1400" kern="1200" dirty="0"/>
            <a:t> = 0)</a:t>
          </a:r>
        </a:p>
      </dsp:txBody>
      <dsp:txXfrm rot="10800000">
        <a:off x="2110981" y="1654378"/>
        <a:ext cx="5535831" cy="1272925"/>
      </dsp:txXfrm>
    </dsp:sp>
    <dsp:sp modelId="{AAD98E5D-F560-4434-AA10-702814F04B2A}">
      <dsp:nvSpPr>
        <dsp:cNvPr id="0" name=""/>
        <dsp:cNvSpPr/>
      </dsp:nvSpPr>
      <dsp:spPr>
        <a:xfrm>
          <a:off x="1156288" y="1654378"/>
          <a:ext cx="1272925" cy="1272925"/>
        </a:xfrm>
        <a:prstGeom prst="ellipse">
          <a:avLst/>
        </a:prstGeom>
        <a:blipFill rotWithShape="1">
          <a:blip xmlns:r="http://schemas.openxmlformats.org/officeDocument/2006/relationships" r:embed="rId2"/>
          <a:srcRect/>
          <a:stretch>
            <a:fillRect l="-23000" r="-23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55021F-517B-40BA-B05E-BFB122246E80}">
      <dsp:nvSpPr>
        <dsp:cNvPr id="0" name=""/>
        <dsp:cNvSpPr/>
      </dsp:nvSpPr>
      <dsp:spPr>
        <a:xfrm rot="10800000">
          <a:off x="1792750" y="3307281"/>
          <a:ext cx="5854062" cy="1272925"/>
        </a:xfrm>
        <a:prstGeom prst="homePlat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1325" tIns="68580" rIns="128016" bIns="68580" numCol="1" spcCol="1270" anchor="t" anchorCtr="0">
          <a:noAutofit/>
        </a:bodyPr>
        <a:lstStyle/>
        <a:p>
          <a:pPr marL="0" lvl="0" indent="0" algn="l" defTabSz="800100">
            <a:lnSpc>
              <a:spcPct val="90000"/>
            </a:lnSpc>
            <a:spcBef>
              <a:spcPct val="0"/>
            </a:spcBef>
            <a:spcAft>
              <a:spcPct val="35000"/>
            </a:spcAft>
            <a:buNone/>
          </a:pPr>
          <a:r>
            <a:rPr lang="es-ES" sz="1800" kern="1200" dirty="0"/>
            <a:t>Atributos</a:t>
          </a:r>
        </a:p>
        <a:p>
          <a:pPr marL="114300" lvl="1" indent="-114300" algn="l" defTabSz="622300">
            <a:lnSpc>
              <a:spcPct val="90000"/>
            </a:lnSpc>
            <a:spcBef>
              <a:spcPct val="0"/>
            </a:spcBef>
            <a:spcAft>
              <a:spcPct val="15000"/>
            </a:spcAft>
            <a:buChar char="•"/>
          </a:pPr>
          <a:r>
            <a:rPr lang="es-ES" sz="1400" kern="1200" dirty="0"/>
            <a:t>Cada muestra se representa mediante los permisos que Android pone a disposición de los desarrolladores. </a:t>
          </a:r>
        </a:p>
        <a:p>
          <a:pPr marL="114300" lvl="1" indent="-114300" algn="l" defTabSz="622300">
            <a:lnSpc>
              <a:spcPct val="90000"/>
            </a:lnSpc>
            <a:spcBef>
              <a:spcPct val="0"/>
            </a:spcBef>
            <a:spcAft>
              <a:spcPct val="15000"/>
            </a:spcAft>
            <a:buChar char="•"/>
          </a:pPr>
          <a:r>
            <a:rPr lang="es-ES" sz="1400" kern="1200" dirty="0"/>
            <a:t>Si requiere de un permiso, se marca con 1 la celda correspondiente; y 0 en caso contrario.</a:t>
          </a:r>
        </a:p>
      </dsp:txBody>
      <dsp:txXfrm rot="10800000">
        <a:off x="2110981" y="3307281"/>
        <a:ext cx="5535831" cy="1272925"/>
      </dsp:txXfrm>
    </dsp:sp>
    <dsp:sp modelId="{4F53653C-14FC-426F-8BE2-7346C5327ED6}">
      <dsp:nvSpPr>
        <dsp:cNvPr id="0" name=""/>
        <dsp:cNvSpPr/>
      </dsp:nvSpPr>
      <dsp:spPr>
        <a:xfrm>
          <a:off x="1156288" y="3307281"/>
          <a:ext cx="1272925" cy="1272925"/>
        </a:xfrm>
        <a:prstGeom prst="ellipse">
          <a:avLst/>
        </a:prstGeom>
        <a:blipFill rotWithShape="1">
          <a:blip xmlns:r="http://schemas.openxmlformats.org/officeDocument/2006/relationships" r:embed="rId3"/>
          <a:srcRect/>
          <a:stretch>
            <a:fillRect l="-37000" r="-37000"/>
          </a:stretch>
        </a:blip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BA265A-C98E-42C9-9EF2-98B55BCB6005}">
      <dsp:nvSpPr>
        <dsp:cNvPr id="0" name=""/>
        <dsp:cNvSpPr/>
      </dsp:nvSpPr>
      <dsp:spPr>
        <a:xfrm>
          <a:off x="0" y="1108026"/>
          <a:ext cx="2480574" cy="1208386"/>
        </a:xfrm>
        <a:prstGeom prst="roundRect">
          <a:avLst>
            <a:gd name="adj" fmla="val 10000"/>
          </a:avLst>
        </a:prstGeom>
        <a:solidFill>
          <a:srgbClr val="44546A"/>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t>Análisis Exploratorio de Datos</a:t>
          </a:r>
        </a:p>
      </dsp:txBody>
      <dsp:txXfrm>
        <a:off x="35392" y="1143418"/>
        <a:ext cx="2409790" cy="1137602"/>
      </dsp:txXfrm>
    </dsp:sp>
    <dsp:sp modelId="{244CDE42-7FA2-4F7B-8CAA-829F550F3462}">
      <dsp:nvSpPr>
        <dsp:cNvPr id="0" name=""/>
        <dsp:cNvSpPr/>
      </dsp:nvSpPr>
      <dsp:spPr>
        <a:xfrm rot="16080">
          <a:off x="2682141" y="1470230"/>
          <a:ext cx="427331" cy="499466"/>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ES" sz="1900" kern="1200"/>
        </a:p>
      </dsp:txBody>
      <dsp:txXfrm>
        <a:off x="2682142" y="1569823"/>
        <a:ext cx="299132" cy="299680"/>
      </dsp:txXfrm>
    </dsp:sp>
    <dsp:sp modelId="{2E638456-ABFB-4FF4-9678-BDD7B2616D15}">
      <dsp:nvSpPr>
        <dsp:cNvPr id="0" name=""/>
        <dsp:cNvSpPr/>
      </dsp:nvSpPr>
      <dsp:spPr>
        <a:xfrm>
          <a:off x="3286851" y="1122309"/>
          <a:ext cx="2013976" cy="1208386"/>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t>Agrupamiento</a:t>
          </a:r>
        </a:p>
      </dsp:txBody>
      <dsp:txXfrm>
        <a:off x="3322243" y="1157701"/>
        <a:ext cx="1943192" cy="1137602"/>
      </dsp:txXfrm>
    </dsp:sp>
    <dsp:sp modelId="{E62A29C7-CE31-4B62-B1E6-424721E6FEF2}">
      <dsp:nvSpPr>
        <dsp:cNvPr id="0" name=""/>
        <dsp:cNvSpPr/>
      </dsp:nvSpPr>
      <dsp:spPr>
        <a:xfrm>
          <a:off x="5502225" y="1476769"/>
          <a:ext cx="426963" cy="499466"/>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ES" sz="1900" kern="1200"/>
        </a:p>
      </dsp:txBody>
      <dsp:txXfrm>
        <a:off x="5502225" y="1576662"/>
        <a:ext cx="298874" cy="299680"/>
      </dsp:txXfrm>
    </dsp:sp>
    <dsp:sp modelId="{2DD93F05-2084-4044-B42A-1F4205BB0E9A}">
      <dsp:nvSpPr>
        <dsp:cNvPr id="0" name=""/>
        <dsp:cNvSpPr/>
      </dsp:nvSpPr>
      <dsp:spPr>
        <a:xfrm>
          <a:off x="6106418" y="1122309"/>
          <a:ext cx="2013976" cy="1208386"/>
        </a:xfrm>
        <a:prstGeom prst="roundRect">
          <a:avLst>
            <a:gd name="adj" fmla="val 10000"/>
          </a:avLst>
        </a:prstGeom>
        <a:solidFill>
          <a:srgbClr val="44546A"/>
        </a:solidFill>
        <a:ln w="19050" cap="flat"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t>Visualización</a:t>
          </a:r>
        </a:p>
      </dsp:txBody>
      <dsp:txXfrm>
        <a:off x="6141810" y="1157701"/>
        <a:ext cx="1943192" cy="1137602"/>
      </dsp:txXfrm>
    </dsp:sp>
    <dsp:sp modelId="{B9AACDCD-1CEA-4BBB-9449-DA638E3CF7B6}">
      <dsp:nvSpPr>
        <dsp:cNvPr id="0" name=""/>
        <dsp:cNvSpPr/>
      </dsp:nvSpPr>
      <dsp:spPr>
        <a:xfrm>
          <a:off x="8321792" y="1476769"/>
          <a:ext cx="426963" cy="499466"/>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ES" sz="1900" kern="1200"/>
        </a:p>
      </dsp:txBody>
      <dsp:txXfrm>
        <a:off x="8321792" y="1576662"/>
        <a:ext cx="298874" cy="299680"/>
      </dsp:txXfrm>
    </dsp:sp>
    <dsp:sp modelId="{DEEE57DF-F999-4E79-8E61-3444D43FA019}">
      <dsp:nvSpPr>
        <dsp:cNvPr id="0" name=""/>
        <dsp:cNvSpPr/>
      </dsp:nvSpPr>
      <dsp:spPr>
        <a:xfrm>
          <a:off x="8925985" y="1122309"/>
          <a:ext cx="2013976" cy="1208386"/>
        </a:xfrm>
        <a:prstGeom prst="roundRect">
          <a:avLst>
            <a:gd name="adj" fmla="val 10000"/>
          </a:avLst>
        </a:prstGeom>
        <a:solidFill>
          <a:srgbClr val="00B050"/>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kern="1200" dirty="0"/>
            <a:t>Clasificación</a:t>
          </a:r>
        </a:p>
        <a:p>
          <a:pPr marL="171450" lvl="1" indent="-171450" algn="l" defTabSz="844550">
            <a:lnSpc>
              <a:spcPct val="90000"/>
            </a:lnSpc>
            <a:spcBef>
              <a:spcPct val="0"/>
            </a:spcBef>
            <a:spcAft>
              <a:spcPct val="15000"/>
            </a:spcAft>
            <a:buChar char="•"/>
          </a:pPr>
          <a:r>
            <a:rPr lang="es-ES" sz="1900" kern="1200" dirty="0"/>
            <a:t>Validación cruzada</a:t>
          </a:r>
        </a:p>
      </dsp:txBody>
      <dsp:txXfrm>
        <a:off x="8961377" y="1157701"/>
        <a:ext cx="1943192" cy="113760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41A04-6646-4BB6-AABA-1D8381FE30CD}">
      <dsp:nvSpPr>
        <dsp:cNvPr id="0" name=""/>
        <dsp:cNvSpPr/>
      </dsp:nvSpPr>
      <dsp:spPr>
        <a:xfrm>
          <a:off x="0" y="0"/>
          <a:ext cx="6261410" cy="142155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ES" sz="2700" kern="1200" dirty="0"/>
            <a:t>La validación cruzada es un método que permite probar el rendimiento de un modelo predictivo de Machine </a:t>
          </a:r>
          <a:r>
            <a:rPr lang="es-ES" sz="2700" kern="1200" dirty="0" err="1"/>
            <a:t>Learning</a:t>
          </a:r>
          <a:r>
            <a:rPr lang="es-ES" sz="2700" kern="1200" dirty="0"/>
            <a:t>.</a:t>
          </a:r>
        </a:p>
      </dsp:txBody>
      <dsp:txXfrm>
        <a:off x="69394" y="69394"/>
        <a:ext cx="6122622" cy="128276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E711D3-795B-4FF0-951E-4B6FE2402EE5}">
      <dsp:nvSpPr>
        <dsp:cNvPr id="0" name=""/>
        <dsp:cNvSpPr/>
      </dsp:nvSpPr>
      <dsp:spPr>
        <a:xfrm>
          <a:off x="0" y="0"/>
          <a:ext cx="6201185"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646980-5E2F-46BA-AF78-5E194FA60B62}">
      <dsp:nvSpPr>
        <dsp:cNvPr id="0" name=""/>
        <dsp:cNvSpPr/>
      </dsp:nvSpPr>
      <dsp:spPr>
        <a:xfrm>
          <a:off x="0" y="0"/>
          <a:ext cx="1240237" cy="3076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ES" sz="2500" kern="1200" dirty="0"/>
            <a:t>Método K-</a:t>
          </a:r>
          <a:r>
            <a:rPr lang="es-ES" sz="2500" kern="1200" dirty="0" err="1"/>
            <a:t>Folds</a:t>
          </a:r>
          <a:endParaRPr lang="es-ES" sz="2500" kern="1200" dirty="0"/>
        </a:p>
      </dsp:txBody>
      <dsp:txXfrm>
        <a:off x="0" y="0"/>
        <a:ext cx="1240237" cy="3076045"/>
      </dsp:txXfrm>
    </dsp:sp>
    <dsp:sp modelId="{60F4A61C-108F-4930-8619-C7E0FAD199AC}">
      <dsp:nvSpPr>
        <dsp:cNvPr id="0" name=""/>
        <dsp:cNvSpPr/>
      </dsp:nvSpPr>
      <dsp:spPr>
        <a:xfrm>
          <a:off x="1333254" y="28988"/>
          <a:ext cx="4867930" cy="579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kern="1200" dirty="0"/>
            <a:t>El valor de K no debe ser ni demasiado bajo ni demasiado alto y, por lo general, se elige un valor comprendido entre 5 y 10.</a:t>
          </a:r>
        </a:p>
      </dsp:txBody>
      <dsp:txXfrm>
        <a:off x="1333254" y="28988"/>
        <a:ext cx="4867930" cy="579762"/>
      </dsp:txXfrm>
    </dsp:sp>
    <dsp:sp modelId="{DA70C8FC-B8E8-4917-90FE-8151813761B5}">
      <dsp:nvSpPr>
        <dsp:cNvPr id="0" name=""/>
        <dsp:cNvSpPr/>
      </dsp:nvSpPr>
      <dsp:spPr>
        <a:xfrm>
          <a:off x="1240237" y="608750"/>
          <a:ext cx="4960948"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C768CC-F4F4-4122-9EE5-F5581C308254}">
      <dsp:nvSpPr>
        <dsp:cNvPr id="0" name=""/>
        <dsp:cNvSpPr/>
      </dsp:nvSpPr>
      <dsp:spPr>
        <a:xfrm>
          <a:off x="1333254" y="637738"/>
          <a:ext cx="4867930" cy="579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kern="1200" dirty="0"/>
            <a:t>Un valor K más alto lleva a un modelo con menos sesgo.</a:t>
          </a:r>
        </a:p>
      </dsp:txBody>
      <dsp:txXfrm>
        <a:off x="1333254" y="637738"/>
        <a:ext cx="4867930" cy="579762"/>
      </dsp:txXfrm>
    </dsp:sp>
    <dsp:sp modelId="{771AE77F-57DA-448F-9AE7-358D2248AD56}">
      <dsp:nvSpPr>
        <dsp:cNvPr id="0" name=""/>
        <dsp:cNvSpPr/>
      </dsp:nvSpPr>
      <dsp:spPr>
        <a:xfrm>
          <a:off x="1240237" y="1217501"/>
          <a:ext cx="4960948"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278260-169B-41AB-836A-0CA8CA78972F}">
      <dsp:nvSpPr>
        <dsp:cNvPr id="0" name=""/>
        <dsp:cNvSpPr/>
      </dsp:nvSpPr>
      <dsp:spPr>
        <a:xfrm>
          <a:off x="1333254" y="1246489"/>
          <a:ext cx="4867930" cy="579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kern="1200" dirty="0"/>
            <a:t>Después se ajusta el modelo utilizando los </a:t>
          </a:r>
          <a:r>
            <a:rPr lang="es-ES" sz="1400" kern="1200" dirty="0" err="1"/>
            <a:t>folds</a:t>
          </a:r>
          <a:r>
            <a:rPr lang="es-ES" sz="1400" kern="1200" dirty="0"/>
            <a:t> K-1 (K menos 1). </a:t>
          </a:r>
        </a:p>
      </dsp:txBody>
      <dsp:txXfrm>
        <a:off x="1333254" y="1246489"/>
        <a:ext cx="4867930" cy="579762"/>
      </dsp:txXfrm>
    </dsp:sp>
    <dsp:sp modelId="{EF0EB3C0-84FF-41A1-9880-7E5241823F2D}">
      <dsp:nvSpPr>
        <dsp:cNvPr id="0" name=""/>
        <dsp:cNvSpPr/>
      </dsp:nvSpPr>
      <dsp:spPr>
        <a:xfrm>
          <a:off x="1240237" y="1826252"/>
          <a:ext cx="4960948"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495CB5D-9581-4676-B784-D0F0417EC617}">
      <dsp:nvSpPr>
        <dsp:cNvPr id="0" name=""/>
        <dsp:cNvSpPr/>
      </dsp:nvSpPr>
      <dsp:spPr>
        <a:xfrm>
          <a:off x="1333254" y="1855240"/>
          <a:ext cx="4867930" cy="579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kern="1200" dirty="0"/>
            <a:t>El proceso se repite hasta que cada K-</a:t>
          </a:r>
          <a:r>
            <a:rPr lang="es-ES" sz="1400" kern="1200" dirty="0" err="1"/>
            <a:t>fold</a:t>
          </a:r>
          <a:r>
            <a:rPr lang="es-ES" sz="1400" kern="1200" dirty="0"/>
            <a:t> sirva dentro de la serie de entrenamiento. </a:t>
          </a:r>
        </a:p>
      </dsp:txBody>
      <dsp:txXfrm>
        <a:off x="1333254" y="1855240"/>
        <a:ext cx="4867930" cy="579762"/>
      </dsp:txXfrm>
    </dsp:sp>
    <dsp:sp modelId="{63BC413C-06AB-4441-82C5-9EB599397EFD}">
      <dsp:nvSpPr>
        <dsp:cNvPr id="0" name=""/>
        <dsp:cNvSpPr/>
      </dsp:nvSpPr>
      <dsp:spPr>
        <a:xfrm>
          <a:off x="1240237" y="2435002"/>
          <a:ext cx="4960948"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AAA9B6-086C-4134-BC0B-B5B6790E0EB9}">
      <dsp:nvSpPr>
        <dsp:cNvPr id="0" name=""/>
        <dsp:cNvSpPr/>
      </dsp:nvSpPr>
      <dsp:spPr>
        <a:xfrm>
          <a:off x="1333254" y="2463990"/>
          <a:ext cx="4867930" cy="579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kern="1200"/>
            <a:t>La </a:t>
          </a:r>
          <a:r>
            <a:rPr lang="es-ES" sz="1400" kern="1200" dirty="0"/>
            <a:t>media de las puntuaciones registradas es la métrica de rendimiento del modelo.</a:t>
          </a:r>
        </a:p>
      </dsp:txBody>
      <dsp:txXfrm>
        <a:off x="1333254" y="2463990"/>
        <a:ext cx="4867930" cy="579762"/>
      </dsp:txXfrm>
    </dsp:sp>
    <dsp:sp modelId="{F008BB6C-CBE9-4B2D-8B5F-9D6639B2FBDC}">
      <dsp:nvSpPr>
        <dsp:cNvPr id="0" name=""/>
        <dsp:cNvSpPr/>
      </dsp:nvSpPr>
      <dsp:spPr>
        <a:xfrm>
          <a:off x="1240237" y="3043753"/>
          <a:ext cx="4960948"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5DD7D1-24CF-4312-9D00-CBE3487B57EA}">
      <dsp:nvSpPr>
        <dsp:cNvPr id="0" name=""/>
        <dsp:cNvSpPr/>
      </dsp:nvSpPr>
      <dsp:spPr>
        <a:xfrm>
          <a:off x="0" y="307887"/>
          <a:ext cx="10972800" cy="99225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1611" tIns="374904" rIns="851611" bIns="128016" numCol="1" spcCol="1270" anchor="t" anchorCtr="0">
          <a:noAutofit/>
        </a:bodyPr>
        <a:lstStyle/>
        <a:p>
          <a:pPr marL="171450" lvl="1" indent="-171450" algn="l" defTabSz="800100">
            <a:lnSpc>
              <a:spcPct val="90000"/>
            </a:lnSpc>
            <a:spcBef>
              <a:spcPct val="0"/>
            </a:spcBef>
            <a:spcAft>
              <a:spcPct val="15000"/>
            </a:spcAft>
            <a:buChar char="•"/>
          </a:pPr>
          <a:r>
            <a:rPr lang="es-ES" sz="1800" kern="1200" dirty="0"/>
            <a:t>Aplicar técnicas y algoritmos de Aprendizaje Automatizado y clasificación de datos para la detección de </a:t>
          </a:r>
          <a:r>
            <a:rPr lang="es-ES" sz="1800" kern="1200" dirty="0" err="1"/>
            <a:t>APKs</a:t>
          </a:r>
          <a:r>
            <a:rPr lang="es-ES" sz="1800" kern="1200" dirty="0"/>
            <a:t> maliciosas.</a:t>
          </a:r>
        </a:p>
      </dsp:txBody>
      <dsp:txXfrm>
        <a:off x="0" y="307887"/>
        <a:ext cx="10972800" cy="992250"/>
      </dsp:txXfrm>
    </dsp:sp>
    <dsp:sp modelId="{B47ECD0F-D3D9-4325-8377-D51EA7B0DEAB}">
      <dsp:nvSpPr>
        <dsp:cNvPr id="0" name=""/>
        <dsp:cNvSpPr/>
      </dsp:nvSpPr>
      <dsp:spPr>
        <a:xfrm>
          <a:off x="548640" y="42207"/>
          <a:ext cx="7680960" cy="53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800100">
            <a:lnSpc>
              <a:spcPct val="90000"/>
            </a:lnSpc>
            <a:spcBef>
              <a:spcPct val="0"/>
            </a:spcBef>
            <a:spcAft>
              <a:spcPct val="35000"/>
            </a:spcAft>
            <a:buNone/>
          </a:pPr>
          <a:r>
            <a:rPr lang="es-ES" sz="1800" kern="1200" dirty="0"/>
            <a:t>Objetivo</a:t>
          </a:r>
        </a:p>
      </dsp:txBody>
      <dsp:txXfrm>
        <a:off x="574579" y="68146"/>
        <a:ext cx="7629082" cy="479482"/>
      </dsp:txXfrm>
    </dsp:sp>
    <dsp:sp modelId="{12EAAA59-8DBB-4686-ADA1-12085BD3A2AC}">
      <dsp:nvSpPr>
        <dsp:cNvPr id="0" name=""/>
        <dsp:cNvSpPr/>
      </dsp:nvSpPr>
      <dsp:spPr>
        <a:xfrm>
          <a:off x="0" y="1663017"/>
          <a:ext cx="10972800" cy="32319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1611" tIns="374904" rIns="851611" bIns="128016" numCol="1" spcCol="1270" anchor="t" anchorCtr="0">
          <a:noAutofit/>
        </a:bodyPr>
        <a:lstStyle/>
        <a:p>
          <a:pPr marL="171450" lvl="1" indent="-171450" algn="l" defTabSz="800100">
            <a:lnSpc>
              <a:spcPct val="90000"/>
            </a:lnSpc>
            <a:spcBef>
              <a:spcPct val="0"/>
            </a:spcBef>
            <a:spcAft>
              <a:spcPct val="15000"/>
            </a:spcAft>
            <a:buChar char="•"/>
          </a:pPr>
          <a:r>
            <a:rPr lang="es-ES" sz="1800" kern="1200" dirty="0"/>
            <a:t>Analizar documentos para conocer los permisos que Android pone a disposición de los desarrolladores.</a:t>
          </a:r>
        </a:p>
        <a:p>
          <a:pPr marL="171450" lvl="1" indent="-171450" algn="l" defTabSz="800100">
            <a:lnSpc>
              <a:spcPct val="90000"/>
            </a:lnSpc>
            <a:spcBef>
              <a:spcPct val="0"/>
            </a:spcBef>
            <a:spcAft>
              <a:spcPct val="15000"/>
            </a:spcAft>
            <a:buChar char="•"/>
          </a:pPr>
          <a:r>
            <a:rPr lang="es-MX" sz="1800" kern="1200" dirty="0"/>
            <a:t>Obtención de datos.</a:t>
          </a:r>
          <a:endParaRPr lang="es-ES" sz="1800" kern="1200" dirty="0"/>
        </a:p>
        <a:p>
          <a:pPr marL="171450" lvl="1" indent="-171450" algn="l" defTabSz="800100">
            <a:lnSpc>
              <a:spcPct val="90000"/>
            </a:lnSpc>
            <a:spcBef>
              <a:spcPct val="0"/>
            </a:spcBef>
            <a:spcAft>
              <a:spcPct val="15000"/>
            </a:spcAft>
            <a:buChar char="•"/>
          </a:pPr>
          <a:r>
            <a:rPr lang="es-MX" sz="1800" kern="1200" dirty="0"/>
            <a:t>Realiza el Análisis Exploratorio de Datos.</a:t>
          </a:r>
          <a:endParaRPr lang="es-ES" sz="1800" kern="1200" dirty="0"/>
        </a:p>
        <a:p>
          <a:pPr marL="171450" lvl="1" indent="-171450" algn="l" defTabSz="800100">
            <a:lnSpc>
              <a:spcPct val="90000"/>
            </a:lnSpc>
            <a:spcBef>
              <a:spcPct val="0"/>
            </a:spcBef>
            <a:spcAft>
              <a:spcPct val="15000"/>
            </a:spcAft>
            <a:buChar char="•"/>
          </a:pPr>
          <a:r>
            <a:rPr lang="es-MX" sz="1800" kern="1200" dirty="0"/>
            <a:t>Aplica un algoritmo de agrupamiento.</a:t>
          </a:r>
          <a:endParaRPr lang="es-ES" sz="1800" kern="1200" dirty="0"/>
        </a:p>
        <a:p>
          <a:pPr marL="171450" lvl="1" indent="-171450" algn="l" defTabSz="800100">
            <a:lnSpc>
              <a:spcPct val="90000"/>
            </a:lnSpc>
            <a:spcBef>
              <a:spcPct val="0"/>
            </a:spcBef>
            <a:spcAft>
              <a:spcPct val="15000"/>
            </a:spcAft>
            <a:buChar char="•"/>
          </a:pPr>
          <a:r>
            <a:rPr lang="es-419" sz="1800" kern="1200" dirty="0"/>
            <a:t>Selección de los algoritmos de clasificación a emplear.</a:t>
          </a:r>
          <a:endParaRPr lang="es-ES" sz="1800" kern="1200" dirty="0"/>
        </a:p>
        <a:p>
          <a:pPr marL="171450" lvl="1" indent="-171450" algn="l" defTabSz="800100">
            <a:lnSpc>
              <a:spcPct val="90000"/>
            </a:lnSpc>
            <a:spcBef>
              <a:spcPct val="0"/>
            </a:spcBef>
            <a:spcAft>
              <a:spcPct val="15000"/>
            </a:spcAft>
            <a:buChar char="•"/>
          </a:pPr>
          <a:r>
            <a:rPr lang="es-419" sz="1800" kern="1200" dirty="0"/>
            <a:t>Entrenamiento y Evaluación de Modelos.</a:t>
          </a:r>
          <a:endParaRPr lang="es-ES" sz="1800" kern="1200" dirty="0"/>
        </a:p>
        <a:p>
          <a:pPr marL="171450" lvl="1" indent="-171450" algn="l" defTabSz="800100">
            <a:lnSpc>
              <a:spcPct val="90000"/>
            </a:lnSpc>
            <a:spcBef>
              <a:spcPct val="0"/>
            </a:spcBef>
            <a:spcAft>
              <a:spcPct val="15000"/>
            </a:spcAft>
            <a:buChar char="•"/>
          </a:pPr>
          <a:r>
            <a:rPr lang="es-419" sz="1800" kern="1200" dirty="0"/>
            <a:t>Selección del Mejor Clasificador.</a:t>
          </a:r>
          <a:endParaRPr lang="es-ES" sz="1800" kern="1200" dirty="0"/>
        </a:p>
        <a:p>
          <a:pPr marL="171450" lvl="1" indent="-171450" algn="l" defTabSz="800100">
            <a:lnSpc>
              <a:spcPct val="90000"/>
            </a:lnSpc>
            <a:spcBef>
              <a:spcPct val="0"/>
            </a:spcBef>
            <a:spcAft>
              <a:spcPct val="15000"/>
            </a:spcAft>
            <a:buChar char="•"/>
          </a:pPr>
          <a:r>
            <a:rPr lang="es-419" sz="1800" kern="1200" dirty="0"/>
            <a:t>Implementación del Modelo de Clasificación.</a:t>
          </a:r>
          <a:endParaRPr lang="es-ES" sz="1800" kern="1200" dirty="0"/>
        </a:p>
        <a:p>
          <a:pPr marL="171450" lvl="1" indent="-171450" algn="l" defTabSz="800100">
            <a:lnSpc>
              <a:spcPct val="90000"/>
            </a:lnSpc>
            <a:spcBef>
              <a:spcPct val="0"/>
            </a:spcBef>
            <a:spcAft>
              <a:spcPct val="15000"/>
            </a:spcAft>
            <a:buChar char="•"/>
          </a:pPr>
          <a:r>
            <a:rPr lang="es-ES" sz="1800" kern="1200" dirty="0"/>
            <a:t>Conclusiones</a:t>
          </a:r>
        </a:p>
      </dsp:txBody>
      <dsp:txXfrm>
        <a:off x="0" y="1663017"/>
        <a:ext cx="10972800" cy="3231900"/>
      </dsp:txXfrm>
    </dsp:sp>
    <dsp:sp modelId="{B95FC6DB-B961-475A-844B-1B38D28C7B5E}">
      <dsp:nvSpPr>
        <dsp:cNvPr id="0" name=""/>
        <dsp:cNvSpPr/>
      </dsp:nvSpPr>
      <dsp:spPr>
        <a:xfrm>
          <a:off x="548640" y="1397337"/>
          <a:ext cx="7680960" cy="5313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800100">
            <a:lnSpc>
              <a:spcPct val="90000"/>
            </a:lnSpc>
            <a:spcBef>
              <a:spcPct val="0"/>
            </a:spcBef>
            <a:spcAft>
              <a:spcPct val="35000"/>
            </a:spcAft>
            <a:buFont typeface="+mj-lt"/>
            <a:buNone/>
          </a:pPr>
          <a:r>
            <a:rPr lang="es-MX" sz="1800" b="1" kern="1200" dirty="0"/>
            <a:t>Tareas</a:t>
          </a:r>
          <a:endParaRPr lang="es-ES" sz="1800" kern="1200" dirty="0"/>
        </a:p>
      </dsp:txBody>
      <dsp:txXfrm>
        <a:off x="574579" y="1423276"/>
        <a:ext cx="7629082"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41ABD-6A6D-459F-8462-524ECD93906B}" type="datetimeFigureOut">
              <a:rPr lang="es-ES" smtClean="0"/>
              <a:t>01/06/2025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C34A4-13E2-443F-972C-194BE4D60CDE}" type="slidenum">
              <a:rPr lang="es-ES" smtClean="0"/>
              <a:t>‹Nº›</a:t>
            </a:fld>
            <a:endParaRPr lang="es-ES"/>
          </a:p>
        </p:txBody>
      </p:sp>
    </p:spTree>
    <p:extLst>
      <p:ext uri="{BB962C8B-B14F-4D97-AF65-F5344CB8AC3E}">
        <p14:creationId xmlns:p14="http://schemas.microsoft.com/office/powerpoint/2010/main" val="135087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bing.com/aclick?ld=e8a086sxOcG2oeN2Wo6Mn2ajVUCUxnPAzwuslrOp2iTXXeudmxrNfon7aY5Ff5cExLoiCPrMPALz2bG3KUgj75qC1EUZCHP5W5tpk4ZrNU5Y7-XOizVZkz0AOMLpZg8eb4ywrmHPDW10rzovpE_rCqU8zhii25MRO3mWk5HGPXTLepdmQ7&amp;u=aHR0cHMlM2ElMmYlMmZzcHlodW50ZXIuZW5pZ21hc29mdHdhcmUuY29tJTJmZXMlMmZyYW5zb213YXJlLWVsaW1pbmFyJTJmJTNma3clM2RxdWUlMjUyMGVzJTI1MjByYW5zb213YXJlJTI2bXNjbGtpZCUzZGJlOTAyMGExNjc1OTFiN2YxZTQ2NDZhYjc4MjYxYTkx&amp;rlid=be9020a167591b7f1e4646ab78261a91"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ibm.com/es-es/topics/ransomware"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ionos.es/digitalguide/servidores/seguridad/wannacry/#content-qu-es-wannacry"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www.ionos.es/digitalguide/servidores/seguridad/wannacry/#content-sigue-siendo-wannacry-una-amenaza" TargetMode="External"/><Relationship Id="rId5" Type="http://schemas.openxmlformats.org/officeDocument/2006/relationships/hyperlink" Target="https://www.ionos.es/digitalguide/servidores/seguridad/wannacry/#content-cul-es-el-objetivo-de-wannacry" TargetMode="External"/><Relationship Id="rId4" Type="http://schemas.openxmlformats.org/officeDocument/2006/relationships/hyperlink" Target="https://www.ionos.es/digitalguide/servidores/seguridad/ransomwar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euston96.com/spyware/"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www.avast.com/es-es/c-spyware" TargetMode="External"/><Relationship Id="rId4" Type="http://schemas.openxmlformats.org/officeDocument/2006/relationships/hyperlink" Target="https://significadosweb.com/ejemplos-de-spyware-que-es-caracteristicas-como-usar/"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s.malwarebytes.com/adwar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welivesecurity.com/la-es/2021/11/05/que-es-gusano-informatico-caracteristicas/"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es.wikipedia.org/wiki/Gusano_inform%C3%A1tico" TargetMode="External"/><Relationship Id="rId5" Type="http://schemas.openxmlformats.org/officeDocument/2006/relationships/hyperlink" Target="https://www.iprofesional.com/tecnologia/351891-gusano-informatico-que-es-y-cuales-son-sus-caracteristicas" TargetMode="External"/><Relationship Id="rId4" Type="http://schemas.openxmlformats.org/officeDocument/2006/relationships/hyperlink" Target="https://www.pandasecurity.com/es/security-info/worm/"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s.wired.com/articulos/chatgpt-el-hackeo-apenas-comienza-jailbreaking"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es.wired.com/articulos/inyeccion-de-prompts-mayor-fallo-de-seguridad-de-ia-generativa"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ing.com/search?q=caracteristicas+de+los+troyano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welivesecurity.com/la-es/2020/04/28/grandoreiro-troyano-bancario-dirigido-brasil-espana-mexico-peru/"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msmk.university/ciberseguridad/botnet"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bing.com/search?q=caracteristicas+de+las+botnets"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welivesecurity.com/es/seguridad-iot/apps-streaming-convierten-android-tv-boxes-zombies-ddos/"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www.welivesecurity.com/es/seguridad-iot/botnet-mirai-electrodomesticos-pueden-atacarnos/"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s.malwarebytes.com/malware/"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tecnovanguardia.com.es/guia-completa-como-se-propaga-el-malware-y-como-protegerte/"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computing.es/informes/ransomware-como-prevenir-como-eliminar/"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20minutos.es/minuteca/inteligencia-artificial/" TargetMode="External"/><Relationship Id="rId7" Type="http://schemas.openxmlformats.org/officeDocument/2006/relationships/hyperlink" Target="https://www.20minutos.es/tecnologia/minuteca/noticias-de-tecnologia/"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blog.virustotal.com/2023/04/introducing-virustotal-code-insight.html" TargetMode="External"/><Relationship Id="rId5" Type="http://schemas.openxmlformats.org/officeDocument/2006/relationships/hyperlink" Target="https://www.20minutos.es/minuteca/malware/" TargetMode="External"/><Relationship Id="rId4" Type="http://schemas.openxmlformats.org/officeDocument/2006/relationships/hyperlink" Target="https://www.20minutos.es/tecnologia/ciberseguridad/chatgpt-puede-crear-malware-indetectable-antivirus-asi-han-demostrado-5117371/"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1"/>
            <a:endParaRPr lang="es-ES"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0A1C34A4-13E2-443F-972C-194BE4D60CDE}" type="slidenum">
              <a:rPr lang="es-ES" smtClean="0"/>
              <a:t>5</a:t>
            </a:fld>
            <a:endParaRPr lang="es-ES"/>
          </a:p>
        </p:txBody>
      </p:sp>
    </p:spTree>
    <p:extLst>
      <p:ext uri="{BB962C8B-B14F-4D97-AF65-F5344CB8AC3E}">
        <p14:creationId xmlns:p14="http://schemas.microsoft.com/office/powerpoint/2010/main" val="16894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El </a:t>
            </a:r>
            <a:r>
              <a:rPr lang="es-ES" sz="1200" b="1"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es un tipo de </a:t>
            </a:r>
            <a:r>
              <a:rPr lang="es-ES" sz="1200" b="1" i="0" kern="1200" dirty="0">
                <a:solidFill>
                  <a:schemeClr val="tx1"/>
                </a:solidFill>
                <a:effectLst/>
                <a:latin typeface="+mn-lt"/>
                <a:ea typeface="+mn-ea"/>
                <a:cs typeface="+mn-cs"/>
              </a:rPr>
              <a:t>malware</a:t>
            </a:r>
            <a:r>
              <a:rPr lang="es-ES" sz="1200" b="0" i="0" kern="1200" dirty="0">
                <a:solidFill>
                  <a:schemeClr val="tx1"/>
                </a:solidFill>
                <a:effectLst/>
                <a:latin typeface="+mn-lt"/>
                <a:ea typeface="+mn-ea"/>
                <a:cs typeface="+mn-cs"/>
              </a:rPr>
              <a:t> que bloquea los datos o el dispositivo de una víctima y amenaza con mantenerlo bloqueado hasta que se pague un rescate.</a:t>
            </a:r>
          </a:p>
          <a:p>
            <a:r>
              <a:rPr lang="es-ES" sz="1200" b="0" i="0" kern="1200" dirty="0">
                <a:solidFill>
                  <a:schemeClr val="tx1"/>
                </a:solidFill>
                <a:effectLst/>
                <a:latin typeface="+mn-lt"/>
                <a:ea typeface="+mn-ea"/>
                <a:cs typeface="+mn-cs"/>
              </a:rPr>
              <a:t>Los ataques de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pueden variar desde simples demandas de rescate hasta tácticas más sofisticadas, como la filtración de datos o el ataque a clientes y socios comerciales.</a:t>
            </a:r>
          </a:p>
          <a:p>
            <a:r>
              <a:rPr lang="es-ES" sz="1200" b="1" i="0" kern="1200" dirty="0">
                <a:solidFill>
                  <a:schemeClr val="tx1"/>
                </a:solidFill>
                <a:effectLst/>
                <a:latin typeface="+mn-lt"/>
                <a:ea typeface="+mn-ea"/>
                <a:cs typeface="+mn-cs"/>
                <a:hlinkClick r:id="rId3"/>
              </a:rPr>
              <a:t>Consejo</a:t>
            </a:r>
            <a:r>
              <a:rPr lang="es-ES" sz="1200" b="0" i="0" kern="1200" dirty="0">
                <a:solidFill>
                  <a:schemeClr val="tx1"/>
                </a:solidFill>
                <a:effectLst/>
                <a:latin typeface="+mn-lt"/>
                <a:ea typeface="+mn-ea"/>
                <a:cs typeface="+mn-cs"/>
                <a:hlinkClick r:id="rId3"/>
              </a:rPr>
              <a:t>: Mantén tus sistemas actualizados y realiza copias de seguridad regularmente para protegerte contra el ransomware</a:t>
            </a:r>
            <a:r>
              <a:rPr lang="es-ES" sz="1200" b="0" i="0" kern="1200" baseline="30000" dirty="0">
                <a:solidFill>
                  <a:schemeClr val="tx1"/>
                </a:solidFill>
                <a:effectLst/>
                <a:latin typeface="+mn-lt"/>
                <a:ea typeface="+mn-ea"/>
                <a:cs typeface="+mn-cs"/>
                <a:hlinkClick r:id="rId4"/>
              </a:rPr>
              <a:t>1</a:t>
            </a:r>
            <a:r>
              <a:rPr lang="es-ES" sz="1200" b="0" i="0" kern="1200" dirty="0">
                <a:solidFill>
                  <a:schemeClr val="tx1"/>
                </a:solidFill>
                <a:effectLst/>
                <a:latin typeface="+mn-lt"/>
                <a:ea typeface="+mn-ea"/>
                <a:cs typeface="+mn-cs"/>
              </a:rPr>
              <a:t>.</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7</a:t>
            </a:fld>
            <a:endParaRPr lang="es-ES"/>
          </a:p>
        </p:txBody>
      </p:sp>
    </p:spTree>
    <p:extLst>
      <p:ext uri="{BB962C8B-B14F-4D97-AF65-F5344CB8AC3E}">
        <p14:creationId xmlns:p14="http://schemas.microsoft.com/office/powerpoint/2010/main" val="1853545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La extorsión digital de los hackers inflige más daño económico que la cantidad que se llevan los hackers de un ataque. La mayoría de las empresas afirman haber experimentado pérdidas de datos y tiempo de inactividad como resultado de un ataque de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Estos resultados cuestan muchísimo a una empresa, especialmente a las grandes que tienen cientos de empleados.</a:t>
            </a:r>
          </a:p>
          <a:p>
            <a:r>
              <a:rPr lang="es-ES" sz="1200" b="0" i="0" kern="1200" dirty="0">
                <a:solidFill>
                  <a:schemeClr val="tx1"/>
                </a:solidFill>
                <a:effectLst/>
                <a:latin typeface="+mn-lt"/>
                <a:ea typeface="+mn-ea"/>
                <a:cs typeface="+mn-cs"/>
              </a:rPr>
              <a:t>Un tiempo de inactividad considerable puede traducirse en millones de dólares de ingresos perdidos, un coste desorbitado. El coste medio del tiempo de inactividad debido a un ataque de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se ha duplicado los últimos años.</a:t>
            </a:r>
          </a:p>
          <a:p>
            <a:r>
              <a:rPr lang="es-ES" sz="1200" b="0" i="0" kern="1200" dirty="0">
                <a:solidFill>
                  <a:schemeClr val="tx1"/>
                </a:solidFill>
                <a:effectLst/>
                <a:latin typeface="+mn-lt"/>
                <a:ea typeface="+mn-ea"/>
                <a:cs typeface="+mn-cs"/>
              </a:rPr>
              <a:t>Para empeorar las cosas, el tiempo de inactividad también disminuye la confianza del consumidor, especialmente en las culturas que valoran su relación con las organizaciones con las que tienen una conexión, lo que reducirá también los ingresos futuros.</a:t>
            </a:r>
          </a:p>
          <a:p>
            <a:endParaRPr lang="es-ES" dirty="0"/>
          </a:p>
          <a:p>
            <a:r>
              <a:rPr lang="es-ES" sz="1200" b="0" i="0" kern="1200" dirty="0">
                <a:solidFill>
                  <a:schemeClr val="tx1"/>
                </a:solidFill>
                <a:effectLst/>
                <a:latin typeface="+mn-lt"/>
                <a:ea typeface="+mn-ea"/>
                <a:cs typeface="+mn-cs"/>
              </a:rPr>
              <a:t>Incluso los países con acceso a las tecnologías de seguridad más avanzadas y conscientes de las </a:t>
            </a:r>
            <a:r>
              <a:rPr lang="es-ES" sz="1200" b="0" i="0" kern="1200" dirty="0" err="1">
                <a:solidFill>
                  <a:schemeClr val="tx1"/>
                </a:solidFill>
                <a:effectLst/>
                <a:latin typeface="+mn-lt"/>
                <a:ea typeface="+mn-ea"/>
                <a:cs typeface="+mn-cs"/>
              </a:rPr>
              <a:t>ciberamenazas</a:t>
            </a:r>
            <a:r>
              <a:rPr lang="es-ES" sz="1200" b="0" i="0" kern="1200" dirty="0">
                <a:solidFill>
                  <a:schemeClr val="tx1"/>
                </a:solidFill>
                <a:effectLst/>
                <a:latin typeface="+mn-lt"/>
                <a:ea typeface="+mn-ea"/>
                <a:cs typeface="+mn-cs"/>
              </a:rPr>
              <a:t> pueden sucumbir a este tipo de extorsión digital. Como ves, en Estados Unidos, más de la mitad de las empresas han afirmado haber sufrido un ataque de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el último año.</a:t>
            </a:r>
          </a:p>
          <a:p>
            <a:r>
              <a:rPr lang="es-ES" sz="1200" b="0" i="0" kern="1200" dirty="0">
                <a:solidFill>
                  <a:schemeClr val="tx1"/>
                </a:solidFill>
                <a:effectLst/>
                <a:latin typeface="+mn-lt"/>
                <a:ea typeface="+mn-ea"/>
                <a:cs typeface="+mn-cs"/>
              </a:rPr>
              <a:t>Arabia Saudí, Turquía y China son los tres principales países que sufren incidentes de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que ponen en riesgo su confianza, reputación y negocios.</a:t>
            </a:r>
          </a:p>
          <a:p>
            <a:endParaRPr lang="es-ES" dirty="0"/>
          </a:p>
          <a:p>
            <a:r>
              <a:rPr lang="es-ES" sz="1200" b="0" i="0" kern="1200" dirty="0">
                <a:solidFill>
                  <a:schemeClr val="tx1"/>
                </a:solidFill>
                <a:effectLst/>
                <a:latin typeface="+mn-lt"/>
                <a:ea typeface="+mn-ea"/>
                <a:cs typeface="+mn-cs"/>
              </a:rPr>
              <a:t>El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es relativamente nuevo y evoluciona constantemente, siendo cada vez más sofisticado. El último año surgieron diferentes variantes de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WannaCry, por ejemplo, alcanzó los titulares internacionales en 2017 tras haber desactivado sistemas asociados con organismos gubernamentales de todo el mundo, transporte público, empresas de telecomunicación nacionales, empresas de logística global y múltiples universidades. Tres años después, este supuesto </a:t>
            </a:r>
            <a:r>
              <a:rPr lang="es-ES" sz="1200" b="0" i="0" kern="1200" dirty="0" err="1">
                <a:solidFill>
                  <a:schemeClr val="tx1"/>
                </a:solidFill>
                <a:effectLst/>
                <a:latin typeface="+mn-lt"/>
                <a:ea typeface="+mn-ea"/>
                <a:cs typeface="+mn-cs"/>
              </a:rPr>
              <a:t>ransomware</a:t>
            </a:r>
            <a:r>
              <a:rPr lang="es-ES" sz="1200" b="0" i="0" kern="1200" dirty="0">
                <a:solidFill>
                  <a:schemeClr val="tx1"/>
                </a:solidFill>
                <a:effectLst/>
                <a:latin typeface="+mn-lt"/>
                <a:ea typeface="+mn-ea"/>
                <a:cs typeface="+mn-cs"/>
              </a:rPr>
              <a:t> norcoreano sigue siendo el autor de casi la mitad de los incidentes de Estados Unidos.</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¿Qué es WannaCry?</a:t>
            </a:r>
            <a:r>
              <a:rPr lang="es-ES" sz="1200" b="0" i="0" u="none" strike="noStrike" kern="1200" dirty="0">
                <a:solidFill>
                  <a:schemeClr val="tx1"/>
                </a:solidFill>
                <a:effectLst/>
                <a:latin typeface="+mn-lt"/>
                <a:ea typeface="+mn-ea"/>
                <a:cs typeface="+mn-cs"/>
                <a:hlinkClick r:id="rId3" tooltip="Permalink"/>
              </a:rPr>
              <a:t>¶</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En mayo de 2017 se produjo uno de los peores y más graves ataques de </a:t>
            </a:r>
            <a:r>
              <a:rPr lang="es-ES" sz="1200" b="0" i="0" u="none" strike="noStrike" kern="1200" dirty="0" err="1">
                <a:solidFill>
                  <a:schemeClr val="tx1"/>
                </a:solidFill>
                <a:effectLst/>
                <a:latin typeface="+mn-lt"/>
                <a:ea typeface="+mn-ea"/>
                <a:cs typeface="+mn-cs"/>
                <a:hlinkClick r:id="rId4" tooltip="Ransomware"/>
              </a:rPr>
              <a:t>ransomware</a:t>
            </a:r>
            <a:r>
              <a:rPr lang="es-ES" sz="1200" b="0" i="0" kern="1200" dirty="0">
                <a:solidFill>
                  <a:schemeClr val="tx1"/>
                </a:solidFill>
                <a:effectLst/>
                <a:latin typeface="+mn-lt"/>
                <a:ea typeface="+mn-ea"/>
                <a:cs typeface="+mn-cs"/>
              </a:rPr>
              <a:t> que se ha visto en el mundo hasta el momento. El malware utilizado tenía muchos nombres diferentes y se denominó </a:t>
            </a:r>
            <a:r>
              <a:rPr lang="es-ES" sz="1200" b="1" i="0" kern="1200" dirty="0" err="1">
                <a:solidFill>
                  <a:schemeClr val="tx1"/>
                </a:solidFill>
                <a:effectLst/>
                <a:latin typeface="+mn-lt"/>
                <a:ea typeface="+mn-ea"/>
                <a:cs typeface="+mn-cs"/>
              </a:rPr>
              <a:t>Wana</a:t>
            </a:r>
            <a:r>
              <a:rPr lang="es-ES" sz="1200" b="1" i="0" kern="1200" dirty="0">
                <a:solidFill>
                  <a:schemeClr val="tx1"/>
                </a:solidFill>
                <a:effectLst/>
                <a:latin typeface="+mn-lt"/>
                <a:ea typeface="+mn-ea"/>
                <a:cs typeface="+mn-cs"/>
              </a:rPr>
              <a:t> Decrypt0r 2.0, </a:t>
            </a:r>
            <a:r>
              <a:rPr lang="es-ES" sz="1200" b="1" i="0" kern="1200" dirty="0" err="1">
                <a:solidFill>
                  <a:schemeClr val="tx1"/>
                </a:solidFill>
                <a:effectLst/>
                <a:latin typeface="+mn-lt"/>
                <a:ea typeface="+mn-ea"/>
                <a:cs typeface="+mn-cs"/>
              </a:rPr>
              <a:t>WannaCrypt</a:t>
            </a:r>
            <a:r>
              <a:rPr lang="es-ES" sz="1200" b="1" i="0" kern="1200" dirty="0">
                <a:solidFill>
                  <a:schemeClr val="tx1"/>
                </a:solidFill>
                <a:effectLst/>
                <a:latin typeface="+mn-lt"/>
                <a:ea typeface="+mn-ea"/>
                <a:cs typeface="+mn-cs"/>
              </a:rPr>
              <a:t>, WCRY o </a:t>
            </a:r>
            <a:r>
              <a:rPr lang="es-ES" sz="1200" b="1" i="0" kern="1200" dirty="0" err="1">
                <a:solidFill>
                  <a:schemeClr val="tx1"/>
                </a:solidFill>
                <a:effectLst/>
                <a:latin typeface="+mn-lt"/>
                <a:ea typeface="+mn-ea"/>
                <a:cs typeface="+mn-cs"/>
              </a:rPr>
              <a:t>Wcrypt</a:t>
            </a:r>
            <a:r>
              <a:rPr lang="es-ES" sz="1200" b="0" i="0" kern="1200" dirty="0">
                <a:solidFill>
                  <a:schemeClr val="tx1"/>
                </a:solidFill>
                <a:effectLst/>
                <a:latin typeface="+mn-lt"/>
                <a:ea typeface="+mn-ea"/>
                <a:cs typeface="+mn-cs"/>
              </a:rPr>
              <a:t>, entre otros. Sin embargo, el nombre más conocido de este ciberataque hasta la fecha es WannaCry. Más de </a:t>
            </a:r>
            <a:r>
              <a:rPr lang="es-ES" sz="1200" b="1" i="0" kern="1200" dirty="0">
                <a:solidFill>
                  <a:schemeClr val="tx1"/>
                </a:solidFill>
                <a:effectLst/>
                <a:latin typeface="+mn-lt"/>
                <a:ea typeface="+mn-ea"/>
                <a:cs typeface="+mn-cs"/>
              </a:rPr>
              <a:t>230 000 ordenadores en casi 150 países</a:t>
            </a:r>
            <a:r>
              <a:rPr lang="es-ES" sz="1200" b="0" i="0" kern="1200" dirty="0">
                <a:solidFill>
                  <a:schemeClr val="tx1"/>
                </a:solidFill>
                <a:effectLst/>
                <a:latin typeface="+mn-lt"/>
                <a:ea typeface="+mn-ea"/>
                <a:cs typeface="+mn-cs"/>
              </a:rPr>
              <a:t> fueron atacados y se cifraron archivos y sistemas operativos completos. Los usuarios debían pagar un rescate en forma de bitcoin para descifrar los archivos afectados. Sin embargo, las autoridades desaconsejaron dicho pago.</a:t>
            </a:r>
          </a:p>
          <a:p>
            <a:r>
              <a:rPr lang="es-ES" sz="1200" b="0" i="0" kern="1200" dirty="0">
                <a:solidFill>
                  <a:schemeClr val="tx1"/>
                </a:solidFill>
                <a:effectLst/>
                <a:latin typeface="+mn-lt"/>
                <a:ea typeface="+mn-ea"/>
                <a:cs typeface="+mn-cs"/>
              </a:rPr>
              <a:t>La puerta de entrada de WannaCry fue una </a:t>
            </a:r>
            <a:r>
              <a:rPr lang="es-ES" sz="1200" b="1" i="0" kern="1200" dirty="0">
                <a:solidFill>
                  <a:schemeClr val="tx1"/>
                </a:solidFill>
                <a:effectLst/>
                <a:latin typeface="+mn-lt"/>
                <a:ea typeface="+mn-ea"/>
                <a:cs typeface="+mn-cs"/>
              </a:rPr>
              <a:t>vulnerabilidad de seguridad en Windows</a:t>
            </a:r>
            <a:r>
              <a:rPr lang="es-ES" sz="1200" b="0" i="0" kern="1200" dirty="0">
                <a:solidFill>
                  <a:schemeClr val="tx1"/>
                </a:solidFill>
                <a:effectLst/>
                <a:latin typeface="+mn-lt"/>
                <a:ea typeface="+mn-ea"/>
                <a:cs typeface="+mn-cs"/>
              </a:rPr>
              <a:t> conocida como MS17-010. Los hackers aprovecharon la brecha con la ayuda del </a:t>
            </a:r>
            <a:r>
              <a:rPr lang="es-ES" sz="1200" b="0" i="0" kern="1200" dirty="0" err="1">
                <a:solidFill>
                  <a:schemeClr val="tx1"/>
                </a:solidFill>
                <a:effectLst/>
                <a:latin typeface="+mn-lt"/>
                <a:ea typeface="+mn-ea"/>
                <a:cs typeface="+mn-cs"/>
              </a:rPr>
              <a:t>exploit</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EternalBlue</a:t>
            </a:r>
            <a:r>
              <a:rPr lang="es-ES" sz="1200" b="0" i="0" kern="1200" dirty="0">
                <a:solidFill>
                  <a:schemeClr val="tx1"/>
                </a:solidFill>
                <a:effectLst/>
                <a:latin typeface="+mn-lt"/>
                <a:ea typeface="+mn-ea"/>
                <a:cs typeface="+mn-cs"/>
              </a:rPr>
              <a:t>. Supuestamente, esta técnica fue desarrollada por el servicio de inteligencia estadounidense NSA y utilizada para sus propios fines durante varios años. Cuando un grupo de hackers hizo pública la brecha, Microsoft se enteró del problema e intentó solucionarlo con un parche de seguridad en marzo de 2017. Sin embargo, como el parche no era compatible con todos los sistemas y numerosos usuarios no actualizaron, el sucesor de </a:t>
            </a:r>
            <a:r>
              <a:rPr lang="es-ES" sz="1200" b="0" i="0" kern="1200" dirty="0" err="1">
                <a:solidFill>
                  <a:schemeClr val="tx1"/>
                </a:solidFill>
                <a:effectLst/>
                <a:latin typeface="+mn-lt"/>
                <a:ea typeface="+mn-ea"/>
                <a:cs typeface="+mn-cs"/>
              </a:rPr>
              <a:t>EternalBlue</a:t>
            </a:r>
            <a:r>
              <a:rPr lang="es-ES" sz="1200" b="0" i="0" kern="1200" dirty="0">
                <a:solidFill>
                  <a:schemeClr val="tx1"/>
                </a:solidFill>
                <a:effectLst/>
                <a:latin typeface="+mn-lt"/>
                <a:ea typeface="+mn-ea"/>
                <a:cs typeface="+mn-cs"/>
              </a:rPr>
              <a:t>, WannaCry, pudo propagarse sin obstáculos dos meses después.</a:t>
            </a:r>
          </a:p>
          <a:p>
            <a:r>
              <a:rPr lang="es-ES" sz="1200" b="0" i="0" kern="1200" dirty="0">
                <a:solidFill>
                  <a:schemeClr val="tx1"/>
                </a:solidFill>
                <a:effectLst/>
                <a:latin typeface="+mn-lt"/>
                <a:ea typeface="+mn-ea"/>
                <a:cs typeface="+mn-cs"/>
              </a:rPr>
              <a:t>¿Cuál es el objetivo de WannaCry?</a:t>
            </a:r>
            <a:r>
              <a:rPr lang="es-ES" sz="1200" b="0" i="0" u="none" strike="noStrike" kern="1200" dirty="0">
                <a:solidFill>
                  <a:schemeClr val="tx1"/>
                </a:solidFill>
                <a:effectLst/>
                <a:latin typeface="+mn-lt"/>
                <a:ea typeface="+mn-ea"/>
                <a:cs typeface="+mn-cs"/>
                <a:hlinkClick r:id="rId5" tooltip="Permalink"/>
              </a:rPr>
              <a:t>¶</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WannaCry cifra archivos importantes y bloquea de esta forma a los usuarios. Estos reciben entonces un mensaje informándoles de que sus datos están secuestrados. El objetivo de los hackers detrás de WannaCry es el dinero. En 2017, </a:t>
            </a:r>
            <a:r>
              <a:rPr lang="es-ES" sz="1200" b="1" i="0" kern="1200" dirty="0">
                <a:solidFill>
                  <a:schemeClr val="tx1"/>
                </a:solidFill>
                <a:effectLst/>
                <a:latin typeface="+mn-lt"/>
                <a:ea typeface="+mn-ea"/>
                <a:cs typeface="+mn-cs"/>
              </a:rPr>
              <a:t>a las víctimas se les solicitaba un pago de 300 dólares estadounidenses</a:t>
            </a:r>
            <a:r>
              <a:rPr lang="es-ES" sz="1200" b="0" i="0" kern="1200" dirty="0">
                <a:solidFill>
                  <a:schemeClr val="tx1"/>
                </a:solidFill>
                <a:effectLst/>
                <a:latin typeface="+mn-lt"/>
                <a:ea typeface="+mn-ea"/>
                <a:cs typeface="+mn-cs"/>
              </a:rPr>
              <a:t> por la liberación de sus datos. Si no transferían el dinero a tiempo, esta cantidad se duplicaba. Dado que WannaCry se replica a sí mismo y, por tanto, puede pasar de una red a otra a través de un protocolo de intercambio de archivos, el volumen de usuarios afectados aumentó en poco tiempo. En 2017, varias decenas de miles de ordenadores por hora fueron infectados. Tras los pagos de rescate, ningún dato llegó nunca a descifrarse.</a:t>
            </a:r>
          </a:p>
          <a:p>
            <a:r>
              <a:rPr lang="es-ES" sz="1200" b="0" i="0" kern="1200" dirty="0">
                <a:solidFill>
                  <a:schemeClr val="tx1"/>
                </a:solidFill>
                <a:effectLst/>
                <a:latin typeface="+mn-lt"/>
                <a:ea typeface="+mn-ea"/>
                <a:cs typeface="+mn-cs"/>
              </a:rPr>
              <a:t>¿Sigue siendo WannaCry una amenaza?</a:t>
            </a:r>
            <a:r>
              <a:rPr lang="es-ES" sz="1200" b="0" i="0" u="none" strike="noStrike" kern="1200" dirty="0">
                <a:solidFill>
                  <a:schemeClr val="tx1"/>
                </a:solidFill>
                <a:effectLst/>
                <a:latin typeface="+mn-lt"/>
                <a:ea typeface="+mn-ea"/>
                <a:cs typeface="+mn-cs"/>
                <a:hlinkClick r:id="rId6" tooltip="Permalink"/>
              </a:rPr>
              <a:t>¶</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Afortunadamente, el ataque masivo de 2017 duró solo unos días. Durante su investigación sobre WannaCry, el experto británico en ciberseguridad Marcus Hutchins descubrió una especie de </a:t>
            </a:r>
            <a:r>
              <a:rPr lang="es-ES" sz="1200" b="1" i="0" kern="1200" dirty="0">
                <a:solidFill>
                  <a:schemeClr val="tx1"/>
                </a:solidFill>
                <a:effectLst/>
                <a:latin typeface="+mn-lt"/>
                <a:ea typeface="+mn-ea"/>
                <a:cs typeface="+mn-cs"/>
              </a:rPr>
              <a:t>interruptor de apagado de emergencia</a:t>
            </a:r>
            <a:r>
              <a:rPr lang="es-ES" sz="1200" b="0" i="0" kern="1200" dirty="0">
                <a:solidFill>
                  <a:schemeClr val="tx1"/>
                </a:solidFill>
                <a:effectLst/>
                <a:latin typeface="+mn-lt"/>
                <a:ea typeface="+mn-ea"/>
                <a:cs typeface="+mn-cs"/>
              </a:rPr>
              <a:t> que se había colocado intencionada o accidentalmente en el código del malware. El investigador pudo así registrar un dominio que parara WannaCry. Sin embargo, el peligro no se ha eliminado por completo. En la actualidad siguen circulando versiones más recientes de WannaCry que se envían sin el interruptor de apagado de emergencia. Dado que todas utilizan la misma vulnerabilidad de Windows, se puede minimizar el peligro de este tipo de malware. Otros programas maliciosos, en cambio, son bastante más peligrosos.</a:t>
            </a:r>
          </a:p>
          <a:p>
            <a:endParaRPr lang="es-ES" sz="1200" b="0" i="0" kern="1200" dirty="0">
              <a:solidFill>
                <a:schemeClr val="tx1"/>
              </a:solidFill>
              <a:effectLst/>
              <a:latin typeface="+mn-lt"/>
              <a:ea typeface="+mn-ea"/>
              <a:cs typeface="+mn-cs"/>
            </a:endParaRPr>
          </a:p>
          <a:p>
            <a:endParaRPr lang="es-ES" sz="1200" b="0" i="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8</a:t>
            </a:fld>
            <a:endParaRPr lang="es-ES"/>
          </a:p>
        </p:txBody>
      </p:sp>
    </p:spTree>
    <p:extLst>
      <p:ext uri="{BB962C8B-B14F-4D97-AF65-F5344CB8AC3E}">
        <p14:creationId xmlns:p14="http://schemas.microsoft.com/office/powerpoint/2010/main" val="3565098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spyware</a:t>
            </a:r>
            <a:r>
              <a:rPr lang="es-ES" sz="1200" b="0" i="0" kern="1200" dirty="0">
                <a:solidFill>
                  <a:schemeClr val="tx1"/>
                </a:solidFill>
                <a:effectLst/>
                <a:latin typeface="+mn-lt"/>
                <a:ea typeface="+mn-ea"/>
                <a:cs typeface="+mn-cs"/>
              </a:rPr>
              <a:t> es un tipo de </a:t>
            </a:r>
            <a:r>
              <a:rPr lang="es-ES" sz="1200" b="1" i="0" kern="1200" dirty="0">
                <a:solidFill>
                  <a:schemeClr val="tx1"/>
                </a:solidFill>
                <a:effectLst/>
                <a:latin typeface="+mn-lt"/>
                <a:ea typeface="+mn-ea"/>
                <a:cs typeface="+mn-cs"/>
              </a:rPr>
              <a:t>malware</a:t>
            </a:r>
            <a:r>
              <a:rPr lang="es-ES" sz="1200" b="0" i="0" kern="1200" dirty="0">
                <a:solidFill>
                  <a:schemeClr val="tx1"/>
                </a:solidFill>
                <a:effectLst/>
                <a:latin typeface="+mn-lt"/>
                <a:ea typeface="+mn-ea"/>
                <a:cs typeface="+mn-cs"/>
              </a:rPr>
              <a:t> que se infiltra en sistemas informáticos para recopilar información sin el conocimiento ni la autorización del usuario. Aquí están algunas de sus características clave:</a:t>
            </a:r>
          </a:p>
          <a:p>
            <a:r>
              <a:rPr lang="es-ES" sz="1200" b="1" i="0" kern="1200" dirty="0">
                <a:solidFill>
                  <a:schemeClr val="tx1"/>
                </a:solidFill>
                <a:effectLst/>
                <a:latin typeface="+mn-lt"/>
                <a:ea typeface="+mn-ea"/>
                <a:cs typeface="+mn-cs"/>
              </a:rPr>
              <a:t>Sigiloso y no autorizado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spyware opera en secreto, sin que el usuario lo sepa.</a:t>
            </a:r>
          </a:p>
          <a:p>
            <a:pPr lvl="1"/>
            <a:r>
              <a:rPr lang="es-ES" sz="1200" b="0" i="0" kern="1200" dirty="0">
                <a:solidFill>
                  <a:schemeClr val="tx1"/>
                </a:solidFill>
                <a:effectLst/>
                <a:latin typeface="+mn-lt"/>
                <a:ea typeface="+mn-ea"/>
                <a:cs typeface="+mn-cs"/>
              </a:rPr>
              <a:t>No se solicita ni se autoriza su instalación.</a:t>
            </a:r>
          </a:p>
          <a:p>
            <a:r>
              <a:rPr lang="es-ES" sz="1200" b="1" i="0" kern="1200" dirty="0">
                <a:solidFill>
                  <a:schemeClr val="tx1"/>
                </a:solidFill>
                <a:effectLst/>
                <a:latin typeface="+mn-lt"/>
                <a:ea typeface="+mn-ea"/>
                <a:cs typeface="+mn-cs"/>
              </a:rPr>
              <a:t>Capacidad de recopilación de datos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objetivo principal del spyware es </a:t>
            </a:r>
            <a:r>
              <a:rPr lang="es-ES" sz="1200" b="1" i="0" kern="1200" dirty="0">
                <a:solidFill>
                  <a:schemeClr val="tx1"/>
                </a:solidFill>
                <a:effectLst/>
                <a:latin typeface="+mn-lt"/>
                <a:ea typeface="+mn-ea"/>
                <a:cs typeface="+mn-cs"/>
              </a:rPr>
              <a:t>reunir información</a:t>
            </a:r>
            <a:r>
              <a:rPr lang="es-ES" sz="1200" b="0" i="0" kern="1200" dirty="0">
                <a:solidFill>
                  <a:schemeClr val="tx1"/>
                </a:solidFill>
                <a:effectLst/>
                <a:latin typeface="+mn-lt"/>
                <a:ea typeface="+mn-ea"/>
                <a:cs typeface="+mn-cs"/>
              </a:rPr>
              <a:t> del sistema infectado.</a:t>
            </a:r>
          </a:p>
          <a:p>
            <a:pPr lvl="1"/>
            <a:r>
              <a:rPr lang="es-ES" sz="1200" b="0" i="0" kern="1200" dirty="0">
                <a:solidFill>
                  <a:schemeClr val="tx1"/>
                </a:solidFill>
                <a:effectLst/>
                <a:latin typeface="+mn-lt"/>
                <a:ea typeface="+mn-ea"/>
                <a:cs typeface="+mn-cs"/>
              </a:rPr>
              <a:t>Puede registrar actividades de navegación, contraseñas, historiales y más.</a:t>
            </a:r>
          </a:p>
          <a:p>
            <a:r>
              <a:rPr lang="es-ES" sz="1200" b="1" i="0" kern="1200" dirty="0">
                <a:solidFill>
                  <a:schemeClr val="tx1"/>
                </a:solidFill>
                <a:effectLst/>
                <a:latin typeface="+mn-lt"/>
                <a:ea typeface="+mn-ea"/>
                <a:cs typeface="+mn-cs"/>
              </a:rPr>
              <a:t>Potencial para dañar la privacidad y la seguridad</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Al recopilar datos personales, el spyware </a:t>
            </a:r>
            <a:r>
              <a:rPr lang="es-ES" sz="1200" b="1" i="0" kern="1200" dirty="0">
                <a:solidFill>
                  <a:schemeClr val="tx1"/>
                </a:solidFill>
                <a:effectLst/>
                <a:latin typeface="+mn-lt"/>
                <a:ea typeface="+mn-ea"/>
                <a:cs typeface="+mn-cs"/>
              </a:rPr>
              <a:t>amenaza la privacidad</a:t>
            </a:r>
            <a:r>
              <a:rPr lang="es-ES" sz="1200" b="0" i="0" kern="1200" dirty="0">
                <a:solidFill>
                  <a:schemeClr val="tx1"/>
                </a:solidFill>
                <a:effectLst/>
                <a:latin typeface="+mn-lt"/>
                <a:ea typeface="+mn-ea"/>
                <a:cs typeface="+mn-cs"/>
              </a:rPr>
              <a:t> del usuario.</a:t>
            </a:r>
          </a:p>
          <a:p>
            <a:pPr lvl="1"/>
            <a:r>
              <a:rPr lang="es-ES" sz="1200" b="0" i="0" kern="1200" dirty="0">
                <a:solidFill>
                  <a:schemeClr val="tx1"/>
                </a:solidFill>
                <a:effectLst/>
                <a:latin typeface="+mn-lt"/>
                <a:ea typeface="+mn-ea"/>
                <a:cs typeface="+mn-cs"/>
              </a:rPr>
              <a:t>Puede exponer información confidencial o sensible.</a:t>
            </a:r>
          </a:p>
          <a:p>
            <a:r>
              <a:rPr lang="es-ES" sz="1200" b="1" i="0" kern="1200" dirty="0">
                <a:solidFill>
                  <a:schemeClr val="tx1"/>
                </a:solidFill>
                <a:effectLst/>
                <a:latin typeface="+mn-lt"/>
                <a:ea typeface="+mn-ea"/>
                <a:cs typeface="+mn-cs"/>
              </a:rPr>
              <a:t>Infiltración sin conocimiento del usuario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spyware se instala sin que el usuario lo note.</a:t>
            </a:r>
          </a:p>
          <a:p>
            <a:pPr lvl="1"/>
            <a:r>
              <a:rPr lang="es-ES" sz="1200" b="0" i="0" kern="1200" dirty="0">
                <a:solidFill>
                  <a:schemeClr val="tx1"/>
                </a:solidFill>
                <a:effectLst/>
                <a:latin typeface="+mn-lt"/>
                <a:ea typeface="+mn-ea"/>
                <a:cs typeface="+mn-cs"/>
              </a:rPr>
              <a:t>Puede llegar a través de descargas, correos electrónicos o sitios web comprometidos.</a:t>
            </a:r>
          </a:p>
          <a:p>
            <a:r>
              <a:rPr lang="es-ES" sz="1200" b="0" i="0" kern="1200" dirty="0">
                <a:solidFill>
                  <a:schemeClr val="tx1"/>
                </a:solidFill>
                <a:effectLst/>
                <a:latin typeface="+mn-lt"/>
                <a:ea typeface="+mn-ea"/>
                <a:cs typeface="+mn-cs"/>
                <a:hlinkClick r:id="rId3"/>
              </a:rPr>
              <a:t>En resumen, el spyware es una amenaza silenciosa que recopila información personal sin consentimiento, lo que puede afectar la seguridad y la privacidad de los usuarios</a:t>
            </a:r>
            <a:r>
              <a:rPr lang="es-ES" sz="1200" b="0" i="0" kern="1200" baseline="30000" dirty="0">
                <a:solidFill>
                  <a:schemeClr val="tx1"/>
                </a:solidFill>
                <a:effectLst/>
                <a:latin typeface="+mn-lt"/>
                <a:ea typeface="+mn-ea"/>
                <a:cs typeface="+mn-cs"/>
                <a:hlinkClick r:id="rId3"/>
              </a:rPr>
              <a:t>1</a:t>
            </a:r>
            <a:r>
              <a:rPr lang="es-ES" sz="1200" b="0" i="0" kern="1200" baseline="30000" dirty="0">
                <a:solidFill>
                  <a:schemeClr val="tx1"/>
                </a:solidFill>
                <a:effectLst/>
                <a:latin typeface="+mn-lt"/>
                <a:ea typeface="+mn-ea"/>
                <a:cs typeface="+mn-cs"/>
                <a:hlinkClick r:id="rId4"/>
              </a:rPr>
              <a:t>2</a:t>
            </a:r>
            <a:r>
              <a:rPr lang="es-ES" sz="1200" b="0" i="0" kern="1200" dirty="0">
                <a:solidFill>
                  <a:schemeClr val="tx1"/>
                </a:solidFill>
                <a:effectLst/>
                <a:latin typeface="+mn-lt"/>
                <a:ea typeface="+mn-ea"/>
                <a:cs typeface="+mn-cs"/>
              </a:rPr>
              <a:t>.</a:t>
            </a:r>
          </a:p>
          <a:p>
            <a:endParaRPr lang="es-ES" sz="1200" b="1" i="0" kern="1200" dirty="0">
              <a:solidFill>
                <a:schemeClr val="tx1"/>
              </a:solidFill>
              <a:effectLst/>
              <a:latin typeface="+mn-lt"/>
              <a:ea typeface="+mn-ea"/>
              <a:cs typeface="+mn-cs"/>
            </a:endParaRPr>
          </a:p>
          <a:p>
            <a:endParaRPr lang="es-ES" sz="1200" b="1"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Spyware</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spyware</a:t>
            </a:r>
            <a:r>
              <a:rPr lang="es-ES" sz="1200" b="0" i="0" kern="1200" dirty="0">
                <a:solidFill>
                  <a:schemeClr val="tx1"/>
                </a:solidFill>
                <a:effectLst/>
                <a:latin typeface="+mn-lt"/>
                <a:ea typeface="+mn-ea"/>
                <a:cs typeface="+mn-cs"/>
              </a:rPr>
              <a:t> es un tipo de malware que se oculta mientras registra información en secreto sobre las actividades en línea de una víctima.</a:t>
            </a:r>
          </a:p>
          <a:p>
            <a:pPr lvl="1"/>
            <a:r>
              <a:rPr lang="es-ES" sz="1200" b="0" i="0" kern="1200" dirty="0">
                <a:solidFill>
                  <a:schemeClr val="tx1"/>
                </a:solidFill>
                <a:effectLst/>
                <a:latin typeface="+mn-lt"/>
                <a:ea typeface="+mn-ea"/>
                <a:cs typeface="+mn-cs"/>
              </a:rPr>
              <a:t>Puede monitorear y copiar lo que escribes, descargas y almacenas, e incluso activar cámaras y micrófonos sin que te des cuenta.</a:t>
            </a:r>
          </a:p>
          <a:p>
            <a:pPr lvl="1"/>
            <a:r>
              <a:rPr lang="es-ES" sz="1200" b="1" i="0" kern="1200" dirty="0">
                <a:solidFill>
                  <a:schemeClr val="tx1"/>
                </a:solidFill>
                <a:effectLst/>
                <a:latin typeface="+mn-lt"/>
                <a:ea typeface="+mn-ea"/>
                <a:cs typeface="+mn-cs"/>
                <a:hlinkClick r:id="rId5"/>
              </a:rPr>
              <a:t>Consejo</a:t>
            </a:r>
            <a:r>
              <a:rPr lang="es-ES" sz="1200" b="0" i="0" kern="1200" dirty="0">
                <a:solidFill>
                  <a:schemeClr val="tx1"/>
                </a:solidFill>
                <a:effectLst/>
                <a:latin typeface="+mn-lt"/>
                <a:ea typeface="+mn-ea"/>
                <a:cs typeface="+mn-cs"/>
                <a:hlinkClick r:id="rId5"/>
              </a:rPr>
              <a:t>: Utiliza software de seguridad confiable para detectar y prevenir el spyware</a:t>
            </a:r>
            <a:r>
              <a:rPr lang="es-ES" sz="1200" b="0" i="0" kern="1200" baseline="30000" dirty="0">
                <a:solidFill>
                  <a:schemeClr val="tx1"/>
                </a:solidFill>
                <a:effectLst/>
                <a:latin typeface="+mn-lt"/>
                <a:ea typeface="+mn-ea"/>
                <a:cs typeface="+mn-cs"/>
                <a:hlinkClick r:id="rId5"/>
              </a:rPr>
              <a:t>2</a:t>
            </a:r>
            <a:endParaRPr lang="es-ES" sz="1200" b="0" i="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9</a:t>
            </a:fld>
            <a:endParaRPr lang="es-ES"/>
          </a:p>
        </p:txBody>
      </p:sp>
    </p:spTree>
    <p:extLst>
      <p:ext uri="{BB962C8B-B14F-4D97-AF65-F5344CB8AC3E}">
        <p14:creationId xmlns:p14="http://schemas.microsoft.com/office/powerpoint/2010/main" val="3130137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En esta ocasión, se identificaron más de 4000 víctimas del software </a:t>
            </a:r>
            <a:r>
              <a:rPr lang="es-ES" sz="1200" b="0" i="0" kern="1200" dirty="0" err="1">
                <a:solidFill>
                  <a:schemeClr val="tx1"/>
                </a:solidFill>
                <a:effectLst/>
                <a:latin typeface="+mn-lt"/>
                <a:ea typeface="+mn-ea"/>
                <a:cs typeface="+mn-cs"/>
              </a:rPr>
              <a:t>Reptilicus</a:t>
            </a:r>
            <a:r>
              <a:rPr lang="es-ES" sz="1200" b="0" i="0" kern="1200" dirty="0">
                <a:solidFill>
                  <a:schemeClr val="tx1"/>
                </a:solidFill>
                <a:effectLst/>
                <a:latin typeface="+mn-lt"/>
                <a:ea typeface="+mn-ea"/>
                <a:cs typeface="+mn-cs"/>
              </a:rPr>
              <a:t>, una app espía que ofrece todas las funcionalidades típicas: seguimiento GPS; registro de llamadas, mensajes, contactos; espionaje de redes sociales, etc. con números por encima de los miles a excepción de </a:t>
            </a:r>
            <a:r>
              <a:rPr lang="es-ES" sz="1200" b="0" i="0" kern="1200" dirty="0" err="1">
                <a:solidFill>
                  <a:schemeClr val="tx1"/>
                </a:solidFill>
                <a:effectLst/>
                <a:latin typeface="+mn-lt"/>
                <a:ea typeface="+mn-ea"/>
                <a:cs typeface="+mn-cs"/>
              </a:rPr>
              <a:t>MonitorMinor</a:t>
            </a:r>
            <a:r>
              <a:rPr lang="es-ES" sz="1200" b="0" i="0" kern="1200" dirty="0">
                <a:solidFill>
                  <a:schemeClr val="tx1"/>
                </a:solidFill>
                <a:effectLst/>
                <a:latin typeface="+mn-lt"/>
                <a:ea typeface="+mn-ea"/>
                <a:cs typeface="+mn-cs"/>
              </a:rPr>
              <a:t> y </a:t>
            </a:r>
            <a:r>
              <a:rPr lang="es-ES" sz="1200" b="0" i="0" kern="1200" dirty="0" err="1">
                <a:solidFill>
                  <a:schemeClr val="tx1"/>
                </a:solidFill>
                <a:effectLst/>
                <a:latin typeface="+mn-lt"/>
                <a:ea typeface="+mn-ea"/>
                <a:cs typeface="+mn-cs"/>
              </a:rPr>
              <a:t>Hovermon</a:t>
            </a:r>
            <a:r>
              <a:rPr lang="es-ES" sz="1200" b="0" i="0" kern="1200" dirty="0">
                <a:solidFill>
                  <a:schemeClr val="tx1"/>
                </a:solidFill>
                <a:effectLst/>
                <a:latin typeface="+mn-lt"/>
                <a:ea typeface="+mn-ea"/>
                <a:cs typeface="+mn-cs"/>
              </a:rPr>
              <a:t>, ambas apps con unas 800 víctimas a nivel mundial. </a:t>
            </a:r>
            <a:endParaRPr lang="en-US" dirty="0"/>
          </a:p>
          <a:p>
            <a:endParaRPr lang="en-US" dirty="0"/>
          </a:p>
          <a:p>
            <a:r>
              <a:rPr lang="en-US" dirty="0"/>
              <a:t>In 2022, Russia (8,281), Brazil (4,969), and India (1,807) were the top 3 countries with the most affected users. Those three countries remain in leading positions according to Kaspersky statistics since 2019. Compared to previous years, it is noteworthy that the number of affected users in the U.S. has dropped down the ranking and now features in fifth place with 1,295 affected users. Conversely, there has been an increase noted in Iran which has moved up to fourth place with 1,754 affected users. Compared to 2021, however, only Iran features as a new entrant in the top 5 most affected countries. The other four countries – Russia, Brazil, India, and the U.S. – have traditionally featured at the top of the list</a:t>
            </a:r>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10</a:t>
            </a:fld>
            <a:endParaRPr lang="es-ES"/>
          </a:p>
        </p:txBody>
      </p:sp>
    </p:spTree>
    <p:extLst>
      <p:ext uri="{BB962C8B-B14F-4D97-AF65-F5344CB8AC3E}">
        <p14:creationId xmlns:p14="http://schemas.microsoft.com/office/powerpoint/2010/main" val="3251713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adware</a:t>
            </a:r>
            <a:r>
              <a:rPr lang="es-ES" sz="1200" b="0" i="0" kern="1200" dirty="0">
                <a:solidFill>
                  <a:schemeClr val="tx1"/>
                </a:solidFill>
                <a:effectLst/>
                <a:latin typeface="+mn-lt"/>
                <a:ea typeface="+mn-ea"/>
                <a:cs typeface="+mn-cs"/>
              </a:rPr>
              <a:t> es un tipo de </a:t>
            </a:r>
            <a:r>
              <a:rPr lang="es-ES" sz="1200" b="1" i="0" kern="1200" dirty="0">
                <a:solidFill>
                  <a:schemeClr val="tx1"/>
                </a:solidFill>
                <a:effectLst/>
                <a:latin typeface="+mn-lt"/>
                <a:ea typeface="+mn-ea"/>
                <a:cs typeface="+mn-cs"/>
              </a:rPr>
              <a:t>malware</a:t>
            </a:r>
            <a:r>
              <a:rPr lang="es-ES" sz="1200" b="0" i="0" kern="1200" dirty="0">
                <a:solidFill>
                  <a:schemeClr val="tx1"/>
                </a:solidFill>
                <a:effectLst/>
                <a:latin typeface="+mn-lt"/>
                <a:ea typeface="+mn-ea"/>
                <a:cs typeface="+mn-cs"/>
              </a:rPr>
              <a:t> que tiene la capacidad de </a:t>
            </a:r>
            <a:r>
              <a:rPr lang="es-ES" sz="1200" b="1" i="0" kern="1200" dirty="0">
                <a:solidFill>
                  <a:schemeClr val="tx1"/>
                </a:solidFill>
                <a:effectLst/>
                <a:latin typeface="+mn-lt"/>
                <a:ea typeface="+mn-ea"/>
                <a:cs typeface="+mn-cs"/>
              </a:rPr>
              <a:t>acceder a la información personal</a:t>
            </a:r>
            <a:r>
              <a:rPr lang="es-ES" sz="1200" b="0" i="0" kern="1200" dirty="0">
                <a:solidFill>
                  <a:schemeClr val="tx1"/>
                </a:solidFill>
                <a:effectLst/>
                <a:latin typeface="+mn-lt"/>
                <a:ea typeface="+mn-ea"/>
                <a:cs typeface="+mn-cs"/>
              </a:rPr>
              <a:t> de un usuario y, al mismo tiempo, </a:t>
            </a:r>
            <a:r>
              <a:rPr lang="es-ES" sz="1200" b="1" i="0" kern="1200" dirty="0">
                <a:solidFill>
                  <a:schemeClr val="tx1"/>
                </a:solidFill>
                <a:effectLst/>
                <a:latin typeface="+mn-lt"/>
                <a:ea typeface="+mn-ea"/>
                <a:cs typeface="+mn-cs"/>
              </a:rPr>
              <a:t>mostrar anuncios no deseados</a:t>
            </a:r>
            <a:r>
              <a:rPr lang="es-ES" sz="1200" b="0" i="0" kern="1200" dirty="0">
                <a:solidFill>
                  <a:schemeClr val="tx1"/>
                </a:solidFill>
                <a:effectLst/>
                <a:latin typeface="+mn-lt"/>
                <a:ea typeface="+mn-ea"/>
                <a:cs typeface="+mn-cs"/>
              </a:rPr>
              <a:t>. Aquí están algunas de sus características clave:</a:t>
            </a:r>
          </a:p>
          <a:p>
            <a:r>
              <a:rPr lang="es-ES" sz="1200" b="1" i="0" kern="1200" dirty="0">
                <a:solidFill>
                  <a:schemeClr val="tx1"/>
                </a:solidFill>
                <a:effectLst/>
                <a:latin typeface="+mn-lt"/>
                <a:ea typeface="+mn-ea"/>
                <a:cs typeface="+mn-cs"/>
              </a:rPr>
              <a:t>Consumo de recursos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adware puede </a:t>
            </a:r>
            <a:r>
              <a:rPr lang="es-ES" sz="1200" b="1" i="0" kern="1200" dirty="0">
                <a:solidFill>
                  <a:schemeClr val="tx1"/>
                </a:solidFill>
                <a:effectLst/>
                <a:latin typeface="+mn-lt"/>
                <a:ea typeface="+mn-ea"/>
                <a:cs typeface="+mn-cs"/>
              </a:rPr>
              <a:t>consumir toda la capacidad de procesamiento</a:t>
            </a:r>
            <a:r>
              <a:rPr lang="es-ES" sz="1200" b="0" i="0" kern="1200" dirty="0">
                <a:solidFill>
                  <a:schemeClr val="tx1"/>
                </a:solidFill>
                <a:effectLst/>
                <a:latin typeface="+mn-lt"/>
                <a:ea typeface="+mn-ea"/>
                <a:cs typeface="+mn-cs"/>
              </a:rPr>
              <a:t> de un computador.</a:t>
            </a:r>
          </a:p>
          <a:p>
            <a:pPr lvl="1"/>
            <a:r>
              <a:rPr lang="es-ES" sz="1200" b="0" i="0" kern="1200" dirty="0">
                <a:solidFill>
                  <a:schemeClr val="tx1"/>
                </a:solidFill>
                <a:effectLst/>
                <a:latin typeface="+mn-lt"/>
                <a:ea typeface="+mn-ea"/>
                <a:cs typeface="+mn-cs"/>
              </a:rPr>
              <a:t>Esto puede ralentizar el dispositivo y afectar su rendimiento.</a:t>
            </a:r>
          </a:p>
          <a:p>
            <a:r>
              <a:rPr lang="es-ES" sz="1200" b="1" i="0" kern="1200" dirty="0">
                <a:solidFill>
                  <a:schemeClr val="tx1"/>
                </a:solidFill>
                <a:effectLst/>
                <a:latin typeface="+mn-lt"/>
                <a:ea typeface="+mn-ea"/>
                <a:cs typeface="+mn-cs"/>
              </a:rPr>
              <a:t>Descargas y ejecución de anuncios lentas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La presencia de adware </a:t>
            </a:r>
            <a:r>
              <a:rPr lang="es-ES" sz="1200" b="1" i="0" kern="1200" dirty="0">
                <a:solidFill>
                  <a:schemeClr val="tx1"/>
                </a:solidFill>
                <a:effectLst/>
                <a:latin typeface="+mn-lt"/>
                <a:ea typeface="+mn-ea"/>
                <a:cs typeface="+mn-cs"/>
              </a:rPr>
              <a:t>ralentiza las descargas y la ejecución de anuncios</a:t>
            </a:r>
            <a:r>
              <a:rPr lang="es-ES" sz="1200" b="0" i="0" kern="1200" dirty="0">
                <a:solidFill>
                  <a:schemeClr val="tx1"/>
                </a:solidFill>
                <a:effectLst/>
                <a:latin typeface="+mn-lt"/>
                <a:ea typeface="+mn-ea"/>
                <a:cs typeface="+mn-cs"/>
              </a:rPr>
              <a:t> en el dispositivo.</a:t>
            </a:r>
          </a:p>
          <a:p>
            <a:pPr lvl="1"/>
            <a:r>
              <a:rPr lang="es-ES" sz="1200" b="0" i="0" kern="1200" dirty="0">
                <a:solidFill>
                  <a:schemeClr val="tx1"/>
                </a:solidFill>
                <a:effectLst/>
                <a:latin typeface="+mn-lt"/>
                <a:ea typeface="+mn-ea"/>
                <a:cs typeface="+mn-cs"/>
              </a:rPr>
              <a:t>Esto puede ser frustrante para el usuario.</a:t>
            </a:r>
          </a:p>
          <a:p>
            <a:r>
              <a:rPr lang="es-ES" sz="1200" b="1" i="0" kern="1200" dirty="0">
                <a:solidFill>
                  <a:schemeClr val="tx1"/>
                </a:solidFill>
                <a:effectLst/>
                <a:latin typeface="+mn-lt"/>
                <a:ea typeface="+mn-ea"/>
                <a:cs typeface="+mn-cs"/>
              </a:rPr>
              <a:t>Genera un mayor gasto de datos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anuncios continuos generados por el adware </a:t>
            </a:r>
            <a:r>
              <a:rPr lang="es-ES" sz="1200" b="1" i="0" kern="1200" dirty="0">
                <a:solidFill>
                  <a:schemeClr val="tx1"/>
                </a:solidFill>
                <a:effectLst/>
                <a:latin typeface="+mn-lt"/>
                <a:ea typeface="+mn-ea"/>
                <a:cs typeface="+mn-cs"/>
              </a:rPr>
              <a:t>consumen más datos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Esto puede afectar la velocidad de navegación y aumentar los costos de uso de Internet.</a:t>
            </a:r>
          </a:p>
          <a:p>
            <a:r>
              <a:rPr lang="es-ES" sz="1200" b="1" i="0" kern="1200" dirty="0">
                <a:solidFill>
                  <a:schemeClr val="tx1"/>
                </a:solidFill>
                <a:effectLst/>
                <a:latin typeface="+mn-lt"/>
                <a:ea typeface="+mn-ea"/>
                <a:cs typeface="+mn-cs"/>
              </a:rPr>
              <a:t>Software publicitario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adware es, en esencia, un </a:t>
            </a:r>
            <a:r>
              <a:rPr lang="es-ES" sz="1200" b="1" i="0" kern="1200" dirty="0">
                <a:solidFill>
                  <a:schemeClr val="tx1"/>
                </a:solidFill>
                <a:effectLst/>
                <a:latin typeface="+mn-lt"/>
                <a:ea typeface="+mn-ea"/>
                <a:cs typeface="+mn-cs"/>
              </a:rPr>
              <a:t>software publicitario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Su objetivo principal es mostrar anuncios en la interfaz del usuario.</a:t>
            </a:r>
          </a:p>
          <a:p>
            <a:r>
              <a:rPr lang="es-ES" sz="1200" b="1" i="0" kern="1200" dirty="0">
                <a:solidFill>
                  <a:schemeClr val="tx1"/>
                </a:solidFill>
                <a:effectLst/>
                <a:latin typeface="+mn-lt"/>
                <a:ea typeface="+mn-ea"/>
                <a:cs typeface="+mn-cs"/>
              </a:rPr>
              <a:t>Instalación sin intervención del usuario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A menudo, el adware </a:t>
            </a:r>
            <a:r>
              <a:rPr lang="es-ES" sz="1200" b="1" i="0" kern="1200" dirty="0">
                <a:solidFill>
                  <a:schemeClr val="tx1"/>
                </a:solidFill>
                <a:effectLst/>
                <a:latin typeface="+mn-lt"/>
                <a:ea typeface="+mn-ea"/>
                <a:cs typeface="+mn-cs"/>
              </a:rPr>
              <a:t>no necesita la manipulación del usuario para ser instalado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Puede infiltrarse en el sistema sin que el usuario lo sepa.</a:t>
            </a:r>
          </a:p>
          <a:p>
            <a:r>
              <a:rPr lang="es-ES" sz="1200" b="1" i="0" kern="1200" dirty="0">
                <a:solidFill>
                  <a:schemeClr val="tx1"/>
                </a:solidFill>
                <a:effectLst/>
                <a:latin typeface="+mn-lt"/>
                <a:ea typeface="+mn-ea"/>
                <a:cs typeface="+mn-cs"/>
              </a:rPr>
              <a:t>Anuncios persistentes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anuncios generados por el adware </a:t>
            </a:r>
            <a:r>
              <a:rPr lang="es-ES" sz="1200" b="1" i="0" kern="1200" dirty="0">
                <a:solidFill>
                  <a:schemeClr val="tx1"/>
                </a:solidFill>
                <a:effectLst/>
                <a:latin typeface="+mn-lt"/>
                <a:ea typeface="+mn-ea"/>
                <a:cs typeface="+mn-cs"/>
              </a:rPr>
              <a:t>aparecen de forma continua</a:t>
            </a:r>
            <a:r>
              <a:rPr lang="es-ES" sz="1200" b="0" i="0" kern="1200" dirty="0">
                <a:solidFill>
                  <a:schemeClr val="tx1"/>
                </a:solidFill>
                <a:effectLst/>
                <a:latin typeface="+mn-lt"/>
                <a:ea typeface="+mn-ea"/>
                <a:cs typeface="+mn-cs"/>
              </a:rPr>
              <a:t> en la interfaz.</a:t>
            </a:r>
          </a:p>
          <a:p>
            <a:pPr lvl="1"/>
            <a:r>
              <a:rPr lang="es-ES" sz="1200" b="0" i="0" kern="1200" dirty="0">
                <a:solidFill>
                  <a:schemeClr val="tx1"/>
                </a:solidFill>
                <a:effectLst/>
                <a:latin typeface="+mn-lt"/>
                <a:ea typeface="+mn-ea"/>
                <a:cs typeface="+mn-cs"/>
              </a:rPr>
              <a:t>Esto puede ser molesto y dificultar la experiencia de navegación.</a:t>
            </a:r>
          </a:p>
          <a:p>
            <a:r>
              <a:rPr lang="es-ES" sz="1200" b="1" i="0" kern="1200" dirty="0">
                <a:solidFill>
                  <a:schemeClr val="tx1"/>
                </a:solidFill>
                <a:effectLst/>
                <a:latin typeface="+mn-lt"/>
                <a:ea typeface="+mn-ea"/>
                <a:cs typeface="+mn-cs"/>
              </a:rPr>
              <a:t>Seguimiento del patrón de navegación</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adware </a:t>
            </a:r>
            <a:r>
              <a:rPr lang="es-ES" sz="1200" b="1" i="0" kern="1200" dirty="0">
                <a:solidFill>
                  <a:schemeClr val="tx1"/>
                </a:solidFill>
                <a:effectLst/>
                <a:latin typeface="+mn-lt"/>
                <a:ea typeface="+mn-ea"/>
                <a:cs typeface="+mn-cs"/>
              </a:rPr>
              <a:t>sigue el patrón de navegación</a:t>
            </a:r>
            <a:r>
              <a:rPr lang="es-ES" sz="1200" b="0" i="0" kern="1200" dirty="0">
                <a:solidFill>
                  <a:schemeClr val="tx1"/>
                </a:solidFill>
                <a:effectLst/>
                <a:latin typeface="+mn-lt"/>
                <a:ea typeface="+mn-ea"/>
                <a:cs typeface="+mn-cs"/>
              </a:rPr>
              <a:t> del usuario para mostrar anuncios relevantes.</a:t>
            </a:r>
          </a:p>
          <a:p>
            <a:endParaRPr lang="es-ES" sz="1200" b="1" i="0" kern="1200" dirty="0">
              <a:solidFill>
                <a:schemeClr val="tx1"/>
              </a:solidFill>
              <a:effectLst/>
              <a:latin typeface="+mn-lt"/>
              <a:ea typeface="+mn-ea"/>
              <a:cs typeface="+mn-cs"/>
            </a:endParaRPr>
          </a:p>
          <a:p>
            <a:endParaRPr lang="es-ES" sz="1200" b="1" i="0"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Adware</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a:t>
            </a:r>
            <a:r>
              <a:rPr lang="es-ES" sz="1200" b="1" i="0" kern="1200" dirty="0">
                <a:solidFill>
                  <a:schemeClr val="tx1"/>
                </a:solidFill>
                <a:effectLst/>
                <a:latin typeface="+mn-lt"/>
                <a:ea typeface="+mn-ea"/>
                <a:cs typeface="+mn-cs"/>
              </a:rPr>
              <a:t>adware</a:t>
            </a:r>
            <a:r>
              <a:rPr lang="es-ES" sz="1200" b="0" i="0" kern="1200" dirty="0">
                <a:solidFill>
                  <a:schemeClr val="tx1"/>
                </a:solidFill>
                <a:effectLst/>
                <a:latin typeface="+mn-lt"/>
                <a:ea typeface="+mn-ea"/>
                <a:cs typeface="+mn-cs"/>
              </a:rPr>
              <a:t> es un software no deseado que muestra anuncios en la pantalla, generalmente en un navegador.</a:t>
            </a:r>
          </a:p>
          <a:p>
            <a:pPr lvl="1"/>
            <a:r>
              <a:rPr lang="es-ES" sz="1200" b="0" i="0" kern="1200" dirty="0">
                <a:solidFill>
                  <a:schemeClr val="tx1"/>
                </a:solidFill>
                <a:effectLst/>
                <a:latin typeface="+mn-lt"/>
                <a:ea typeface="+mn-ea"/>
                <a:cs typeface="+mn-cs"/>
              </a:rPr>
              <a:t>A menudo se camufla como software legítimo y puede ser molesto al inundar tu experiencia de navegación con anuncios no deseados.</a:t>
            </a:r>
          </a:p>
          <a:p>
            <a:pPr lvl="1"/>
            <a:r>
              <a:rPr lang="es-ES" sz="1200" b="1" i="0" kern="1200" dirty="0">
                <a:solidFill>
                  <a:schemeClr val="tx1"/>
                </a:solidFill>
                <a:effectLst/>
                <a:latin typeface="+mn-lt"/>
                <a:ea typeface="+mn-ea"/>
                <a:cs typeface="+mn-cs"/>
                <a:hlinkClick r:id="rId3"/>
              </a:rPr>
              <a:t>Consejo</a:t>
            </a:r>
            <a:r>
              <a:rPr lang="es-ES" sz="1200" b="0" i="0" kern="1200" dirty="0">
                <a:solidFill>
                  <a:schemeClr val="tx1"/>
                </a:solidFill>
                <a:effectLst/>
                <a:latin typeface="+mn-lt"/>
                <a:ea typeface="+mn-ea"/>
                <a:cs typeface="+mn-cs"/>
                <a:hlinkClick r:id="rId3"/>
              </a:rPr>
              <a:t>: Mantén tu software actualizado y evita hacer clic en anuncios sospechosos</a:t>
            </a:r>
            <a:r>
              <a:rPr lang="es-ES" sz="1200" b="0" i="0" kern="1200" baseline="30000" dirty="0">
                <a:solidFill>
                  <a:schemeClr val="tx1"/>
                </a:solidFill>
                <a:effectLst/>
                <a:latin typeface="+mn-lt"/>
                <a:ea typeface="+mn-ea"/>
                <a:cs typeface="+mn-cs"/>
                <a:hlinkClick r:id="rId3"/>
              </a:rPr>
              <a:t>3</a:t>
            </a:r>
            <a:r>
              <a:rPr lang="es-ES" sz="1200" b="0" i="0" kern="1200" dirty="0">
                <a:solidFill>
                  <a:schemeClr val="tx1"/>
                </a:solidFill>
                <a:effectLst/>
                <a:latin typeface="+mn-lt"/>
                <a:ea typeface="+mn-ea"/>
                <a:cs typeface="+mn-cs"/>
              </a:rPr>
              <a:t>.</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11</a:t>
            </a:fld>
            <a:endParaRPr lang="es-ES"/>
          </a:p>
        </p:txBody>
      </p:sp>
    </p:spTree>
    <p:extLst>
      <p:ext uri="{BB962C8B-B14F-4D97-AF65-F5344CB8AC3E}">
        <p14:creationId xmlns:p14="http://schemas.microsoft.com/office/powerpoint/2010/main" val="2161448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Según el último informe de Amenazas de Avast (marca de consumo líder mundial en seguridad digital y privacidad de Gen™), se ha registrado un aumento de la actividad de adware </a:t>
            </a:r>
            <a:r>
              <a:rPr lang="es-ES" sz="1200" b="0" i="0" kern="1200" dirty="0" err="1">
                <a:solidFill>
                  <a:schemeClr val="tx1"/>
                </a:solidFill>
                <a:effectLst/>
                <a:latin typeface="+mn-lt"/>
                <a:ea typeface="+mn-ea"/>
                <a:cs typeface="+mn-cs"/>
              </a:rPr>
              <a:t>DealPly</a:t>
            </a:r>
            <a:r>
              <a:rPr lang="es-ES" sz="1200" b="0" i="0" kern="1200" dirty="0">
                <a:solidFill>
                  <a:schemeClr val="tx1"/>
                </a:solidFill>
                <a:effectLst/>
                <a:latin typeface="+mn-lt"/>
                <a:ea typeface="+mn-ea"/>
                <a:cs typeface="+mn-cs"/>
              </a:rPr>
              <a:t> hacia el final del tercer trimestre de 2022.</a:t>
            </a:r>
          </a:p>
          <a:p>
            <a:r>
              <a:rPr lang="es-ES" sz="1200" b="0" i="0" kern="1200" dirty="0">
                <a:solidFill>
                  <a:schemeClr val="tx1"/>
                </a:solidFill>
                <a:effectLst/>
                <a:latin typeface="+mn-lt"/>
                <a:ea typeface="+mn-ea"/>
                <a:cs typeface="+mn-cs"/>
              </a:rPr>
              <a:t>Este adware es una extensión de Chrome, capaz de modificar las nuevas páginas dentro del navegador y puede reemplazar las pestañas recién abiertas, leer el historial del navegador, cambiar los marcadores y gestionar las aplicaciones, extensiones y temas del navegador.</a:t>
            </a:r>
          </a:p>
          <a:p>
            <a:r>
              <a:rPr lang="es-ES" sz="1200" b="0" i="0" kern="1200" dirty="0">
                <a:solidFill>
                  <a:schemeClr val="tx1"/>
                </a:solidFill>
                <a:effectLst/>
                <a:latin typeface="+mn-lt"/>
                <a:ea typeface="+mn-ea"/>
                <a:cs typeface="+mn-cs"/>
              </a:rPr>
              <a:t>Los ciberdelincuentes – gracias a estas capacidades – pueden modificar los resultados de las búsquedas y sustituirlos por anuncios, leer las contraseñas y los datos de las tarjetas de crédito almacenados en el navegador y leer lo que los usuarios introducen en los formularios, así como lo que rellenaron en el pasado.</a:t>
            </a:r>
          </a:p>
          <a:p>
            <a:r>
              <a:rPr lang="es-ES" sz="1200" b="0" i="0" kern="1200" dirty="0">
                <a:solidFill>
                  <a:schemeClr val="tx1"/>
                </a:solidFill>
                <a:effectLst/>
                <a:latin typeface="+mn-lt"/>
                <a:ea typeface="+mn-ea"/>
                <a:cs typeface="+mn-cs"/>
              </a:rPr>
              <a:t>Cabe evidenciar que se trata siempre de una cuestión de cultura de </a:t>
            </a:r>
            <a:r>
              <a:rPr lang="es-ES" sz="1200" b="0" i="0" kern="1200" dirty="0" err="1">
                <a:solidFill>
                  <a:schemeClr val="tx1"/>
                </a:solidFill>
                <a:effectLst/>
                <a:latin typeface="+mn-lt"/>
                <a:ea typeface="+mn-ea"/>
                <a:cs typeface="+mn-cs"/>
              </a:rPr>
              <a:t>ciberresiliencia</a:t>
            </a:r>
            <a:r>
              <a:rPr lang="es-ES" sz="1200" b="0" i="0" kern="1200" dirty="0">
                <a:solidFill>
                  <a:schemeClr val="tx1"/>
                </a:solidFill>
                <a:effectLst/>
                <a:latin typeface="+mn-lt"/>
                <a:ea typeface="+mn-ea"/>
                <a:cs typeface="+mn-cs"/>
              </a:rPr>
              <a:t>, que presupone la implementación de los principios de gestión del riesgo, de continuidad de negocios y de ciberseguridad, poniendo siempre al centro las personas que necesitan continua y adecuada formación y entrenamiento.</a:t>
            </a:r>
          </a:p>
        </p:txBody>
      </p:sp>
      <p:sp>
        <p:nvSpPr>
          <p:cNvPr id="4" name="Marcador de número de diapositiva 3"/>
          <p:cNvSpPr>
            <a:spLocks noGrp="1"/>
          </p:cNvSpPr>
          <p:nvPr>
            <p:ph type="sldNum" sz="quarter" idx="5"/>
          </p:nvPr>
        </p:nvSpPr>
        <p:spPr/>
        <p:txBody>
          <a:bodyPr/>
          <a:lstStyle/>
          <a:p>
            <a:fld id="{0A1C34A4-13E2-443F-972C-194BE4D60CDE}" type="slidenum">
              <a:rPr lang="es-ES" smtClean="0"/>
              <a:t>12</a:t>
            </a:fld>
            <a:endParaRPr lang="es-ES"/>
          </a:p>
        </p:txBody>
      </p:sp>
    </p:spTree>
    <p:extLst>
      <p:ext uri="{BB962C8B-B14F-4D97-AF65-F5344CB8AC3E}">
        <p14:creationId xmlns:p14="http://schemas.microsoft.com/office/powerpoint/2010/main" val="2295148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i="0" kern="1200" dirty="0" err="1">
                <a:solidFill>
                  <a:schemeClr val="tx1"/>
                </a:solidFill>
                <a:effectLst/>
                <a:latin typeface="+mn-lt"/>
                <a:ea typeface="+mn-ea"/>
                <a:cs typeface="+mn-cs"/>
              </a:rPr>
              <a:t>Auto-replicación</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gusanos tienen la capacidad de </a:t>
            </a:r>
            <a:r>
              <a:rPr lang="es-ES" sz="1200" b="1" i="0" kern="1200" dirty="0">
                <a:solidFill>
                  <a:schemeClr val="tx1"/>
                </a:solidFill>
                <a:effectLst/>
                <a:latin typeface="+mn-lt"/>
                <a:ea typeface="+mn-ea"/>
                <a:cs typeface="+mn-cs"/>
              </a:rPr>
              <a:t>autogenerarse y propagarse</a:t>
            </a:r>
            <a:r>
              <a:rPr lang="es-ES" sz="1200" b="0" i="0" kern="1200" dirty="0">
                <a:solidFill>
                  <a:schemeClr val="tx1"/>
                </a:solidFill>
                <a:effectLst/>
                <a:latin typeface="+mn-lt"/>
                <a:ea typeface="+mn-ea"/>
                <a:cs typeface="+mn-cs"/>
              </a:rPr>
              <a:t> sin intervención humana.</a:t>
            </a:r>
          </a:p>
          <a:p>
            <a:pPr lvl="1"/>
            <a:r>
              <a:rPr lang="es-ES" sz="1200" b="0" i="0" kern="1200" dirty="0">
                <a:solidFill>
                  <a:schemeClr val="tx1"/>
                </a:solidFill>
                <a:effectLst/>
                <a:latin typeface="+mn-lt"/>
                <a:ea typeface="+mn-ea"/>
                <a:cs typeface="+mn-cs"/>
              </a:rPr>
              <a:t>Pueden copiarse a sí mismos y alojarse en diferentes ubicaciones de una computadora o red.</a:t>
            </a:r>
          </a:p>
          <a:p>
            <a:r>
              <a:rPr lang="es-ES" sz="1200" b="1" i="0" kern="1200" dirty="0">
                <a:solidFill>
                  <a:schemeClr val="tx1"/>
                </a:solidFill>
                <a:effectLst/>
                <a:latin typeface="+mn-lt"/>
                <a:ea typeface="+mn-ea"/>
                <a:cs typeface="+mn-cs"/>
              </a:rPr>
              <a:t>Infección masiva</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objetivo principal de un gusano es </a:t>
            </a:r>
            <a:r>
              <a:rPr lang="es-ES" sz="1200" b="1" i="0" kern="1200" dirty="0">
                <a:solidFill>
                  <a:schemeClr val="tx1"/>
                </a:solidFill>
                <a:effectLst/>
                <a:latin typeface="+mn-lt"/>
                <a:ea typeface="+mn-ea"/>
                <a:cs typeface="+mn-cs"/>
              </a:rPr>
              <a:t>afectar la mayor cantidad de equipos posible</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A diferencia de los virus, los gusanos </a:t>
            </a:r>
            <a:r>
              <a:rPr lang="es-ES" sz="1200" b="1" i="0" kern="1200" dirty="0">
                <a:solidFill>
                  <a:schemeClr val="tx1"/>
                </a:solidFill>
                <a:effectLst/>
                <a:latin typeface="+mn-lt"/>
                <a:ea typeface="+mn-ea"/>
                <a:cs typeface="+mn-cs"/>
              </a:rPr>
              <a:t>no infectan archivos individuales</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Rápida propagación</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gusanos pueden </a:t>
            </a:r>
            <a:r>
              <a:rPr lang="es-ES" sz="1200" b="1" i="0" kern="1200" dirty="0">
                <a:solidFill>
                  <a:schemeClr val="tx1"/>
                </a:solidFill>
                <a:effectLst/>
                <a:latin typeface="+mn-lt"/>
                <a:ea typeface="+mn-ea"/>
                <a:cs typeface="+mn-cs"/>
              </a:rPr>
              <a:t>expandirse rápidamente</a:t>
            </a:r>
            <a:r>
              <a:rPr lang="es-ES" sz="1200" b="0" i="0" kern="1200" dirty="0">
                <a:solidFill>
                  <a:schemeClr val="tx1"/>
                </a:solidFill>
                <a:effectLst/>
                <a:latin typeface="+mn-lt"/>
                <a:ea typeface="+mn-ea"/>
                <a:cs typeface="+mn-cs"/>
              </a:rPr>
              <a:t> a través de redes, ya sea en entornos domésticos o corporativos.</a:t>
            </a:r>
          </a:p>
          <a:p>
            <a:pPr lvl="1"/>
            <a:r>
              <a:rPr lang="es-ES" sz="1200" b="0" i="0" kern="1200" dirty="0">
                <a:solidFill>
                  <a:schemeClr val="tx1"/>
                </a:solidFill>
                <a:effectLst/>
                <a:latin typeface="+mn-lt"/>
                <a:ea typeface="+mn-ea"/>
                <a:cs typeface="+mn-cs"/>
              </a:rPr>
              <a:t>Aprovechan vulnerabilidades en la red para acceder a otras máquinas.</a:t>
            </a:r>
          </a:p>
          <a:p>
            <a:r>
              <a:rPr lang="es-ES" sz="1200" b="1" i="0" kern="1200" dirty="0">
                <a:solidFill>
                  <a:schemeClr val="tx1"/>
                </a:solidFill>
                <a:effectLst/>
                <a:latin typeface="+mn-lt"/>
                <a:ea typeface="+mn-ea"/>
                <a:cs typeface="+mn-cs"/>
              </a:rPr>
              <a:t>Consumo de recursos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Al propagarse, los gusanos pueden </a:t>
            </a:r>
            <a:r>
              <a:rPr lang="es-ES" sz="1200" b="1" i="0" kern="1200" dirty="0">
                <a:solidFill>
                  <a:schemeClr val="tx1"/>
                </a:solidFill>
                <a:effectLst/>
                <a:latin typeface="+mn-lt"/>
                <a:ea typeface="+mn-ea"/>
                <a:cs typeface="+mn-cs"/>
              </a:rPr>
              <a:t>ralentizar las máquinas víctimas</a:t>
            </a:r>
            <a:r>
              <a:rPr lang="es-ES" sz="1200" b="0" i="0" kern="1200" dirty="0">
                <a:solidFill>
                  <a:schemeClr val="tx1"/>
                </a:solidFill>
                <a:effectLst/>
                <a:latin typeface="+mn-lt"/>
                <a:ea typeface="+mn-ea"/>
                <a:cs typeface="+mn-cs"/>
              </a:rPr>
              <a:t> o la red en la que se encuentran.</a:t>
            </a:r>
          </a:p>
          <a:p>
            <a:pPr lvl="1"/>
            <a:r>
              <a:rPr lang="es-ES" sz="1200" b="0" i="0" kern="1200" dirty="0">
                <a:solidFill>
                  <a:schemeClr val="tx1"/>
                </a:solidFill>
                <a:effectLst/>
                <a:latin typeface="+mn-lt"/>
                <a:ea typeface="+mn-ea"/>
                <a:cs typeface="+mn-cs"/>
              </a:rPr>
              <a:t>Esto se debe al alto consumo de recursos del equipo o de la red.</a:t>
            </a:r>
          </a:p>
          <a:p>
            <a:r>
              <a:rPr lang="es-ES" sz="1200" b="1" i="0" kern="1200" dirty="0">
                <a:solidFill>
                  <a:schemeClr val="tx1"/>
                </a:solidFill>
                <a:effectLst/>
                <a:latin typeface="+mn-lt"/>
                <a:ea typeface="+mn-ea"/>
                <a:cs typeface="+mn-cs"/>
              </a:rPr>
              <a:t>Métodos de propagación</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gusanos utilizan diversas técnicas para propagarse:</a:t>
            </a:r>
          </a:p>
          <a:p>
            <a:pPr lvl="2"/>
            <a:r>
              <a:rPr lang="es-ES" sz="1200" b="1" i="0" kern="1200" dirty="0">
                <a:solidFill>
                  <a:schemeClr val="tx1"/>
                </a:solidFill>
                <a:effectLst/>
                <a:latin typeface="+mn-lt"/>
                <a:ea typeface="+mn-ea"/>
                <a:cs typeface="+mn-cs"/>
              </a:rPr>
              <a:t>Correo electrónico</a:t>
            </a:r>
            <a:r>
              <a:rPr lang="es-ES" sz="1200" b="0" i="0" kern="1200" dirty="0">
                <a:solidFill>
                  <a:schemeClr val="tx1"/>
                </a:solidFill>
                <a:effectLst/>
                <a:latin typeface="+mn-lt"/>
                <a:ea typeface="+mn-ea"/>
                <a:cs typeface="+mn-cs"/>
              </a:rPr>
              <a:t>: Generan correos automáticos con archivos adjuntos o enlaces maliciosos.</a:t>
            </a:r>
          </a:p>
          <a:p>
            <a:pPr lvl="2"/>
            <a:r>
              <a:rPr lang="es-ES" sz="1200" b="1" i="0" kern="1200" dirty="0">
                <a:solidFill>
                  <a:schemeClr val="tx1"/>
                </a:solidFill>
                <a:effectLst/>
                <a:latin typeface="+mn-lt"/>
                <a:ea typeface="+mn-ea"/>
                <a:cs typeface="+mn-cs"/>
              </a:rPr>
              <a:t>Mensajería instantánea</a:t>
            </a:r>
            <a:r>
              <a:rPr lang="es-ES" sz="1200" b="0" i="0" kern="1200" dirty="0">
                <a:solidFill>
                  <a:schemeClr val="tx1"/>
                </a:solidFill>
                <a:effectLst/>
                <a:latin typeface="+mn-lt"/>
                <a:ea typeface="+mn-ea"/>
                <a:cs typeface="+mn-cs"/>
              </a:rPr>
              <a:t>: Se distribuyen a través de plataformas como WhatsApp o Skype.</a:t>
            </a:r>
          </a:p>
          <a:p>
            <a:pPr lvl="2"/>
            <a:r>
              <a:rPr lang="es-ES" sz="1200" b="1" i="0" kern="1200" dirty="0">
                <a:solidFill>
                  <a:schemeClr val="tx1"/>
                </a:solidFill>
                <a:effectLst/>
                <a:latin typeface="+mn-lt"/>
                <a:ea typeface="+mn-ea"/>
                <a:cs typeface="+mn-cs"/>
              </a:rPr>
              <a:t>Redes P2P</a:t>
            </a:r>
            <a:r>
              <a:rPr lang="es-ES" sz="1200" b="0" i="0" kern="1200" dirty="0">
                <a:solidFill>
                  <a:schemeClr val="tx1"/>
                </a:solidFill>
                <a:effectLst/>
                <a:latin typeface="+mn-lt"/>
                <a:ea typeface="+mn-ea"/>
                <a:cs typeface="+mn-cs"/>
              </a:rPr>
              <a:t>: Utilizan conexiones peer-</a:t>
            </a:r>
            <a:r>
              <a:rPr lang="es-ES" sz="1200" b="0" i="0" kern="1200" dirty="0" err="1">
                <a:solidFill>
                  <a:schemeClr val="tx1"/>
                </a:solidFill>
                <a:effectLst/>
                <a:latin typeface="+mn-lt"/>
                <a:ea typeface="+mn-ea"/>
                <a:cs typeface="+mn-cs"/>
              </a:rPr>
              <a:t>to</a:t>
            </a:r>
            <a:r>
              <a:rPr lang="es-ES" sz="1200" b="0" i="0" kern="1200" dirty="0">
                <a:solidFill>
                  <a:schemeClr val="tx1"/>
                </a:solidFill>
                <a:effectLst/>
                <a:latin typeface="+mn-lt"/>
                <a:ea typeface="+mn-ea"/>
                <a:cs typeface="+mn-cs"/>
              </a:rPr>
              <a:t>-peer para enviar copias de sí mismos.</a:t>
            </a:r>
          </a:p>
          <a:p>
            <a:pPr lvl="2"/>
            <a:r>
              <a:rPr lang="es-ES" sz="1200" b="1" i="0" kern="1200" dirty="0">
                <a:solidFill>
                  <a:schemeClr val="tx1"/>
                </a:solidFill>
                <a:effectLst/>
                <a:latin typeface="+mn-lt"/>
                <a:ea typeface="+mn-ea"/>
                <a:cs typeface="+mn-cs"/>
                <a:hlinkClick r:id="rId3"/>
              </a:rPr>
              <a:t>Sitios web comprometidos</a:t>
            </a:r>
            <a:r>
              <a:rPr lang="es-ES" sz="1200" b="0" i="0" kern="1200" dirty="0">
                <a:solidFill>
                  <a:schemeClr val="tx1"/>
                </a:solidFill>
                <a:effectLst/>
                <a:latin typeface="+mn-lt"/>
                <a:ea typeface="+mn-ea"/>
                <a:cs typeface="+mn-cs"/>
                <a:hlinkClick r:id="rId3"/>
              </a:rPr>
              <a:t>: Infectan sitios web vulnerables</a:t>
            </a:r>
            <a:r>
              <a:rPr lang="es-ES" sz="1200" b="0" i="0" kern="1200" baseline="30000" dirty="0">
                <a:solidFill>
                  <a:schemeClr val="tx1"/>
                </a:solidFill>
                <a:effectLst/>
                <a:latin typeface="+mn-lt"/>
                <a:ea typeface="+mn-ea"/>
                <a:cs typeface="+mn-cs"/>
                <a:hlinkClick r:id="rId3"/>
              </a:rPr>
              <a:t>1</a:t>
            </a:r>
            <a:r>
              <a:rPr lang="es-ES" sz="1200" b="0" i="0" kern="1200" baseline="30000" dirty="0">
                <a:solidFill>
                  <a:schemeClr val="tx1"/>
                </a:solidFill>
                <a:effectLst/>
                <a:latin typeface="+mn-lt"/>
                <a:ea typeface="+mn-ea"/>
                <a:cs typeface="+mn-cs"/>
                <a:hlinkClick r:id="rId4"/>
              </a:rPr>
              <a:t>2</a:t>
            </a:r>
            <a:r>
              <a:rPr lang="es-ES" sz="1200" b="0" i="0" kern="1200" baseline="30000" dirty="0">
                <a:solidFill>
                  <a:schemeClr val="tx1"/>
                </a:solidFill>
                <a:effectLst/>
                <a:latin typeface="+mn-lt"/>
                <a:ea typeface="+mn-ea"/>
                <a:cs typeface="+mn-cs"/>
                <a:hlinkClick r:id="rId5"/>
              </a:rPr>
              <a:t>3</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En resumen, los gusanos informáticos son una amenaza persistente que se propaga rápidamente y puede afectar gravemente la seguridad de las redes y los dispositivos. </a:t>
            </a:r>
            <a:r>
              <a:rPr lang="es-ES" sz="1200" b="0" i="0" kern="1200" dirty="0">
                <a:solidFill>
                  <a:schemeClr val="tx1"/>
                </a:solidFill>
                <a:effectLst/>
                <a:latin typeface="+mn-lt"/>
                <a:ea typeface="+mn-ea"/>
                <a:cs typeface="+mn-cs"/>
                <a:hlinkClick r:id="rId6"/>
              </a:rPr>
              <a:t>Mantener el software actualizado y ser cauteloso al abrir enlaces o archivos adjuntos es fundamental para protegerse contra ellos</a:t>
            </a:r>
            <a:r>
              <a:rPr lang="es-ES" sz="1200" b="0" i="0" kern="1200" baseline="30000" dirty="0">
                <a:solidFill>
                  <a:schemeClr val="tx1"/>
                </a:solidFill>
                <a:effectLst/>
                <a:latin typeface="+mn-lt"/>
                <a:ea typeface="+mn-ea"/>
                <a:cs typeface="+mn-cs"/>
                <a:hlinkClick r:id="rId6"/>
              </a:rPr>
              <a:t>4</a:t>
            </a:r>
            <a:r>
              <a:rPr lang="es-ES" sz="1200" b="0" i="0" kern="1200" dirty="0">
                <a:solidFill>
                  <a:schemeClr val="tx1"/>
                </a:solidFill>
                <a:effectLst/>
                <a:latin typeface="+mn-lt"/>
                <a:ea typeface="+mn-ea"/>
                <a:cs typeface="+mn-cs"/>
              </a:rPr>
              <a:t>.</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13</a:t>
            </a:fld>
            <a:endParaRPr lang="es-ES"/>
          </a:p>
        </p:txBody>
      </p:sp>
    </p:spTree>
    <p:extLst>
      <p:ext uri="{BB962C8B-B14F-4D97-AF65-F5344CB8AC3E}">
        <p14:creationId xmlns:p14="http://schemas.microsoft.com/office/powerpoint/2010/main" val="1802373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https://es.wired.com/articulos/crean-gusanos-informaticos-de-inteligencia-artificial-generativa</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La mayoría de los sistemas de IA generativa funcionan mediante instrucciones de texto que ordenan a las herramientas que respondan a una pregunta o creen una imagen. Sin embargo, estas instrucciones también pueden convertirse en un arma contra el sistema. A través de "</a:t>
            </a:r>
            <a:r>
              <a:rPr lang="es-ES" sz="1200" b="0" i="1" u="sng" kern="1200" dirty="0" err="1">
                <a:solidFill>
                  <a:schemeClr val="tx1"/>
                </a:solidFill>
                <a:effectLst/>
                <a:latin typeface="+mn-lt"/>
                <a:ea typeface="+mn-ea"/>
                <a:cs typeface="+mn-cs"/>
                <a:hlinkClick r:id="rId3"/>
              </a:rPr>
              <a:t>jailbreaks</a:t>
            </a:r>
            <a:r>
              <a:rPr lang="es-ES" sz="1200" b="0" i="0" kern="1200" dirty="0">
                <a:solidFill>
                  <a:schemeClr val="tx1"/>
                </a:solidFill>
                <a:effectLst/>
                <a:latin typeface="+mn-lt"/>
                <a:ea typeface="+mn-ea"/>
                <a:cs typeface="+mn-cs"/>
              </a:rPr>
              <a:t>”, instrucciones diseñadas para que el sistema revele información sobre sí mismo o rompa sus propias reglas de programación, se puede hacer que un sistema haga caso omiso de sus normas de seguridad y emita contenidos tóxicos o que inciten al odio, mientras que los ataques de </a:t>
            </a:r>
            <a:r>
              <a:rPr lang="es-ES" sz="1200" b="1" i="0" u="sng" kern="1200" dirty="0">
                <a:solidFill>
                  <a:schemeClr val="tx1"/>
                </a:solidFill>
                <a:effectLst/>
                <a:latin typeface="+mn-lt"/>
                <a:ea typeface="+mn-ea"/>
                <a:cs typeface="+mn-cs"/>
                <a:hlinkClick r:id="rId4"/>
              </a:rPr>
              <a:t>inyección de instrucciones</a:t>
            </a:r>
            <a:r>
              <a:rPr lang="es-ES" sz="1200" b="0" i="0" kern="1200" dirty="0">
                <a:solidFill>
                  <a:schemeClr val="tx1"/>
                </a:solidFill>
                <a:effectLst/>
                <a:latin typeface="+mn-lt"/>
                <a:ea typeface="+mn-ea"/>
                <a:cs typeface="+mn-cs"/>
              </a:rPr>
              <a:t> pueden dar instrucciones secretas a un </a:t>
            </a:r>
            <a:r>
              <a:rPr lang="es-ES" sz="1200" b="0" i="1" kern="1200" dirty="0" err="1">
                <a:solidFill>
                  <a:schemeClr val="tx1"/>
                </a:solidFill>
                <a:effectLst/>
                <a:latin typeface="+mn-lt"/>
                <a:ea typeface="+mn-ea"/>
                <a:cs typeface="+mn-cs"/>
              </a:rPr>
              <a:t>chatbot</a:t>
            </a:r>
            <a:r>
              <a:rPr lang="es-ES" sz="1200" b="0" i="0" kern="1200" dirty="0">
                <a:solidFill>
                  <a:schemeClr val="tx1"/>
                </a:solidFill>
                <a:effectLst/>
                <a:latin typeface="+mn-lt"/>
                <a:ea typeface="+mn-ea"/>
                <a:cs typeface="+mn-cs"/>
              </a:rPr>
              <a:t>.</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Los ataques de inyección de </a:t>
            </a:r>
            <a:r>
              <a:rPr lang="es-ES" sz="1200" b="0" i="1" kern="1200" dirty="0" err="1">
                <a:solidFill>
                  <a:schemeClr val="tx1"/>
                </a:solidFill>
                <a:effectLst/>
                <a:latin typeface="+mn-lt"/>
                <a:ea typeface="+mn-ea"/>
                <a:cs typeface="+mn-cs"/>
              </a:rPr>
              <a:t>prompts</a:t>
            </a:r>
            <a:r>
              <a:rPr lang="es-ES" sz="1200" b="0" i="0" kern="1200" dirty="0">
                <a:solidFill>
                  <a:schemeClr val="tx1"/>
                </a:solidFill>
                <a:effectLst/>
                <a:latin typeface="+mn-lt"/>
                <a:ea typeface="+mn-ea"/>
                <a:cs typeface="+mn-cs"/>
              </a:rPr>
              <a:t> se dividen en dos categorías: directos e indirectos. Y esta última es la que más alarma a los expertos en seguridad. Cuando se utiliza un LLM, las personas formulan preguntas o dan instrucciones mediante </a:t>
            </a:r>
            <a:r>
              <a:rPr lang="es-ES" sz="1200" b="0" i="1" kern="1200" dirty="0" err="1">
                <a:solidFill>
                  <a:schemeClr val="tx1"/>
                </a:solidFill>
                <a:effectLst/>
                <a:latin typeface="+mn-lt"/>
                <a:ea typeface="+mn-ea"/>
                <a:cs typeface="+mn-cs"/>
              </a:rPr>
              <a:t>prompts</a:t>
            </a:r>
            <a:r>
              <a:rPr lang="es-ES" sz="1200" b="0" i="0" kern="1200" dirty="0">
                <a:solidFill>
                  <a:schemeClr val="tx1"/>
                </a:solidFill>
                <a:effectLst/>
                <a:latin typeface="+mn-lt"/>
                <a:ea typeface="+mn-ea"/>
                <a:cs typeface="+mn-cs"/>
              </a:rPr>
              <a:t> a los que el sistema responde. Las inyecciones directas se producen cuando alguien intenta que el LLM conteste de forma no deseada, por ejemplo, haciendo que genere discursos de odio o respuestas perjudiciales. Las inyecciones indirectas, que son las más preocupantes, van un paso más allá. En lugar de que el usuario introduzca un </a:t>
            </a:r>
            <a:r>
              <a:rPr lang="es-ES" sz="1200" b="0" i="1" kern="1200" dirty="0" err="1">
                <a:solidFill>
                  <a:schemeClr val="tx1"/>
                </a:solidFill>
                <a:effectLst/>
                <a:latin typeface="+mn-lt"/>
                <a:ea typeface="+mn-ea"/>
                <a:cs typeface="+mn-cs"/>
              </a:rPr>
              <a:t>prompt</a:t>
            </a:r>
            <a:r>
              <a:rPr lang="es-ES" sz="1200" b="0" i="0" kern="1200" dirty="0">
                <a:solidFill>
                  <a:schemeClr val="tx1"/>
                </a:solidFill>
                <a:effectLst/>
                <a:latin typeface="+mn-lt"/>
                <a:ea typeface="+mn-ea"/>
                <a:cs typeface="+mn-cs"/>
              </a:rPr>
              <a:t> malicioso, la orden procede de un tercero. Un sitio web que el LLM lea o un PDF que analice podrían, por ejemplo, contener instrucciones ocultas para que las siga el sistema de IA.</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Para crear el gusano de IA generativa, los investigadores recurrieron a lo que se conoce como </a:t>
            </a:r>
            <a:r>
              <a:rPr lang="es-ES" sz="1200" b="1" i="0" kern="1200" dirty="0">
                <a:solidFill>
                  <a:schemeClr val="tx1"/>
                </a:solidFill>
                <a:effectLst/>
                <a:latin typeface="+mn-lt"/>
                <a:ea typeface="+mn-ea"/>
                <a:cs typeface="+mn-cs"/>
              </a:rPr>
              <a:t>“</a:t>
            </a:r>
            <a:r>
              <a:rPr lang="es-ES" sz="1200" b="1" i="1" kern="1200" dirty="0" err="1">
                <a:solidFill>
                  <a:schemeClr val="tx1"/>
                </a:solidFill>
                <a:effectLst/>
                <a:latin typeface="+mn-lt"/>
                <a:ea typeface="+mn-ea"/>
                <a:cs typeface="+mn-cs"/>
              </a:rPr>
              <a:t>prompt</a:t>
            </a:r>
            <a:r>
              <a:rPr lang="es-ES" sz="1200" b="1" i="1" kern="1200" dirty="0">
                <a:solidFill>
                  <a:schemeClr val="tx1"/>
                </a:solidFill>
                <a:effectLst/>
                <a:latin typeface="+mn-lt"/>
                <a:ea typeface="+mn-ea"/>
                <a:cs typeface="+mn-cs"/>
              </a:rPr>
              <a:t> </a:t>
            </a:r>
            <a:r>
              <a:rPr lang="es-ES" sz="1200" b="1" i="1" kern="1200" dirty="0" err="1">
                <a:solidFill>
                  <a:schemeClr val="tx1"/>
                </a:solidFill>
                <a:effectLst/>
                <a:latin typeface="+mn-lt"/>
                <a:ea typeface="+mn-ea"/>
                <a:cs typeface="+mn-cs"/>
              </a:rPr>
              <a:t>autorreplicante</a:t>
            </a:r>
            <a:r>
              <a:rPr lang="es-ES" sz="1200" b="1" i="1" kern="1200" dirty="0">
                <a:solidFill>
                  <a:schemeClr val="tx1"/>
                </a:solidFill>
                <a:effectLst/>
                <a:latin typeface="+mn-lt"/>
                <a:ea typeface="+mn-ea"/>
                <a:cs typeface="+mn-cs"/>
              </a:rPr>
              <a:t> adverso”</a:t>
            </a:r>
            <a:r>
              <a:rPr lang="es-ES" sz="1200" b="0" i="0" kern="1200" dirty="0">
                <a:solidFill>
                  <a:schemeClr val="tx1"/>
                </a:solidFill>
                <a:effectLst/>
                <a:latin typeface="+mn-lt"/>
                <a:ea typeface="+mn-ea"/>
                <a:cs typeface="+mn-cs"/>
              </a:rPr>
              <a:t>, que provoca que el modelo de IA generativa emita, en su respuesta, otro </a:t>
            </a:r>
            <a:r>
              <a:rPr lang="es-ES" sz="1200" b="0" i="1" kern="1200" dirty="0" err="1">
                <a:solidFill>
                  <a:schemeClr val="tx1"/>
                </a:solidFill>
                <a:effectLst/>
                <a:latin typeface="+mn-lt"/>
                <a:ea typeface="+mn-ea"/>
                <a:cs typeface="+mn-cs"/>
              </a:rPr>
              <a:t>prompt</a:t>
            </a:r>
            <a:r>
              <a:rPr lang="es-ES" sz="1200" b="0" i="0" kern="1200" dirty="0">
                <a:solidFill>
                  <a:schemeClr val="tx1"/>
                </a:solidFill>
                <a:effectLst/>
                <a:latin typeface="+mn-lt"/>
                <a:ea typeface="+mn-ea"/>
                <a:cs typeface="+mn-cs"/>
              </a:rPr>
              <a:t>, explican los investigadores. En resumen, se le dice al sistema de IA que produzca un conjunto de instrucciones adicionales en sus respuestas. Esto es muy similar a los ataques tradicionales de inyección SQL y desbordamiento del búfer, dicen los investigadores.</a:t>
            </a:r>
          </a:p>
          <a:p>
            <a:endParaRPr lang="es-ES" sz="1200" b="0" i="0" kern="1200" dirty="0">
              <a:solidFill>
                <a:schemeClr val="tx1"/>
              </a:solidFill>
              <a:effectLst/>
              <a:latin typeface="+mn-lt"/>
              <a:ea typeface="+mn-ea"/>
              <a:cs typeface="+mn-cs"/>
            </a:endParaRPr>
          </a:p>
          <a:p>
            <a:r>
              <a:rPr lang="es-ES" sz="1200" b="1" i="0" kern="1200" dirty="0" err="1">
                <a:solidFill>
                  <a:schemeClr val="tx1"/>
                </a:solidFill>
                <a:effectLst/>
                <a:latin typeface="+mn-lt"/>
                <a:ea typeface="+mn-ea"/>
                <a:cs typeface="+mn-cs"/>
              </a:rPr>
              <a:t>Prompt</a:t>
            </a:r>
            <a:r>
              <a:rPr lang="es-ES" sz="1200" b="1" i="0" kern="1200" dirty="0">
                <a:solidFill>
                  <a:schemeClr val="tx1"/>
                </a:solidFill>
                <a:effectLst/>
                <a:latin typeface="+mn-lt"/>
                <a:ea typeface="+mn-ea"/>
                <a:cs typeface="+mn-cs"/>
              </a:rPr>
              <a:t> </a:t>
            </a:r>
            <a:r>
              <a:rPr lang="es-ES" sz="1200" b="1" i="0" kern="1200" dirty="0" err="1">
                <a:solidFill>
                  <a:schemeClr val="tx1"/>
                </a:solidFill>
                <a:effectLst/>
                <a:latin typeface="+mn-lt"/>
                <a:ea typeface="+mn-ea"/>
                <a:cs typeface="+mn-cs"/>
              </a:rPr>
              <a:t>Autorreplicante</a:t>
            </a:r>
            <a:r>
              <a:rPr lang="es-ES" sz="1200" b="1" i="0" kern="1200" dirty="0">
                <a:solidFill>
                  <a:schemeClr val="tx1"/>
                </a:solidFill>
                <a:effectLst/>
                <a:latin typeface="+mn-lt"/>
                <a:ea typeface="+mn-ea"/>
                <a:cs typeface="+mn-cs"/>
              </a:rPr>
              <a:t> Adverso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Este concepto se basa en la idea de que un modelo de IA generativo, como </a:t>
            </a:r>
            <a:r>
              <a:rPr lang="es-ES" sz="1200" b="1" i="0" kern="1200" dirty="0" err="1">
                <a:solidFill>
                  <a:schemeClr val="tx1"/>
                </a:solidFill>
                <a:effectLst/>
                <a:latin typeface="+mn-lt"/>
                <a:ea typeface="+mn-ea"/>
                <a:cs typeface="+mn-cs"/>
              </a:rPr>
              <a:t>ChatGPT</a:t>
            </a:r>
            <a:r>
              <a:rPr lang="es-ES" sz="1200" b="0" i="0" kern="1200" dirty="0">
                <a:solidFill>
                  <a:schemeClr val="tx1"/>
                </a:solidFill>
                <a:effectLst/>
                <a:latin typeface="+mn-lt"/>
                <a:ea typeface="+mn-ea"/>
                <a:cs typeface="+mn-cs"/>
              </a:rPr>
              <a:t> o </a:t>
            </a:r>
            <a:r>
              <a:rPr lang="es-ES" sz="1200" b="1" i="0" kern="1200" dirty="0">
                <a:solidFill>
                  <a:schemeClr val="tx1"/>
                </a:solidFill>
                <a:effectLst/>
                <a:latin typeface="+mn-lt"/>
                <a:ea typeface="+mn-ea"/>
                <a:cs typeface="+mn-cs"/>
              </a:rPr>
              <a:t>Gemini</a:t>
            </a:r>
            <a:r>
              <a:rPr lang="es-ES" sz="1200" b="0" i="0" kern="1200" dirty="0">
                <a:solidFill>
                  <a:schemeClr val="tx1"/>
                </a:solidFill>
                <a:effectLst/>
                <a:latin typeface="+mn-lt"/>
                <a:ea typeface="+mn-ea"/>
                <a:cs typeface="+mn-cs"/>
              </a:rPr>
              <a:t>, puede ser inducido a generar respuestas que contienen un </a:t>
            </a:r>
            <a:r>
              <a:rPr lang="es-ES" sz="1200" b="0" i="0" kern="1200" dirty="0" err="1">
                <a:solidFill>
                  <a:schemeClr val="tx1"/>
                </a:solidFill>
                <a:effectLst/>
                <a:latin typeface="+mn-lt"/>
                <a:ea typeface="+mn-ea"/>
                <a:cs typeface="+mn-cs"/>
              </a:rPr>
              <a:t>prompt</a:t>
            </a:r>
            <a:r>
              <a:rPr lang="es-ES" sz="1200" b="0" i="0" kern="1200" dirty="0">
                <a:solidFill>
                  <a:schemeClr val="tx1"/>
                </a:solidFill>
                <a:effectLst/>
                <a:latin typeface="+mn-lt"/>
                <a:ea typeface="+mn-ea"/>
                <a:cs typeface="+mn-cs"/>
              </a:rPr>
              <a:t> similar al que se le proporcionó inicialmente.</a:t>
            </a:r>
          </a:p>
          <a:p>
            <a:pPr lvl="1"/>
            <a:r>
              <a:rPr lang="es-ES" sz="1200" b="0" i="0" kern="1200" dirty="0">
                <a:solidFill>
                  <a:schemeClr val="tx1"/>
                </a:solidFill>
                <a:effectLst/>
                <a:latin typeface="+mn-lt"/>
                <a:ea typeface="+mn-ea"/>
                <a:cs typeface="+mn-cs"/>
              </a:rPr>
              <a:t>En otras palabras, el gusano crea un mensaje de correo electrónico con un </a:t>
            </a:r>
            <a:r>
              <a:rPr lang="es-ES" sz="1200" b="0" i="0" kern="1200" dirty="0" err="1">
                <a:solidFill>
                  <a:schemeClr val="tx1"/>
                </a:solidFill>
                <a:effectLst/>
                <a:latin typeface="+mn-lt"/>
                <a:ea typeface="+mn-ea"/>
                <a:cs typeface="+mn-cs"/>
              </a:rPr>
              <a:t>prompt</a:t>
            </a:r>
            <a:r>
              <a:rPr lang="es-ES" sz="1200" b="0" i="0" kern="1200" dirty="0">
                <a:solidFill>
                  <a:schemeClr val="tx1"/>
                </a:solidFill>
                <a:effectLst/>
                <a:latin typeface="+mn-lt"/>
                <a:ea typeface="+mn-ea"/>
                <a:cs typeface="+mn-cs"/>
              </a:rPr>
              <a:t> específico que envenena la base de datos del asistente de correo electrónico.</a:t>
            </a:r>
          </a:p>
          <a:p>
            <a:pPr lvl="1"/>
            <a:r>
              <a:rPr lang="es-ES" sz="1200" b="0" i="0" kern="1200" dirty="0">
                <a:solidFill>
                  <a:schemeClr val="tx1"/>
                </a:solidFill>
                <a:effectLst/>
                <a:latin typeface="+mn-lt"/>
                <a:ea typeface="+mn-ea"/>
                <a:cs typeface="+mn-cs"/>
              </a:rPr>
              <a:t>Este </a:t>
            </a:r>
            <a:r>
              <a:rPr lang="es-ES" sz="1200" b="0" i="0" kern="1200" dirty="0" err="1">
                <a:solidFill>
                  <a:schemeClr val="tx1"/>
                </a:solidFill>
                <a:effectLst/>
                <a:latin typeface="+mn-lt"/>
                <a:ea typeface="+mn-ea"/>
                <a:cs typeface="+mn-cs"/>
              </a:rPr>
              <a:t>prompt</a:t>
            </a:r>
            <a:r>
              <a:rPr lang="es-ES" sz="1200" b="0" i="0" kern="1200" dirty="0">
                <a:solidFill>
                  <a:schemeClr val="tx1"/>
                </a:solidFill>
                <a:effectLst/>
                <a:latin typeface="+mn-lt"/>
                <a:ea typeface="+mn-ea"/>
                <a:cs typeface="+mn-cs"/>
              </a:rPr>
              <a:t> malicioso provoca que el modelo de IA genere respuestas que incluyen el mismo </a:t>
            </a:r>
            <a:r>
              <a:rPr lang="es-ES" sz="1200" b="0" i="0" kern="1200" dirty="0" err="1">
                <a:solidFill>
                  <a:schemeClr val="tx1"/>
                </a:solidFill>
                <a:effectLst/>
                <a:latin typeface="+mn-lt"/>
                <a:ea typeface="+mn-ea"/>
                <a:cs typeface="+mn-cs"/>
              </a:rPr>
              <a:t>prompt</a:t>
            </a:r>
            <a:r>
              <a:rPr lang="es-ES" sz="1200" b="0" i="0" kern="1200" dirty="0">
                <a:solidFill>
                  <a:schemeClr val="tx1"/>
                </a:solidFill>
                <a:effectLst/>
                <a:latin typeface="+mn-lt"/>
                <a:ea typeface="+mn-ea"/>
                <a:cs typeface="+mn-cs"/>
              </a:rPr>
              <a:t>, lo que lleva a un ciclo de autorreplicación.</a:t>
            </a:r>
          </a:p>
          <a:p>
            <a:r>
              <a:rPr lang="es-ES" sz="1200" b="1" i="0" kern="1200" dirty="0">
                <a:solidFill>
                  <a:schemeClr val="tx1"/>
                </a:solidFill>
                <a:effectLst/>
                <a:latin typeface="+mn-lt"/>
                <a:ea typeface="+mn-ea"/>
                <a:cs typeface="+mn-cs"/>
              </a:rPr>
              <a:t>Funcionamiento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El gusano </a:t>
            </a:r>
            <a:r>
              <a:rPr lang="es-ES" sz="1200" b="1" i="0" kern="1200" dirty="0">
                <a:solidFill>
                  <a:schemeClr val="tx1"/>
                </a:solidFill>
                <a:effectLst/>
                <a:latin typeface="+mn-lt"/>
                <a:ea typeface="+mn-ea"/>
                <a:cs typeface="+mn-cs"/>
              </a:rPr>
              <a:t>Morris II</a:t>
            </a:r>
            <a:r>
              <a:rPr lang="es-ES" sz="1200" b="0" i="0" kern="1200" dirty="0">
                <a:solidFill>
                  <a:schemeClr val="tx1"/>
                </a:solidFill>
                <a:effectLst/>
                <a:latin typeface="+mn-lt"/>
                <a:ea typeface="+mn-ea"/>
                <a:cs typeface="+mn-cs"/>
              </a:rPr>
              <a:t> se propaga en sistemas de IA como </a:t>
            </a:r>
            <a:r>
              <a:rPr lang="es-ES" sz="1200" b="1" i="0" kern="1200" dirty="0" err="1">
                <a:solidFill>
                  <a:schemeClr val="tx1"/>
                </a:solidFill>
                <a:effectLst/>
                <a:latin typeface="+mn-lt"/>
                <a:ea typeface="+mn-ea"/>
                <a:cs typeface="+mn-cs"/>
              </a:rPr>
              <a:t>ChatGPT</a:t>
            </a:r>
            <a:r>
              <a:rPr lang="es-ES" sz="1200" b="0" i="0" kern="1200" dirty="0">
                <a:solidFill>
                  <a:schemeClr val="tx1"/>
                </a:solidFill>
                <a:effectLst/>
                <a:latin typeface="+mn-lt"/>
                <a:ea typeface="+mn-ea"/>
                <a:cs typeface="+mn-cs"/>
              </a:rPr>
              <a:t> y </a:t>
            </a:r>
            <a:r>
              <a:rPr lang="es-ES" sz="1200" b="1" i="0" kern="1200" dirty="0">
                <a:solidFill>
                  <a:schemeClr val="tx1"/>
                </a:solidFill>
                <a:effectLst/>
                <a:latin typeface="+mn-lt"/>
                <a:ea typeface="+mn-ea"/>
                <a:cs typeface="+mn-cs"/>
              </a:rPr>
              <a:t>Gemini</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Puede atacar asistentes de correos electrónicos, robar datos y enviar mensajes spam.</a:t>
            </a:r>
          </a:p>
          <a:p>
            <a:pPr lvl="1"/>
            <a:r>
              <a:rPr lang="es-ES" sz="1200" b="0" i="0" kern="1200" dirty="0">
                <a:solidFill>
                  <a:schemeClr val="tx1"/>
                </a:solidFill>
                <a:effectLst/>
                <a:latin typeface="+mn-lt"/>
                <a:ea typeface="+mn-ea"/>
                <a:cs typeface="+mn-cs"/>
              </a:rPr>
              <a:t>Los datos robados pueden incluir números de teléfono, tarjetas de crédito, números de seguro social u otra información confidencial.</a:t>
            </a:r>
          </a:p>
          <a:p>
            <a:pPr lvl="1"/>
            <a:r>
              <a:rPr lang="es-ES" sz="1200" b="0" i="0" kern="1200" dirty="0">
                <a:solidFill>
                  <a:schemeClr val="tx1"/>
                </a:solidFill>
                <a:effectLst/>
                <a:latin typeface="+mn-lt"/>
                <a:ea typeface="+mn-ea"/>
                <a:cs typeface="+mn-cs"/>
              </a:rPr>
              <a:t>Además, el gusano puede ocultarse dentro de mensajes o camuflarse en imágenes, confundiendo a la IA que procesa el contenido.</a:t>
            </a:r>
          </a:p>
          <a:p>
            <a:r>
              <a:rPr lang="es-ES" sz="1200" b="1" i="0" kern="1200" dirty="0">
                <a:solidFill>
                  <a:schemeClr val="tx1"/>
                </a:solidFill>
                <a:effectLst/>
                <a:latin typeface="+mn-lt"/>
                <a:ea typeface="+mn-ea"/>
                <a:cs typeface="+mn-cs"/>
              </a:rPr>
              <a:t>Impacto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Este tipo de ciberataque es novedoso y representa una amenaza significativa para la seguridad de la IA.</a:t>
            </a:r>
          </a:p>
          <a:p>
            <a:pPr lvl="1"/>
            <a:r>
              <a:rPr lang="es-ES" sz="1200" b="0" i="0" kern="1200" dirty="0">
                <a:solidFill>
                  <a:schemeClr val="tx1"/>
                </a:solidFill>
                <a:effectLst/>
                <a:latin typeface="+mn-lt"/>
                <a:ea typeface="+mn-ea"/>
                <a:cs typeface="+mn-cs"/>
              </a:rPr>
              <a:t>Los investigadores han compartido sus hallazgos como medida preventiva para proteger los sistemas de IA.</a:t>
            </a:r>
          </a:p>
          <a:p>
            <a:endParaRPr lang="es-ES" sz="1200" b="0" i="0" kern="1200" dirty="0">
              <a:solidFill>
                <a:schemeClr val="tx1"/>
              </a:solidFill>
              <a:effectLst/>
              <a:latin typeface="+mn-lt"/>
              <a:ea typeface="+mn-ea"/>
              <a:cs typeface="+mn-cs"/>
            </a:endParaRPr>
          </a:p>
          <a:p>
            <a:endParaRPr lang="es-ES"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0A1C34A4-13E2-443F-972C-194BE4D60CDE}" type="slidenum">
              <a:rPr lang="es-ES" smtClean="0"/>
              <a:t>14</a:t>
            </a:fld>
            <a:endParaRPr lang="es-ES"/>
          </a:p>
        </p:txBody>
      </p:sp>
    </p:spTree>
    <p:extLst>
      <p:ext uri="{BB962C8B-B14F-4D97-AF65-F5344CB8AC3E}">
        <p14:creationId xmlns:p14="http://schemas.microsoft.com/office/powerpoint/2010/main" val="994102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Los </a:t>
            </a:r>
            <a:r>
              <a:rPr lang="es-ES" sz="1200" b="1" i="0" kern="1200" dirty="0">
                <a:solidFill>
                  <a:schemeClr val="tx1"/>
                </a:solidFill>
                <a:effectLst/>
                <a:latin typeface="+mn-lt"/>
                <a:ea typeface="+mn-ea"/>
                <a:cs typeface="+mn-cs"/>
              </a:rPr>
              <a:t>troyanos</a:t>
            </a:r>
            <a:r>
              <a:rPr lang="es-ES" sz="1200" b="0" i="0" kern="1200" dirty="0">
                <a:solidFill>
                  <a:schemeClr val="tx1"/>
                </a:solidFill>
                <a:effectLst/>
                <a:latin typeface="+mn-lt"/>
                <a:ea typeface="+mn-ea"/>
                <a:cs typeface="+mn-cs"/>
              </a:rPr>
              <a:t> son un tipo de </a:t>
            </a:r>
            <a:r>
              <a:rPr lang="es-ES" sz="1200" b="1" i="0" kern="1200" dirty="0">
                <a:solidFill>
                  <a:schemeClr val="tx1"/>
                </a:solidFill>
                <a:effectLst/>
                <a:latin typeface="+mn-lt"/>
                <a:ea typeface="+mn-ea"/>
                <a:cs typeface="+mn-cs"/>
              </a:rPr>
              <a:t>malware</a:t>
            </a:r>
            <a:r>
              <a:rPr lang="es-ES" sz="1200" b="0" i="0" kern="1200" dirty="0">
                <a:solidFill>
                  <a:schemeClr val="tx1"/>
                </a:solidFill>
                <a:effectLst/>
                <a:latin typeface="+mn-lt"/>
                <a:ea typeface="+mn-ea"/>
                <a:cs typeface="+mn-cs"/>
              </a:rPr>
              <a:t> que se presenta como un programa aparentemente legítimo e inofensivo, pero que, al ejecutarlo, le brinda a un atacante acceso remoto al equipo infectado. Aquí están algunas de sus características clave:</a:t>
            </a:r>
          </a:p>
          <a:p>
            <a:r>
              <a:rPr lang="es-ES" sz="1200" b="1" i="0" kern="1200" dirty="0">
                <a:solidFill>
                  <a:schemeClr val="tx1"/>
                </a:solidFill>
                <a:effectLst/>
                <a:latin typeface="+mn-lt"/>
                <a:ea typeface="+mn-ea"/>
                <a:cs typeface="+mn-cs"/>
              </a:rPr>
              <a:t>Sigilosos y no autorizados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troyanos operan en secreto, </a:t>
            </a:r>
            <a:r>
              <a:rPr lang="es-ES" sz="1200" b="1" i="0" kern="1200" dirty="0">
                <a:solidFill>
                  <a:schemeClr val="tx1"/>
                </a:solidFill>
                <a:effectLst/>
                <a:latin typeface="+mn-lt"/>
                <a:ea typeface="+mn-ea"/>
                <a:cs typeface="+mn-cs"/>
              </a:rPr>
              <a:t>sin que el usuario lo sepa</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No se solicita ni se autoriza su instalación.</a:t>
            </a:r>
          </a:p>
          <a:p>
            <a:r>
              <a:rPr lang="es-ES" sz="1200" b="1" i="0" kern="1200" dirty="0" err="1">
                <a:solidFill>
                  <a:schemeClr val="tx1"/>
                </a:solidFill>
                <a:effectLst/>
                <a:latin typeface="+mn-lt"/>
                <a:ea typeface="+mn-ea"/>
                <a:cs typeface="+mn-cs"/>
              </a:rPr>
              <a:t>Auto-replicación</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A diferencia de los virus, los troyanos </a:t>
            </a:r>
            <a:r>
              <a:rPr lang="es-ES" sz="1200" b="1" i="0" kern="1200" dirty="0">
                <a:solidFill>
                  <a:schemeClr val="tx1"/>
                </a:solidFill>
                <a:effectLst/>
                <a:latin typeface="+mn-lt"/>
                <a:ea typeface="+mn-ea"/>
                <a:cs typeface="+mn-cs"/>
              </a:rPr>
              <a:t>no infectan archivos individuales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Pueden </a:t>
            </a:r>
            <a:r>
              <a:rPr lang="es-ES" sz="1200" b="1" i="0" kern="1200" dirty="0">
                <a:solidFill>
                  <a:schemeClr val="tx1"/>
                </a:solidFill>
                <a:effectLst/>
                <a:latin typeface="+mn-lt"/>
                <a:ea typeface="+mn-ea"/>
                <a:cs typeface="+mn-cs"/>
              </a:rPr>
              <a:t>copiarse a sí mismos</a:t>
            </a:r>
            <a:r>
              <a:rPr lang="es-ES" sz="1200" b="0" i="0" kern="1200" dirty="0">
                <a:solidFill>
                  <a:schemeClr val="tx1"/>
                </a:solidFill>
                <a:effectLst/>
                <a:latin typeface="+mn-lt"/>
                <a:ea typeface="+mn-ea"/>
                <a:cs typeface="+mn-cs"/>
              </a:rPr>
              <a:t> y alojarse en diferentes ubicaciones del sistema.</a:t>
            </a:r>
          </a:p>
          <a:p>
            <a:r>
              <a:rPr lang="es-ES" sz="1200" b="1" i="0" kern="1200" dirty="0">
                <a:solidFill>
                  <a:schemeClr val="tx1"/>
                </a:solidFill>
                <a:effectLst/>
                <a:latin typeface="+mn-lt"/>
                <a:ea typeface="+mn-ea"/>
                <a:cs typeface="+mn-cs"/>
              </a:rPr>
              <a:t>Propósito de acceso remoto</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troyanos están diseñados para permitir a un individuo </a:t>
            </a:r>
            <a:r>
              <a:rPr lang="es-ES" sz="1200" b="1" i="0" kern="1200" dirty="0">
                <a:solidFill>
                  <a:schemeClr val="tx1"/>
                </a:solidFill>
                <a:effectLst/>
                <a:latin typeface="+mn-lt"/>
                <a:ea typeface="+mn-ea"/>
                <a:cs typeface="+mn-cs"/>
              </a:rPr>
              <a:t>acceso remoto a un sistema</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Una vez en ejecución, el atacante puede acceder al sistema de forma remota y realizar diferentes acciones sin necesitar permiso.</a:t>
            </a:r>
          </a:p>
          <a:p>
            <a:r>
              <a:rPr lang="es-ES" sz="1200" b="1" i="0" kern="1200" dirty="0">
                <a:solidFill>
                  <a:schemeClr val="tx1"/>
                </a:solidFill>
                <a:effectLst/>
                <a:latin typeface="+mn-lt"/>
                <a:ea typeface="+mn-ea"/>
                <a:cs typeface="+mn-cs"/>
              </a:rPr>
              <a:t>Robo de información personal</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troyanos pueden </a:t>
            </a:r>
            <a:r>
              <a:rPr lang="es-ES" sz="1200" b="1" i="0" kern="1200" dirty="0">
                <a:solidFill>
                  <a:schemeClr val="tx1"/>
                </a:solidFill>
                <a:effectLst/>
                <a:latin typeface="+mn-lt"/>
                <a:ea typeface="+mn-ea"/>
                <a:cs typeface="+mn-cs"/>
              </a:rPr>
              <a:t>robar datos confidenciales</a:t>
            </a:r>
            <a:r>
              <a:rPr lang="es-ES" sz="1200" b="0" i="0" kern="1200" dirty="0">
                <a:solidFill>
                  <a:schemeClr val="tx1"/>
                </a:solidFill>
                <a:effectLst/>
                <a:latin typeface="+mn-lt"/>
                <a:ea typeface="+mn-ea"/>
                <a:cs typeface="+mn-cs"/>
              </a:rPr>
              <a:t>, como información bancaria, contraseñas y archivos personales.</a:t>
            </a:r>
          </a:p>
          <a:p>
            <a:pPr lvl="1"/>
            <a:r>
              <a:rPr lang="es-ES" sz="1200" b="0" i="0" kern="1200" dirty="0">
                <a:solidFill>
                  <a:schemeClr val="tx1"/>
                </a:solidFill>
                <a:effectLst/>
                <a:latin typeface="+mn-lt"/>
                <a:ea typeface="+mn-ea"/>
                <a:cs typeface="+mn-cs"/>
              </a:rPr>
              <a:t>Crean una </a:t>
            </a:r>
            <a:r>
              <a:rPr lang="es-ES" sz="1200" b="1" i="0" kern="1200" dirty="0">
                <a:solidFill>
                  <a:schemeClr val="tx1"/>
                </a:solidFill>
                <a:effectLst/>
                <a:latin typeface="+mn-lt"/>
                <a:ea typeface="+mn-ea"/>
                <a:cs typeface="+mn-cs"/>
              </a:rPr>
              <a:t>puerta trasera (backdoor)</a:t>
            </a:r>
            <a:r>
              <a:rPr lang="es-ES" sz="1200" b="0" i="0" kern="1200" dirty="0">
                <a:solidFill>
                  <a:schemeClr val="tx1"/>
                </a:solidFill>
                <a:effectLst/>
                <a:latin typeface="+mn-lt"/>
                <a:ea typeface="+mn-ea"/>
                <a:cs typeface="+mn-cs"/>
              </a:rPr>
              <a:t> que permite la administración remota a un usuario no autorizado.</a:t>
            </a:r>
          </a:p>
          <a:p>
            <a:r>
              <a:rPr lang="es-ES" sz="1200" b="1" i="0" kern="1200" dirty="0">
                <a:solidFill>
                  <a:schemeClr val="tx1"/>
                </a:solidFill>
                <a:effectLst/>
                <a:latin typeface="+mn-lt"/>
                <a:ea typeface="+mn-ea"/>
                <a:cs typeface="+mn-cs"/>
              </a:rPr>
              <a:t>Dificultad de detección manual</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troyanos pueden estar </a:t>
            </a:r>
            <a:r>
              <a:rPr lang="es-ES" sz="1200" b="1" i="0" kern="1200" dirty="0">
                <a:solidFill>
                  <a:schemeClr val="tx1"/>
                </a:solidFill>
                <a:effectLst/>
                <a:latin typeface="+mn-lt"/>
                <a:ea typeface="+mn-ea"/>
                <a:cs typeface="+mn-cs"/>
              </a:rPr>
              <a:t>ejecutándose en un ordenador durante meses sin que el usuario lo perciba</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Esto hace que su </a:t>
            </a:r>
            <a:r>
              <a:rPr lang="es-ES" sz="1200" b="1" i="0" kern="1200" dirty="0">
                <a:solidFill>
                  <a:schemeClr val="tx1"/>
                </a:solidFill>
                <a:effectLst/>
                <a:latin typeface="+mn-lt"/>
                <a:ea typeface="+mn-ea"/>
                <a:cs typeface="+mn-cs"/>
              </a:rPr>
              <a:t>detección y eliminación manual</a:t>
            </a:r>
            <a:r>
              <a:rPr lang="es-ES" sz="1200" b="0" i="0" kern="1200" dirty="0">
                <a:solidFill>
                  <a:schemeClr val="tx1"/>
                </a:solidFill>
                <a:effectLst/>
                <a:latin typeface="+mn-lt"/>
                <a:ea typeface="+mn-ea"/>
                <a:cs typeface="+mn-cs"/>
              </a:rPr>
              <a:t> sean difíciles.</a:t>
            </a:r>
          </a:p>
          <a:p>
            <a:r>
              <a:rPr lang="es-ES" sz="1200" b="1" i="0" kern="1200" dirty="0">
                <a:solidFill>
                  <a:schemeClr val="tx1"/>
                </a:solidFill>
                <a:effectLst/>
                <a:latin typeface="+mn-lt"/>
                <a:ea typeface="+mn-ea"/>
                <a:cs typeface="+mn-cs"/>
              </a:rPr>
              <a:t>Objetivos cambiantes</a:t>
            </a:r>
            <a:r>
              <a:rPr lang="es-ES" sz="1200" b="0" i="0" kern="1200" dirty="0">
                <a:solidFill>
                  <a:schemeClr val="tx1"/>
                </a:solidFill>
                <a:effectLst/>
                <a:latin typeface="+mn-lt"/>
                <a:ea typeface="+mn-ea"/>
                <a:cs typeface="+mn-cs"/>
              </a:rPr>
              <a:t>:</a:t>
            </a:r>
          </a:p>
          <a:p>
            <a:pPr lvl="1"/>
            <a:r>
              <a:rPr lang="es-ES" sz="1200" b="0" i="0" kern="1200" dirty="0">
                <a:solidFill>
                  <a:schemeClr val="tx1"/>
                </a:solidFill>
                <a:effectLst/>
                <a:latin typeface="+mn-lt"/>
                <a:ea typeface="+mn-ea"/>
                <a:cs typeface="+mn-cs"/>
              </a:rPr>
              <a:t>Los troyanos han evolucionado con el tiempo.</a:t>
            </a:r>
          </a:p>
          <a:p>
            <a:pPr lvl="1"/>
            <a:r>
              <a:rPr lang="es-ES" sz="1200" b="0" i="0" kern="1200" dirty="0">
                <a:solidFill>
                  <a:schemeClr val="tx1"/>
                </a:solidFill>
                <a:effectLst/>
                <a:latin typeface="+mn-lt"/>
                <a:ea typeface="+mn-ea"/>
                <a:cs typeface="+mn-cs"/>
              </a:rPr>
              <a:t>Desde causar daño en el equipo hasta el </a:t>
            </a:r>
            <a:r>
              <a:rPr lang="es-ES" sz="1200" b="1" i="0" kern="1200" dirty="0">
                <a:solidFill>
                  <a:schemeClr val="tx1"/>
                </a:solidFill>
                <a:effectLst/>
                <a:latin typeface="+mn-lt"/>
                <a:ea typeface="+mn-ea"/>
                <a:cs typeface="+mn-cs"/>
              </a:rPr>
              <a:t>robo de datos bancarios o información personal</a:t>
            </a:r>
            <a:r>
              <a:rPr lang="es-ES" sz="1200" b="0" i="0" kern="1200" dirty="0">
                <a:solidFill>
                  <a:schemeClr val="tx1"/>
                </a:solidFill>
                <a:effectLst/>
                <a:latin typeface="+mn-lt"/>
                <a:ea typeface="+mn-ea"/>
                <a:cs typeface="+mn-cs"/>
              </a:rPr>
              <a:t>, sus objetivos varían.</a:t>
            </a:r>
          </a:p>
          <a:p>
            <a:r>
              <a:rPr lang="es-ES" sz="1200" b="0" i="0" kern="1200" dirty="0">
                <a:solidFill>
                  <a:schemeClr val="tx1"/>
                </a:solidFill>
                <a:effectLst/>
                <a:latin typeface="+mn-lt"/>
                <a:ea typeface="+mn-ea"/>
                <a:cs typeface="+mn-cs"/>
                <a:hlinkClick r:id="rId3"/>
              </a:rPr>
              <a:t>En resumen, los troyanos son una amenaza silenciosa que puede comprometer la seguridad y privacidad de los usuarios al proporcionar acceso no autorizado a los atacantes</a:t>
            </a:r>
            <a:endParaRPr lang="es-ES" sz="1200" b="0" i="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15</a:t>
            </a:fld>
            <a:endParaRPr lang="es-ES"/>
          </a:p>
        </p:txBody>
      </p:sp>
    </p:spTree>
    <p:extLst>
      <p:ext uri="{BB962C8B-B14F-4D97-AF65-F5344CB8AC3E}">
        <p14:creationId xmlns:p14="http://schemas.microsoft.com/office/powerpoint/2010/main" val="814669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i="0" kern="1200" dirty="0" err="1">
                <a:solidFill>
                  <a:schemeClr val="tx1"/>
                </a:solidFill>
                <a:effectLst/>
                <a:latin typeface="+mn-lt"/>
                <a:ea typeface="+mn-ea"/>
                <a:cs typeface="+mn-cs"/>
              </a:rPr>
              <a:t>Grandoreiro</a:t>
            </a:r>
            <a:r>
              <a:rPr lang="es-ES" sz="1200" b="0" i="0" kern="1200" dirty="0">
                <a:solidFill>
                  <a:schemeClr val="tx1"/>
                </a:solidFill>
                <a:effectLst/>
                <a:latin typeface="+mn-lt"/>
                <a:ea typeface="+mn-ea"/>
                <a:cs typeface="+mn-cs"/>
              </a:rPr>
              <a:t> es un troyano bancario que ha estado activo desde al menos </a:t>
            </a:r>
            <a:r>
              <a:rPr lang="es-ES" sz="1200" b="1" i="0" kern="1200" dirty="0">
                <a:solidFill>
                  <a:schemeClr val="tx1"/>
                </a:solidFill>
                <a:effectLst/>
                <a:latin typeface="+mn-lt"/>
                <a:ea typeface="+mn-ea"/>
                <a:cs typeface="+mn-cs"/>
              </a:rPr>
              <a:t>2017</a:t>
            </a:r>
            <a:r>
              <a:rPr lang="es-ES" sz="1200" b="0" i="0" kern="1200" dirty="0">
                <a:solidFill>
                  <a:schemeClr val="tx1"/>
                </a:solidFill>
                <a:effectLst/>
                <a:latin typeface="+mn-lt"/>
                <a:ea typeface="+mn-ea"/>
                <a:cs typeface="+mn-cs"/>
              </a:rPr>
              <a:t> y se dirige principalmente a usuarios en países como </a:t>
            </a:r>
            <a:r>
              <a:rPr lang="es-ES" sz="1200" b="1" i="0" kern="1200" dirty="0">
                <a:solidFill>
                  <a:schemeClr val="tx1"/>
                </a:solidFill>
                <a:effectLst/>
                <a:latin typeface="+mn-lt"/>
                <a:ea typeface="+mn-ea"/>
                <a:cs typeface="+mn-cs"/>
              </a:rPr>
              <a:t>Brasil, México, España y Perú</a:t>
            </a:r>
            <a:r>
              <a:rPr lang="es-ES" sz="1200" b="0" i="0" kern="1200" dirty="0">
                <a:solidFill>
                  <a:schemeClr val="tx1"/>
                </a:solidFill>
                <a:effectLst/>
                <a:latin typeface="+mn-lt"/>
                <a:ea typeface="+mn-ea"/>
                <a:cs typeface="+mn-cs"/>
              </a:rPr>
              <a:t>. A continuación, te presento sus características más notables:</a:t>
            </a:r>
          </a:p>
          <a:p>
            <a:r>
              <a:rPr lang="es-ES" sz="1200" b="1" i="0" kern="1200" dirty="0">
                <a:solidFill>
                  <a:schemeClr val="tx1"/>
                </a:solidFill>
                <a:effectLst/>
                <a:latin typeface="+mn-lt"/>
                <a:ea typeface="+mn-ea"/>
                <a:cs typeface="+mn-cs"/>
              </a:rPr>
              <a:t>Tamaño de los Binarios</a:t>
            </a:r>
            <a:r>
              <a:rPr lang="es-ES" sz="1200" b="0" i="0" kern="1200" dirty="0">
                <a:solidFill>
                  <a:schemeClr val="tx1"/>
                </a:solidFill>
                <a:effectLst/>
                <a:latin typeface="+mn-lt"/>
                <a:ea typeface="+mn-ea"/>
                <a:cs typeface="+mn-cs"/>
              </a:rPr>
              <a:t>: El nombre de esta familia de malware proviene de su característica más distintiva: sus binarios crecen en tamaño, llegando a ser de </a:t>
            </a:r>
            <a:r>
              <a:rPr lang="es-ES" sz="1200" b="1" i="0" kern="1200" dirty="0">
                <a:solidFill>
                  <a:schemeClr val="tx1"/>
                </a:solidFill>
                <a:effectLst/>
                <a:latin typeface="+mn-lt"/>
                <a:ea typeface="+mn-ea"/>
                <a:cs typeface="+mn-cs"/>
              </a:rPr>
              <a:t>cientos de megabytes</a:t>
            </a:r>
            <a:r>
              <a:rPr lang="es-ES" sz="1200" b="0" i="0" kern="1200" dirty="0">
                <a:solidFill>
                  <a:schemeClr val="tx1"/>
                </a:solidFill>
                <a:effectLst/>
                <a:latin typeface="+mn-lt"/>
                <a:ea typeface="+mn-ea"/>
                <a:cs typeface="+mn-cs"/>
              </a:rPr>
              <a:t>. </a:t>
            </a:r>
            <a:r>
              <a:rPr lang="es-ES" sz="1200" b="0" i="0" kern="1200" dirty="0">
                <a:solidFill>
                  <a:schemeClr val="tx1"/>
                </a:solidFill>
                <a:effectLst/>
                <a:latin typeface="+mn-lt"/>
                <a:ea typeface="+mn-ea"/>
                <a:cs typeface="+mn-cs"/>
                <a:hlinkClick r:id="rId3"/>
              </a:rPr>
              <a:t>Este enfoque dificulta su detección</a:t>
            </a:r>
            <a:r>
              <a:rPr lang="es-ES" sz="1200" b="0" i="0" kern="1200" baseline="30000" dirty="0">
                <a:solidFill>
                  <a:schemeClr val="tx1"/>
                </a:solidFill>
                <a:effectLst/>
                <a:latin typeface="+mn-lt"/>
                <a:ea typeface="+mn-ea"/>
                <a:cs typeface="+mn-cs"/>
                <a:hlinkClick r:id="rId3"/>
              </a:rPr>
              <a:t>1</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Distribución a Través de Spam</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Grandoreiro</a:t>
            </a:r>
            <a:r>
              <a:rPr lang="es-ES" sz="1200" b="0" i="0" kern="1200" dirty="0">
                <a:solidFill>
                  <a:schemeClr val="tx1"/>
                </a:solidFill>
                <a:effectLst/>
                <a:latin typeface="+mn-lt"/>
                <a:ea typeface="+mn-ea"/>
                <a:cs typeface="+mn-cs"/>
              </a:rPr>
              <a:t> se distribuye exclusivamente mediante </a:t>
            </a:r>
            <a:r>
              <a:rPr lang="es-ES" sz="1200" b="1" i="0" kern="1200" dirty="0">
                <a:solidFill>
                  <a:schemeClr val="tx1"/>
                </a:solidFill>
                <a:effectLst/>
                <a:latin typeface="+mn-lt"/>
                <a:ea typeface="+mn-ea"/>
                <a:cs typeface="+mn-cs"/>
              </a:rPr>
              <a:t>correos spam</a:t>
            </a:r>
            <a:r>
              <a:rPr lang="es-ES" sz="1200" b="0" i="0" kern="1200" dirty="0">
                <a:solidFill>
                  <a:schemeClr val="tx1"/>
                </a:solidFill>
                <a:effectLst/>
                <a:latin typeface="+mn-lt"/>
                <a:ea typeface="+mn-ea"/>
                <a:cs typeface="+mn-cs"/>
              </a:rPr>
              <a:t>. </a:t>
            </a:r>
            <a:r>
              <a:rPr lang="es-ES" sz="1200" b="0" i="0" kern="1200" dirty="0">
                <a:solidFill>
                  <a:schemeClr val="tx1"/>
                </a:solidFill>
                <a:effectLst/>
                <a:latin typeface="+mn-lt"/>
                <a:ea typeface="+mn-ea"/>
                <a:cs typeface="+mn-cs"/>
                <a:hlinkClick r:id="rId3"/>
              </a:rPr>
              <a:t>Los autores suelen utilizar temas de actualidad, como </a:t>
            </a:r>
            <a:r>
              <a:rPr lang="es-ES" sz="1200" b="1" i="0" kern="1200" dirty="0">
                <a:solidFill>
                  <a:schemeClr val="tx1"/>
                </a:solidFill>
                <a:effectLst/>
                <a:latin typeface="+mn-lt"/>
                <a:ea typeface="+mn-ea"/>
                <a:cs typeface="+mn-cs"/>
                <a:hlinkClick r:id="rId3"/>
              </a:rPr>
              <a:t>falsas actualizaciones de Java o Flash</a:t>
            </a:r>
            <a:r>
              <a:rPr lang="es-ES" sz="1200" b="0" i="0" kern="1200" dirty="0">
                <a:solidFill>
                  <a:schemeClr val="tx1"/>
                </a:solidFill>
                <a:effectLst/>
                <a:latin typeface="+mn-lt"/>
                <a:ea typeface="+mn-ea"/>
                <a:cs typeface="+mn-cs"/>
                <a:hlinkClick r:id="rId3"/>
              </a:rPr>
              <a:t>, y más recientemente, han aprovechado el temor relacionado con el </a:t>
            </a:r>
            <a:r>
              <a:rPr lang="es-ES" sz="1200" b="1" i="0" kern="1200" dirty="0">
                <a:solidFill>
                  <a:schemeClr val="tx1"/>
                </a:solidFill>
                <a:effectLst/>
                <a:latin typeface="+mn-lt"/>
                <a:ea typeface="+mn-ea"/>
                <a:cs typeface="+mn-cs"/>
                <a:hlinkClick r:id="rId3"/>
              </a:rPr>
              <a:t>COVID-19</a:t>
            </a:r>
            <a:r>
              <a:rPr lang="es-ES" sz="1200" b="0" i="0" kern="1200" baseline="30000" dirty="0">
                <a:solidFill>
                  <a:schemeClr val="tx1"/>
                </a:solidFill>
                <a:effectLst/>
                <a:latin typeface="+mn-lt"/>
                <a:ea typeface="+mn-ea"/>
                <a:cs typeface="+mn-cs"/>
                <a:hlinkClick r:id="rId3"/>
              </a:rPr>
              <a:t>1</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Funcionalidades de Backdoor</a:t>
            </a:r>
            <a:r>
              <a:rPr lang="es-ES" sz="1200" b="0" i="0" kern="1200" dirty="0">
                <a:solidFill>
                  <a:schemeClr val="tx1"/>
                </a:solidFill>
                <a:effectLst/>
                <a:latin typeface="+mn-lt"/>
                <a:ea typeface="+mn-ea"/>
                <a:cs typeface="+mn-cs"/>
              </a:rPr>
              <a:t>: Al igual que otros troyanos bancarios latinoamericanos, </a:t>
            </a:r>
            <a:r>
              <a:rPr lang="es-ES" sz="1200" b="0" i="0" kern="1200" dirty="0" err="1">
                <a:solidFill>
                  <a:schemeClr val="tx1"/>
                </a:solidFill>
                <a:effectLst/>
                <a:latin typeface="+mn-lt"/>
                <a:ea typeface="+mn-ea"/>
                <a:cs typeface="+mn-cs"/>
              </a:rPr>
              <a:t>Grandoreiro</a:t>
            </a:r>
            <a:r>
              <a:rPr lang="es-ES" sz="1200" b="0" i="0" kern="1200" dirty="0">
                <a:solidFill>
                  <a:schemeClr val="tx1"/>
                </a:solidFill>
                <a:effectLst/>
                <a:latin typeface="+mn-lt"/>
                <a:ea typeface="+mn-ea"/>
                <a:cs typeface="+mn-cs"/>
              </a:rPr>
              <a:t> cuenta con funcionalidades de </a:t>
            </a:r>
            <a:r>
              <a:rPr lang="es-ES" sz="1200" b="1" i="0" kern="1200" dirty="0">
                <a:solidFill>
                  <a:schemeClr val="tx1"/>
                </a:solidFill>
                <a:effectLst/>
                <a:latin typeface="+mn-lt"/>
                <a:ea typeface="+mn-ea"/>
                <a:cs typeface="+mn-cs"/>
              </a:rPr>
              <a:t>backdoor</a:t>
            </a:r>
            <a:r>
              <a:rPr lang="es-ES" sz="1200" b="0" i="0" kern="1200" dirty="0">
                <a:solidFill>
                  <a:schemeClr val="tx1"/>
                </a:solidFill>
                <a:effectLst/>
                <a:latin typeface="+mn-lt"/>
                <a:ea typeface="+mn-ea"/>
                <a:cs typeface="+mn-cs"/>
              </a:rPr>
              <a:t>. </a:t>
            </a:r>
            <a:r>
              <a:rPr lang="es-ES" sz="1200" b="0" i="0" kern="1200" dirty="0">
                <a:solidFill>
                  <a:schemeClr val="tx1"/>
                </a:solidFill>
                <a:effectLst/>
                <a:latin typeface="+mn-lt"/>
                <a:ea typeface="+mn-ea"/>
                <a:cs typeface="+mn-cs"/>
                <a:hlinkClick r:id="rId3"/>
              </a:rPr>
              <a:t>Estas le permiten manipular ventanas, registrar pulsaciones de teclado, simular acciones de mouse y teclado, obtener direcciones URL del navegador de la víctima, cerrar sesión o reiniciar el equipo, y bloquear el acceso a sitios web específicos</a:t>
            </a:r>
            <a:r>
              <a:rPr lang="es-ES" sz="1200" b="0" i="0" kern="1200" baseline="30000" dirty="0">
                <a:solidFill>
                  <a:schemeClr val="tx1"/>
                </a:solidFill>
                <a:effectLst/>
                <a:latin typeface="+mn-lt"/>
                <a:ea typeface="+mn-ea"/>
                <a:cs typeface="+mn-cs"/>
                <a:hlinkClick r:id="rId3"/>
              </a:rPr>
              <a:t>1</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hlinkClick r:id="rId3"/>
              </a:rPr>
              <a:t>Robo de Credenciales</a:t>
            </a:r>
            <a:r>
              <a:rPr lang="es-ES" sz="1200" b="0" i="0" kern="1200" dirty="0">
                <a:solidFill>
                  <a:schemeClr val="tx1"/>
                </a:solidFill>
                <a:effectLst/>
                <a:latin typeface="+mn-lt"/>
                <a:ea typeface="+mn-ea"/>
                <a:cs typeface="+mn-cs"/>
                <a:hlinkClick r:id="rId3"/>
              </a:rPr>
              <a:t>: Además de recopilar información como el nombre de la computadora y el nombre de usuario, algunas versiones de </a:t>
            </a:r>
            <a:r>
              <a:rPr lang="es-ES" sz="1200" b="0" i="0" kern="1200" dirty="0" err="1">
                <a:solidFill>
                  <a:schemeClr val="tx1"/>
                </a:solidFill>
                <a:effectLst/>
                <a:latin typeface="+mn-lt"/>
                <a:ea typeface="+mn-ea"/>
                <a:cs typeface="+mn-cs"/>
                <a:hlinkClick r:id="rId3"/>
              </a:rPr>
              <a:t>Grandoreiro</a:t>
            </a:r>
            <a:r>
              <a:rPr lang="es-ES" sz="1200" b="0" i="0" kern="1200" dirty="0">
                <a:solidFill>
                  <a:schemeClr val="tx1"/>
                </a:solidFill>
                <a:effectLst/>
                <a:latin typeface="+mn-lt"/>
                <a:ea typeface="+mn-ea"/>
                <a:cs typeface="+mn-cs"/>
                <a:hlinkClick r:id="rId3"/>
              </a:rPr>
              <a:t> también roban las </a:t>
            </a:r>
            <a:r>
              <a:rPr lang="es-ES" sz="1200" b="1" i="0" kern="1200" dirty="0">
                <a:solidFill>
                  <a:schemeClr val="tx1"/>
                </a:solidFill>
                <a:effectLst/>
                <a:latin typeface="+mn-lt"/>
                <a:ea typeface="+mn-ea"/>
                <a:cs typeface="+mn-cs"/>
                <a:hlinkClick r:id="rId3"/>
              </a:rPr>
              <a:t>credenciales almacenadas en el navegador web Google Chrome</a:t>
            </a:r>
            <a:r>
              <a:rPr lang="es-ES" sz="1200" b="0" i="0" kern="1200" dirty="0">
                <a:solidFill>
                  <a:schemeClr val="tx1"/>
                </a:solidFill>
                <a:effectLst/>
                <a:latin typeface="+mn-lt"/>
                <a:ea typeface="+mn-ea"/>
                <a:cs typeface="+mn-cs"/>
                <a:hlinkClick r:id="rId3"/>
              </a:rPr>
              <a:t> y los datos almacenados en </a:t>
            </a:r>
            <a:r>
              <a:rPr lang="es-ES" sz="1200" b="1" i="0" kern="1200" dirty="0">
                <a:solidFill>
                  <a:schemeClr val="tx1"/>
                </a:solidFill>
                <a:effectLst/>
                <a:latin typeface="+mn-lt"/>
                <a:ea typeface="+mn-ea"/>
                <a:cs typeface="+mn-cs"/>
                <a:hlinkClick r:id="rId3"/>
              </a:rPr>
              <a:t>Microsoft Outlook</a:t>
            </a:r>
            <a:r>
              <a:rPr lang="es-ES" sz="1200" b="0" i="0" kern="1200" baseline="30000" dirty="0">
                <a:solidFill>
                  <a:schemeClr val="tx1"/>
                </a:solidFill>
                <a:effectLst/>
                <a:latin typeface="+mn-lt"/>
                <a:ea typeface="+mn-ea"/>
                <a:cs typeface="+mn-cs"/>
                <a:hlinkClick r:id="rId3"/>
              </a:rPr>
              <a:t>1</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rPr>
              <a:t>Desarrollo Continuo</a:t>
            </a:r>
            <a:r>
              <a:rPr lang="es-ES" sz="1200" b="0" i="0" kern="1200" dirty="0">
                <a:solidFill>
                  <a:schemeClr val="tx1"/>
                </a:solidFill>
                <a:effectLst/>
                <a:latin typeface="+mn-lt"/>
                <a:ea typeface="+mn-ea"/>
                <a:cs typeface="+mn-cs"/>
              </a:rPr>
              <a:t>: Los autores de </a:t>
            </a:r>
            <a:r>
              <a:rPr lang="es-ES" sz="1200" b="0" i="0" kern="1200" dirty="0" err="1">
                <a:solidFill>
                  <a:schemeClr val="tx1"/>
                </a:solidFill>
                <a:effectLst/>
                <a:latin typeface="+mn-lt"/>
                <a:ea typeface="+mn-ea"/>
                <a:cs typeface="+mn-cs"/>
              </a:rPr>
              <a:t>Grandoreiro</a:t>
            </a:r>
            <a:r>
              <a:rPr lang="es-ES" sz="1200" b="0" i="0" kern="1200" dirty="0">
                <a:solidFill>
                  <a:schemeClr val="tx1"/>
                </a:solidFill>
                <a:effectLst/>
                <a:latin typeface="+mn-lt"/>
                <a:ea typeface="+mn-ea"/>
                <a:cs typeface="+mn-cs"/>
              </a:rPr>
              <a:t> parecen estar permanentemente desarrollando este troyano bancario. </a:t>
            </a:r>
            <a:r>
              <a:rPr lang="es-ES" sz="1200" b="0" i="0" kern="1200" dirty="0">
                <a:solidFill>
                  <a:schemeClr val="tx1"/>
                </a:solidFill>
                <a:effectLst/>
                <a:latin typeface="+mn-lt"/>
                <a:ea typeface="+mn-ea"/>
                <a:cs typeface="+mn-cs"/>
                <a:hlinkClick r:id="rId3"/>
              </a:rPr>
              <a:t>Observamos </a:t>
            </a:r>
            <a:r>
              <a:rPr lang="es-ES" sz="1200" b="1" i="0" kern="1200" dirty="0">
                <a:solidFill>
                  <a:schemeClr val="tx1"/>
                </a:solidFill>
                <a:effectLst/>
                <a:latin typeface="+mn-lt"/>
                <a:ea typeface="+mn-ea"/>
                <a:cs typeface="+mn-cs"/>
                <a:hlinkClick r:id="rId3"/>
              </a:rPr>
              <a:t>varias versiones nuevas cada mes</a:t>
            </a:r>
            <a:r>
              <a:rPr lang="es-ES" sz="1200" b="0" i="0" kern="1200" dirty="0">
                <a:solidFill>
                  <a:schemeClr val="tx1"/>
                </a:solidFill>
                <a:effectLst/>
                <a:latin typeface="+mn-lt"/>
                <a:ea typeface="+mn-ea"/>
                <a:cs typeface="+mn-cs"/>
                <a:hlinkClick r:id="rId3"/>
              </a:rPr>
              <a:t> y sospechamos que están trabajando en al menos dos variantes simultáneamente</a:t>
            </a:r>
            <a:r>
              <a:rPr lang="es-ES" sz="1200" b="0" i="0" kern="1200" baseline="30000" dirty="0">
                <a:solidFill>
                  <a:schemeClr val="tx1"/>
                </a:solidFill>
                <a:effectLst/>
                <a:latin typeface="+mn-lt"/>
                <a:ea typeface="+mn-ea"/>
                <a:cs typeface="+mn-cs"/>
                <a:hlinkClick r:id="rId3"/>
              </a:rPr>
              <a:t>1</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hlinkClick r:id="rId3"/>
              </a:rPr>
              <a:t>En resumen, </a:t>
            </a:r>
            <a:r>
              <a:rPr lang="es-ES" sz="1200" b="0" i="0" kern="1200" dirty="0" err="1">
                <a:solidFill>
                  <a:schemeClr val="tx1"/>
                </a:solidFill>
                <a:effectLst/>
                <a:latin typeface="+mn-lt"/>
                <a:ea typeface="+mn-ea"/>
                <a:cs typeface="+mn-cs"/>
                <a:hlinkClick r:id="rId3"/>
              </a:rPr>
              <a:t>Grandoreiro</a:t>
            </a:r>
            <a:r>
              <a:rPr lang="es-ES" sz="1200" b="0" i="0" kern="1200" dirty="0">
                <a:solidFill>
                  <a:schemeClr val="tx1"/>
                </a:solidFill>
                <a:effectLst/>
                <a:latin typeface="+mn-lt"/>
                <a:ea typeface="+mn-ea"/>
                <a:cs typeface="+mn-cs"/>
                <a:hlinkClick r:id="rId3"/>
              </a:rPr>
              <a:t> es un troyano bancario que se esfuerza por evadir la detección y progresar hacia una arquitectura modular, afectando a usuarios en múltiples </a:t>
            </a:r>
            <a:r>
              <a:rPr lang="es-ES" sz="1200" b="0" i="0" kern="1200" dirty="0" err="1">
                <a:solidFill>
                  <a:schemeClr val="tx1"/>
                </a:solidFill>
                <a:effectLst/>
                <a:latin typeface="+mn-lt"/>
                <a:ea typeface="+mn-ea"/>
                <a:cs typeface="+mn-cs"/>
                <a:hlinkClick r:id="rId3"/>
              </a:rPr>
              <a:t>paíse</a:t>
            </a:r>
            <a:endParaRPr lang="es-ES" sz="1200" b="0" i="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16</a:t>
            </a:fld>
            <a:endParaRPr lang="es-ES"/>
          </a:p>
        </p:txBody>
      </p:sp>
    </p:spTree>
    <p:extLst>
      <p:ext uri="{BB962C8B-B14F-4D97-AF65-F5344CB8AC3E}">
        <p14:creationId xmlns:p14="http://schemas.microsoft.com/office/powerpoint/2010/main" val="165157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err="1">
                <a:solidFill>
                  <a:schemeClr val="tx1"/>
                </a:solidFill>
                <a:effectLst/>
                <a:latin typeface="+mn-lt"/>
                <a:ea typeface="+mn-ea"/>
                <a:cs typeface="+mn-cs"/>
              </a:rPr>
              <a:t>Copilot</a:t>
            </a:r>
            <a:endParaRPr lang="es-ES" sz="1200" b="0" i="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Explorar</a:t>
            </a:r>
          </a:p>
          <a:p>
            <a:r>
              <a:rPr lang="es-ES" dirty="0">
                <a:effectLst/>
              </a:rPr>
              <a:t>Mis disculpas por la confusión anterior. Creo que te refieres a las </a:t>
            </a:r>
            <a:r>
              <a:rPr lang="es-ES" b="1" dirty="0" err="1">
                <a:effectLst/>
              </a:rPr>
              <a:t>botnets</a:t>
            </a:r>
            <a:r>
              <a:rPr lang="es-ES" dirty="0">
                <a:effectLst/>
              </a:rPr>
              <a:t>. Permíteme proporcionarte información sobre sus características:</a:t>
            </a:r>
          </a:p>
          <a:p>
            <a:r>
              <a:rPr lang="es-ES" b="1" dirty="0">
                <a:effectLst/>
              </a:rPr>
              <a:t>Control remoto</a:t>
            </a:r>
            <a:r>
              <a:rPr lang="es-ES" dirty="0">
                <a:effectLst/>
              </a:rPr>
              <a:t>:</a:t>
            </a:r>
          </a:p>
          <a:p>
            <a:pPr lvl="1"/>
            <a:r>
              <a:rPr lang="es-ES" dirty="0">
                <a:effectLst/>
              </a:rPr>
              <a:t>Las </a:t>
            </a:r>
            <a:r>
              <a:rPr lang="es-ES" dirty="0" err="1">
                <a:effectLst/>
              </a:rPr>
              <a:t>botnets</a:t>
            </a:r>
            <a:r>
              <a:rPr lang="es-ES" dirty="0">
                <a:effectLst/>
              </a:rPr>
              <a:t> permiten que un atacante tome </a:t>
            </a:r>
            <a:r>
              <a:rPr lang="es-ES" b="1" dirty="0">
                <a:effectLst/>
              </a:rPr>
              <a:t>control remoto</a:t>
            </a:r>
            <a:r>
              <a:rPr lang="es-ES" dirty="0">
                <a:effectLst/>
              </a:rPr>
              <a:t> de un gran número de dispositivos infectados, conocidos como “</a:t>
            </a:r>
            <a:r>
              <a:rPr lang="es-ES" dirty="0" err="1">
                <a:effectLst/>
              </a:rPr>
              <a:t>bots</a:t>
            </a:r>
            <a:r>
              <a:rPr lang="es-ES" dirty="0">
                <a:effectLst/>
              </a:rPr>
              <a:t>” o “</a:t>
            </a:r>
            <a:r>
              <a:rPr lang="es-ES" dirty="0" err="1">
                <a:effectLst/>
              </a:rPr>
              <a:t>zombies</a:t>
            </a:r>
            <a:r>
              <a:rPr lang="es-ES" dirty="0">
                <a:effectLst/>
              </a:rPr>
              <a:t>”.</a:t>
            </a:r>
          </a:p>
          <a:p>
            <a:r>
              <a:rPr lang="es-ES" b="1" dirty="0">
                <a:effectLst/>
              </a:rPr>
              <a:t>Propagación</a:t>
            </a:r>
            <a:r>
              <a:rPr lang="es-ES" dirty="0">
                <a:effectLst/>
              </a:rPr>
              <a:t>:</a:t>
            </a:r>
          </a:p>
          <a:p>
            <a:pPr lvl="1"/>
            <a:r>
              <a:rPr lang="es-ES" dirty="0">
                <a:effectLst/>
              </a:rPr>
              <a:t>Se propagan a través de una variedad de medios, como </a:t>
            </a:r>
            <a:r>
              <a:rPr lang="es-ES" b="1" dirty="0">
                <a:effectLst/>
              </a:rPr>
              <a:t>correos electrónicos de spam</a:t>
            </a:r>
            <a:r>
              <a:rPr lang="es-ES" dirty="0">
                <a:effectLst/>
              </a:rPr>
              <a:t>, sitios web maliciosos, descargas de software y </a:t>
            </a:r>
            <a:r>
              <a:rPr lang="es-ES" b="1" dirty="0">
                <a:effectLst/>
              </a:rPr>
              <a:t>vulnerabilidades de seguridad</a:t>
            </a:r>
            <a:r>
              <a:rPr lang="es-ES" dirty="0">
                <a:effectLst/>
              </a:rPr>
              <a:t>.</a:t>
            </a:r>
          </a:p>
          <a:p>
            <a:r>
              <a:rPr lang="es-ES" b="1" dirty="0">
                <a:effectLst/>
              </a:rPr>
              <a:t>Ocultamiento</a:t>
            </a:r>
            <a:r>
              <a:rPr lang="es-ES" dirty="0">
                <a:effectLst/>
              </a:rPr>
              <a:t>:</a:t>
            </a:r>
          </a:p>
          <a:p>
            <a:pPr lvl="1"/>
            <a:r>
              <a:rPr lang="es-ES" dirty="0">
                <a:effectLst/>
              </a:rPr>
              <a:t>A menudo se </a:t>
            </a:r>
            <a:r>
              <a:rPr lang="es-ES" b="1" dirty="0">
                <a:effectLst/>
              </a:rPr>
              <a:t>ocultan en el sistema infectado</a:t>
            </a:r>
            <a:r>
              <a:rPr lang="es-ES" dirty="0">
                <a:effectLst/>
              </a:rPr>
              <a:t> y evitan la detección mediante técnicas como la encriptación y el uso de diferentes servidores de comando y control.</a:t>
            </a:r>
          </a:p>
          <a:p>
            <a:r>
              <a:rPr lang="es-ES" b="1" dirty="0">
                <a:effectLst/>
              </a:rPr>
              <a:t>Robo de datos</a:t>
            </a:r>
            <a:r>
              <a:rPr lang="es-ES" dirty="0">
                <a:effectLst/>
              </a:rPr>
              <a:t>:</a:t>
            </a:r>
          </a:p>
          <a:p>
            <a:pPr lvl="1"/>
            <a:r>
              <a:rPr lang="es-ES" dirty="0">
                <a:effectLst/>
              </a:rPr>
              <a:t>Pueden ser utilizadas para </a:t>
            </a:r>
            <a:r>
              <a:rPr lang="es-ES" b="1" dirty="0">
                <a:effectLst/>
              </a:rPr>
              <a:t>robar datos personales y financieros</a:t>
            </a:r>
            <a:r>
              <a:rPr lang="es-ES" dirty="0">
                <a:effectLst/>
              </a:rPr>
              <a:t>, como información de tarjetas de crédito y contraseñas, que luego se venden en el mercado negro.</a:t>
            </a:r>
          </a:p>
          <a:p>
            <a:r>
              <a:rPr lang="es-ES" b="1" dirty="0">
                <a:effectLst/>
              </a:rPr>
              <a:t>Ataques </a:t>
            </a:r>
            <a:r>
              <a:rPr lang="es-ES" b="1" dirty="0" err="1">
                <a:effectLst/>
              </a:rPr>
              <a:t>DDoS</a:t>
            </a:r>
            <a:r>
              <a:rPr lang="es-ES" dirty="0">
                <a:effectLst/>
              </a:rPr>
              <a:t>:</a:t>
            </a:r>
          </a:p>
          <a:p>
            <a:pPr lvl="1"/>
            <a:r>
              <a:rPr lang="es-ES" dirty="0">
                <a:effectLst/>
              </a:rPr>
              <a:t>Pueden ser utilizadas para lanzar </a:t>
            </a:r>
            <a:r>
              <a:rPr lang="es-ES" b="1" dirty="0">
                <a:effectLst/>
              </a:rPr>
              <a:t>ataques de denegación de servicio distribuido (</a:t>
            </a:r>
            <a:r>
              <a:rPr lang="es-ES" b="1" dirty="0" err="1">
                <a:effectLst/>
              </a:rPr>
              <a:t>DDoS</a:t>
            </a:r>
            <a:r>
              <a:rPr lang="es-ES" b="1" dirty="0">
                <a:effectLst/>
              </a:rPr>
              <a:t>)</a:t>
            </a:r>
            <a:r>
              <a:rPr lang="es-ES" dirty="0">
                <a:effectLst/>
              </a:rPr>
              <a:t>, que sobrecargan los servidores objetivo con un tráfico masivo y los hacen inaccesibles.</a:t>
            </a:r>
          </a:p>
          <a:p>
            <a:r>
              <a:rPr lang="es-ES" b="1" dirty="0" err="1">
                <a:effectLst/>
              </a:rPr>
              <a:t>Ciberespionaje</a:t>
            </a:r>
            <a:r>
              <a:rPr lang="es-ES" dirty="0">
                <a:effectLst/>
              </a:rPr>
              <a:t>:</a:t>
            </a:r>
          </a:p>
          <a:p>
            <a:pPr lvl="1"/>
            <a:r>
              <a:rPr lang="es-ES" dirty="0">
                <a:effectLst/>
              </a:rPr>
              <a:t>También pueden ser utilizadas para </a:t>
            </a:r>
            <a:r>
              <a:rPr lang="es-ES" b="1" dirty="0">
                <a:effectLst/>
              </a:rPr>
              <a:t>recopilar información confidencial y secretos comerciales</a:t>
            </a:r>
            <a:r>
              <a:rPr lang="es-ES" dirty="0">
                <a:effectLst/>
              </a:rPr>
              <a:t> de gobiernos, empresas y organizaciones.</a:t>
            </a:r>
          </a:p>
          <a:p>
            <a:r>
              <a:rPr lang="es-ES" b="1" dirty="0">
                <a:effectLst/>
              </a:rPr>
              <a:t>Actualización continua</a:t>
            </a:r>
            <a:r>
              <a:rPr lang="es-ES" dirty="0">
                <a:effectLst/>
              </a:rPr>
              <a:t>:</a:t>
            </a:r>
          </a:p>
          <a:p>
            <a:pPr lvl="1"/>
            <a:r>
              <a:rPr lang="es-ES" dirty="0">
                <a:effectLst/>
              </a:rPr>
              <a:t>Son </a:t>
            </a:r>
            <a:r>
              <a:rPr lang="es-ES" b="1" dirty="0">
                <a:effectLst/>
              </a:rPr>
              <a:t>actualizadas regularmente</a:t>
            </a:r>
            <a:r>
              <a:rPr lang="es-ES" dirty="0">
                <a:effectLst/>
              </a:rPr>
              <a:t> por los atacantes para evitar la detección y mantener su efectividad en la realización de actividades maliciosas.</a:t>
            </a:r>
          </a:p>
          <a:p>
            <a:r>
              <a:rPr lang="es-ES" dirty="0">
                <a:effectLst/>
                <a:hlinkClick r:id="rId3"/>
              </a:rPr>
              <a:t>En resumen, las </a:t>
            </a:r>
            <a:r>
              <a:rPr lang="es-ES" dirty="0" err="1">
                <a:effectLst/>
                <a:hlinkClick r:id="rId3"/>
              </a:rPr>
              <a:t>botnets</a:t>
            </a:r>
            <a:r>
              <a:rPr lang="es-ES" dirty="0">
                <a:effectLst/>
                <a:hlinkClick r:id="rId3"/>
              </a:rPr>
              <a:t> son redes de dispositivos comprometidos que se utilizan para llevar a cabo diversas actividades malintencionadas, desde ataques </a:t>
            </a:r>
            <a:r>
              <a:rPr lang="es-ES" dirty="0" err="1">
                <a:effectLst/>
                <a:hlinkClick r:id="rId3"/>
              </a:rPr>
              <a:t>DDoS</a:t>
            </a:r>
            <a:r>
              <a:rPr lang="es-ES" dirty="0">
                <a:effectLst/>
                <a:hlinkClick r:id="rId3"/>
              </a:rPr>
              <a:t> hasta el robo de datos y el ciberespionaje</a:t>
            </a:r>
            <a:r>
              <a:rPr lang="es-ES" baseline="30000" dirty="0">
                <a:effectLst/>
                <a:hlinkClick r:id="rId3"/>
              </a:rPr>
              <a:t>1</a:t>
            </a:r>
            <a:r>
              <a:rPr lang="es-ES" baseline="30000" dirty="0">
                <a:effectLst/>
                <a:hlinkClick r:id="rId4"/>
              </a:rPr>
              <a:t>2</a:t>
            </a:r>
            <a:r>
              <a:rPr lang="es-ES" dirty="0">
                <a:effectLst/>
              </a:rPr>
              <a:t>.</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17</a:t>
            </a:fld>
            <a:endParaRPr lang="es-ES"/>
          </a:p>
        </p:txBody>
      </p:sp>
    </p:spTree>
    <p:extLst>
      <p:ext uri="{BB962C8B-B14F-4D97-AF65-F5344CB8AC3E}">
        <p14:creationId xmlns:p14="http://schemas.microsoft.com/office/powerpoint/2010/main" val="1171471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en septiembre de 2023 </a:t>
            </a:r>
            <a:r>
              <a:rPr lang="es-ES" sz="1200" b="0" i="0" u="none" strike="noStrike" kern="1200" dirty="0">
                <a:solidFill>
                  <a:schemeClr val="tx1"/>
                </a:solidFill>
                <a:effectLst/>
                <a:latin typeface="+mn-lt"/>
                <a:ea typeface="+mn-ea"/>
                <a:cs typeface="+mn-cs"/>
                <a:hlinkClick r:id="rId3"/>
              </a:rPr>
              <a:t>una nueva </a:t>
            </a:r>
            <a:r>
              <a:rPr lang="es-ES" sz="1200" b="0" i="0" u="none" strike="noStrike" kern="1200" dirty="0" err="1">
                <a:solidFill>
                  <a:schemeClr val="tx1"/>
                </a:solidFill>
                <a:effectLst/>
                <a:latin typeface="+mn-lt"/>
                <a:ea typeface="+mn-ea"/>
                <a:cs typeface="+mn-cs"/>
                <a:hlinkClick r:id="rId3"/>
              </a:rPr>
              <a:t>botnet</a:t>
            </a:r>
            <a:r>
              <a:rPr lang="es-ES" sz="1200" b="0" i="0" u="none" strike="noStrike" kern="1200" dirty="0">
                <a:solidFill>
                  <a:schemeClr val="tx1"/>
                </a:solidFill>
                <a:effectLst/>
                <a:latin typeface="+mn-lt"/>
                <a:ea typeface="+mn-ea"/>
                <a:cs typeface="+mn-cs"/>
                <a:hlinkClick r:id="rId3"/>
              </a:rPr>
              <a:t> </a:t>
            </a:r>
            <a:r>
              <a:rPr lang="es-ES" sz="1200" b="0" i="0" u="none" strike="noStrike" kern="1200" dirty="0" err="1">
                <a:solidFill>
                  <a:schemeClr val="tx1"/>
                </a:solidFill>
                <a:effectLst/>
                <a:latin typeface="+mn-lt"/>
                <a:ea typeface="+mn-ea"/>
                <a:cs typeface="+mn-cs"/>
                <a:hlinkClick r:id="rId3"/>
              </a:rPr>
              <a:t>IoT</a:t>
            </a:r>
            <a:r>
              <a:rPr lang="es-ES" sz="1200" b="0" i="0" kern="1200" dirty="0">
                <a:solidFill>
                  <a:schemeClr val="tx1"/>
                </a:solidFill>
                <a:effectLst/>
                <a:latin typeface="+mn-lt"/>
                <a:ea typeface="+mn-ea"/>
                <a:cs typeface="+mn-cs"/>
              </a:rPr>
              <a:t>, Pandora, cobró vida. Se trata de una amenaza que compromete dispositivos Android TV con malware basado en la </a:t>
            </a:r>
            <a:r>
              <a:rPr lang="es-ES" sz="1200" b="0" i="0" u="none" strike="noStrike" kern="1200" dirty="0" err="1">
                <a:solidFill>
                  <a:schemeClr val="tx1"/>
                </a:solidFill>
                <a:effectLst/>
                <a:latin typeface="+mn-lt"/>
                <a:ea typeface="+mn-ea"/>
                <a:cs typeface="+mn-cs"/>
                <a:hlinkClick r:id="rId4"/>
              </a:rPr>
              <a:t>botnet</a:t>
            </a:r>
            <a:r>
              <a:rPr lang="es-ES" sz="1200" b="0" i="0" u="none" strike="noStrike" kern="1200" dirty="0">
                <a:solidFill>
                  <a:schemeClr val="tx1"/>
                </a:solidFill>
                <a:effectLst/>
                <a:latin typeface="+mn-lt"/>
                <a:ea typeface="+mn-ea"/>
                <a:cs typeface="+mn-cs"/>
                <a:hlinkClick r:id="rId4"/>
              </a:rPr>
              <a:t> </a:t>
            </a:r>
            <a:r>
              <a:rPr lang="es-ES" sz="1200" b="0" i="0" u="none" strike="noStrike" kern="1200" dirty="0" err="1">
                <a:solidFill>
                  <a:schemeClr val="tx1"/>
                </a:solidFill>
                <a:effectLst/>
                <a:latin typeface="+mn-lt"/>
                <a:ea typeface="+mn-ea"/>
                <a:cs typeface="+mn-cs"/>
                <a:hlinkClick r:id="rId4"/>
              </a:rPr>
              <a:t>Mirai</a:t>
            </a:r>
            <a:r>
              <a:rPr lang="es-ES" sz="1200" b="0" i="0" kern="1200" dirty="0">
                <a:solidFill>
                  <a:schemeClr val="tx1"/>
                </a:solidFill>
                <a:effectLst/>
                <a:latin typeface="+mn-lt"/>
                <a:ea typeface="+mn-ea"/>
                <a:cs typeface="+mn-cs"/>
              </a:rPr>
              <a:t>, para ejecutar ataques </a:t>
            </a:r>
            <a:r>
              <a:rPr lang="es-ES" sz="1200" b="0" i="0" kern="1200" dirty="0" err="1">
                <a:solidFill>
                  <a:schemeClr val="tx1"/>
                </a:solidFill>
                <a:effectLst/>
                <a:latin typeface="+mn-lt"/>
                <a:ea typeface="+mn-ea"/>
                <a:cs typeface="+mn-cs"/>
              </a:rPr>
              <a:t>DDoS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Según la telemetría de ESET esta </a:t>
            </a:r>
            <a:r>
              <a:rPr lang="es-ES" sz="1200" b="0" i="0" kern="1200" dirty="0" err="1">
                <a:solidFill>
                  <a:schemeClr val="tx1"/>
                </a:solidFill>
                <a:effectLst/>
                <a:latin typeface="+mn-lt"/>
                <a:ea typeface="+mn-ea"/>
                <a:cs typeface="+mn-cs"/>
              </a:rPr>
              <a:t>botnet</a:t>
            </a:r>
            <a:r>
              <a:rPr lang="es-ES" sz="1200" b="0" i="0" kern="1200" dirty="0">
                <a:solidFill>
                  <a:schemeClr val="tx1"/>
                </a:solidFill>
                <a:effectLst/>
                <a:latin typeface="+mn-lt"/>
                <a:ea typeface="+mn-ea"/>
                <a:cs typeface="+mn-cs"/>
              </a:rPr>
              <a:t>, que es detectada como Android/Pandora, intentó comprometer decenas de miles de dispositivos Android, sobre todo en América Latina. Su mayor pico de actividad se detectó el 8 de septiembre con más de dos mil ataques, para luego reducirse a unos quinientos por día.</a:t>
            </a:r>
          </a:p>
          <a:p>
            <a:r>
              <a:rPr lang="es-ES" sz="1200" b="0" i="0" kern="1200" dirty="0">
                <a:solidFill>
                  <a:schemeClr val="tx1"/>
                </a:solidFill>
                <a:effectLst/>
                <a:latin typeface="+mn-lt"/>
                <a:ea typeface="+mn-ea"/>
                <a:cs typeface="+mn-cs"/>
              </a:rPr>
              <a:t>Android/Pandora presenta diversos canales principales de distribución: a través de las actualizaciones de firmware maliciosas preinstaladas en Android TV Boxes por el revendedor o descargadas e instaladas por una víctima involuntariamente; y principalmente, a través de sitios web que difunden aplicaciones maliciosas con nombres como </a:t>
            </a:r>
            <a:r>
              <a:rPr lang="es-ES" sz="1200" b="0" i="0" kern="1200" dirty="0" err="1">
                <a:solidFill>
                  <a:schemeClr val="tx1"/>
                </a:solidFill>
                <a:effectLst/>
                <a:latin typeface="+mn-lt"/>
                <a:ea typeface="+mn-ea"/>
                <a:cs typeface="+mn-cs"/>
              </a:rPr>
              <a:t>MagisTV</a:t>
            </a:r>
            <a:r>
              <a:rPr lang="es-ES" sz="1200" b="0" i="0" kern="1200" dirty="0">
                <a:solidFill>
                  <a:schemeClr val="tx1"/>
                </a:solidFill>
                <a:effectLst/>
                <a:latin typeface="+mn-lt"/>
                <a:ea typeface="+mn-ea"/>
                <a:cs typeface="+mn-cs"/>
              </a:rPr>
              <a:t>, Tele Latino y </a:t>
            </a:r>
            <a:r>
              <a:rPr lang="es-ES" sz="1200" b="0" i="0" kern="1200" dirty="0" err="1">
                <a:solidFill>
                  <a:schemeClr val="tx1"/>
                </a:solidFill>
                <a:effectLst/>
                <a:latin typeface="+mn-lt"/>
                <a:ea typeface="+mn-ea"/>
                <a:cs typeface="+mn-cs"/>
              </a:rPr>
              <a:t>YouCine</a:t>
            </a:r>
            <a:r>
              <a:rPr lang="es-ES" sz="1200" b="0" i="0" kern="1200" dirty="0">
                <a:solidFill>
                  <a:schemeClr val="tx1"/>
                </a:solidFill>
                <a:effectLst/>
                <a:latin typeface="+mn-lt"/>
                <a:ea typeface="+mn-ea"/>
                <a:cs typeface="+mn-cs"/>
              </a:rPr>
              <a:t>. A ojos del usuario, estas aplicaciones ofrecen todas las funciones y contenidos prometidos sin signos evidentes de actividad maliciosa.</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18</a:t>
            </a:fld>
            <a:endParaRPr lang="es-ES"/>
          </a:p>
        </p:txBody>
      </p:sp>
    </p:spTree>
    <p:extLst>
      <p:ext uri="{BB962C8B-B14F-4D97-AF65-F5344CB8AC3E}">
        <p14:creationId xmlns:p14="http://schemas.microsoft.com/office/powerpoint/2010/main" val="1830299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En cuanto a su propagación, el malware utiliza diversas vías para infectar sistemas:</a:t>
            </a:r>
          </a:p>
          <a:p>
            <a:r>
              <a:rPr lang="es-ES" sz="1200" b="1" i="0" kern="1200" dirty="0">
                <a:solidFill>
                  <a:schemeClr val="tx1"/>
                </a:solidFill>
                <a:effectLst/>
                <a:latin typeface="+mn-lt"/>
                <a:ea typeface="+mn-ea"/>
                <a:cs typeface="+mn-cs"/>
                <a:hlinkClick r:id="rId3"/>
              </a:rPr>
              <a:t>Descargas de archivos infectados</a:t>
            </a:r>
            <a:r>
              <a:rPr lang="es-ES" sz="1200" b="0" i="0" kern="1200" dirty="0">
                <a:solidFill>
                  <a:schemeClr val="tx1"/>
                </a:solidFill>
                <a:effectLst/>
                <a:latin typeface="+mn-lt"/>
                <a:ea typeface="+mn-ea"/>
                <a:cs typeface="+mn-cs"/>
                <a:hlinkClick r:id="rId3"/>
              </a:rPr>
              <a:t>: Al descargar archivos desde sitios web no confiables o fuentes sospechosas, puedes introducir malware en tu dispositivo</a:t>
            </a:r>
            <a:r>
              <a:rPr lang="es-ES" sz="1200" b="0" i="0" kern="1200" baseline="30000" dirty="0">
                <a:solidFill>
                  <a:schemeClr val="tx1"/>
                </a:solidFill>
                <a:effectLst/>
                <a:latin typeface="+mn-lt"/>
                <a:ea typeface="+mn-ea"/>
                <a:cs typeface="+mn-cs"/>
                <a:hlinkClick r:id="rId4"/>
              </a:rPr>
              <a:t>2</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hlinkClick r:id="rId4"/>
              </a:rPr>
              <a:t>Vínculos maliciosos</a:t>
            </a:r>
            <a:r>
              <a:rPr lang="es-ES" sz="1200" b="0" i="0" kern="1200" dirty="0">
                <a:solidFill>
                  <a:schemeClr val="tx1"/>
                </a:solidFill>
                <a:effectLst/>
                <a:latin typeface="+mn-lt"/>
                <a:ea typeface="+mn-ea"/>
                <a:cs typeface="+mn-cs"/>
                <a:hlinkClick r:id="rId4"/>
              </a:rPr>
              <a:t>: Los enlaces en correos electrónicos, mensajes de texto o redes sociales pueden llevar a sitios web infectados que descargan malware en tu dispositivo</a:t>
            </a:r>
            <a:r>
              <a:rPr lang="es-ES" sz="1200" b="0" i="0" kern="1200" baseline="30000" dirty="0">
                <a:solidFill>
                  <a:schemeClr val="tx1"/>
                </a:solidFill>
                <a:effectLst/>
                <a:latin typeface="+mn-lt"/>
                <a:ea typeface="+mn-ea"/>
                <a:cs typeface="+mn-cs"/>
                <a:hlinkClick r:id="rId4"/>
              </a:rPr>
              <a:t>2</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hlinkClick r:id="rId4"/>
              </a:rPr>
              <a:t>Correos electrónicos de phishing</a:t>
            </a:r>
            <a:r>
              <a:rPr lang="es-ES" sz="1200" b="0" i="0" kern="1200" dirty="0">
                <a:solidFill>
                  <a:schemeClr val="tx1"/>
                </a:solidFill>
                <a:effectLst/>
                <a:latin typeface="+mn-lt"/>
                <a:ea typeface="+mn-ea"/>
                <a:cs typeface="+mn-cs"/>
                <a:hlinkClick r:id="rId4"/>
              </a:rPr>
              <a:t>: Los correos electrónicos falsos que parecen legítimos pueden contener adjuntos o enlaces maliciosos que propagan malware</a:t>
            </a:r>
            <a:r>
              <a:rPr lang="es-ES" sz="1200" b="0" i="0" kern="1200" baseline="30000" dirty="0">
                <a:solidFill>
                  <a:schemeClr val="tx1"/>
                </a:solidFill>
                <a:effectLst/>
                <a:latin typeface="+mn-lt"/>
                <a:ea typeface="+mn-ea"/>
                <a:cs typeface="+mn-cs"/>
                <a:hlinkClick r:id="rId4"/>
              </a:rPr>
              <a:t>2</a:t>
            </a:r>
            <a:r>
              <a:rPr lang="es-ES" sz="1200" b="0" i="0" kern="1200" dirty="0">
                <a:solidFill>
                  <a:schemeClr val="tx1"/>
                </a:solidFill>
                <a:effectLst/>
                <a:latin typeface="+mn-lt"/>
                <a:ea typeface="+mn-ea"/>
                <a:cs typeface="+mn-cs"/>
              </a:rPr>
              <a:t>.</a:t>
            </a:r>
          </a:p>
          <a:p>
            <a:r>
              <a:rPr lang="es-ES" sz="1200" b="1" i="0" kern="1200" dirty="0">
                <a:solidFill>
                  <a:schemeClr val="tx1"/>
                </a:solidFill>
                <a:effectLst/>
                <a:latin typeface="+mn-lt"/>
                <a:ea typeface="+mn-ea"/>
                <a:cs typeface="+mn-cs"/>
                <a:hlinkClick r:id="rId4"/>
              </a:rPr>
              <a:t>Dispositivos USB contaminados</a:t>
            </a:r>
            <a:r>
              <a:rPr lang="es-ES" sz="1200" b="0" i="0" kern="1200" dirty="0">
                <a:solidFill>
                  <a:schemeClr val="tx1"/>
                </a:solidFill>
                <a:effectLst/>
                <a:latin typeface="+mn-lt"/>
                <a:ea typeface="+mn-ea"/>
                <a:cs typeface="+mn-cs"/>
                <a:hlinkClick r:id="rId4"/>
              </a:rPr>
              <a:t>: Conectar una unidad USB infectada a tu dispositivo puede transferir malware</a:t>
            </a:r>
            <a:r>
              <a:rPr lang="es-ES" sz="1200" b="0" i="0" kern="1200" baseline="30000" dirty="0">
                <a:solidFill>
                  <a:schemeClr val="tx1"/>
                </a:solidFill>
                <a:effectLst/>
                <a:latin typeface="+mn-lt"/>
                <a:ea typeface="+mn-ea"/>
                <a:cs typeface="+mn-cs"/>
                <a:hlinkClick r:id="rId4"/>
              </a:rPr>
              <a:t>2</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En resumen, es fundamental estar alerta y tomar medidas preventivas para evitar la propagación del malware. Mantener el software actualizado, ser cauteloso al hacer clic en enlaces y descargar archivos, y utilizar soluciones de seguridad confiables son pasos esenciales para protegerse contra estas amenazas digitales</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19</a:t>
            </a:fld>
            <a:endParaRPr lang="es-ES"/>
          </a:p>
        </p:txBody>
      </p:sp>
    </p:spTree>
    <p:extLst>
      <p:ext uri="{BB962C8B-B14F-4D97-AF65-F5344CB8AC3E}">
        <p14:creationId xmlns:p14="http://schemas.microsoft.com/office/powerpoint/2010/main" val="4063091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22</a:t>
            </a:fld>
            <a:endParaRPr lang="es-ES"/>
          </a:p>
        </p:txBody>
      </p:sp>
    </p:spTree>
    <p:extLst>
      <p:ext uri="{BB962C8B-B14F-4D97-AF65-F5344CB8AC3E}">
        <p14:creationId xmlns:p14="http://schemas.microsoft.com/office/powerpoint/2010/main" val="3217673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fontAlgn="auto"/>
            <a:r>
              <a:rPr lang="es-ES" b="0" i="0" dirty="0">
                <a:effectLst/>
                <a:latin typeface="-apple-system"/>
              </a:rPr>
              <a:t>https://www.linkedin.com/pulse/conoce-los-beneficios-de-usar-inteligencia-artificial-g%C3%A1rate-ferj/?originalSubdomain=es</a:t>
            </a:r>
          </a:p>
          <a:p>
            <a:pPr algn="l" fontAlgn="auto"/>
            <a:endParaRPr lang="es-ES" b="0" i="0" dirty="0">
              <a:effectLst/>
              <a:latin typeface="-apple-system"/>
            </a:endParaRPr>
          </a:p>
          <a:p>
            <a:pPr algn="l" fontAlgn="auto"/>
            <a:r>
              <a:rPr lang="es-ES" b="0" i="0" dirty="0">
                <a:effectLst/>
                <a:latin typeface="-apple-system"/>
              </a:rPr>
              <a:t>La IA se está volviendo cada vez más frecuente en la ciberseguridad. Según IBM, en términos de mitigar y combatir los ataques cibernéticos, los profesionales de la seguridad luchan por varias razones:</a:t>
            </a:r>
          </a:p>
          <a:p>
            <a:pPr fontAlgn="auto">
              <a:buFont typeface="Arial" panose="020B0604020202020204" pitchFamily="34" charset="0"/>
              <a:buChar char="•"/>
            </a:pPr>
            <a:r>
              <a:rPr lang="es-ES" b="1" dirty="0">
                <a:effectLst/>
              </a:rPr>
              <a:t>Se enfrentan a un número abrumador de tareas.</a:t>
            </a:r>
            <a:r>
              <a:rPr lang="es-ES" dirty="0">
                <a:effectLst/>
              </a:rPr>
              <a:t> La gran cantidad de tareas de análisis y evaluación de las que son responsables están más allá de la escala humana.</a:t>
            </a:r>
          </a:p>
          <a:p>
            <a:pPr fontAlgn="auto">
              <a:buFont typeface="Arial" panose="020B0604020202020204" pitchFamily="34" charset="0"/>
              <a:buChar char="•"/>
            </a:pPr>
            <a:r>
              <a:rPr lang="es-ES" b="1" dirty="0">
                <a:effectLst/>
              </a:rPr>
              <a:t>Nunca hay suficiente tiempo</a:t>
            </a:r>
            <a:r>
              <a:rPr lang="es-ES" dirty="0">
                <a:effectLst/>
              </a:rPr>
              <a:t>. El tiempo requerido para responder a los ataques cibernéticos debe minimizarse tanto como sea posible.</a:t>
            </a:r>
          </a:p>
          <a:p>
            <a:pPr fontAlgn="auto">
              <a:buFont typeface="Arial" panose="020B0604020202020204" pitchFamily="34" charset="0"/>
              <a:buChar char="•"/>
            </a:pPr>
            <a:r>
              <a:rPr lang="es-ES" b="1" dirty="0">
                <a:effectLst/>
              </a:rPr>
              <a:t>Hay demasiados datos para manejar.</a:t>
            </a:r>
            <a:r>
              <a:rPr lang="es-ES" dirty="0">
                <a:effectLst/>
              </a:rPr>
              <a:t> Aunque tener una gran cantidad de datos a su disposición es excelente, todos esos datos deben clasificarse y analizarse. Sin las herramientas de ciberseguridad de IA a su disposición, esto requiere mucho tiempo y recursos.</a:t>
            </a:r>
          </a:p>
          <a:p>
            <a:pPr fontAlgn="auto">
              <a:buFont typeface="Arial" panose="020B0604020202020204" pitchFamily="34" charset="0"/>
              <a:buChar char="•"/>
            </a:pPr>
            <a:r>
              <a:rPr lang="es-ES" b="1" dirty="0">
                <a:effectLst/>
              </a:rPr>
              <a:t>La industria enfrenta una continua escasez de habilidades</a:t>
            </a:r>
            <a:r>
              <a:rPr lang="es-ES" dirty="0">
                <a:effectLst/>
              </a:rPr>
              <a:t>. Como hemos visto durante un tiempo dentro de la industria, las habilidades necesarias no siempre están disponibles.</a:t>
            </a: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23</a:t>
            </a:fld>
            <a:endParaRPr lang="es-ES"/>
          </a:p>
        </p:txBody>
      </p:sp>
    </p:spTree>
    <p:extLst>
      <p:ext uri="{BB962C8B-B14F-4D97-AF65-F5344CB8AC3E}">
        <p14:creationId xmlns:p14="http://schemas.microsoft.com/office/powerpoint/2010/main" val="3424344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b="1" i="0" dirty="0" err="1">
                <a:effectLst/>
                <a:latin typeface="Barlow" panose="00000500000000000000" pitchFamily="2" charset="0"/>
              </a:rPr>
              <a:t>ómo</a:t>
            </a:r>
            <a:r>
              <a:rPr lang="es-ES" b="1" i="0" dirty="0">
                <a:effectLst/>
                <a:latin typeface="Barlow" panose="00000500000000000000" pitchFamily="2" charset="0"/>
              </a:rPr>
              <a:t> aplicar la IA (inteligencia artificial) en ciberseguridad</a:t>
            </a:r>
          </a:p>
          <a:p>
            <a:pPr algn="l"/>
            <a:r>
              <a:rPr lang="es-ES" b="0" i="0" dirty="0">
                <a:solidFill>
                  <a:srgbClr val="616161"/>
                </a:solidFill>
                <a:effectLst/>
                <a:latin typeface="Barlow" panose="00000500000000000000" pitchFamily="2" charset="0"/>
              </a:rPr>
              <a:t>Para concienciar sobre las ventajas de aplicar la</a:t>
            </a:r>
            <a:r>
              <a:rPr lang="es-ES" b="1" i="0" dirty="0">
                <a:solidFill>
                  <a:srgbClr val="616161"/>
                </a:solidFill>
                <a:effectLst/>
                <a:latin typeface="Barlow" panose="00000500000000000000" pitchFamily="2" charset="0"/>
              </a:rPr>
              <a:t> inteligencia artificial </a:t>
            </a:r>
            <a:r>
              <a:rPr lang="es-ES" b="0" i="0" dirty="0">
                <a:solidFill>
                  <a:srgbClr val="616161"/>
                </a:solidFill>
                <a:effectLst/>
                <a:latin typeface="Barlow" panose="00000500000000000000" pitchFamily="2" charset="0"/>
              </a:rPr>
              <a:t>en las estrategias de</a:t>
            </a:r>
            <a:r>
              <a:rPr lang="es-ES" b="1" i="0" dirty="0">
                <a:solidFill>
                  <a:srgbClr val="616161"/>
                </a:solidFill>
                <a:effectLst/>
                <a:latin typeface="Barlow" panose="00000500000000000000" pitchFamily="2" charset="0"/>
              </a:rPr>
              <a:t> ciberseguridad</a:t>
            </a:r>
            <a:r>
              <a:rPr lang="es-ES" b="0" i="0" dirty="0">
                <a:solidFill>
                  <a:srgbClr val="616161"/>
                </a:solidFill>
                <a:effectLst/>
                <a:latin typeface="Barlow" panose="00000500000000000000" pitchFamily="2" charset="0"/>
              </a:rPr>
              <a:t>, los expertos de </a:t>
            </a:r>
            <a:r>
              <a:rPr lang="es-ES" b="0" i="0" dirty="0" err="1">
                <a:solidFill>
                  <a:srgbClr val="616161"/>
                </a:solidFill>
                <a:effectLst/>
                <a:latin typeface="Barlow" panose="00000500000000000000" pitchFamily="2" charset="0"/>
              </a:rPr>
              <a:t>Evolutio</a:t>
            </a:r>
            <a:r>
              <a:rPr lang="es-ES" b="0" i="0" dirty="0">
                <a:solidFill>
                  <a:srgbClr val="616161"/>
                </a:solidFill>
                <a:effectLst/>
                <a:latin typeface="Barlow" panose="00000500000000000000" pitchFamily="2" charset="0"/>
              </a:rPr>
              <a:t>, compañía 100% española experta en la integración de servicios </a:t>
            </a:r>
            <a:r>
              <a:rPr lang="es-ES" b="0" i="0" dirty="0" err="1">
                <a:solidFill>
                  <a:srgbClr val="616161"/>
                </a:solidFill>
                <a:effectLst/>
                <a:latin typeface="Barlow" panose="00000500000000000000" pitchFamily="2" charset="0"/>
              </a:rPr>
              <a:t>cloud</a:t>
            </a:r>
            <a:r>
              <a:rPr lang="es-ES" b="0" i="0" dirty="0">
                <a:solidFill>
                  <a:srgbClr val="616161"/>
                </a:solidFill>
                <a:effectLst/>
                <a:latin typeface="Barlow" panose="00000500000000000000" pitchFamily="2" charset="0"/>
              </a:rPr>
              <a:t> y ciberseguridad, han elaborado un decálogo con los 5 beneficios de implementar la Inteligencia Artificial en la </a:t>
            </a:r>
            <a:r>
              <a:rPr lang="es-ES" b="0" i="0" dirty="0" err="1">
                <a:solidFill>
                  <a:srgbClr val="616161"/>
                </a:solidFill>
                <a:effectLst/>
                <a:latin typeface="Barlow" panose="00000500000000000000" pitchFamily="2" charset="0"/>
              </a:rPr>
              <a:t>securización</a:t>
            </a:r>
            <a:r>
              <a:rPr lang="es-ES" b="0" i="0" dirty="0">
                <a:solidFill>
                  <a:srgbClr val="616161"/>
                </a:solidFill>
                <a:effectLst/>
                <a:latin typeface="Barlow" panose="00000500000000000000" pitchFamily="2" charset="0"/>
              </a:rPr>
              <a:t> de las empresas y las administraciones públicas:</a:t>
            </a:r>
          </a:p>
          <a:p>
            <a:pPr algn="l"/>
            <a:r>
              <a:rPr lang="es-ES" b="1" i="0" dirty="0">
                <a:effectLst/>
                <a:latin typeface="Barlow" panose="00000500000000000000" pitchFamily="2" charset="0"/>
              </a:rPr>
              <a:t>Detección de anomalías con la IA</a:t>
            </a:r>
          </a:p>
          <a:p>
            <a:pPr algn="l"/>
            <a:r>
              <a:rPr lang="es-ES" b="0" i="0" dirty="0">
                <a:solidFill>
                  <a:srgbClr val="616161"/>
                </a:solidFill>
                <a:effectLst/>
                <a:latin typeface="Barlow" panose="00000500000000000000" pitchFamily="2" charset="0"/>
              </a:rPr>
              <a:t>La IA permite analizar el tráfico de red y el comportamiento de los usuarios para identificar patrones de actividad inusuales que podrían ser indicativos de</a:t>
            </a:r>
            <a:r>
              <a:rPr lang="es-ES" b="1" i="0" u="none" strike="noStrike" dirty="0">
                <a:solidFill>
                  <a:srgbClr val="616161"/>
                </a:solidFill>
                <a:effectLst/>
                <a:latin typeface="Barlow" panose="00000500000000000000" pitchFamily="2" charset="0"/>
                <a:hlinkClick r:id="rId3"/>
              </a:rPr>
              <a:t> ataques cibernéticos</a:t>
            </a:r>
            <a:r>
              <a:rPr lang="es-ES" b="0" i="0" dirty="0">
                <a:solidFill>
                  <a:srgbClr val="616161"/>
                </a:solidFill>
                <a:effectLst/>
                <a:latin typeface="Barlow" panose="00000500000000000000" pitchFamily="2" charset="0"/>
              </a:rPr>
              <a:t>, como intrusiones o malware. Así, estos sistemas son capaces de aprender los patrones típicos del usuario y monitorizar de manera continua y en tiempo real el tráfico de red, lo que permite detectar desviaciones significativas de estos hábitos y generar alertas por si se tratase de una amenaza.</a:t>
            </a:r>
          </a:p>
          <a:p>
            <a:pPr algn="l"/>
            <a:r>
              <a:rPr lang="es-ES" b="1" i="0" dirty="0">
                <a:effectLst/>
                <a:latin typeface="Barlow" panose="00000500000000000000" pitchFamily="2" charset="0"/>
              </a:rPr>
              <a:t>Predicción de amenazas y adaptabilidad con inteligencia artificial</a:t>
            </a:r>
          </a:p>
          <a:p>
            <a:pPr algn="l"/>
            <a:r>
              <a:rPr lang="es-ES" b="0" i="0" dirty="0">
                <a:solidFill>
                  <a:srgbClr val="616161"/>
                </a:solidFill>
                <a:effectLst/>
                <a:latin typeface="Barlow" panose="00000500000000000000" pitchFamily="2" charset="0"/>
              </a:rPr>
              <a:t>Esta solución puede analizar datos históricos de amenazas y tendencias de seguridad para predecir posibles futuros ataques y vulnerabilidades, permitiendo a las organizaciones tomar medidas proactivas para mitigar riesgos. Además, cuenta con la ventaja de la capacidad de adaptación, puesto que la IA es capaz de aprender y evolucionar con el paso del tiempo a través de un histórico de datos, lo que permite que se ajuste a nuevos entornos de seguridad y detecte nuevas amenazas. Esto también se traduce en una reducción de falsos positivos, permitiendo a los analistas centrarse en amenazas concretas y palpables.</a:t>
            </a:r>
          </a:p>
          <a:p>
            <a:pPr algn="l"/>
            <a:endParaRPr lang="es-ES" b="0" i="0" dirty="0">
              <a:solidFill>
                <a:srgbClr val="616161"/>
              </a:solidFill>
              <a:effectLst/>
              <a:latin typeface="Barlow" panose="00000500000000000000" pitchFamily="2" charset="0"/>
            </a:endParaRPr>
          </a:p>
          <a:p>
            <a:pPr algn="l"/>
            <a:r>
              <a:rPr lang="es-ES" b="1" i="0" dirty="0">
                <a:effectLst/>
                <a:latin typeface="Barlow" panose="00000500000000000000" pitchFamily="2" charset="0"/>
              </a:rPr>
              <a:t>Integración con otras herramientas de seguridad</a:t>
            </a:r>
          </a:p>
          <a:p>
            <a:pPr algn="l"/>
            <a:r>
              <a:rPr lang="es-ES" b="0" i="0" dirty="0">
                <a:solidFill>
                  <a:srgbClr val="616161"/>
                </a:solidFill>
                <a:effectLst/>
                <a:latin typeface="Barlow" panose="00000500000000000000" pitchFamily="2" charset="0"/>
              </a:rPr>
              <a:t>Una de las mayores ventajas de esta tecnología es su adaptabilidad, ya que la IA se integra fácilmente con otras herramientas de seguridad, como sistemas de gestión de eventos e información de seguridad (SIEM) y sistemas de prevención de intrusiones (IPS), para proporcionar una respuesta coordinada y efectiva.</a:t>
            </a:r>
          </a:p>
          <a:p>
            <a:pPr algn="l"/>
            <a:r>
              <a:rPr lang="es-ES" b="0" i="0" dirty="0">
                <a:solidFill>
                  <a:srgbClr val="616161"/>
                </a:solidFill>
                <a:effectLst/>
                <a:latin typeface="Barlow" panose="00000500000000000000" pitchFamily="2" charset="0"/>
              </a:rPr>
              <a:t>En definitiva, en palabras de Ricardo Sanz, Head </a:t>
            </a:r>
            <a:r>
              <a:rPr lang="es-ES" b="0" i="0" dirty="0" err="1">
                <a:solidFill>
                  <a:srgbClr val="616161"/>
                </a:solidFill>
                <a:effectLst/>
                <a:latin typeface="Barlow" panose="00000500000000000000" pitchFamily="2" charset="0"/>
              </a:rPr>
              <a:t>of</a:t>
            </a:r>
            <a:r>
              <a:rPr lang="es-ES" b="0" i="0" dirty="0">
                <a:solidFill>
                  <a:srgbClr val="616161"/>
                </a:solidFill>
                <a:effectLst/>
                <a:latin typeface="Barlow" panose="00000500000000000000" pitchFamily="2" charset="0"/>
              </a:rPr>
              <a:t> </a:t>
            </a:r>
            <a:r>
              <a:rPr lang="es-ES" b="0" i="0" dirty="0" err="1">
                <a:solidFill>
                  <a:srgbClr val="616161"/>
                </a:solidFill>
                <a:effectLst/>
                <a:latin typeface="Barlow" panose="00000500000000000000" pitchFamily="2" charset="0"/>
              </a:rPr>
              <a:t>Cyber</a:t>
            </a:r>
            <a:r>
              <a:rPr lang="es-ES" b="0" i="0" dirty="0">
                <a:solidFill>
                  <a:srgbClr val="616161"/>
                </a:solidFill>
                <a:effectLst/>
                <a:latin typeface="Barlow" panose="00000500000000000000" pitchFamily="2" charset="0"/>
              </a:rPr>
              <a:t> Security Business en </a:t>
            </a:r>
            <a:r>
              <a:rPr lang="es-ES" b="0" i="0" dirty="0" err="1">
                <a:solidFill>
                  <a:srgbClr val="616161"/>
                </a:solidFill>
                <a:effectLst/>
                <a:latin typeface="Barlow" panose="00000500000000000000" pitchFamily="2" charset="0"/>
              </a:rPr>
              <a:t>Evolutio</a:t>
            </a:r>
            <a:r>
              <a:rPr lang="es-ES" b="0" i="0" dirty="0">
                <a:solidFill>
                  <a:srgbClr val="616161"/>
                </a:solidFill>
                <a:effectLst/>
                <a:latin typeface="Barlow" panose="00000500000000000000" pitchFamily="2" charset="0"/>
              </a:rPr>
              <a:t> “el uso de la Inteligencia Artificial en la ciberseguridad representa una revolución en la forma en que las organizaciones protegen sus activos digitales en un mundo digital en constante evolución. La IA ha demostrado ser una solución esencial para abordar los desafíos cada vez más complejos y sofisticados que plantean las amenazas cibernéticas”. Asimismo, la IA es una aliada poderosa, pero su efectividad depende de cómo se implemente y se integre en el marco de la seguridad general de las compañías. Ricardo Sanz añade: “la combinación de la inteligencia humana y la artificial es la clave para una ciberseguridad sólida y adaptable en un mundo digital en constante cambio”</a:t>
            </a:r>
          </a:p>
          <a:p>
            <a:pPr algn="l"/>
            <a:endParaRPr lang="es-ES" b="0" i="0" dirty="0">
              <a:solidFill>
                <a:srgbClr val="616161"/>
              </a:solidFill>
              <a:effectLst/>
              <a:latin typeface="Barlow" panose="00000500000000000000" pitchFamily="2" charset="0"/>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24</a:t>
            </a:fld>
            <a:endParaRPr lang="es-ES"/>
          </a:p>
        </p:txBody>
      </p:sp>
    </p:spTree>
    <p:extLst>
      <p:ext uri="{BB962C8B-B14F-4D97-AF65-F5344CB8AC3E}">
        <p14:creationId xmlns:p14="http://schemas.microsoft.com/office/powerpoint/2010/main" val="3805264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err="1">
                <a:effectLst/>
              </a:rPr>
              <a:t>Sec-PaLM</a:t>
            </a:r>
            <a:r>
              <a:rPr lang="es-ES" dirty="0">
                <a:effectLst/>
              </a:rPr>
              <a:t> es una versión especializada de </a:t>
            </a:r>
            <a:r>
              <a:rPr lang="es-ES" b="1" dirty="0" err="1">
                <a:effectLst/>
              </a:rPr>
              <a:t>PaLM</a:t>
            </a:r>
            <a:r>
              <a:rPr lang="es-ES" b="1" dirty="0">
                <a:effectLst/>
              </a:rPr>
              <a:t> 2</a:t>
            </a:r>
            <a:r>
              <a:rPr lang="es-ES" dirty="0">
                <a:effectLst/>
              </a:rPr>
              <a:t>, diseñada para tareas específicas de seguridad, mientras que </a:t>
            </a:r>
            <a:r>
              <a:rPr lang="es-ES" b="1" dirty="0" err="1">
                <a:effectLst/>
              </a:rPr>
              <a:t>PaLM</a:t>
            </a:r>
            <a:r>
              <a:rPr lang="es-ES" b="1" dirty="0">
                <a:effectLst/>
              </a:rPr>
              <a:t> 2</a:t>
            </a:r>
            <a:r>
              <a:rPr lang="es-ES" dirty="0">
                <a:effectLst/>
              </a:rPr>
              <a:t> es un modelo de lenguaje más amplio utilizado en diversas aplicaciones, incluido </a:t>
            </a:r>
            <a:r>
              <a:rPr lang="es-ES" b="1" dirty="0">
                <a:effectLst/>
              </a:rPr>
              <a:t>Google </a:t>
            </a:r>
            <a:r>
              <a:rPr lang="es-ES" b="1" dirty="0" err="1">
                <a:effectLst/>
              </a:rPr>
              <a:t>Bard</a:t>
            </a:r>
            <a:r>
              <a:rPr lang="es-ES" dirty="0">
                <a:effectLst/>
              </a:rPr>
              <a:t>. Ambos son logros significativos en el campo de la inteligencia artificial.</a:t>
            </a:r>
            <a:br>
              <a:rPr lang="es-ES" b="0" i="0" dirty="0">
                <a:solidFill>
                  <a:srgbClr val="111111"/>
                </a:solidFill>
                <a:effectLst/>
                <a:latin typeface="-apple-system"/>
              </a:rPr>
            </a:br>
            <a:endParaRPr lang="es-ES" b="0" i="0" dirty="0">
              <a:solidFill>
                <a:srgbClr val="000000"/>
              </a:solidFill>
              <a:effectLst/>
              <a:latin typeface="Source-Serif-Regular"/>
            </a:endParaRPr>
          </a:p>
          <a:p>
            <a:pPr algn="l"/>
            <a:endParaRPr lang="es-ES" b="0" i="0" dirty="0">
              <a:solidFill>
                <a:srgbClr val="000000"/>
              </a:solidFill>
              <a:effectLst/>
              <a:latin typeface="Source-Serif-Regular"/>
            </a:endParaRPr>
          </a:p>
          <a:p>
            <a:pPr algn="l"/>
            <a:r>
              <a:rPr lang="es-ES" b="0" i="0" dirty="0">
                <a:solidFill>
                  <a:srgbClr val="000000"/>
                </a:solidFill>
                <a:effectLst/>
                <a:latin typeface="Source-Serif-Regular"/>
              </a:rPr>
              <a:t>Uno de los principales riesgos del desarrollo de herramientas avanzadas con </a:t>
            </a:r>
            <a:r>
              <a:rPr lang="es-ES" b="0" i="0" u="none" strike="noStrike" dirty="0">
                <a:solidFill>
                  <a:srgbClr val="07919D"/>
                </a:solidFill>
                <a:effectLst/>
                <a:latin typeface="Source-Serif-Regular"/>
                <a:hlinkClick r:id="rId3" tooltip="Inteligencia artificial"/>
              </a:rPr>
              <a:t>inteligencia artificial</a:t>
            </a:r>
            <a:r>
              <a:rPr lang="es-ES" b="0" i="0" dirty="0">
                <a:solidFill>
                  <a:srgbClr val="000000"/>
                </a:solidFill>
                <a:effectLst/>
                <a:latin typeface="Source-Serif-Regular"/>
              </a:rPr>
              <a:t> es que los ciberdelincuentes pueden usarlas para sus delitos. De hecho, algunos investigadores </a:t>
            </a:r>
            <a:r>
              <a:rPr lang="es-ES" b="0" i="0" u="none" strike="noStrike" dirty="0">
                <a:solidFill>
                  <a:srgbClr val="07919D"/>
                </a:solidFill>
                <a:effectLst/>
                <a:latin typeface="Source-Serif-Regular"/>
                <a:hlinkClick r:id="rId4" tooltip="ChatGPT puede crear un malware indetectable por antivirus: así lo han demostrado"/>
              </a:rPr>
              <a:t>han comprobado</a:t>
            </a:r>
            <a:r>
              <a:rPr lang="es-ES" b="0" i="0" dirty="0">
                <a:solidFill>
                  <a:srgbClr val="000000"/>
                </a:solidFill>
                <a:effectLst/>
                <a:latin typeface="Source-Serif-Regular"/>
              </a:rPr>
              <a:t> que </a:t>
            </a:r>
            <a:r>
              <a:rPr lang="es-ES" b="0" i="0" dirty="0" err="1">
                <a:solidFill>
                  <a:srgbClr val="000000"/>
                </a:solidFill>
                <a:effectLst/>
                <a:latin typeface="Source-Serif-Regular"/>
              </a:rPr>
              <a:t>ChatGPT</a:t>
            </a:r>
            <a:r>
              <a:rPr lang="es-ES" b="0" i="0" dirty="0">
                <a:solidFill>
                  <a:srgbClr val="000000"/>
                </a:solidFill>
                <a:effectLst/>
                <a:latin typeface="Source-Serif-Regular"/>
              </a:rPr>
              <a:t> es capaz de crear un malware. Sin embargo, la IA también puede emplearse </a:t>
            </a:r>
            <a:r>
              <a:rPr lang="es-ES" b="1" i="0" dirty="0">
                <a:solidFill>
                  <a:srgbClr val="000000"/>
                </a:solidFill>
                <a:effectLst/>
                <a:latin typeface="Source-Serif-Bold"/>
              </a:rPr>
              <a:t>para justo lo contrario (para evitar ciberataques) y Google ha presentado una tecnología para ello.</a:t>
            </a:r>
            <a:endParaRPr lang="es-ES" b="0" i="0" dirty="0">
              <a:solidFill>
                <a:srgbClr val="000000"/>
              </a:solidFill>
              <a:effectLst/>
              <a:latin typeface="Source-Serif-Regular"/>
            </a:endParaRPr>
          </a:p>
          <a:p>
            <a:pPr algn="l"/>
            <a:r>
              <a:rPr lang="es-ES" b="0" i="0" dirty="0">
                <a:solidFill>
                  <a:srgbClr val="000000"/>
                </a:solidFill>
                <a:effectLst/>
                <a:latin typeface="Source-Serif-Regular"/>
              </a:rPr>
              <a:t>Se trata de </a:t>
            </a:r>
            <a:r>
              <a:rPr lang="es-ES" b="1" i="0" dirty="0" err="1">
                <a:solidFill>
                  <a:srgbClr val="000000"/>
                </a:solidFill>
                <a:effectLst/>
                <a:latin typeface="Source-Serif-Bold"/>
              </a:rPr>
              <a:t>VirusTotal</a:t>
            </a:r>
            <a:r>
              <a:rPr lang="es-ES" b="1" i="0" dirty="0">
                <a:solidFill>
                  <a:srgbClr val="000000"/>
                </a:solidFill>
                <a:effectLst/>
                <a:latin typeface="Source-Serif-Bold"/>
              </a:rPr>
              <a:t> </a:t>
            </a:r>
            <a:r>
              <a:rPr lang="es-ES" b="1" i="0" dirty="0" err="1">
                <a:solidFill>
                  <a:srgbClr val="000000"/>
                </a:solidFill>
                <a:effectLst/>
                <a:latin typeface="Source-Serif-Bold"/>
              </a:rPr>
              <a:t>Code</a:t>
            </a:r>
            <a:r>
              <a:rPr lang="es-ES" b="1" i="0" dirty="0">
                <a:solidFill>
                  <a:srgbClr val="000000"/>
                </a:solidFill>
                <a:effectLst/>
                <a:latin typeface="Source-Serif-Bold"/>
              </a:rPr>
              <a:t> </a:t>
            </a:r>
            <a:r>
              <a:rPr lang="es-ES" b="1" i="0" dirty="0" err="1">
                <a:solidFill>
                  <a:srgbClr val="000000"/>
                </a:solidFill>
                <a:effectLst/>
                <a:latin typeface="Source-Serif-Bold"/>
              </a:rPr>
              <a:t>Insight</a:t>
            </a:r>
            <a:r>
              <a:rPr lang="es-ES" b="0" i="0" dirty="0">
                <a:solidFill>
                  <a:srgbClr val="000000"/>
                </a:solidFill>
                <a:effectLst/>
                <a:latin typeface="Source-Serif-Regular"/>
              </a:rPr>
              <a:t>, una herramienta basada en inteligencia artificial enfocada para el análisis de </a:t>
            </a:r>
            <a:r>
              <a:rPr lang="es-ES" b="0" i="0" u="none" strike="noStrike" dirty="0">
                <a:solidFill>
                  <a:srgbClr val="07919D"/>
                </a:solidFill>
                <a:effectLst/>
                <a:latin typeface="Source-Serif-Regular"/>
                <a:hlinkClick r:id="rId5" tooltip="Malware"/>
              </a:rPr>
              <a:t>malware</a:t>
            </a:r>
            <a:r>
              <a:rPr lang="es-ES" b="0" i="0" dirty="0">
                <a:solidFill>
                  <a:srgbClr val="000000"/>
                </a:solidFill>
                <a:effectLst/>
                <a:latin typeface="Source-Serif-Regular"/>
              </a:rPr>
              <a:t>. Para llevar a cabo su tarea, la tecnología es capaz de analizar código y resumir fragmentos de código en lenguaje natural.</a:t>
            </a:r>
          </a:p>
          <a:p>
            <a:endParaRPr lang="es-ES" dirty="0"/>
          </a:p>
          <a:p>
            <a:pPr algn="l"/>
            <a:r>
              <a:rPr lang="es-ES" b="0" i="0" dirty="0">
                <a:solidFill>
                  <a:srgbClr val="000000"/>
                </a:solidFill>
                <a:effectLst/>
                <a:latin typeface="Source-Serif-Regular"/>
              </a:rPr>
              <a:t>La inteligencia artificial se ha comprobado que puede crear malwares, pero también es capaz de detectarlo y explicar en qué </a:t>
            </a:r>
            <a:r>
              <a:rPr lang="es-ES" b="0" i="0" dirty="0" err="1">
                <a:solidFill>
                  <a:srgbClr val="000000"/>
                </a:solidFill>
                <a:effectLst/>
                <a:latin typeface="Source-Serif-Regular"/>
              </a:rPr>
              <a:t>consisten.</a:t>
            </a:r>
            <a:r>
              <a:rPr lang="es-ES" b="0" i="0" dirty="0" err="1">
                <a:solidFill>
                  <a:srgbClr val="999999"/>
                </a:solidFill>
                <a:effectLst/>
                <a:latin typeface="Roboto-Regular"/>
              </a:rPr>
              <a:t>Elchinator</a:t>
            </a:r>
            <a:endParaRPr lang="es-ES" b="0" i="0" dirty="0">
              <a:solidFill>
                <a:srgbClr val="000000"/>
              </a:solidFill>
              <a:effectLst/>
              <a:latin typeface="Source-Serif-Regular"/>
            </a:endParaRPr>
          </a:p>
          <a:p>
            <a:pPr algn="l"/>
            <a:r>
              <a:rPr lang="es-ES" b="0" i="0" dirty="0">
                <a:solidFill>
                  <a:srgbClr val="000000"/>
                </a:solidFill>
                <a:effectLst/>
                <a:latin typeface="Source-Serif-Regular"/>
              </a:rPr>
              <a:t>Uno de los principales riesgos del desarrollo de herramientas avanzadas con </a:t>
            </a:r>
            <a:r>
              <a:rPr lang="es-ES" b="0" i="0" u="none" strike="noStrike" dirty="0">
                <a:solidFill>
                  <a:srgbClr val="07919D"/>
                </a:solidFill>
                <a:effectLst/>
                <a:latin typeface="Source-Serif-Regular"/>
                <a:hlinkClick r:id="rId3" tooltip="Inteligencia artificial"/>
              </a:rPr>
              <a:t>inteligencia artificial</a:t>
            </a:r>
            <a:r>
              <a:rPr lang="es-ES" b="0" i="0" dirty="0">
                <a:solidFill>
                  <a:srgbClr val="000000"/>
                </a:solidFill>
                <a:effectLst/>
                <a:latin typeface="Source-Serif-Regular"/>
              </a:rPr>
              <a:t> es que los ciberdelincuentes pueden usarlas para sus delitos. De hecho, algunos investigadores </a:t>
            </a:r>
            <a:r>
              <a:rPr lang="es-ES" b="0" i="0" u="none" strike="noStrike" dirty="0">
                <a:solidFill>
                  <a:srgbClr val="07919D"/>
                </a:solidFill>
                <a:effectLst/>
                <a:latin typeface="Source-Serif-Regular"/>
                <a:hlinkClick r:id="rId4" tooltip="ChatGPT puede crear un malware indetectable por antivirus: así lo han demostrado"/>
              </a:rPr>
              <a:t>han comprobado</a:t>
            </a:r>
            <a:r>
              <a:rPr lang="es-ES" b="0" i="0" dirty="0">
                <a:solidFill>
                  <a:srgbClr val="000000"/>
                </a:solidFill>
                <a:effectLst/>
                <a:latin typeface="Source-Serif-Regular"/>
              </a:rPr>
              <a:t> que </a:t>
            </a:r>
            <a:r>
              <a:rPr lang="es-ES" b="0" i="0" dirty="0" err="1">
                <a:solidFill>
                  <a:srgbClr val="000000"/>
                </a:solidFill>
                <a:effectLst/>
                <a:latin typeface="Source-Serif-Regular"/>
              </a:rPr>
              <a:t>ChatGPT</a:t>
            </a:r>
            <a:r>
              <a:rPr lang="es-ES" b="0" i="0" dirty="0">
                <a:solidFill>
                  <a:srgbClr val="000000"/>
                </a:solidFill>
                <a:effectLst/>
                <a:latin typeface="Source-Serif-Regular"/>
              </a:rPr>
              <a:t> es capaz de crear un malware. Sin embargo, la IA también puede emplearse </a:t>
            </a:r>
            <a:r>
              <a:rPr lang="es-ES" b="1" i="0" dirty="0">
                <a:solidFill>
                  <a:srgbClr val="000000"/>
                </a:solidFill>
                <a:effectLst/>
                <a:latin typeface="Source-Serif-Bold"/>
              </a:rPr>
              <a:t>para justo lo contrario (para evitar ciberataques) y Google ha presentado una tecnología para ello.</a:t>
            </a:r>
            <a:endParaRPr lang="es-ES" b="0" i="0" dirty="0">
              <a:solidFill>
                <a:srgbClr val="000000"/>
              </a:solidFill>
              <a:effectLst/>
              <a:latin typeface="Source-Serif-Regular"/>
            </a:endParaRPr>
          </a:p>
          <a:p>
            <a:pPr algn="l"/>
            <a:r>
              <a:rPr lang="es-ES" b="0" i="0" dirty="0">
                <a:solidFill>
                  <a:srgbClr val="000000"/>
                </a:solidFill>
                <a:effectLst/>
                <a:latin typeface="Source-Serif-Regular"/>
              </a:rPr>
              <a:t>Se trata de </a:t>
            </a:r>
            <a:r>
              <a:rPr lang="es-ES" b="1" i="0" dirty="0" err="1">
                <a:solidFill>
                  <a:srgbClr val="000000"/>
                </a:solidFill>
                <a:effectLst/>
                <a:latin typeface="Source-Serif-Bold"/>
              </a:rPr>
              <a:t>VirusTotal</a:t>
            </a:r>
            <a:r>
              <a:rPr lang="es-ES" b="1" i="0" dirty="0">
                <a:solidFill>
                  <a:srgbClr val="000000"/>
                </a:solidFill>
                <a:effectLst/>
                <a:latin typeface="Source-Serif-Bold"/>
              </a:rPr>
              <a:t> </a:t>
            </a:r>
            <a:r>
              <a:rPr lang="es-ES" b="1" i="0" dirty="0" err="1">
                <a:solidFill>
                  <a:srgbClr val="000000"/>
                </a:solidFill>
                <a:effectLst/>
                <a:latin typeface="Source-Serif-Bold"/>
              </a:rPr>
              <a:t>Code</a:t>
            </a:r>
            <a:r>
              <a:rPr lang="es-ES" b="1" i="0" dirty="0">
                <a:solidFill>
                  <a:srgbClr val="000000"/>
                </a:solidFill>
                <a:effectLst/>
                <a:latin typeface="Source-Serif-Bold"/>
              </a:rPr>
              <a:t> </a:t>
            </a:r>
            <a:r>
              <a:rPr lang="es-ES" b="1" i="0" dirty="0" err="1">
                <a:solidFill>
                  <a:srgbClr val="000000"/>
                </a:solidFill>
                <a:effectLst/>
                <a:latin typeface="Source-Serif-Bold"/>
              </a:rPr>
              <a:t>Insight</a:t>
            </a:r>
            <a:r>
              <a:rPr lang="es-ES" b="0" i="0" dirty="0">
                <a:solidFill>
                  <a:srgbClr val="000000"/>
                </a:solidFill>
                <a:effectLst/>
                <a:latin typeface="Source-Serif-Regular"/>
              </a:rPr>
              <a:t>, una herramienta basada en inteligencia artificial enfocada para el análisis de </a:t>
            </a:r>
            <a:r>
              <a:rPr lang="es-ES" b="0" i="0" u="none" strike="noStrike" dirty="0">
                <a:solidFill>
                  <a:srgbClr val="07919D"/>
                </a:solidFill>
                <a:effectLst/>
                <a:latin typeface="Source-Serif-Regular"/>
                <a:hlinkClick r:id="rId5" tooltip="Malware"/>
              </a:rPr>
              <a:t>malware</a:t>
            </a:r>
            <a:r>
              <a:rPr lang="es-ES" b="0" i="0" dirty="0">
                <a:solidFill>
                  <a:srgbClr val="000000"/>
                </a:solidFill>
                <a:effectLst/>
                <a:latin typeface="Source-Serif-Regular"/>
              </a:rPr>
              <a:t>. Para llevar a cabo su tarea, la tecnología es capaz de analizar código y resumir fragmentos de código en lenguaje natural.</a:t>
            </a:r>
          </a:p>
          <a:p>
            <a:pPr algn="l"/>
            <a:endParaRPr lang="es-ES" b="0" i="0" dirty="0">
              <a:solidFill>
                <a:srgbClr val="FFFFFF"/>
              </a:solidFill>
              <a:effectLst/>
              <a:latin typeface="Source-Serif-Regular"/>
            </a:endParaRPr>
          </a:p>
          <a:p>
            <a:pPr algn="l"/>
            <a:r>
              <a:rPr lang="es-ES" b="0" i="0" dirty="0">
                <a:solidFill>
                  <a:srgbClr val="000000"/>
                </a:solidFill>
                <a:effectLst/>
                <a:latin typeface="Source-Serif-Regular"/>
              </a:rPr>
              <a:t>Los desarrolladores de este sistema es </a:t>
            </a:r>
            <a:r>
              <a:rPr lang="es-ES" b="0" i="0" dirty="0" err="1">
                <a:solidFill>
                  <a:srgbClr val="000000"/>
                </a:solidFill>
                <a:effectLst/>
                <a:latin typeface="Source-Serif-Regular"/>
              </a:rPr>
              <a:t>VirusTotal</a:t>
            </a:r>
            <a:r>
              <a:rPr lang="es-ES" b="0" i="0" dirty="0">
                <a:solidFill>
                  <a:srgbClr val="000000"/>
                </a:solidFill>
                <a:effectLst/>
                <a:latin typeface="Source-Serif-Regular"/>
              </a:rPr>
              <a:t>, un equipo especializado en ciberseguridad con sede en Málaga (España), y han conseguido que la IA lea, resuma y traduzca los códigos para conocer qué hay detrás de los troyanos. En </a:t>
            </a:r>
            <a:r>
              <a:rPr lang="es-ES" b="0" i="0" u="none" strike="noStrike" dirty="0">
                <a:solidFill>
                  <a:srgbClr val="07919D"/>
                </a:solidFill>
                <a:effectLst/>
                <a:latin typeface="Source-Serif-Regular"/>
                <a:hlinkClick r:id="rId6"/>
              </a:rPr>
              <a:t>un comunicado</a:t>
            </a:r>
            <a:r>
              <a:rPr lang="es-ES" b="0" i="0" dirty="0">
                <a:solidFill>
                  <a:srgbClr val="000000"/>
                </a:solidFill>
                <a:effectLst/>
                <a:latin typeface="Source-Serif-Regular"/>
              </a:rPr>
              <a:t>, Bernardo Quintero, </a:t>
            </a:r>
            <a:r>
              <a:rPr lang="es-ES" b="0" i="0" dirty="0" err="1">
                <a:solidFill>
                  <a:srgbClr val="000000"/>
                </a:solidFill>
                <a:effectLst/>
                <a:latin typeface="Source-Serif-Regular"/>
              </a:rPr>
              <a:t>security</a:t>
            </a:r>
            <a:r>
              <a:rPr lang="es-ES" b="0" i="0" dirty="0">
                <a:solidFill>
                  <a:srgbClr val="000000"/>
                </a:solidFill>
                <a:effectLst/>
                <a:latin typeface="Source-Serif-Regular"/>
              </a:rPr>
              <a:t> </a:t>
            </a:r>
            <a:r>
              <a:rPr lang="es-ES" b="0" i="0" dirty="0" err="1">
                <a:solidFill>
                  <a:srgbClr val="000000"/>
                </a:solidFill>
                <a:effectLst/>
                <a:latin typeface="Source-Serif-Regular"/>
              </a:rPr>
              <a:t>engineering</a:t>
            </a:r>
            <a:r>
              <a:rPr lang="es-ES" b="0" i="0" dirty="0">
                <a:solidFill>
                  <a:srgbClr val="000000"/>
                </a:solidFill>
                <a:effectLst/>
                <a:latin typeface="Source-Serif-Regular"/>
              </a:rPr>
              <a:t> director de la división, apunta que la función está pensada para que expertos y analistas de seguridad puedan tener "una visión más profunda del propósito y la operación del código analizado, </a:t>
            </a:r>
            <a:r>
              <a:rPr lang="es-ES" b="1" i="0" dirty="0">
                <a:solidFill>
                  <a:srgbClr val="000000"/>
                </a:solidFill>
                <a:effectLst/>
                <a:latin typeface="Source-Serif-Bold"/>
              </a:rPr>
              <a:t>mejorando significativamente su capacidad para detectar y mitigar amenazas potenciales".</a:t>
            </a:r>
          </a:p>
          <a:p>
            <a:pPr algn="l"/>
            <a:endParaRPr lang="es-ES" b="1" i="0" dirty="0">
              <a:solidFill>
                <a:srgbClr val="000000"/>
              </a:solidFill>
              <a:effectLst/>
              <a:latin typeface="Source-Serif-Bold"/>
            </a:endParaRPr>
          </a:p>
          <a:p>
            <a:pPr algn="l"/>
            <a:r>
              <a:rPr lang="es-ES" b="0" i="0" dirty="0">
                <a:solidFill>
                  <a:srgbClr val="000000"/>
                </a:solidFill>
                <a:effectLst/>
                <a:latin typeface="Source-Serif-Regular"/>
              </a:rPr>
              <a:t>El profesional de </a:t>
            </a:r>
            <a:r>
              <a:rPr lang="es-ES" b="0" i="0" dirty="0" err="1">
                <a:solidFill>
                  <a:srgbClr val="000000"/>
                </a:solidFill>
                <a:effectLst/>
                <a:latin typeface="Source-Serif-Regular"/>
              </a:rPr>
              <a:t>VirusTotal</a:t>
            </a:r>
            <a:r>
              <a:rPr lang="es-ES" b="0" i="0" dirty="0">
                <a:solidFill>
                  <a:srgbClr val="000000"/>
                </a:solidFill>
                <a:effectLst/>
                <a:latin typeface="Source-Serif-Regular"/>
              </a:rPr>
              <a:t> señala que, desde hace tiempo, la IA y el aprendizaje automático juegan un papel muy importante contra los malwares. Generalmente, las herramientas con esta </a:t>
            </a:r>
            <a:r>
              <a:rPr lang="es-ES" b="0" i="0" u="none" strike="noStrike" dirty="0">
                <a:solidFill>
                  <a:srgbClr val="07919D"/>
                </a:solidFill>
                <a:effectLst/>
                <a:latin typeface="Source-Serif-Regular"/>
                <a:hlinkClick r:id="rId7" tooltip="Noticias de tecnología"/>
              </a:rPr>
              <a:t>tecnología</a:t>
            </a:r>
            <a:r>
              <a:rPr lang="es-ES" b="0" i="0" dirty="0">
                <a:solidFill>
                  <a:srgbClr val="000000"/>
                </a:solidFill>
                <a:effectLst/>
                <a:latin typeface="Source-Serif-Regular"/>
              </a:rPr>
              <a:t> se usaban para clasificarlos, pero los avances que ha habido en los últimos meses con modelos de lenguajes de gran tamaño </a:t>
            </a:r>
            <a:r>
              <a:rPr lang="es-ES" b="1" i="0" dirty="0">
                <a:solidFill>
                  <a:srgbClr val="000000"/>
                </a:solidFill>
                <a:effectLst/>
                <a:latin typeface="Source-Serif-Bold"/>
              </a:rPr>
              <a:t>han permitido que tenga más capacidades de generación y resumen de texto.</a:t>
            </a:r>
            <a:endParaRPr lang="es-ES" b="0" i="0" dirty="0">
              <a:solidFill>
                <a:srgbClr val="000000"/>
              </a:solidFill>
              <a:effectLst/>
              <a:latin typeface="Source-Serif-Regular"/>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25</a:t>
            </a:fld>
            <a:endParaRPr lang="es-ES"/>
          </a:p>
        </p:txBody>
      </p:sp>
    </p:spTree>
    <p:extLst>
      <p:ext uri="{BB962C8B-B14F-4D97-AF65-F5344CB8AC3E}">
        <p14:creationId xmlns:p14="http://schemas.microsoft.com/office/powerpoint/2010/main" val="18173893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26</a:t>
            </a:fld>
            <a:endParaRPr lang="es-ES"/>
          </a:p>
        </p:txBody>
      </p:sp>
    </p:spTree>
    <p:extLst>
      <p:ext uri="{BB962C8B-B14F-4D97-AF65-F5344CB8AC3E}">
        <p14:creationId xmlns:p14="http://schemas.microsoft.com/office/powerpoint/2010/main" val="2850379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Este </a:t>
            </a:r>
            <a:r>
              <a:rPr lang="es-MX" sz="1200" kern="1200" dirty="0" err="1">
                <a:solidFill>
                  <a:schemeClr val="tx1"/>
                </a:solidFill>
                <a:effectLst/>
                <a:latin typeface="+mn-lt"/>
                <a:ea typeface="+mn-ea"/>
                <a:cs typeface="+mn-cs"/>
              </a:rPr>
              <a:t>dataset</a:t>
            </a:r>
            <a:r>
              <a:rPr lang="es-MX" sz="1200" kern="1200" dirty="0">
                <a:solidFill>
                  <a:schemeClr val="tx1"/>
                </a:solidFill>
                <a:effectLst/>
                <a:latin typeface="+mn-lt"/>
                <a:ea typeface="+mn-ea"/>
                <a:cs typeface="+mn-cs"/>
              </a:rPr>
              <a:t> está compuesto por 400 muestras de </a:t>
            </a:r>
            <a:r>
              <a:rPr lang="es-MX" sz="1200" kern="1200" dirty="0" err="1">
                <a:solidFill>
                  <a:schemeClr val="tx1"/>
                </a:solidFill>
                <a:effectLst/>
                <a:latin typeface="+mn-lt"/>
                <a:ea typeface="+mn-ea"/>
                <a:cs typeface="+mn-cs"/>
              </a:rPr>
              <a:t>APKs</a:t>
            </a:r>
            <a:r>
              <a:rPr lang="es-MX" sz="1200" kern="1200" dirty="0">
                <a:solidFill>
                  <a:schemeClr val="tx1"/>
                </a:solidFill>
                <a:effectLst/>
                <a:latin typeface="+mn-lt"/>
                <a:ea typeface="+mn-ea"/>
                <a:cs typeface="+mn-cs"/>
              </a:rPr>
              <a:t>, de las cuales 200 son maliciosas (</a:t>
            </a:r>
            <a:r>
              <a:rPr lang="es-MX" sz="1200" kern="1200" dirty="0" err="1">
                <a:solidFill>
                  <a:schemeClr val="tx1"/>
                </a:solidFill>
                <a:effectLst/>
                <a:latin typeface="+mn-lt"/>
                <a:ea typeface="+mn-ea"/>
                <a:cs typeface="+mn-cs"/>
              </a:rPr>
              <a:t>type</a:t>
            </a:r>
            <a:r>
              <a:rPr lang="es-MX" sz="1200" kern="1200" dirty="0">
                <a:solidFill>
                  <a:schemeClr val="tx1"/>
                </a:solidFill>
                <a:effectLst/>
                <a:latin typeface="+mn-lt"/>
                <a:ea typeface="+mn-ea"/>
                <a:cs typeface="+mn-cs"/>
              </a:rPr>
              <a:t>=1) y 200 benignas (</a:t>
            </a:r>
            <a:r>
              <a:rPr lang="es-MX" sz="1200" kern="1200" dirty="0" err="1">
                <a:solidFill>
                  <a:schemeClr val="tx1"/>
                </a:solidFill>
                <a:effectLst/>
                <a:latin typeface="+mn-lt"/>
                <a:ea typeface="+mn-ea"/>
                <a:cs typeface="+mn-cs"/>
              </a:rPr>
              <a:t>type</a:t>
            </a:r>
            <a:r>
              <a:rPr lang="es-MX" sz="1200" kern="1200" dirty="0">
                <a:solidFill>
                  <a:schemeClr val="tx1"/>
                </a:solidFill>
                <a:effectLst/>
                <a:latin typeface="+mn-lt"/>
                <a:ea typeface="+mn-ea"/>
                <a:cs typeface="+mn-cs"/>
              </a:rPr>
              <a:t>=0). Cada una de estas muestras se representa mediante cada uno de los permisos que Android pone a disposición de los desarrolladores. Cada una de las muestras de APK, si requiere de un permiso, se marca con 1 la celda correspondiente; y 0 en caso contrario.</a:t>
            </a:r>
            <a:endParaRPr lang="es-ES" sz="12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27</a:t>
            </a:fld>
            <a:endParaRPr lang="es-ES"/>
          </a:p>
        </p:txBody>
      </p:sp>
    </p:spTree>
    <p:extLst>
      <p:ext uri="{BB962C8B-B14F-4D97-AF65-F5344CB8AC3E}">
        <p14:creationId xmlns:p14="http://schemas.microsoft.com/office/powerpoint/2010/main" val="2530045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0A1C34A4-13E2-443F-972C-194BE4D60CDE}" type="slidenum">
              <a:rPr lang="es-ES" smtClean="0"/>
              <a:t>28</a:t>
            </a:fld>
            <a:endParaRPr lang="es-ES"/>
          </a:p>
        </p:txBody>
      </p:sp>
    </p:spTree>
    <p:extLst>
      <p:ext uri="{BB962C8B-B14F-4D97-AF65-F5344CB8AC3E}">
        <p14:creationId xmlns:p14="http://schemas.microsoft.com/office/powerpoint/2010/main" val="1970816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Una de las técnicas más empleadas para probar la eficacia de un modelo de Machine </a:t>
            </a:r>
            <a:r>
              <a:rPr lang="es-ES" sz="1200" b="0" i="0" kern="1200" dirty="0" err="1">
                <a:solidFill>
                  <a:schemeClr val="tx1"/>
                </a:solidFill>
                <a:effectLst/>
                <a:latin typeface="+mn-lt"/>
                <a:ea typeface="+mn-ea"/>
                <a:cs typeface="+mn-cs"/>
              </a:rPr>
              <a:t>Learning</a:t>
            </a:r>
            <a:r>
              <a:rPr lang="es-ES" sz="1200" b="0" i="0" kern="1200" dirty="0">
                <a:solidFill>
                  <a:schemeClr val="tx1"/>
                </a:solidFill>
                <a:effectLst/>
                <a:latin typeface="+mn-lt"/>
                <a:ea typeface="+mn-ea"/>
                <a:cs typeface="+mn-cs"/>
              </a:rPr>
              <a:t> es la </a:t>
            </a:r>
            <a:r>
              <a:rPr lang="es-ES" sz="1200" b="1" i="0" kern="1200" dirty="0">
                <a:solidFill>
                  <a:schemeClr val="tx1"/>
                </a:solidFill>
                <a:effectLst/>
                <a:latin typeface="+mn-lt"/>
                <a:ea typeface="+mn-ea"/>
                <a:cs typeface="+mn-cs"/>
              </a:rPr>
              <a:t>“</a:t>
            </a:r>
            <a:r>
              <a:rPr lang="es-ES" sz="1200" b="1" i="0" kern="1200" dirty="0" err="1">
                <a:solidFill>
                  <a:schemeClr val="tx1"/>
                </a:solidFill>
                <a:effectLst/>
                <a:latin typeface="+mn-lt"/>
                <a:ea typeface="+mn-ea"/>
                <a:cs typeface="+mn-cs"/>
              </a:rPr>
              <a:t>cross-validation</a:t>
            </a:r>
            <a:r>
              <a:rPr lang="es-ES" sz="1200" b="1" i="0" kern="1200" dirty="0">
                <a:solidFill>
                  <a:schemeClr val="tx1"/>
                </a:solidFill>
                <a:effectLst/>
                <a:latin typeface="+mn-lt"/>
                <a:ea typeface="+mn-ea"/>
                <a:cs typeface="+mn-cs"/>
              </a:rPr>
              <a:t>” o validación cruzada</a:t>
            </a:r>
            <a:r>
              <a:rPr lang="es-ES" sz="1200" b="0" i="0" kern="1200" dirty="0">
                <a:solidFill>
                  <a:schemeClr val="tx1"/>
                </a:solidFill>
                <a:effectLst/>
                <a:latin typeface="+mn-lt"/>
                <a:ea typeface="+mn-ea"/>
                <a:cs typeface="+mn-cs"/>
              </a:rPr>
              <a:t>. Este método también es un procedimiento de “</a:t>
            </a:r>
            <a:r>
              <a:rPr lang="es-ES" sz="1200" b="0" i="0" kern="1200" dirty="0" err="1">
                <a:solidFill>
                  <a:schemeClr val="tx1"/>
                </a:solidFill>
                <a:effectLst/>
                <a:latin typeface="+mn-lt"/>
                <a:ea typeface="+mn-ea"/>
                <a:cs typeface="+mn-cs"/>
              </a:rPr>
              <a:t>re-sampling</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remuestreo</a:t>
            </a:r>
            <a:r>
              <a:rPr lang="es-ES" sz="1200" b="0" i="0" kern="1200" dirty="0">
                <a:solidFill>
                  <a:schemeClr val="tx1"/>
                </a:solidFill>
                <a:effectLst/>
                <a:latin typeface="+mn-lt"/>
                <a:ea typeface="+mn-ea"/>
                <a:cs typeface="+mn-cs"/>
              </a:rPr>
              <a:t>) que permite evaluar un modelo incluso con datos limitados.</a:t>
            </a:r>
          </a:p>
          <a:p>
            <a:r>
              <a:rPr lang="es-ES" sz="1200" b="0" i="0" kern="1200" dirty="0">
                <a:solidFill>
                  <a:schemeClr val="tx1"/>
                </a:solidFill>
                <a:effectLst/>
                <a:latin typeface="+mn-lt"/>
                <a:ea typeface="+mn-ea"/>
                <a:cs typeface="+mn-cs"/>
              </a:rPr>
              <a:t>Para efectuar una </a:t>
            </a:r>
            <a:r>
              <a:rPr lang="es-ES" sz="1200" b="1" i="0" kern="1200" dirty="0">
                <a:solidFill>
                  <a:schemeClr val="tx1"/>
                </a:solidFill>
                <a:effectLst/>
                <a:latin typeface="+mn-lt"/>
                <a:ea typeface="+mn-ea"/>
                <a:cs typeface="+mn-cs"/>
              </a:rPr>
              <a:t>“CV” (</a:t>
            </a:r>
            <a:r>
              <a:rPr lang="es-ES" sz="1200" b="1" i="0" kern="1200" dirty="0" err="1">
                <a:solidFill>
                  <a:schemeClr val="tx1"/>
                </a:solidFill>
                <a:effectLst/>
                <a:latin typeface="+mn-lt"/>
                <a:ea typeface="+mn-ea"/>
                <a:cs typeface="+mn-cs"/>
              </a:rPr>
              <a:t>cross-validation</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hace falta apartar de antemano una parte de los datos de la serie de datos de entrenamiento. Esos datos no se utilizarán para entrenar el modelo, sino más tarde para probarlo y validarlo.</a:t>
            </a:r>
          </a:p>
          <a:p>
            <a:r>
              <a:rPr lang="es-ES" sz="1200" b="0" i="0" kern="1200" dirty="0">
                <a:solidFill>
                  <a:schemeClr val="tx1"/>
                </a:solidFill>
                <a:effectLst/>
                <a:latin typeface="+mn-lt"/>
                <a:ea typeface="+mn-ea"/>
                <a:cs typeface="+mn-cs"/>
              </a:rPr>
              <a:t>A menudo en Machine </a:t>
            </a:r>
            <a:r>
              <a:rPr lang="es-ES" sz="1200" b="0" i="0" kern="1200" dirty="0" err="1">
                <a:solidFill>
                  <a:schemeClr val="tx1"/>
                </a:solidFill>
                <a:effectLst/>
                <a:latin typeface="+mn-lt"/>
                <a:ea typeface="+mn-ea"/>
                <a:cs typeface="+mn-cs"/>
              </a:rPr>
              <a:t>Learning</a:t>
            </a:r>
            <a:r>
              <a:rPr lang="es-ES" sz="1200" b="0" i="0" kern="1200" dirty="0">
                <a:solidFill>
                  <a:schemeClr val="tx1"/>
                </a:solidFill>
                <a:effectLst/>
                <a:latin typeface="+mn-lt"/>
                <a:ea typeface="+mn-ea"/>
                <a:cs typeface="+mn-cs"/>
              </a:rPr>
              <a:t> se usa la </a:t>
            </a:r>
            <a:r>
              <a:rPr lang="es-ES" sz="1200" b="0" i="0" kern="1200" dirty="0" err="1">
                <a:solidFill>
                  <a:schemeClr val="tx1"/>
                </a:solidFill>
                <a:effectLst/>
                <a:latin typeface="+mn-lt"/>
                <a:ea typeface="+mn-ea"/>
                <a:cs typeface="+mn-cs"/>
              </a:rPr>
              <a:t>cross-validation</a:t>
            </a:r>
            <a:r>
              <a:rPr lang="es-ES" sz="1200" b="0" i="0" kern="1200" dirty="0">
                <a:solidFill>
                  <a:schemeClr val="tx1"/>
                </a:solidFill>
                <a:effectLst/>
                <a:latin typeface="+mn-lt"/>
                <a:ea typeface="+mn-ea"/>
                <a:cs typeface="+mn-cs"/>
              </a:rPr>
              <a:t> para </a:t>
            </a:r>
            <a:r>
              <a:rPr lang="es-ES" sz="1200" b="1" i="0" kern="1200" dirty="0">
                <a:solidFill>
                  <a:schemeClr val="tx1"/>
                </a:solidFill>
                <a:effectLst/>
                <a:latin typeface="+mn-lt"/>
                <a:ea typeface="+mn-ea"/>
                <a:cs typeface="+mn-cs"/>
              </a:rPr>
              <a:t>comparar los diferentes modelos</a:t>
            </a:r>
            <a:r>
              <a:rPr lang="es-ES" sz="1200" b="0" i="0" kern="1200" dirty="0">
                <a:solidFill>
                  <a:schemeClr val="tx1"/>
                </a:solidFill>
                <a:effectLst/>
                <a:latin typeface="+mn-lt"/>
                <a:ea typeface="+mn-ea"/>
                <a:cs typeface="+mn-cs"/>
              </a:rPr>
              <a:t> y seleccionar el más adecuado para un problema específico. Esta técnica es a la vez fácil de comprender, fácil de implementar y tiene menos sesgos que los demás métodos. Descubramos ahora las principales técnicas de validación cruzada.</a:t>
            </a:r>
          </a:p>
          <a:p>
            <a:endParaRPr lang="es-ES" dirty="0"/>
          </a:p>
          <a:p>
            <a:r>
              <a:rPr lang="es-ES" sz="1200" b="1" kern="1200" dirty="0">
                <a:solidFill>
                  <a:schemeClr val="tx1"/>
                </a:solidFill>
                <a:effectLst/>
                <a:latin typeface="+mn-lt"/>
                <a:ea typeface="+mn-ea"/>
                <a:cs typeface="+mn-cs"/>
              </a:rPr>
              <a:t>El método K-</a:t>
            </a:r>
            <a:r>
              <a:rPr lang="es-ES" sz="1200" b="1" kern="1200" dirty="0" err="1">
                <a:solidFill>
                  <a:schemeClr val="tx1"/>
                </a:solidFill>
                <a:effectLst/>
                <a:latin typeface="+mn-lt"/>
                <a:ea typeface="+mn-ea"/>
                <a:cs typeface="+mn-cs"/>
              </a:rPr>
              <a:t>Folds</a:t>
            </a:r>
            <a:endParaRPr lang="es-ES" sz="1200" b="1"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La técnica K-</a:t>
            </a:r>
            <a:r>
              <a:rPr lang="es-ES" sz="1200" b="0" kern="1200" dirty="0" err="1">
                <a:solidFill>
                  <a:schemeClr val="tx1"/>
                </a:solidFill>
                <a:effectLst/>
                <a:latin typeface="+mn-lt"/>
                <a:ea typeface="+mn-ea"/>
                <a:cs typeface="+mn-cs"/>
              </a:rPr>
              <a:t>Folds</a:t>
            </a:r>
            <a:r>
              <a:rPr lang="es-ES" sz="1200" b="0" kern="1200" dirty="0">
                <a:solidFill>
                  <a:schemeClr val="tx1"/>
                </a:solidFill>
                <a:effectLst/>
                <a:latin typeface="+mn-lt"/>
                <a:ea typeface="+mn-ea"/>
                <a:cs typeface="+mn-cs"/>
              </a:rPr>
              <a:t> es </a:t>
            </a:r>
            <a:r>
              <a:rPr lang="es-ES" sz="1200" b="1" kern="1200" dirty="0">
                <a:solidFill>
                  <a:schemeClr val="tx1"/>
                </a:solidFill>
                <a:effectLst/>
                <a:latin typeface="+mn-lt"/>
                <a:ea typeface="+mn-ea"/>
                <a:cs typeface="+mn-cs"/>
              </a:rPr>
              <a:t>fácil de comprender y es particularmente conocida</a:t>
            </a:r>
            <a:r>
              <a:rPr lang="es-ES" sz="1200" b="0" kern="1200" dirty="0">
                <a:solidFill>
                  <a:schemeClr val="tx1"/>
                </a:solidFill>
                <a:effectLst/>
                <a:latin typeface="+mn-lt"/>
                <a:ea typeface="+mn-ea"/>
                <a:cs typeface="+mn-cs"/>
              </a:rPr>
              <a:t>. Respecto a otros enfoques de Cross-</a:t>
            </a:r>
            <a:r>
              <a:rPr lang="es-ES" sz="1200" b="0" kern="1200" dirty="0" err="1">
                <a:solidFill>
                  <a:schemeClr val="tx1"/>
                </a:solidFill>
                <a:effectLst/>
                <a:latin typeface="+mn-lt"/>
                <a:ea typeface="+mn-ea"/>
                <a:cs typeface="+mn-cs"/>
              </a:rPr>
              <a:t>Validation</a:t>
            </a:r>
            <a:r>
              <a:rPr lang="es-ES" sz="1200" b="0" kern="1200" dirty="0">
                <a:solidFill>
                  <a:schemeClr val="tx1"/>
                </a:solidFill>
                <a:effectLst/>
                <a:latin typeface="+mn-lt"/>
                <a:ea typeface="+mn-ea"/>
                <a:cs typeface="+mn-cs"/>
              </a:rPr>
              <a:t>, suele resultar un modelo menos sesgado.</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Justamente, permite garantizar que todas las observaciones de la serie de datos original tengan la oportunidad de aparecer en la serie de entrenamiento y en la serie de prueba. </a:t>
            </a:r>
            <a:r>
              <a:rPr lang="es-ES" sz="1200" b="1" kern="1200" dirty="0">
                <a:solidFill>
                  <a:schemeClr val="tx1"/>
                </a:solidFill>
                <a:effectLst/>
                <a:latin typeface="+mn-lt"/>
                <a:ea typeface="+mn-ea"/>
                <a:cs typeface="+mn-cs"/>
              </a:rPr>
              <a:t>En caso de datos de entrada limitados</a:t>
            </a:r>
            <a:r>
              <a:rPr lang="es-ES" sz="1200" b="0" kern="1200" dirty="0">
                <a:solidFill>
                  <a:schemeClr val="tx1"/>
                </a:solidFill>
                <a:effectLst/>
                <a:latin typeface="+mn-lt"/>
                <a:ea typeface="+mn-ea"/>
                <a:cs typeface="+mn-cs"/>
              </a:rPr>
              <a:t>, resulta uno de los mejores enfoques.</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Primero se empieza </a:t>
            </a:r>
            <a:r>
              <a:rPr lang="es-ES" sz="1200" b="1" kern="1200" dirty="0">
                <a:solidFill>
                  <a:schemeClr val="tx1"/>
                </a:solidFill>
                <a:effectLst/>
                <a:latin typeface="+mn-lt"/>
                <a:ea typeface="+mn-ea"/>
                <a:cs typeface="+mn-cs"/>
              </a:rPr>
              <a:t>separando la serie de datos de manera aleatoria en K </a:t>
            </a:r>
            <a:r>
              <a:rPr lang="es-ES" sz="1200" b="1" kern="1200" dirty="0" err="1">
                <a:solidFill>
                  <a:schemeClr val="tx1"/>
                </a:solidFill>
                <a:effectLst/>
                <a:latin typeface="+mn-lt"/>
                <a:ea typeface="+mn-ea"/>
                <a:cs typeface="+mn-cs"/>
              </a:rPr>
              <a:t>folds</a:t>
            </a:r>
            <a:r>
              <a:rPr lang="es-ES" sz="1200" b="0" kern="1200" dirty="0">
                <a:solidFill>
                  <a:schemeClr val="tx1"/>
                </a:solidFill>
                <a:effectLst/>
                <a:latin typeface="+mn-lt"/>
                <a:ea typeface="+mn-ea"/>
                <a:cs typeface="+mn-cs"/>
              </a:rPr>
              <a:t>. El procedimiento tiene un parámetro único llamado “K” que hace referencia al número de grupos en el se dividirá la muestra.</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El </a:t>
            </a:r>
            <a:r>
              <a:rPr lang="es-ES" sz="1200" b="1" kern="1200" dirty="0">
                <a:solidFill>
                  <a:schemeClr val="tx1"/>
                </a:solidFill>
                <a:effectLst/>
                <a:latin typeface="+mn-lt"/>
                <a:ea typeface="+mn-ea"/>
                <a:cs typeface="+mn-cs"/>
              </a:rPr>
              <a:t>valor de K no debe ser ni demasiado bajo ni demasiado alto</a:t>
            </a:r>
            <a:r>
              <a:rPr lang="es-ES" sz="1200" b="0" kern="1200" dirty="0">
                <a:solidFill>
                  <a:schemeClr val="tx1"/>
                </a:solidFill>
                <a:effectLst/>
                <a:latin typeface="+mn-lt"/>
                <a:ea typeface="+mn-ea"/>
                <a:cs typeface="+mn-cs"/>
              </a:rPr>
              <a:t> y, por lo general, se elige un valor comprendido entre 5 y 10 en función de la envergadura de la serie de datos. Por ejemplo, si K=10, la serie de datos se dividirá en 10 partes.</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Un </a:t>
            </a:r>
            <a:r>
              <a:rPr lang="es-ES" sz="1200" b="1" kern="1200" dirty="0">
                <a:solidFill>
                  <a:schemeClr val="tx1"/>
                </a:solidFill>
                <a:effectLst/>
                <a:latin typeface="+mn-lt"/>
                <a:ea typeface="+mn-ea"/>
                <a:cs typeface="+mn-cs"/>
              </a:rPr>
              <a:t>valor K más alto lleva a un modelo con menos sesgo</a:t>
            </a:r>
            <a:r>
              <a:rPr lang="es-ES" sz="1200" b="0" kern="1200" dirty="0">
                <a:solidFill>
                  <a:schemeClr val="tx1"/>
                </a:solidFill>
                <a:effectLst/>
                <a:latin typeface="+mn-lt"/>
                <a:ea typeface="+mn-ea"/>
                <a:cs typeface="+mn-cs"/>
              </a:rPr>
              <a:t>, pero una varianza demasiado amplia puede llevar a un ajuste excesivo. Un valor más bajo es prácticamente lo mismo que utilizar el método Train-Test Split.</a:t>
            </a:r>
            <a:endParaRPr lang="es-ES" sz="1200" kern="1200" dirty="0">
              <a:solidFill>
                <a:schemeClr val="tx1"/>
              </a:solidFill>
              <a:effectLst/>
              <a:latin typeface="+mn-lt"/>
              <a:ea typeface="+mn-ea"/>
              <a:cs typeface="+mn-cs"/>
            </a:endParaRPr>
          </a:p>
          <a:p>
            <a:r>
              <a:rPr lang="es-ES" sz="1200" b="1" kern="1200" dirty="0">
                <a:solidFill>
                  <a:schemeClr val="tx1"/>
                </a:solidFill>
                <a:effectLst/>
                <a:latin typeface="+mn-lt"/>
                <a:ea typeface="+mn-ea"/>
                <a:cs typeface="+mn-cs"/>
              </a:rPr>
              <a:t>Después se ajusta el modelo utilizando los </a:t>
            </a:r>
            <a:r>
              <a:rPr lang="es-ES" sz="1200" b="1" kern="1200" dirty="0" err="1">
                <a:solidFill>
                  <a:schemeClr val="tx1"/>
                </a:solidFill>
                <a:effectLst/>
                <a:latin typeface="+mn-lt"/>
                <a:ea typeface="+mn-ea"/>
                <a:cs typeface="+mn-cs"/>
              </a:rPr>
              <a:t>folds</a:t>
            </a:r>
            <a:r>
              <a:rPr lang="es-ES" sz="1200" b="1" kern="1200" dirty="0">
                <a:solidFill>
                  <a:schemeClr val="tx1"/>
                </a:solidFill>
                <a:effectLst/>
                <a:latin typeface="+mn-lt"/>
                <a:ea typeface="+mn-ea"/>
                <a:cs typeface="+mn-cs"/>
              </a:rPr>
              <a:t> K-1</a:t>
            </a:r>
            <a:r>
              <a:rPr lang="es-ES" sz="1200" b="0" kern="1200" dirty="0">
                <a:solidFill>
                  <a:schemeClr val="tx1"/>
                </a:solidFill>
                <a:effectLst/>
                <a:latin typeface="+mn-lt"/>
                <a:ea typeface="+mn-ea"/>
                <a:cs typeface="+mn-cs"/>
              </a:rPr>
              <a:t> (K menos 1). El modelo se valida usando el K-</a:t>
            </a:r>
            <a:r>
              <a:rPr lang="es-ES" sz="1200" b="0" kern="1200" dirty="0" err="1">
                <a:solidFill>
                  <a:schemeClr val="tx1"/>
                </a:solidFill>
                <a:effectLst/>
                <a:latin typeface="+mn-lt"/>
                <a:ea typeface="+mn-ea"/>
                <a:cs typeface="+mn-cs"/>
              </a:rPr>
              <a:t>fold</a:t>
            </a:r>
            <a:r>
              <a:rPr lang="es-ES" sz="1200" b="0" kern="1200" dirty="0">
                <a:solidFill>
                  <a:schemeClr val="tx1"/>
                </a:solidFill>
                <a:effectLst/>
                <a:latin typeface="+mn-lt"/>
                <a:ea typeface="+mn-ea"/>
                <a:cs typeface="+mn-cs"/>
              </a:rPr>
              <a:t> restante. Las puntuaciones y los errores se deben anotar.</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El </a:t>
            </a:r>
            <a:r>
              <a:rPr lang="es-ES" sz="1200" b="1" kern="1200" dirty="0">
                <a:solidFill>
                  <a:schemeClr val="tx1"/>
                </a:solidFill>
                <a:effectLst/>
                <a:latin typeface="+mn-lt"/>
                <a:ea typeface="+mn-ea"/>
                <a:cs typeface="+mn-cs"/>
              </a:rPr>
              <a:t>proceso se repite hasta que cada K-</a:t>
            </a:r>
            <a:r>
              <a:rPr lang="es-ES" sz="1200" b="1" kern="1200" dirty="0" err="1">
                <a:solidFill>
                  <a:schemeClr val="tx1"/>
                </a:solidFill>
                <a:effectLst/>
                <a:latin typeface="+mn-lt"/>
                <a:ea typeface="+mn-ea"/>
                <a:cs typeface="+mn-cs"/>
              </a:rPr>
              <a:t>fold</a:t>
            </a:r>
            <a:r>
              <a:rPr lang="es-ES" sz="1200" b="1" kern="1200" dirty="0">
                <a:solidFill>
                  <a:schemeClr val="tx1"/>
                </a:solidFill>
                <a:effectLst/>
                <a:latin typeface="+mn-lt"/>
                <a:ea typeface="+mn-ea"/>
                <a:cs typeface="+mn-cs"/>
              </a:rPr>
              <a:t> sirva</a:t>
            </a:r>
            <a:r>
              <a:rPr lang="es-ES" sz="1200" b="0" kern="1200" dirty="0">
                <a:solidFill>
                  <a:schemeClr val="tx1"/>
                </a:solidFill>
                <a:effectLst/>
                <a:latin typeface="+mn-lt"/>
                <a:ea typeface="+mn-ea"/>
                <a:cs typeface="+mn-cs"/>
              </a:rPr>
              <a:t> dentro de la serie de entrenamiento. La media de las puntuaciones registradas es la métrica de rendimiento del modelo.</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Este </a:t>
            </a:r>
            <a:r>
              <a:rPr lang="es-ES" sz="1200" b="1" kern="1200" dirty="0">
                <a:solidFill>
                  <a:schemeClr val="tx1"/>
                </a:solidFill>
                <a:effectLst/>
                <a:latin typeface="+mn-lt"/>
                <a:ea typeface="+mn-ea"/>
                <a:cs typeface="+mn-cs"/>
              </a:rPr>
              <a:t>proceso se puede realizar de manera manual</a:t>
            </a:r>
            <a:r>
              <a:rPr lang="es-ES" sz="1200" b="0" kern="1200" dirty="0">
                <a:solidFill>
                  <a:schemeClr val="tx1"/>
                </a:solidFill>
                <a:effectLst/>
                <a:latin typeface="+mn-lt"/>
                <a:ea typeface="+mn-ea"/>
                <a:cs typeface="+mn-cs"/>
              </a:rPr>
              <a:t> o con ayuda de las funciones </a:t>
            </a:r>
            <a:r>
              <a:rPr lang="es-ES" sz="1200" b="0" kern="1200" dirty="0" err="1">
                <a:solidFill>
                  <a:schemeClr val="tx1"/>
                </a:solidFill>
                <a:effectLst/>
                <a:latin typeface="+mn-lt"/>
                <a:ea typeface="+mn-ea"/>
                <a:cs typeface="+mn-cs"/>
              </a:rPr>
              <a:t>cross_val_score</a:t>
            </a:r>
            <a:r>
              <a:rPr lang="es-ES" sz="1200" b="0" kern="1200" dirty="0">
                <a:solidFill>
                  <a:schemeClr val="tx1"/>
                </a:solidFill>
                <a:effectLst/>
                <a:latin typeface="+mn-lt"/>
                <a:ea typeface="+mn-ea"/>
                <a:cs typeface="+mn-cs"/>
              </a:rPr>
              <a:t> y </a:t>
            </a:r>
            <a:r>
              <a:rPr lang="es-ES" sz="1200" b="0" kern="1200" dirty="0" err="1">
                <a:solidFill>
                  <a:schemeClr val="tx1"/>
                </a:solidFill>
                <a:effectLst/>
                <a:latin typeface="+mn-lt"/>
                <a:ea typeface="+mn-ea"/>
                <a:cs typeface="+mn-cs"/>
              </a:rPr>
              <a:t>cross_val-predict</a:t>
            </a:r>
            <a:r>
              <a:rPr lang="es-ES" sz="1200" b="0" kern="1200" dirty="0">
                <a:solidFill>
                  <a:schemeClr val="tx1"/>
                </a:solidFill>
                <a:effectLst/>
                <a:latin typeface="+mn-lt"/>
                <a:ea typeface="+mn-ea"/>
                <a:cs typeface="+mn-cs"/>
              </a:rPr>
              <a:t> de la librería Python de </a:t>
            </a:r>
            <a:r>
              <a:rPr lang="es-ES" sz="1200" b="0" kern="1200" dirty="0" err="1">
                <a:solidFill>
                  <a:schemeClr val="tx1"/>
                </a:solidFill>
                <a:effectLst/>
                <a:latin typeface="+mn-lt"/>
                <a:ea typeface="+mn-ea"/>
                <a:cs typeface="+mn-cs"/>
              </a:rPr>
              <a:t>Scikit-Learn</a:t>
            </a:r>
            <a:r>
              <a:rPr lang="es-ES" sz="1200" b="0" kern="1200" dirty="0">
                <a:solidFill>
                  <a:schemeClr val="tx1"/>
                </a:solidFill>
                <a:effectLst/>
                <a:latin typeface="+mn-lt"/>
                <a:ea typeface="+mn-ea"/>
                <a:cs typeface="+mn-cs"/>
              </a:rPr>
              <a:t>. La función </a:t>
            </a:r>
            <a:r>
              <a:rPr lang="es-ES" sz="1200" b="0" kern="1200" dirty="0" err="1">
                <a:solidFill>
                  <a:schemeClr val="tx1"/>
                </a:solidFill>
                <a:effectLst/>
                <a:latin typeface="+mn-lt"/>
                <a:ea typeface="+mn-ea"/>
                <a:cs typeface="+mn-cs"/>
              </a:rPr>
              <a:t>cross_val_score</a:t>
            </a:r>
            <a:r>
              <a:rPr lang="es-ES" sz="1200" b="0" kern="1200" dirty="0">
                <a:solidFill>
                  <a:schemeClr val="tx1"/>
                </a:solidFill>
                <a:effectLst/>
                <a:latin typeface="+mn-lt"/>
                <a:ea typeface="+mn-ea"/>
                <a:cs typeface="+mn-cs"/>
              </a:rPr>
              <a:t> indica la puntuación de cada </a:t>
            </a:r>
            <a:r>
              <a:rPr lang="es-ES" sz="1200" b="0" kern="1200" dirty="0" err="1">
                <a:solidFill>
                  <a:schemeClr val="tx1"/>
                </a:solidFill>
                <a:effectLst/>
                <a:latin typeface="+mn-lt"/>
                <a:ea typeface="+mn-ea"/>
                <a:cs typeface="+mn-cs"/>
              </a:rPr>
              <a:t>fold</a:t>
            </a:r>
            <a:r>
              <a:rPr lang="es-ES" sz="1200" b="0" kern="1200" dirty="0">
                <a:solidFill>
                  <a:schemeClr val="tx1"/>
                </a:solidFill>
                <a:effectLst/>
                <a:latin typeface="+mn-lt"/>
                <a:ea typeface="+mn-ea"/>
                <a:cs typeface="+mn-cs"/>
              </a:rPr>
              <a:t> de prueba, mientras que la función </a:t>
            </a:r>
            <a:r>
              <a:rPr lang="es-ES" sz="1200" b="0" kern="1200" dirty="0" err="1">
                <a:solidFill>
                  <a:schemeClr val="tx1"/>
                </a:solidFill>
                <a:effectLst/>
                <a:latin typeface="+mn-lt"/>
                <a:ea typeface="+mn-ea"/>
                <a:cs typeface="+mn-cs"/>
              </a:rPr>
              <a:t>cross_val_predict</a:t>
            </a:r>
            <a:r>
              <a:rPr lang="es-ES" sz="1200" b="0" kern="1200" dirty="0">
                <a:solidFill>
                  <a:schemeClr val="tx1"/>
                </a:solidFill>
                <a:effectLst/>
                <a:latin typeface="+mn-lt"/>
                <a:ea typeface="+mn-ea"/>
                <a:cs typeface="+mn-cs"/>
              </a:rPr>
              <a:t> indica la puntuación predicha para cada observación de la serie de datos de entrada cuando formaba parte de la serie de prueba.</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En el caso de que el modelo (estimador) sea un clasificador y la variable objetivo (y) binaria o multiclase, se utiliza por defecto la técnica «</a:t>
            </a:r>
            <a:r>
              <a:rPr lang="es-ES" sz="1200" b="0" kern="1200" dirty="0" err="1">
                <a:solidFill>
                  <a:schemeClr val="tx1"/>
                </a:solidFill>
                <a:effectLst/>
                <a:latin typeface="+mn-lt"/>
                <a:ea typeface="+mn-ea"/>
                <a:cs typeface="+mn-cs"/>
              </a:rPr>
              <a:t>StratifiedKfold</a:t>
            </a:r>
            <a:r>
              <a:rPr lang="es-ES" sz="1200" b="0" kern="1200" dirty="0">
                <a:solidFill>
                  <a:schemeClr val="tx1"/>
                </a:solidFill>
                <a:effectLst/>
                <a:latin typeface="+mn-lt"/>
                <a:ea typeface="+mn-ea"/>
                <a:cs typeface="+mn-cs"/>
              </a:rPr>
              <a:t>». Este método </a:t>
            </a:r>
            <a:r>
              <a:rPr lang="es-ES" sz="1200" b="1" kern="1200" dirty="0">
                <a:solidFill>
                  <a:schemeClr val="tx1"/>
                </a:solidFill>
                <a:effectLst/>
                <a:latin typeface="+mn-lt"/>
                <a:ea typeface="+mn-ea"/>
                <a:cs typeface="+mn-cs"/>
              </a:rPr>
              <a:t>presenta pliegues estratificados</a:t>
            </a:r>
            <a:r>
              <a:rPr lang="es-ES" sz="1200" b="0" kern="1200" dirty="0">
                <a:solidFill>
                  <a:schemeClr val="tx1"/>
                </a:solidFill>
                <a:effectLst/>
                <a:latin typeface="+mn-lt"/>
                <a:ea typeface="+mn-ea"/>
                <a:cs typeface="+mn-cs"/>
              </a:rPr>
              <a:t>, por ejemplo, manteniendo el porcentaje de muestras de cada clase en todos los </a:t>
            </a:r>
            <a:r>
              <a:rPr lang="es-ES" sz="1200" b="0" kern="1200" dirty="0" err="1">
                <a:solidFill>
                  <a:schemeClr val="tx1"/>
                </a:solidFill>
                <a:effectLst/>
                <a:latin typeface="+mn-lt"/>
                <a:ea typeface="+mn-ea"/>
                <a:cs typeface="+mn-cs"/>
              </a:rPr>
              <a:t>folds</a:t>
            </a:r>
            <a:r>
              <a:rPr lang="es-ES" sz="1200" b="0" kern="1200" dirty="0">
                <a:solidFill>
                  <a:schemeClr val="tx1"/>
                </a:solidFill>
                <a:effectLst/>
                <a:latin typeface="+mn-lt"/>
                <a:ea typeface="+mn-ea"/>
                <a:cs typeface="+mn-cs"/>
              </a:rPr>
              <a:t>. De este modo, los datos de los </a:t>
            </a:r>
            <a:r>
              <a:rPr lang="es-ES" sz="1200" b="0" kern="1200" dirty="0" err="1">
                <a:solidFill>
                  <a:schemeClr val="tx1"/>
                </a:solidFill>
                <a:effectLst/>
                <a:latin typeface="+mn-lt"/>
                <a:ea typeface="+mn-ea"/>
                <a:cs typeface="+mn-cs"/>
              </a:rPr>
              <a:t>folds</a:t>
            </a:r>
            <a:r>
              <a:rPr lang="es-ES" sz="1200" b="0" kern="1200" dirty="0">
                <a:solidFill>
                  <a:schemeClr val="tx1"/>
                </a:solidFill>
                <a:effectLst/>
                <a:latin typeface="+mn-lt"/>
                <a:ea typeface="+mn-ea"/>
                <a:cs typeface="+mn-cs"/>
              </a:rPr>
              <a:t> de entrenamiento y de prueba se distribuyen de manera equitativa.</a:t>
            </a:r>
            <a:endParaRPr lang="es-ES" sz="120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En los demás casos, se usa por defecto la técnica </a:t>
            </a:r>
            <a:r>
              <a:rPr lang="es-ES" sz="1200" b="0" kern="1200" dirty="0" err="1">
                <a:solidFill>
                  <a:schemeClr val="tx1"/>
                </a:solidFill>
                <a:effectLst/>
                <a:latin typeface="+mn-lt"/>
                <a:ea typeface="+mn-ea"/>
                <a:cs typeface="+mn-cs"/>
              </a:rPr>
              <a:t>K_Fold</a:t>
            </a:r>
            <a:r>
              <a:rPr lang="es-ES" sz="1200" b="0" kern="1200" dirty="0">
                <a:solidFill>
                  <a:schemeClr val="tx1"/>
                </a:solidFill>
                <a:effectLst/>
                <a:latin typeface="+mn-lt"/>
                <a:ea typeface="+mn-ea"/>
                <a:cs typeface="+mn-cs"/>
              </a:rPr>
              <a:t> para </a:t>
            </a:r>
            <a:r>
              <a:rPr lang="es-ES" sz="1200" b="1" kern="1200" dirty="0">
                <a:solidFill>
                  <a:schemeClr val="tx1"/>
                </a:solidFill>
                <a:effectLst/>
                <a:latin typeface="+mn-lt"/>
                <a:ea typeface="+mn-ea"/>
                <a:cs typeface="+mn-cs"/>
              </a:rPr>
              <a:t>dividir y entrenar el modelo</a:t>
            </a:r>
            <a:r>
              <a:rPr lang="es-ES" sz="1200" b="0" kern="1200" dirty="0">
                <a:solidFill>
                  <a:schemeClr val="tx1"/>
                </a:solidFill>
                <a:effectLst/>
                <a:latin typeface="+mn-lt"/>
                <a:ea typeface="+mn-ea"/>
                <a:cs typeface="+mn-cs"/>
              </a:rPr>
              <a:t>. Los </a:t>
            </a:r>
            <a:r>
              <a:rPr lang="es-ES" sz="1200" b="0" kern="1200" dirty="0" err="1">
                <a:solidFill>
                  <a:schemeClr val="tx1"/>
                </a:solidFill>
                <a:effectLst/>
                <a:latin typeface="+mn-lt"/>
                <a:ea typeface="+mn-ea"/>
                <a:cs typeface="+mn-cs"/>
              </a:rPr>
              <a:t>folds</a:t>
            </a:r>
            <a:r>
              <a:rPr lang="es-ES" sz="1200" b="0" kern="1200">
                <a:solidFill>
                  <a:schemeClr val="tx1"/>
                </a:solidFill>
                <a:effectLst/>
                <a:latin typeface="+mn-lt"/>
                <a:ea typeface="+mn-ea"/>
                <a:cs typeface="+mn-cs"/>
              </a:rPr>
              <a:t> se pueden utilizar como iteradores o en un bucle para entrenar en un marco de datos de Pandas.</a:t>
            </a:r>
            <a:endParaRPr lang="es-ES" sz="1200" kern="1200">
              <a:solidFill>
                <a:schemeClr val="tx1"/>
              </a:solidFill>
              <a:effectLst/>
              <a:latin typeface="+mn-lt"/>
              <a:ea typeface="+mn-ea"/>
              <a:cs typeface="+mn-cs"/>
            </a:endParaRPr>
          </a:p>
          <a:p>
            <a:endParaRPr lang="es-ES"/>
          </a:p>
        </p:txBody>
      </p:sp>
      <p:sp>
        <p:nvSpPr>
          <p:cNvPr id="4" name="Marcador de número de diapositiva 3"/>
          <p:cNvSpPr>
            <a:spLocks noGrp="1"/>
          </p:cNvSpPr>
          <p:nvPr>
            <p:ph type="sldNum" sz="quarter" idx="5"/>
          </p:nvPr>
        </p:nvSpPr>
        <p:spPr/>
        <p:txBody>
          <a:bodyPr/>
          <a:lstStyle/>
          <a:p>
            <a:fld id="{0A1C34A4-13E2-443F-972C-194BE4D60CDE}" type="slidenum">
              <a:rPr lang="es-ES" smtClean="0"/>
              <a:t>29</a:t>
            </a:fld>
            <a:endParaRPr lang="es-ES"/>
          </a:p>
        </p:txBody>
      </p:sp>
    </p:spTree>
    <p:extLst>
      <p:ext uri="{BB962C8B-B14F-4D97-AF65-F5344CB8AC3E}">
        <p14:creationId xmlns:p14="http://schemas.microsoft.com/office/powerpoint/2010/main" val="2624246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0A1C34A4-13E2-443F-972C-194BE4D60CDE}" type="slidenum">
              <a:rPr lang="es-ES" smtClean="0"/>
              <a:t>30</a:t>
            </a:fld>
            <a:endParaRPr lang="es-ES"/>
          </a:p>
        </p:txBody>
      </p:sp>
    </p:spTree>
    <p:extLst>
      <p:ext uri="{BB962C8B-B14F-4D97-AF65-F5344CB8AC3E}">
        <p14:creationId xmlns:p14="http://schemas.microsoft.com/office/powerpoint/2010/main" val="2332871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2400">
                <a:solidFill>
                  <a:schemeClr val="tx1"/>
                </a:solidFill>
              </a:defRPr>
            </a:lvl1pPr>
          </a:lstStyle>
          <a:p>
            <a:r>
              <a:rPr kumimoji="0" lang="es-MX"/>
              <a:t>Haz clic para modificar el estilo de título del patrón</a:t>
            </a:r>
            <a:endParaRPr kumimoji="0" lang="en-US"/>
          </a:p>
        </p:txBody>
      </p:sp>
      <p:sp>
        <p:nvSpPr>
          <p:cNvPr id="9" name="Subtitle 8"/>
          <p:cNvSpPr>
            <a:spLocks noGrp="1"/>
          </p:cNvSpPr>
          <p:nvPr>
            <p:ph type="subTitle" idx="1"/>
          </p:nvPr>
        </p:nvSpPr>
        <p:spPr>
          <a:xfrm>
            <a:off x="1625600" y="5124450"/>
            <a:ext cx="9144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s-MX"/>
              <a:t>Haz clic para editar el estilo de subtítulo del patrón</a:t>
            </a:r>
            <a:endParaRPr kumimoji="0" lang="en-US"/>
          </a:p>
        </p:txBody>
      </p:sp>
      <p:sp>
        <p:nvSpPr>
          <p:cNvPr id="28" name="Date Placeholder 27"/>
          <p:cNvSpPr>
            <a:spLocks noGrp="1"/>
          </p:cNvSpPr>
          <p:nvPr>
            <p:ph type="dt" sz="half" idx="10"/>
          </p:nvPr>
        </p:nvSpPr>
        <p:spPr>
          <a:xfrm>
            <a:off x="8534400" y="6355080"/>
            <a:ext cx="3048000" cy="365760"/>
          </a:xfrm>
        </p:spPr>
        <p:txBody>
          <a:bodyPr/>
          <a:lstStyle>
            <a:lvl1pPr>
              <a:defRPr sz="1050"/>
            </a:lvl1pPr>
          </a:lstStyle>
          <a:p>
            <a:fld id="{24ACF8E7-6D1D-4FC5-970A-C4EDF350773E}" type="datetimeFigureOut">
              <a:rPr lang="es-ES" smtClean="0"/>
              <a:t>01/06/2025</a:t>
            </a:fld>
            <a:endParaRPr lang="es-ES"/>
          </a:p>
        </p:txBody>
      </p:sp>
      <p:sp>
        <p:nvSpPr>
          <p:cNvPr id="17" name="Footer Placeholder 16"/>
          <p:cNvSpPr>
            <a:spLocks noGrp="1"/>
          </p:cNvSpPr>
          <p:nvPr>
            <p:ph type="ftr" sz="quarter" idx="11"/>
          </p:nvPr>
        </p:nvSpPr>
        <p:spPr>
          <a:xfrm>
            <a:off x="3864864" y="6355080"/>
            <a:ext cx="4632960" cy="365760"/>
          </a:xfrm>
        </p:spPr>
        <p:txBody>
          <a:bodyPr/>
          <a:lstStyle/>
          <a:p>
            <a:endParaRPr lang="es-ES"/>
          </a:p>
        </p:txBody>
      </p:sp>
      <p:sp>
        <p:nvSpPr>
          <p:cNvPr id="29" name="Slide Number Placeholder 28"/>
          <p:cNvSpPr>
            <a:spLocks noGrp="1"/>
          </p:cNvSpPr>
          <p:nvPr>
            <p:ph type="sldNum" sz="quarter" idx="12"/>
          </p:nvPr>
        </p:nvSpPr>
        <p:spPr>
          <a:xfrm>
            <a:off x="1621536" y="6355080"/>
            <a:ext cx="1625600" cy="365760"/>
          </a:xfrm>
        </p:spPr>
        <p:txBody>
          <a:bodyPr/>
          <a:lstStyle/>
          <a:p>
            <a:fld id="{C48E4401-B318-4FCE-9358-8F3CFD8B3DD9}" type="slidenum">
              <a:rPr lang="es-ES" smtClean="0"/>
              <a:t>‹Nº›</a:t>
            </a:fld>
            <a:endParaRPr lang="es-ES"/>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134180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s-MX"/>
              <a:t>Haz clic para modificar el estilo de título del patrón</a:t>
            </a:r>
            <a:endParaRPr kumimoji="0" lang="en-US"/>
          </a:p>
        </p:txBody>
      </p:sp>
      <p:sp>
        <p:nvSpPr>
          <p:cNvPr id="4" name="Date Placeholder 3"/>
          <p:cNvSpPr>
            <a:spLocks noGrp="1"/>
          </p:cNvSpPr>
          <p:nvPr>
            <p:ph type="dt" sz="half" idx="10"/>
          </p:nvPr>
        </p:nvSpPr>
        <p:spPr/>
        <p:txBody>
          <a:bodyPr/>
          <a:lstStyle/>
          <a:p>
            <a:fld id="{24ACF8E7-6D1D-4FC5-970A-C4EDF350773E}" type="datetimeFigureOut">
              <a:rPr lang="es-ES" smtClean="0"/>
              <a:t>01/06/2025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48E4401-B318-4FCE-9358-8F3CFD8B3DD9}" type="slidenum">
              <a:rPr lang="es-ES" smtClean="0"/>
              <a:t>‹Nº›</a:t>
            </a:fld>
            <a:endParaRPr lang="es-ES"/>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2551437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2400" b="0" cap="none" baseline="0"/>
            </a:lvl1pPr>
          </a:lstStyle>
          <a:p>
            <a:r>
              <a:rPr kumimoji="0" lang="es-MX"/>
              <a:t>Haz clic para modificar el estilo de título del patrón</a:t>
            </a:r>
            <a:endParaRPr kumimoji="0" lang="en-US"/>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s-MX"/>
              <a:t>Haga clic para modificar los estilos de texto del patrón</a:t>
            </a:r>
          </a:p>
        </p:txBody>
      </p:sp>
      <p:sp>
        <p:nvSpPr>
          <p:cNvPr id="4" name="Date Placeholder 3"/>
          <p:cNvSpPr>
            <a:spLocks noGrp="1"/>
          </p:cNvSpPr>
          <p:nvPr>
            <p:ph type="dt" sz="half" idx="10"/>
          </p:nvPr>
        </p:nvSpPr>
        <p:spPr>
          <a:xfrm>
            <a:off x="8534400" y="6355080"/>
            <a:ext cx="3048000" cy="365760"/>
          </a:xfrm>
        </p:spPr>
        <p:txBody>
          <a:bodyPr/>
          <a:lstStyle/>
          <a:p>
            <a:fld id="{24ACF8E7-6D1D-4FC5-970A-C4EDF350773E}" type="datetimeFigureOut">
              <a:rPr lang="es-ES" smtClean="0"/>
              <a:t>01/06/2025</a:t>
            </a:fld>
            <a:endParaRPr lang="es-ES"/>
          </a:p>
        </p:txBody>
      </p:sp>
      <p:sp>
        <p:nvSpPr>
          <p:cNvPr id="5" name="Footer Placeholder 4"/>
          <p:cNvSpPr>
            <a:spLocks noGrp="1"/>
          </p:cNvSpPr>
          <p:nvPr>
            <p:ph type="ftr" sz="quarter" idx="11"/>
          </p:nvPr>
        </p:nvSpPr>
        <p:spPr>
          <a:xfrm>
            <a:off x="3864864" y="6355080"/>
            <a:ext cx="4632960" cy="365760"/>
          </a:xfrm>
        </p:spPr>
        <p:txBody>
          <a:bodyPr/>
          <a:lstStyle/>
          <a:p>
            <a:endParaRPr lang="es-ES"/>
          </a:p>
        </p:txBody>
      </p:sp>
      <p:sp>
        <p:nvSpPr>
          <p:cNvPr id="6" name="Slide Number Placeholder 5"/>
          <p:cNvSpPr>
            <a:spLocks noGrp="1"/>
          </p:cNvSpPr>
          <p:nvPr>
            <p:ph type="sldNum" sz="quarter" idx="12"/>
          </p:nvPr>
        </p:nvSpPr>
        <p:spPr>
          <a:xfrm>
            <a:off x="1426464" y="6355080"/>
            <a:ext cx="2027936" cy="365760"/>
          </a:xfrm>
        </p:spPr>
        <p:txBody>
          <a:bodyPr/>
          <a:lstStyle/>
          <a:p>
            <a:fld id="{C48E4401-B318-4FCE-9358-8F3CFD8B3DD9}" type="slidenum">
              <a:rPr lang="es-ES" smtClean="0"/>
              <a:t>‹Nº›</a:t>
            </a:fld>
            <a:endParaRPr lang="es-ES"/>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15838083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s-MX"/>
              <a:t>Haz clic para modificar el estilo de título del patrón</a:t>
            </a:r>
            <a:endParaRPr kumimoji="0" lang="en-US"/>
          </a:p>
        </p:txBody>
      </p:sp>
      <p:sp>
        <p:nvSpPr>
          <p:cNvPr id="5" name="Date Placeholder 4"/>
          <p:cNvSpPr>
            <a:spLocks noGrp="1"/>
          </p:cNvSpPr>
          <p:nvPr>
            <p:ph type="dt" sz="half" idx="10"/>
          </p:nvPr>
        </p:nvSpPr>
        <p:spPr/>
        <p:txBody>
          <a:bodyPr/>
          <a:lstStyle/>
          <a:p>
            <a:fld id="{24ACF8E7-6D1D-4FC5-970A-C4EDF350773E}" type="datetimeFigureOut">
              <a:rPr lang="es-ES" smtClean="0"/>
              <a:t>01/06/2025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48E4401-B318-4FCE-9358-8F3CFD8B3DD9}" type="slidenum">
              <a:rPr lang="es-ES" smtClean="0"/>
              <a:t>‹Nº›</a:t>
            </a:fld>
            <a:endParaRPr lang="es-E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1251318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s-MX"/>
              <a:t>Haz clic para modificar el estilo de título del patrón</a:t>
            </a:r>
            <a:endParaRPr kumimoji="0" lang="en-US"/>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s-MX"/>
              <a:t>Haga clic para modificar los estilos de texto del patrón</a:t>
            </a:r>
          </a:p>
        </p:txBody>
      </p:sp>
      <p:sp>
        <p:nvSpPr>
          <p:cNvPr id="4" name="Text Placeholder 3"/>
          <p:cNvSpPr>
            <a:spLocks noGrp="1"/>
          </p:cNvSpPr>
          <p:nvPr>
            <p:ph type="body" sz="half" idx="3"/>
          </p:nvPr>
        </p:nvSpPr>
        <p:spPr>
          <a:xfrm>
            <a:off x="6197602" y="1295400"/>
            <a:ext cx="5389033"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s-MX"/>
              <a:t>Haga clic para modificar los estilos de texto del patrón</a:t>
            </a:r>
          </a:p>
        </p:txBody>
      </p:sp>
      <p:sp>
        <p:nvSpPr>
          <p:cNvPr id="7" name="Date Placeholder 6"/>
          <p:cNvSpPr>
            <a:spLocks noGrp="1"/>
          </p:cNvSpPr>
          <p:nvPr>
            <p:ph type="dt" sz="half" idx="10"/>
          </p:nvPr>
        </p:nvSpPr>
        <p:spPr/>
        <p:txBody>
          <a:bodyPr/>
          <a:lstStyle/>
          <a:p>
            <a:fld id="{24ACF8E7-6D1D-4FC5-970A-C4EDF350773E}" type="datetimeFigureOut">
              <a:rPr lang="es-ES" smtClean="0"/>
              <a:t>01/06/2025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C48E4401-B318-4FCE-9358-8F3CFD8B3DD9}" type="slidenum">
              <a:rPr lang="es-ES" smtClean="0"/>
              <a:t>‹Nº›</a:t>
            </a:fld>
            <a:endParaRPr lang="es-E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526146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s-MX"/>
              <a:t>Haz clic para modificar el estilo de título del patrón</a:t>
            </a:r>
            <a:endParaRPr kumimoji="0" lang="en-US"/>
          </a:p>
        </p:txBody>
      </p:sp>
      <p:sp>
        <p:nvSpPr>
          <p:cNvPr id="3" name="Date Placeholder 2"/>
          <p:cNvSpPr>
            <a:spLocks noGrp="1"/>
          </p:cNvSpPr>
          <p:nvPr>
            <p:ph type="dt" sz="half" idx="10"/>
          </p:nvPr>
        </p:nvSpPr>
        <p:spPr/>
        <p:txBody>
          <a:bodyPr/>
          <a:lstStyle/>
          <a:p>
            <a:fld id="{24ACF8E7-6D1D-4FC5-970A-C4EDF350773E}" type="datetimeFigureOut">
              <a:rPr lang="es-ES" smtClean="0"/>
              <a:t>01/06/2025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C48E4401-B318-4FCE-9358-8F3CFD8B3DD9}" type="slidenum">
              <a:rPr lang="es-ES" smtClean="0"/>
              <a:t>‹Nº›</a:t>
            </a:fld>
            <a:endParaRPr lang="es-ES"/>
          </a:p>
        </p:txBody>
      </p:sp>
      <p:sp>
        <p:nvSpPr>
          <p:cNvPr id="6" name="Isosceles Triangle 5"/>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035132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ACF8E7-6D1D-4FC5-970A-C4EDF350773E}" type="datetimeFigureOut">
              <a:rPr lang="es-ES" smtClean="0"/>
              <a:t>01/06/2025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C48E4401-B318-4FCE-9358-8F3CFD8B3DD9}" type="slidenum">
              <a:rPr lang="es-ES" smtClean="0"/>
              <a:t>‹Nº›</a:t>
            </a:fld>
            <a:endParaRPr lang="es-E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923605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1500" b="1">
                <a:solidFill>
                  <a:schemeClr val="tx2"/>
                </a:solidFill>
                <a:latin typeface="+mn-lt"/>
                <a:ea typeface="+mn-ea"/>
                <a:cs typeface="+mn-cs"/>
              </a:defRPr>
            </a:lvl1pPr>
          </a:lstStyle>
          <a:p>
            <a:r>
              <a:rPr kumimoji="0" lang="es-MX"/>
              <a:t>Haz clic para modificar el estilo de título del patrón</a:t>
            </a:r>
            <a:endParaRPr kumimoji="0" lang="en-US"/>
          </a:p>
        </p:txBody>
      </p:sp>
      <p:sp>
        <p:nvSpPr>
          <p:cNvPr id="3" name="Text Placeholder 2"/>
          <p:cNvSpPr>
            <a:spLocks noGrp="1"/>
          </p:cNvSpPr>
          <p:nvPr>
            <p:ph type="body" idx="2"/>
          </p:nvPr>
        </p:nvSpPr>
        <p:spPr>
          <a:xfrm>
            <a:off x="8432800" y="1219203"/>
            <a:ext cx="33528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s-MX"/>
              <a:t>Haga clic para modificar los estilos de texto del patrón</a:t>
            </a:r>
          </a:p>
        </p:txBody>
      </p:sp>
      <p:sp>
        <p:nvSpPr>
          <p:cNvPr id="5" name="Date Placeholder 4"/>
          <p:cNvSpPr>
            <a:spLocks noGrp="1"/>
          </p:cNvSpPr>
          <p:nvPr>
            <p:ph type="dt" sz="half" idx="10"/>
          </p:nvPr>
        </p:nvSpPr>
        <p:spPr/>
        <p:txBody>
          <a:bodyPr/>
          <a:lstStyle/>
          <a:p>
            <a:fld id="{24ACF8E7-6D1D-4FC5-970A-C4EDF350773E}" type="datetimeFigureOut">
              <a:rPr lang="es-ES" smtClean="0"/>
              <a:t>01/06/2025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48E4401-B318-4FCE-9358-8F3CFD8B3DD9}" type="slidenum">
              <a:rPr lang="es-ES" smtClean="0"/>
              <a:t>‹Nº›</a:t>
            </a:fld>
            <a:endParaRPr lang="es-E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2427665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1500" b="0">
                <a:solidFill>
                  <a:schemeClr val="tx1"/>
                </a:solidFill>
              </a:defRPr>
            </a:lvl1pPr>
          </a:lstStyle>
          <a:p>
            <a:r>
              <a:rPr kumimoji="0" lang="es-MX"/>
              <a:t>Haz clic para modificar el estilo de título del patrón</a:t>
            </a:r>
            <a:endParaRPr kumimoji="0" lang="en-US"/>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450"/>
              </a:spcBef>
              <a:buNone/>
              <a:defRPr sz="2400"/>
            </a:lvl1pPr>
          </a:lstStyle>
          <a:p>
            <a:r>
              <a:rPr kumimoji="0" lang="es-MX"/>
              <a:t>Haz clic en el icono para agregar una imagen</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s-MX"/>
              <a:t>Haga clic para modificar los estilos de texto del patrón</a:t>
            </a:r>
          </a:p>
        </p:txBody>
      </p:sp>
      <p:sp>
        <p:nvSpPr>
          <p:cNvPr id="5" name="Date Placeholder 4"/>
          <p:cNvSpPr>
            <a:spLocks noGrp="1"/>
          </p:cNvSpPr>
          <p:nvPr>
            <p:ph type="dt" sz="half" idx="10"/>
          </p:nvPr>
        </p:nvSpPr>
        <p:spPr/>
        <p:txBody>
          <a:bodyPr/>
          <a:lstStyle/>
          <a:p>
            <a:fld id="{24ACF8E7-6D1D-4FC5-970A-C4EDF350773E}" type="datetimeFigureOut">
              <a:rPr lang="es-ES" smtClean="0"/>
              <a:t>01/06/2025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48E4401-B318-4FCE-9358-8F3CFD8B3DD9}" type="slidenum">
              <a:rPr lang="es-ES" smtClean="0"/>
              <a:t>‹Nº›</a:t>
            </a:fld>
            <a:endParaRPr lang="es-E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35130052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s-MX"/>
              <a:t>Haz clic para modificar el estilo de título del patrón</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4" name="Date Placeholder 3"/>
          <p:cNvSpPr>
            <a:spLocks noGrp="1"/>
          </p:cNvSpPr>
          <p:nvPr>
            <p:ph type="dt" sz="half" idx="10"/>
          </p:nvPr>
        </p:nvSpPr>
        <p:spPr/>
        <p:txBody>
          <a:bodyPr/>
          <a:lstStyle/>
          <a:p>
            <a:fld id="{24ACF8E7-6D1D-4FC5-970A-C4EDF350773E}" type="datetimeFigureOut">
              <a:rPr lang="es-ES" smtClean="0"/>
              <a:t>01/06/2025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48E4401-B318-4FCE-9358-8F3CFD8B3DD9}" type="slidenum">
              <a:rPr lang="es-ES" smtClean="0"/>
              <a:t>‹Nº›</a:t>
            </a:fld>
            <a:endParaRPr lang="es-ES"/>
          </a:p>
        </p:txBody>
      </p:sp>
    </p:spTree>
    <p:extLst>
      <p:ext uri="{BB962C8B-B14F-4D97-AF65-F5344CB8AC3E}">
        <p14:creationId xmlns:p14="http://schemas.microsoft.com/office/powerpoint/2010/main" val="296303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kumimoji="0" lang="es-MX"/>
              <a:t>Haz clic para modificar el estilo de título del patrón</a:t>
            </a:r>
            <a:endParaRPr kumimoji="0"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4" name="Date Placeholder 3"/>
          <p:cNvSpPr>
            <a:spLocks noGrp="1"/>
          </p:cNvSpPr>
          <p:nvPr>
            <p:ph type="dt" sz="half" idx="10"/>
          </p:nvPr>
        </p:nvSpPr>
        <p:spPr/>
        <p:txBody>
          <a:bodyPr/>
          <a:lstStyle/>
          <a:p>
            <a:fld id="{24ACF8E7-6D1D-4FC5-970A-C4EDF350773E}" type="datetimeFigureOut">
              <a:rPr lang="es-ES" smtClean="0"/>
              <a:t>01/06/2025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48E4401-B318-4FCE-9358-8F3CFD8B3DD9}" type="slidenum">
              <a:rPr lang="es-ES" smtClean="0"/>
              <a:t>‹Nº›</a:t>
            </a:fld>
            <a:endParaRPr lang="es-E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844858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s-ES"/>
              <a:t>Haga clic para modificar el estilo de título del patrón</a:t>
            </a:r>
            <a:endParaRPr kumimoji="0" lang="en-US"/>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050">
                <a:solidFill>
                  <a:schemeClr val="tx2"/>
                </a:solidFill>
              </a:defRPr>
            </a:lvl1pPr>
          </a:lstStyle>
          <a:p>
            <a:fld id="{24ACF8E7-6D1D-4FC5-970A-C4EDF350773E}" type="datetimeFigureOut">
              <a:rPr lang="es-ES" smtClean="0"/>
              <a:t>01/06/2025</a:t>
            </a:fld>
            <a:endParaRPr lang="es-ES"/>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050">
                <a:solidFill>
                  <a:schemeClr val="tx2"/>
                </a:solidFill>
              </a:defRPr>
            </a:lvl1pPr>
          </a:lstStyle>
          <a:p>
            <a:endParaRPr lang="es-ES"/>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050">
                <a:solidFill>
                  <a:schemeClr val="tx2"/>
                </a:solidFill>
              </a:defRPr>
            </a:lvl1pPr>
          </a:lstStyle>
          <a:p>
            <a:fld id="{C48E4401-B318-4FCE-9358-8F3CFD8B3DD9}" type="slidenum">
              <a:rPr lang="es-ES" smtClean="0"/>
              <a:t>‹Nº›</a:t>
            </a:fld>
            <a:endParaRPr lang="es-ES"/>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3349861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lazaro.bustio@ibero.mx"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diagramColors" Target="../diagrams/colors2.xml"/><Relationship Id="rId3" Type="http://schemas.openxmlformats.org/officeDocument/2006/relationships/image" Target="../media/image10.png"/><Relationship Id="rId7" Type="http://schemas.openxmlformats.org/officeDocument/2006/relationships/diagramColors" Target="../diagrams/colors1.xml"/><Relationship Id="rId12" Type="http://schemas.openxmlformats.org/officeDocument/2006/relationships/diagramQuickStyle" Target="../diagrams/quickStyle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Layout" Target="../diagrams/layout2.xml"/><Relationship Id="rId5" Type="http://schemas.openxmlformats.org/officeDocument/2006/relationships/diagramLayout" Target="../diagrams/layout1.xml"/><Relationship Id="rId10" Type="http://schemas.openxmlformats.org/officeDocument/2006/relationships/diagramData" Target="../diagrams/data2.xml"/><Relationship Id="rId4" Type="http://schemas.openxmlformats.org/officeDocument/2006/relationships/diagramData" Target="../diagrams/data1.xml"/><Relationship Id="rId9" Type="http://schemas.openxmlformats.org/officeDocument/2006/relationships/image" Target="../media/image12.png"/><Relationship Id="rId14" Type="http://schemas.microsoft.com/office/2007/relationships/diagramDrawing" Target="../diagrams/drawing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18.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13" Type="http://schemas.microsoft.com/office/2007/relationships/diagramDrawing" Target="../diagrams/drawing6.xml"/><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diagramColors" Target="../diagrams/colors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QuickStyle" Target="../diagrams/quickStyle6.xml"/><Relationship Id="rId5" Type="http://schemas.openxmlformats.org/officeDocument/2006/relationships/diagramQuickStyle" Target="../diagrams/quickStyle5.xml"/><Relationship Id="rId10" Type="http://schemas.openxmlformats.org/officeDocument/2006/relationships/diagramLayout" Target="../diagrams/layout6.xml"/><Relationship Id="rId4" Type="http://schemas.openxmlformats.org/officeDocument/2006/relationships/diagramLayout" Target="../diagrams/layout5.xml"/><Relationship Id="rId9" Type="http://schemas.openxmlformats.org/officeDocument/2006/relationships/diagramData" Target="../diagrams/data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23.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34.png"/><Relationship Id="rId7" Type="http://schemas.openxmlformats.org/officeDocument/2006/relationships/diagramColors" Target="../diagrams/colors1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 Id="rId9"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9.xml.rels><?xml version="1.0" encoding="UTF-8" standalone="yes"?>
<Relationships xmlns="http://schemas.openxmlformats.org/package/2006/relationships"><Relationship Id="rId8" Type="http://schemas.microsoft.com/office/2007/relationships/diagramDrawing" Target="../diagrams/drawing16.xml"/><Relationship Id="rId13" Type="http://schemas.microsoft.com/office/2007/relationships/diagramDrawing" Target="../diagrams/drawing17.xml"/><Relationship Id="rId3" Type="http://schemas.openxmlformats.org/officeDocument/2006/relationships/image" Target="../media/image40.png"/><Relationship Id="rId7" Type="http://schemas.openxmlformats.org/officeDocument/2006/relationships/diagramColors" Target="../diagrams/colors16.xml"/><Relationship Id="rId12" Type="http://schemas.openxmlformats.org/officeDocument/2006/relationships/diagramColors" Target="../diagrams/colors1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QuickStyle" Target="../diagrams/quickStyle16.xml"/><Relationship Id="rId11" Type="http://schemas.openxmlformats.org/officeDocument/2006/relationships/diagramQuickStyle" Target="../diagrams/quickStyle17.xml"/><Relationship Id="rId5" Type="http://schemas.openxmlformats.org/officeDocument/2006/relationships/diagramLayout" Target="../diagrams/layout16.xml"/><Relationship Id="rId10" Type="http://schemas.openxmlformats.org/officeDocument/2006/relationships/diagramLayout" Target="../diagrams/layout17.xml"/><Relationship Id="rId4" Type="http://schemas.openxmlformats.org/officeDocument/2006/relationships/diagramData" Target="../diagrams/data16.xml"/><Relationship Id="rId9" Type="http://schemas.openxmlformats.org/officeDocument/2006/relationships/diagramData" Target="../diagrams/data1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5A7DCC-64AD-43A7-BB11-A3C95D15DD73}"/>
              </a:ext>
            </a:extLst>
          </p:cNvPr>
          <p:cNvSpPr>
            <a:spLocks noGrp="1"/>
          </p:cNvSpPr>
          <p:nvPr>
            <p:ph type="ctrTitle"/>
          </p:nvPr>
        </p:nvSpPr>
        <p:spPr>
          <a:xfrm>
            <a:off x="1625600" y="3886200"/>
            <a:ext cx="9144000" cy="990600"/>
          </a:xfrm>
        </p:spPr>
        <p:txBody>
          <a:bodyPr/>
          <a:lstStyle/>
          <a:p>
            <a:r>
              <a:rPr lang="es-ES" dirty="0"/>
              <a:t>Aprendizaje Automatizado en Ciberseguridad</a:t>
            </a:r>
            <a:br>
              <a:rPr lang="es-ES" dirty="0"/>
            </a:br>
            <a:r>
              <a:rPr lang="es-ES" dirty="0"/>
              <a:t>Sesión 2 – Detección de </a:t>
            </a:r>
            <a:r>
              <a:rPr lang="es-ES" dirty="0" err="1"/>
              <a:t>APKs</a:t>
            </a:r>
            <a:r>
              <a:rPr lang="es-ES" dirty="0"/>
              <a:t> maliciosas</a:t>
            </a:r>
          </a:p>
        </p:txBody>
      </p:sp>
      <p:sp>
        <p:nvSpPr>
          <p:cNvPr id="3" name="Subtítulo 2">
            <a:extLst>
              <a:ext uri="{FF2B5EF4-FFF2-40B4-BE49-F238E27FC236}">
                <a16:creationId xmlns:a16="http://schemas.microsoft.com/office/drawing/2014/main" id="{EBEBFE6D-7D70-43C5-BD2C-DC1E41D8C5BB}"/>
              </a:ext>
            </a:extLst>
          </p:cNvPr>
          <p:cNvSpPr>
            <a:spLocks noGrp="1"/>
          </p:cNvSpPr>
          <p:nvPr>
            <p:ph type="subTitle" idx="1"/>
          </p:nvPr>
        </p:nvSpPr>
        <p:spPr>
          <a:xfrm>
            <a:off x="1625600" y="5124450"/>
            <a:ext cx="9144000" cy="533400"/>
          </a:xfrm>
        </p:spPr>
        <p:txBody>
          <a:bodyPr>
            <a:normAutofit fontScale="92500" lnSpcReduction="20000"/>
          </a:bodyPr>
          <a:lstStyle/>
          <a:p>
            <a:r>
              <a:rPr lang="es-ES" dirty="0"/>
              <a:t>Dr. Lázaro Bustio Martínez</a:t>
            </a:r>
          </a:p>
          <a:p>
            <a:r>
              <a:rPr lang="es-ES" dirty="0">
                <a:hlinkClick r:id="rId2"/>
              </a:rPr>
              <a:t>lazaro.bustio@ibero.mx</a:t>
            </a:r>
            <a:endParaRPr lang="es-ES" dirty="0"/>
          </a:p>
          <a:p>
            <a:endParaRPr lang="es-ES" dirty="0"/>
          </a:p>
        </p:txBody>
      </p:sp>
      <p:pic>
        <p:nvPicPr>
          <p:cNvPr id="17" name="Imagen 16">
            <a:extLst>
              <a:ext uri="{FF2B5EF4-FFF2-40B4-BE49-F238E27FC236}">
                <a16:creationId xmlns:a16="http://schemas.microsoft.com/office/drawing/2014/main" id="{C6720497-F93A-8AA7-6F30-4386D8AF7104}"/>
              </a:ext>
            </a:extLst>
          </p:cNvPr>
          <p:cNvPicPr>
            <a:picLocks noChangeAspect="1"/>
          </p:cNvPicPr>
          <p:nvPr/>
        </p:nvPicPr>
        <p:blipFill>
          <a:blip r:embed="rId3"/>
          <a:stretch>
            <a:fillRect/>
          </a:stretch>
        </p:blipFill>
        <p:spPr>
          <a:xfrm>
            <a:off x="276309" y="335440"/>
            <a:ext cx="1030941" cy="549022"/>
          </a:xfrm>
          <a:prstGeom prst="rect">
            <a:avLst/>
          </a:prstGeom>
        </p:spPr>
      </p:pic>
      <p:pic>
        <p:nvPicPr>
          <p:cNvPr id="18" name="Picture 2" descr="IA y ML en Ciberseguridad">
            <a:extLst>
              <a:ext uri="{FF2B5EF4-FFF2-40B4-BE49-F238E27FC236}">
                <a16:creationId xmlns:a16="http://schemas.microsoft.com/office/drawing/2014/main" id="{C6A26CCE-F9F7-92DB-8F6B-7144B34777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8927" y="335440"/>
            <a:ext cx="5499662" cy="3093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485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E25BB3-B452-E59E-1F55-89ABB5BBCE9E}"/>
              </a:ext>
            </a:extLst>
          </p:cNvPr>
          <p:cNvSpPr>
            <a:spLocks noGrp="1"/>
          </p:cNvSpPr>
          <p:nvPr>
            <p:ph type="title"/>
          </p:nvPr>
        </p:nvSpPr>
        <p:spPr>
          <a:xfrm>
            <a:off x="609600" y="228600"/>
            <a:ext cx="10972800" cy="914400"/>
          </a:xfrm>
        </p:spPr>
        <p:txBody>
          <a:bodyPr anchor="b">
            <a:normAutofit/>
          </a:bodyPr>
          <a:lstStyle/>
          <a:p>
            <a:r>
              <a:rPr lang="es-ES" dirty="0"/>
              <a:t>Introducción</a:t>
            </a:r>
            <a:endParaRPr lang="es-MX" dirty="0"/>
          </a:p>
        </p:txBody>
      </p:sp>
      <p:sp>
        <p:nvSpPr>
          <p:cNvPr id="3" name="Marcador de contenido 2">
            <a:extLst>
              <a:ext uri="{FF2B5EF4-FFF2-40B4-BE49-F238E27FC236}">
                <a16:creationId xmlns:a16="http://schemas.microsoft.com/office/drawing/2014/main" id="{09EF1922-5BB8-BC5F-D9D9-AF4C99109C12}"/>
              </a:ext>
            </a:extLst>
          </p:cNvPr>
          <p:cNvSpPr>
            <a:spLocks noGrp="1"/>
          </p:cNvSpPr>
          <p:nvPr>
            <p:ph sz="quarter" idx="1"/>
          </p:nvPr>
        </p:nvSpPr>
        <p:spPr>
          <a:xfrm>
            <a:off x="609600" y="1219200"/>
            <a:ext cx="5388864" cy="4937760"/>
          </a:xfrm>
        </p:spPr>
        <p:txBody>
          <a:bodyPr>
            <a:normAutofit/>
          </a:bodyPr>
          <a:lstStyle/>
          <a:p>
            <a:r>
              <a:rPr lang="es-ES" dirty="0"/>
              <a:t>¿Qué son los permisos que las aplicaciones solicitan al instalarse?</a:t>
            </a:r>
          </a:p>
          <a:p>
            <a:r>
              <a:rPr lang="es-ES" dirty="0"/>
              <a:t>¿Son importantes?</a:t>
            </a:r>
          </a:p>
          <a:p>
            <a:r>
              <a:rPr lang="es-ES" dirty="0"/>
              <a:t>¿Quiénes prestan atención a los permisos que se solicitan en serio?</a:t>
            </a:r>
          </a:p>
          <a:p>
            <a:r>
              <a:rPr lang="es-ES" dirty="0"/>
              <a:t>¿Quiénes consideran los permisos antes de instalar las aplicaciones?</a:t>
            </a:r>
            <a:endParaRPr lang="es-MX" dirty="0"/>
          </a:p>
        </p:txBody>
      </p:sp>
      <p:pic>
        <p:nvPicPr>
          <p:cNvPr id="5" name="Picture 2" descr="Flashlight">
            <a:extLst>
              <a:ext uri="{FF2B5EF4-FFF2-40B4-BE49-F238E27FC236}">
                <a16:creationId xmlns:a16="http://schemas.microsoft.com/office/drawing/2014/main" id="{133085F1-4236-C054-E8A3-91A57A283C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72148" y="1216152"/>
            <a:ext cx="4197095" cy="4937760"/>
          </a:xfrm>
          <a:prstGeom prst="rect">
            <a:avLst/>
          </a:prstGeom>
          <a:solidFill>
            <a:srgbClr val="FFFFFF"/>
          </a:solidFill>
        </p:spPr>
      </p:pic>
    </p:spTree>
    <p:extLst>
      <p:ext uri="{BB962C8B-B14F-4D97-AF65-F5344CB8AC3E}">
        <p14:creationId xmlns:p14="http://schemas.microsoft.com/office/powerpoint/2010/main" val="169383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98274-9857-99BE-1750-E4A7E1A49C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0531BF-AD22-6E67-5F56-935E668E15EF}"/>
              </a:ext>
            </a:extLst>
          </p:cNvPr>
          <p:cNvSpPr>
            <a:spLocks noGrp="1"/>
          </p:cNvSpPr>
          <p:nvPr>
            <p:ph type="title"/>
          </p:nvPr>
        </p:nvSpPr>
        <p:spPr>
          <a:xfrm>
            <a:off x="609600" y="228600"/>
            <a:ext cx="10972800" cy="914400"/>
          </a:xfrm>
        </p:spPr>
        <p:txBody>
          <a:bodyPr anchor="b">
            <a:normAutofit/>
          </a:bodyPr>
          <a:lstStyle/>
          <a:p>
            <a:r>
              <a:rPr lang="es-ES" dirty="0"/>
              <a:t>Introducción</a:t>
            </a:r>
            <a:endParaRPr lang="es-MX" dirty="0"/>
          </a:p>
        </p:txBody>
      </p:sp>
      <p:sp>
        <p:nvSpPr>
          <p:cNvPr id="3" name="Marcador de contenido 2">
            <a:extLst>
              <a:ext uri="{FF2B5EF4-FFF2-40B4-BE49-F238E27FC236}">
                <a16:creationId xmlns:a16="http://schemas.microsoft.com/office/drawing/2014/main" id="{E53ECD43-FA07-0D30-766E-0232634A81FE}"/>
              </a:ext>
            </a:extLst>
          </p:cNvPr>
          <p:cNvSpPr>
            <a:spLocks noGrp="1"/>
          </p:cNvSpPr>
          <p:nvPr>
            <p:ph sz="quarter" idx="1"/>
          </p:nvPr>
        </p:nvSpPr>
        <p:spPr>
          <a:xfrm>
            <a:off x="609600" y="1219200"/>
            <a:ext cx="5388864" cy="4937760"/>
          </a:xfrm>
        </p:spPr>
        <p:txBody>
          <a:bodyPr>
            <a:normAutofit/>
          </a:bodyPr>
          <a:lstStyle/>
          <a:p>
            <a:pPr>
              <a:lnSpc>
                <a:spcPct val="90000"/>
              </a:lnSpc>
            </a:pPr>
            <a:r>
              <a:rPr lang="es-MX" sz="1800"/>
              <a:t>Malware: </a:t>
            </a:r>
            <a:r>
              <a:rPr lang="es-MX" sz="1800" err="1"/>
              <a:t>Trojan.Android</a:t>
            </a:r>
            <a:r>
              <a:rPr lang="es-MX" sz="1800"/>
              <a:t>/</a:t>
            </a:r>
            <a:r>
              <a:rPr lang="es-MX" sz="1800" err="1"/>
              <a:t>Charger.B</a:t>
            </a:r>
            <a:endParaRPr lang="es-MX" sz="1800"/>
          </a:p>
          <a:p>
            <a:pPr lvl="1">
              <a:lnSpc>
                <a:spcPct val="90000"/>
              </a:lnSpc>
            </a:pPr>
            <a:r>
              <a:rPr lang="es-MX" sz="1800">
                <a:solidFill>
                  <a:schemeClr val="tx1"/>
                </a:solidFill>
              </a:rPr>
              <a:t>Aplicación de linterna en Google Play</a:t>
            </a:r>
          </a:p>
          <a:p>
            <a:pPr>
              <a:lnSpc>
                <a:spcPct val="90000"/>
              </a:lnSpc>
            </a:pPr>
            <a:r>
              <a:rPr lang="es-MX" sz="1800"/>
              <a:t>Descargas: </a:t>
            </a:r>
          </a:p>
          <a:p>
            <a:pPr lvl="1">
              <a:lnSpc>
                <a:spcPct val="90000"/>
              </a:lnSpc>
            </a:pPr>
            <a:r>
              <a:rPr lang="es-MX" sz="1800">
                <a:solidFill>
                  <a:schemeClr val="tx1"/>
                </a:solidFill>
              </a:rPr>
              <a:t>Hasta 500,000 usuarios antes de ser eliminada</a:t>
            </a:r>
          </a:p>
          <a:p>
            <a:pPr>
              <a:lnSpc>
                <a:spcPct val="90000"/>
              </a:lnSpc>
            </a:pPr>
            <a:r>
              <a:rPr lang="es-MX" sz="1800"/>
              <a:t>Permisos solicitados:</a:t>
            </a:r>
          </a:p>
          <a:p>
            <a:pPr lvl="1">
              <a:lnSpc>
                <a:spcPct val="90000"/>
              </a:lnSpc>
            </a:pPr>
            <a:r>
              <a:rPr lang="es-MX" sz="1800">
                <a:solidFill>
                  <a:schemeClr val="tx1"/>
                </a:solidFill>
              </a:rPr>
              <a:t>Administrador del dispositivo</a:t>
            </a:r>
          </a:p>
          <a:p>
            <a:pPr lvl="1">
              <a:lnSpc>
                <a:spcPct val="90000"/>
              </a:lnSpc>
            </a:pPr>
            <a:r>
              <a:rPr lang="es-MX" sz="1800">
                <a:solidFill>
                  <a:schemeClr val="tx1"/>
                </a:solidFill>
              </a:rPr>
              <a:t>Acceso a superposición de pantalla</a:t>
            </a:r>
          </a:p>
          <a:p>
            <a:pPr lvl="1">
              <a:lnSpc>
                <a:spcPct val="90000"/>
              </a:lnSpc>
            </a:pPr>
            <a:r>
              <a:rPr lang="es-MX" sz="1800">
                <a:solidFill>
                  <a:schemeClr val="tx1"/>
                </a:solidFill>
              </a:rPr>
              <a:t>Acceso a SMS y cámara frontal</a:t>
            </a:r>
          </a:p>
          <a:p>
            <a:pPr>
              <a:lnSpc>
                <a:spcPct val="90000"/>
              </a:lnSpc>
            </a:pPr>
            <a:r>
              <a:rPr lang="es-MX" sz="1800"/>
              <a:t>Comportamiento malicioso:</a:t>
            </a:r>
          </a:p>
          <a:p>
            <a:pPr lvl="1">
              <a:lnSpc>
                <a:spcPct val="90000"/>
              </a:lnSpc>
            </a:pPr>
            <a:r>
              <a:rPr lang="es-MX" sz="1800">
                <a:solidFill>
                  <a:schemeClr val="tx1"/>
                </a:solidFill>
              </a:rPr>
              <a:t>Oculta su ícono y se presenta como widget</a:t>
            </a:r>
          </a:p>
          <a:p>
            <a:pPr lvl="1">
              <a:lnSpc>
                <a:spcPct val="90000"/>
              </a:lnSpc>
            </a:pPr>
            <a:r>
              <a:rPr lang="es-MX" sz="1800">
                <a:solidFill>
                  <a:schemeClr val="tx1"/>
                </a:solidFill>
              </a:rPr>
              <a:t>Envía información del dispositivo y foto del usuario al atacante</a:t>
            </a:r>
          </a:p>
          <a:p>
            <a:pPr lvl="1">
              <a:lnSpc>
                <a:spcPct val="90000"/>
              </a:lnSpc>
            </a:pPr>
            <a:r>
              <a:rPr lang="es-MX" sz="1800">
                <a:solidFill>
                  <a:schemeClr val="tx1"/>
                </a:solidFill>
              </a:rPr>
              <a:t>Muestra pantallas falsas imitando apps bancarias para robar credenciales</a:t>
            </a:r>
          </a:p>
          <a:p>
            <a:pPr lvl="1">
              <a:lnSpc>
                <a:spcPct val="90000"/>
              </a:lnSpc>
            </a:pPr>
            <a:r>
              <a:rPr lang="es-MX" sz="1800">
                <a:solidFill>
                  <a:schemeClr val="tx1"/>
                </a:solidFill>
              </a:rPr>
              <a:t>Bloquea el dispositivo para ocultar actividades fraudulentas.</a:t>
            </a:r>
          </a:p>
        </p:txBody>
      </p:sp>
      <p:pic>
        <p:nvPicPr>
          <p:cNvPr id="1026" name="Picture 2" descr="Flashlight">
            <a:extLst>
              <a:ext uri="{FF2B5EF4-FFF2-40B4-BE49-F238E27FC236}">
                <a16:creationId xmlns:a16="http://schemas.microsoft.com/office/drawing/2014/main" id="{ACA08765-35D5-4D2B-EA21-04BB302BFA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72148" y="1216152"/>
            <a:ext cx="4197095" cy="4937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119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941274-F8EF-EE05-4927-531E7FB5B182}"/>
              </a:ext>
            </a:extLst>
          </p:cNvPr>
          <p:cNvSpPr>
            <a:spLocks noGrp="1"/>
          </p:cNvSpPr>
          <p:nvPr>
            <p:ph type="title"/>
          </p:nvPr>
        </p:nvSpPr>
        <p:spPr>
          <a:xfrm>
            <a:off x="609600" y="152400"/>
            <a:ext cx="10972800" cy="990600"/>
          </a:xfrm>
        </p:spPr>
        <p:txBody>
          <a:bodyPr/>
          <a:lstStyle/>
          <a:p>
            <a:r>
              <a:rPr lang="es-ES"/>
              <a:t>Introducción</a:t>
            </a:r>
            <a:endParaRPr lang="es-MX" dirty="0"/>
          </a:p>
        </p:txBody>
      </p:sp>
      <p:sp>
        <p:nvSpPr>
          <p:cNvPr id="3" name="Marcador de contenido 2">
            <a:extLst>
              <a:ext uri="{FF2B5EF4-FFF2-40B4-BE49-F238E27FC236}">
                <a16:creationId xmlns:a16="http://schemas.microsoft.com/office/drawing/2014/main" id="{211CE25C-5883-2EF2-6179-93F129D1D6CD}"/>
              </a:ext>
            </a:extLst>
          </p:cNvPr>
          <p:cNvSpPr>
            <a:spLocks noGrp="1"/>
          </p:cNvSpPr>
          <p:nvPr>
            <p:ph sz="quarter" idx="1"/>
          </p:nvPr>
        </p:nvSpPr>
        <p:spPr>
          <a:xfrm>
            <a:off x="609600" y="1219200"/>
            <a:ext cx="10972800" cy="4937760"/>
          </a:xfrm>
        </p:spPr>
        <p:txBody>
          <a:bodyPr/>
          <a:lstStyle/>
          <a:p>
            <a:r>
              <a:rPr lang="es-ES" dirty="0"/>
              <a:t>A la hora de descargar aplicaciones en un dispositivo móvil se debe conocer previamente bien sobre ellas, ya que, de no ser así, pueden comprometer nuestra privacidad y datos personales. </a:t>
            </a:r>
          </a:p>
          <a:p>
            <a:pPr lvl="1"/>
            <a:r>
              <a:rPr lang="es-ES" dirty="0"/>
              <a:t>Actualmente, los dispositivos móviles se han convertido en una extensión de nosotros mismos, almacenando una gran cantidad de información personal y sensible. Esto está provocando que aumente el número de aplicaciones maliciosas que intentan colarse en ellos con fines como robar información, mostrar publicidad no deseada, realizar cargos no autorizados, cifrar los archivos almacenados, etc.</a:t>
            </a:r>
          </a:p>
          <a:p>
            <a:pPr lvl="1"/>
            <a:r>
              <a:rPr lang="es-ES" dirty="0"/>
              <a:t>Estas aplicaciones en gran medida se publican en repositorios o tiendas no oficiales y páginas de descargas directas, y los atacantes se aprovechan de los permisos que los usuarios les conceden a dichas apps para acceder a sus datos y controlar sus dispositivos.</a:t>
            </a:r>
          </a:p>
          <a:p>
            <a:endParaRPr lang="es-MX" dirty="0"/>
          </a:p>
        </p:txBody>
      </p:sp>
    </p:spTree>
    <p:extLst>
      <p:ext uri="{BB962C8B-B14F-4D97-AF65-F5344CB8AC3E}">
        <p14:creationId xmlns:p14="http://schemas.microsoft.com/office/powerpoint/2010/main" val="2445308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6B26ED-AD59-4A59-981C-5449829EE14B}"/>
              </a:ext>
            </a:extLst>
          </p:cNvPr>
          <p:cNvSpPr>
            <a:spLocks noGrp="1"/>
          </p:cNvSpPr>
          <p:nvPr>
            <p:ph type="title"/>
          </p:nvPr>
        </p:nvSpPr>
        <p:spPr>
          <a:xfrm>
            <a:off x="609600" y="228600"/>
            <a:ext cx="10972800" cy="914400"/>
          </a:xfrm>
        </p:spPr>
        <p:txBody>
          <a:bodyPr anchor="b">
            <a:normAutofit/>
          </a:bodyPr>
          <a:lstStyle/>
          <a:p>
            <a:r>
              <a:rPr lang="es-ES" dirty="0"/>
              <a:t>Introducción</a:t>
            </a:r>
          </a:p>
        </p:txBody>
      </p:sp>
      <p:sp>
        <p:nvSpPr>
          <p:cNvPr id="4" name="Marcador de contenido 3">
            <a:extLst>
              <a:ext uri="{FF2B5EF4-FFF2-40B4-BE49-F238E27FC236}">
                <a16:creationId xmlns:a16="http://schemas.microsoft.com/office/drawing/2014/main" id="{2A35894E-B470-4F6D-D0FD-D68748C40777}"/>
              </a:ext>
            </a:extLst>
          </p:cNvPr>
          <p:cNvSpPr>
            <a:spLocks noGrp="1"/>
          </p:cNvSpPr>
          <p:nvPr>
            <p:ph sz="quarter" idx="1"/>
          </p:nvPr>
        </p:nvSpPr>
        <p:spPr>
          <a:xfrm>
            <a:off x="609600" y="1219200"/>
            <a:ext cx="5388864" cy="4937760"/>
          </a:xfrm>
        </p:spPr>
        <p:txBody>
          <a:bodyPr>
            <a:normAutofit/>
          </a:bodyPr>
          <a:lstStyle/>
          <a:p>
            <a:pPr lvl="1">
              <a:lnSpc>
                <a:spcPct val="90000"/>
              </a:lnSpc>
            </a:pPr>
            <a:r>
              <a:rPr lang="es-ES" sz="1800" dirty="0">
                <a:solidFill>
                  <a:schemeClr val="tx1"/>
                </a:solidFill>
              </a:rPr>
              <a:t>¿Qué es una aplicación maliciosa?</a:t>
            </a:r>
          </a:p>
          <a:p>
            <a:pPr lvl="2">
              <a:lnSpc>
                <a:spcPct val="90000"/>
              </a:lnSpc>
            </a:pPr>
            <a:r>
              <a:rPr lang="es-MX" sz="1800" dirty="0"/>
              <a:t>Una aplicación maliciosa es un programa diseñado para dispositivos móviles o computadoras que parece legítimo, pero oculta intenciones dañinas.</a:t>
            </a:r>
          </a:p>
          <a:p>
            <a:pPr lvl="1">
              <a:lnSpc>
                <a:spcPct val="90000"/>
              </a:lnSpc>
            </a:pPr>
            <a:r>
              <a:rPr lang="es-MX" sz="1800" dirty="0">
                <a:solidFill>
                  <a:schemeClr val="tx1"/>
                </a:solidFill>
              </a:rPr>
              <a:t>¿Qué puede hacer una app maliciosa?</a:t>
            </a:r>
          </a:p>
          <a:p>
            <a:pPr lvl="2">
              <a:lnSpc>
                <a:spcPct val="90000"/>
              </a:lnSpc>
            </a:pPr>
            <a:r>
              <a:rPr lang="es-MX" sz="1800" dirty="0"/>
              <a:t>Robo de datos personales (fotos, contactos, contraseñas)</a:t>
            </a:r>
          </a:p>
          <a:p>
            <a:pPr lvl="2">
              <a:lnSpc>
                <a:spcPct val="90000"/>
              </a:lnSpc>
            </a:pPr>
            <a:r>
              <a:rPr lang="es-MX" sz="1800" dirty="0"/>
              <a:t>Espionaje mediante micrófono o cámara</a:t>
            </a:r>
          </a:p>
          <a:p>
            <a:pPr lvl="2">
              <a:lnSpc>
                <a:spcPct val="90000"/>
              </a:lnSpc>
            </a:pPr>
            <a:r>
              <a:rPr lang="es-MX" sz="1800" dirty="0"/>
              <a:t>Control del dispositivo a distancia</a:t>
            </a:r>
          </a:p>
          <a:p>
            <a:pPr lvl="2">
              <a:lnSpc>
                <a:spcPct val="90000"/>
              </a:lnSpc>
            </a:pPr>
            <a:r>
              <a:rPr lang="es-MX" sz="1800" dirty="0"/>
              <a:t>Instalación de más malware</a:t>
            </a:r>
          </a:p>
          <a:p>
            <a:pPr lvl="2">
              <a:lnSpc>
                <a:spcPct val="90000"/>
              </a:lnSpc>
            </a:pPr>
            <a:r>
              <a:rPr lang="es-MX" sz="1800" dirty="0"/>
              <a:t>Suplantación de identidad (phishing)</a:t>
            </a:r>
          </a:p>
          <a:p>
            <a:pPr lvl="1">
              <a:lnSpc>
                <a:spcPct val="90000"/>
              </a:lnSpc>
            </a:pPr>
            <a:r>
              <a:rPr lang="es-MX" sz="1800" dirty="0">
                <a:solidFill>
                  <a:schemeClr val="tx1"/>
                </a:solidFill>
              </a:rPr>
              <a:t>¿Cómo se presenta?</a:t>
            </a:r>
          </a:p>
          <a:p>
            <a:pPr lvl="2">
              <a:lnSpc>
                <a:spcPct val="90000"/>
              </a:lnSpc>
            </a:pPr>
            <a:r>
              <a:rPr lang="es-MX" sz="1800" dirty="0"/>
              <a:t>Como apps útiles: linternas, juegos, editores de fotos...</a:t>
            </a:r>
          </a:p>
          <a:p>
            <a:pPr lvl="2">
              <a:lnSpc>
                <a:spcPct val="90000"/>
              </a:lnSpc>
            </a:pPr>
            <a:r>
              <a:rPr lang="es-MX" sz="1800" dirty="0"/>
              <a:t>A menudo solicita permisos excesivos</a:t>
            </a:r>
          </a:p>
          <a:p>
            <a:pPr lvl="2">
              <a:lnSpc>
                <a:spcPct val="90000"/>
              </a:lnSpc>
            </a:pPr>
            <a:r>
              <a:rPr lang="es-MX" sz="1800" dirty="0"/>
              <a:t>Puede estar en tiendas oficiales o sitios externos</a:t>
            </a:r>
          </a:p>
        </p:txBody>
      </p:sp>
      <p:pic>
        <p:nvPicPr>
          <p:cNvPr id="3" name="Imagen 2">
            <a:extLst>
              <a:ext uri="{FF2B5EF4-FFF2-40B4-BE49-F238E27FC236}">
                <a16:creationId xmlns:a16="http://schemas.microsoft.com/office/drawing/2014/main" id="{B62949BF-0B43-8A71-395C-E0F0C170369D}"/>
              </a:ext>
            </a:extLst>
          </p:cNvPr>
          <p:cNvPicPr>
            <a:picLocks noChangeAspect="1"/>
          </p:cNvPicPr>
          <p:nvPr/>
        </p:nvPicPr>
        <p:blipFill>
          <a:blip r:embed="rId3"/>
          <a:stretch>
            <a:fillRect/>
          </a:stretch>
        </p:blipFill>
        <p:spPr>
          <a:xfrm>
            <a:off x="6176264" y="1926915"/>
            <a:ext cx="5388864" cy="3516234"/>
          </a:xfrm>
          <a:prstGeom prst="rect">
            <a:avLst/>
          </a:prstGeom>
          <a:noFill/>
        </p:spPr>
      </p:pic>
    </p:spTree>
    <p:extLst>
      <p:ext uri="{BB962C8B-B14F-4D97-AF65-F5344CB8AC3E}">
        <p14:creationId xmlns:p14="http://schemas.microsoft.com/office/powerpoint/2010/main" val="717920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E341AED-CF6D-478D-A0E0-39AC3B910314}"/>
              </a:ext>
            </a:extLst>
          </p:cNvPr>
          <p:cNvSpPr>
            <a:spLocks noGrp="1"/>
          </p:cNvSpPr>
          <p:nvPr>
            <p:ph type="title"/>
          </p:nvPr>
        </p:nvSpPr>
        <p:spPr>
          <a:xfrm>
            <a:off x="609600" y="152400"/>
            <a:ext cx="10972800" cy="990600"/>
          </a:xfrm>
        </p:spPr>
        <p:txBody>
          <a:bodyPr/>
          <a:lstStyle/>
          <a:p>
            <a:r>
              <a:rPr lang="es-ES" dirty="0"/>
              <a:t>Tipos de aplicaciones maliciosas</a:t>
            </a:r>
          </a:p>
        </p:txBody>
      </p:sp>
      <p:pic>
        <p:nvPicPr>
          <p:cNvPr id="11" name="Marcador de contenido 10">
            <a:extLst>
              <a:ext uri="{FF2B5EF4-FFF2-40B4-BE49-F238E27FC236}">
                <a16:creationId xmlns:a16="http://schemas.microsoft.com/office/drawing/2014/main" id="{78556CAB-679E-4678-8BED-C4B705B61E0C}"/>
              </a:ext>
            </a:extLst>
          </p:cNvPr>
          <p:cNvPicPr>
            <a:picLocks noGrp="1" noChangeAspect="1"/>
          </p:cNvPicPr>
          <p:nvPr>
            <p:ph sz="quarter" idx="1"/>
          </p:nvPr>
        </p:nvPicPr>
        <p:blipFill>
          <a:blip r:embed="rId2"/>
          <a:stretch>
            <a:fillRect/>
          </a:stretch>
        </p:blipFill>
        <p:spPr>
          <a:xfrm>
            <a:off x="2372992" y="1305464"/>
            <a:ext cx="6928432" cy="49371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7540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08DBB-8AF5-4946-8D6F-2497255C98C3}"/>
              </a:ext>
            </a:extLst>
          </p:cNvPr>
          <p:cNvSpPr>
            <a:spLocks noGrp="1"/>
          </p:cNvSpPr>
          <p:nvPr>
            <p:ph type="title"/>
          </p:nvPr>
        </p:nvSpPr>
        <p:spPr>
          <a:xfrm>
            <a:off x="609600" y="228600"/>
            <a:ext cx="10972800" cy="914400"/>
          </a:xfrm>
        </p:spPr>
        <p:txBody>
          <a:bodyPr anchor="b">
            <a:normAutofit/>
          </a:bodyPr>
          <a:lstStyle/>
          <a:p>
            <a:r>
              <a:rPr lang="es-ES" dirty="0" err="1"/>
              <a:t>Ransomware</a:t>
            </a:r>
            <a:endParaRPr lang="es-ES" dirty="0"/>
          </a:p>
        </p:txBody>
      </p:sp>
      <p:sp>
        <p:nvSpPr>
          <p:cNvPr id="6" name="Marcador de contenido 5">
            <a:extLst>
              <a:ext uri="{FF2B5EF4-FFF2-40B4-BE49-F238E27FC236}">
                <a16:creationId xmlns:a16="http://schemas.microsoft.com/office/drawing/2014/main" id="{B8904BC1-0793-71C3-BF02-E22836F6EB57}"/>
              </a:ext>
            </a:extLst>
          </p:cNvPr>
          <p:cNvSpPr>
            <a:spLocks noGrp="1"/>
          </p:cNvSpPr>
          <p:nvPr>
            <p:ph sz="quarter" idx="1"/>
          </p:nvPr>
        </p:nvSpPr>
        <p:spPr>
          <a:xfrm>
            <a:off x="609600" y="1219200"/>
            <a:ext cx="5388864" cy="4937760"/>
          </a:xfrm>
        </p:spPr>
        <p:txBody>
          <a:bodyPr>
            <a:normAutofit/>
          </a:bodyPr>
          <a:lstStyle/>
          <a:p>
            <a:pPr lvl="0"/>
            <a:r>
              <a:rPr lang="es-ES" dirty="0"/>
              <a:t>Características</a:t>
            </a:r>
          </a:p>
          <a:p>
            <a:pPr lvl="1"/>
            <a:r>
              <a:rPr lang="es-ES" sz="1950" dirty="0">
                <a:solidFill>
                  <a:schemeClr val="tx1"/>
                </a:solidFill>
              </a:rPr>
              <a:t>Bloquea los datos o el dispositivo de una víctima y amenaza con mantenerlo bloqueado hasta que se pague un rescate.</a:t>
            </a:r>
          </a:p>
          <a:p>
            <a:pPr lvl="1"/>
            <a:r>
              <a:rPr lang="es-ES" sz="1950" dirty="0">
                <a:solidFill>
                  <a:schemeClr val="tx1"/>
                </a:solidFill>
              </a:rPr>
              <a:t>Los ataques de </a:t>
            </a:r>
            <a:r>
              <a:rPr lang="es-ES" sz="1950" dirty="0" err="1">
                <a:solidFill>
                  <a:schemeClr val="tx1"/>
                </a:solidFill>
              </a:rPr>
              <a:t>ransomware</a:t>
            </a:r>
            <a:r>
              <a:rPr lang="es-ES" sz="1950" dirty="0">
                <a:solidFill>
                  <a:schemeClr val="tx1"/>
                </a:solidFill>
              </a:rPr>
              <a:t> pueden variar desde simples demandas de rescate hasta tácticas más sofisticadas, como la filtración de datos o el ataque a clientes y socios comerciales.</a:t>
            </a:r>
          </a:p>
          <a:p>
            <a:pPr lvl="0"/>
            <a:r>
              <a:rPr lang="es-ES" dirty="0"/>
              <a:t>Consejo</a:t>
            </a:r>
          </a:p>
          <a:p>
            <a:pPr lvl="1"/>
            <a:r>
              <a:rPr lang="es-ES" sz="1950" dirty="0">
                <a:solidFill>
                  <a:schemeClr val="tx1"/>
                </a:solidFill>
              </a:rPr>
              <a:t>Mantener los sistemas actualizados y realizar copias de seguridad regularmente.</a:t>
            </a:r>
          </a:p>
          <a:p>
            <a:endParaRPr lang="es-MX" dirty="0"/>
          </a:p>
        </p:txBody>
      </p:sp>
      <p:pic>
        <p:nvPicPr>
          <p:cNvPr id="5" name="Imagen 4">
            <a:extLst>
              <a:ext uri="{FF2B5EF4-FFF2-40B4-BE49-F238E27FC236}">
                <a16:creationId xmlns:a16="http://schemas.microsoft.com/office/drawing/2014/main" id="{77C90DED-B680-4923-AA66-69A5BB0B887D}"/>
              </a:ext>
            </a:extLst>
          </p:cNvPr>
          <p:cNvPicPr>
            <a:picLocks noChangeAspect="1"/>
          </p:cNvPicPr>
          <p:nvPr/>
        </p:nvPicPr>
        <p:blipFill>
          <a:blip r:embed="rId3"/>
          <a:srcRect l="16879" r="14911"/>
          <a:stretch>
            <a:fillRect/>
          </a:stretch>
        </p:blipFill>
        <p:spPr>
          <a:xfrm>
            <a:off x="6176264" y="1216152"/>
            <a:ext cx="5388864" cy="4937760"/>
          </a:xfrm>
          <a:prstGeom prst="rect">
            <a:avLst/>
          </a:prstGeom>
          <a:noFill/>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1232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3EAFAD-7D43-4E5F-B8F5-5A808EAD9889}"/>
              </a:ext>
            </a:extLst>
          </p:cNvPr>
          <p:cNvSpPr>
            <a:spLocks noGrp="1"/>
          </p:cNvSpPr>
          <p:nvPr>
            <p:ph type="title"/>
          </p:nvPr>
        </p:nvSpPr>
        <p:spPr>
          <a:xfrm>
            <a:off x="609600" y="228600"/>
            <a:ext cx="10972800" cy="914400"/>
          </a:xfrm>
        </p:spPr>
        <p:txBody>
          <a:bodyPr anchor="b">
            <a:normAutofit/>
          </a:bodyPr>
          <a:lstStyle/>
          <a:p>
            <a:r>
              <a:rPr lang="es-ES" dirty="0"/>
              <a:t>Tendencias de </a:t>
            </a:r>
            <a:r>
              <a:rPr lang="es-ES" dirty="0" err="1"/>
              <a:t>ransomware</a:t>
            </a:r>
            <a:endParaRPr lang="es-ES" dirty="0"/>
          </a:p>
        </p:txBody>
      </p:sp>
      <p:sp>
        <p:nvSpPr>
          <p:cNvPr id="11" name="Marcador de contenido 10">
            <a:extLst>
              <a:ext uri="{FF2B5EF4-FFF2-40B4-BE49-F238E27FC236}">
                <a16:creationId xmlns:a16="http://schemas.microsoft.com/office/drawing/2014/main" id="{9C919B3E-2FF3-A002-D8E7-AE7964A1E695}"/>
              </a:ext>
            </a:extLst>
          </p:cNvPr>
          <p:cNvSpPr>
            <a:spLocks noGrp="1"/>
          </p:cNvSpPr>
          <p:nvPr>
            <p:ph sz="quarter" idx="1"/>
          </p:nvPr>
        </p:nvSpPr>
        <p:spPr>
          <a:xfrm>
            <a:off x="609600" y="1219200"/>
            <a:ext cx="5388864" cy="4937760"/>
          </a:xfrm>
        </p:spPr>
        <p:txBody>
          <a:bodyPr>
            <a:normAutofit/>
          </a:bodyPr>
          <a:lstStyle/>
          <a:p>
            <a:pPr lvl="0"/>
            <a:r>
              <a:rPr lang="es-ES" dirty="0"/>
              <a:t>WannaCry</a:t>
            </a:r>
          </a:p>
          <a:p>
            <a:pPr lvl="1"/>
            <a:r>
              <a:rPr lang="es-ES" sz="1950" dirty="0">
                <a:solidFill>
                  <a:schemeClr val="tx1"/>
                </a:solidFill>
              </a:rPr>
              <a:t>En 2017 desactivó sistemas asociados con organismos gubernamentales de todo el mundo, transporte público, empresas de telecomunicación, empresas de logística global y múltiples universidades.</a:t>
            </a:r>
          </a:p>
          <a:p>
            <a:pPr lvl="1"/>
            <a:r>
              <a:rPr lang="es-ES" sz="1950" dirty="0">
                <a:solidFill>
                  <a:schemeClr val="tx1"/>
                </a:solidFill>
              </a:rPr>
              <a:t>A las víctimas se les solicitaba un pago de 300 dólares estadounidenses por la liberación de sus datos. Si no transferían el dinero a tiempo, esta cantidad se duplicaba.</a:t>
            </a:r>
          </a:p>
          <a:p>
            <a:pPr lvl="1"/>
            <a:r>
              <a:rPr lang="es-ES" sz="1950" dirty="0">
                <a:solidFill>
                  <a:schemeClr val="tx1"/>
                </a:solidFill>
              </a:rPr>
              <a:t>Más de 230 000 ordenadores en casi 150 países fueron atacados, cifrando archivos y sistemas operativos completos. </a:t>
            </a:r>
          </a:p>
          <a:p>
            <a:endParaRPr lang="es-419" dirty="0"/>
          </a:p>
        </p:txBody>
      </p:sp>
      <p:pic>
        <p:nvPicPr>
          <p:cNvPr id="1026" name="Picture 2" descr="undefined">
            <a:extLst>
              <a:ext uri="{FF2B5EF4-FFF2-40B4-BE49-F238E27FC236}">
                <a16:creationId xmlns:a16="http://schemas.microsoft.com/office/drawing/2014/main" id="{976787ED-11F4-2C4A-8BD3-0D474BEA0ED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6264" y="1667510"/>
            <a:ext cx="5388864" cy="4035044"/>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074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08DBB-8AF5-4946-8D6F-2497255C98C3}"/>
              </a:ext>
            </a:extLst>
          </p:cNvPr>
          <p:cNvSpPr>
            <a:spLocks noGrp="1"/>
          </p:cNvSpPr>
          <p:nvPr>
            <p:ph type="title"/>
          </p:nvPr>
        </p:nvSpPr>
        <p:spPr>
          <a:xfrm>
            <a:off x="609600" y="228600"/>
            <a:ext cx="10972800" cy="914400"/>
          </a:xfrm>
        </p:spPr>
        <p:txBody>
          <a:bodyPr anchor="b">
            <a:normAutofit/>
          </a:bodyPr>
          <a:lstStyle/>
          <a:p>
            <a:r>
              <a:rPr lang="es-ES" dirty="0"/>
              <a:t>Spyware</a:t>
            </a:r>
          </a:p>
        </p:txBody>
      </p:sp>
      <p:sp>
        <p:nvSpPr>
          <p:cNvPr id="6" name="Marcador de contenido 5">
            <a:extLst>
              <a:ext uri="{FF2B5EF4-FFF2-40B4-BE49-F238E27FC236}">
                <a16:creationId xmlns:a16="http://schemas.microsoft.com/office/drawing/2014/main" id="{75304D24-FF0D-724A-83B3-8AD13AB72B21}"/>
              </a:ext>
            </a:extLst>
          </p:cNvPr>
          <p:cNvSpPr>
            <a:spLocks noGrp="1"/>
          </p:cNvSpPr>
          <p:nvPr>
            <p:ph sz="quarter" idx="1"/>
          </p:nvPr>
        </p:nvSpPr>
        <p:spPr>
          <a:xfrm>
            <a:off x="609600" y="1219200"/>
            <a:ext cx="5388864" cy="4937760"/>
          </a:xfrm>
        </p:spPr>
        <p:txBody>
          <a:bodyPr>
            <a:normAutofit/>
          </a:bodyPr>
          <a:lstStyle/>
          <a:p>
            <a:pPr lvl="0"/>
            <a:r>
              <a:rPr lang="es-ES" dirty="0"/>
              <a:t>Características</a:t>
            </a:r>
          </a:p>
          <a:p>
            <a:pPr lvl="1"/>
            <a:r>
              <a:rPr lang="es-ES" sz="1950" dirty="0">
                <a:solidFill>
                  <a:schemeClr val="tx1"/>
                </a:solidFill>
              </a:rPr>
              <a:t>El objetivo principal del spyware es reunir información del sistema infectado.</a:t>
            </a:r>
          </a:p>
          <a:p>
            <a:pPr lvl="1"/>
            <a:r>
              <a:rPr lang="es-ES" sz="1950" dirty="0">
                <a:solidFill>
                  <a:schemeClr val="tx1"/>
                </a:solidFill>
              </a:rPr>
              <a:t>Registra información en secreto sobre las actividades en línea de una víctima.</a:t>
            </a:r>
          </a:p>
          <a:p>
            <a:pPr lvl="1"/>
            <a:r>
              <a:rPr lang="es-ES" sz="1950" dirty="0">
                <a:solidFill>
                  <a:schemeClr val="tx1"/>
                </a:solidFill>
              </a:rPr>
              <a:t>Puede monitorear y copiar lo que se escribe, descarga y almacena, e incluso activar cámaras y micrófonos sin que la víctima se percate.</a:t>
            </a:r>
          </a:p>
          <a:p>
            <a:pPr lvl="0"/>
            <a:r>
              <a:rPr lang="es-ES" dirty="0"/>
              <a:t>Consejo</a:t>
            </a:r>
          </a:p>
          <a:p>
            <a:pPr lvl="1"/>
            <a:r>
              <a:rPr lang="es-ES" sz="1950" dirty="0">
                <a:solidFill>
                  <a:schemeClr val="tx1"/>
                </a:solidFill>
              </a:rPr>
              <a:t>Utilizar antivirus actualizado y confiable para detectar y prevenir el spyware.</a:t>
            </a:r>
          </a:p>
          <a:p>
            <a:endParaRPr lang="es-MX" dirty="0"/>
          </a:p>
        </p:txBody>
      </p:sp>
      <p:pic>
        <p:nvPicPr>
          <p:cNvPr id="3" name="Imagen 2">
            <a:extLst>
              <a:ext uri="{FF2B5EF4-FFF2-40B4-BE49-F238E27FC236}">
                <a16:creationId xmlns:a16="http://schemas.microsoft.com/office/drawing/2014/main" id="{AFF949E3-B28E-448D-82A9-A025E0137917}"/>
              </a:ext>
            </a:extLst>
          </p:cNvPr>
          <p:cNvPicPr>
            <a:picLocks noChangeAspect="1"/>
          </p:cNvPicPr>
          <p:nvPr/>
        </p:nvPicPr>
        <p:blipFill>
          <a:blip r:embed="rId3"/>
          <a:stretch>
            <a:fillRect/>
          </a:stretch>
        </p:blipFill>
        <p:spPr>
          <a:xfrm>
            <a:off x="6176264" y="2100072"/>
            <a:ext cx="5388864" cy="3169920"/>
          </a:xfrm>
          <a:prstGeom prst="rect">
            <a:avLst/>
          </a:prstGeom>
          <a:noFill/>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30801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53EA1-4C68-4631-B218-AEDD924CC569}"/>
              </a:ext>
            </a:extLst>
          </p:cNvPr>
          <p:cNvSpPr>
            <a:spLocks noGrp="1"/>
          </p:cNvSpPr>
          <p:nvPr>
            <p:ph type="title"/>
          </p:nvPr>
        </p:nvSpPr>
        <p:spPr/>
        <p:txBody>
          <a:bodyPr/>
          <a:lstStyle/>
          <a:p>
            <a:r>
              <a:rPr lang="es-ES" dirty="0"/>
              <a:t>Tendencias de spyware</a:t>
            </a:r>
          </a:p>
        </p:txBody>
      </p:sp>
      <p:pic>
        <p:nvPicPr>
          <p:cNvPr id="5" name="Imagen 4">
            <a:extLst>
              <a:ext uri="{FF2B5EF4-FFF2-40B4-BE49-F238E27FC236}">
                <a16:creationId xmlns:a16="http://schemas.microsoft.com/office/drawing/2014/main" id="{AAAD43A3-2FD7-4290-B3DE-681C8A24814C}"/>
              </a:ext>
            </a:extLst>
          </p:cNvPr>
          <p:cNvPicPr>
            <a:picLocks noChangeAspect="1"/>
          </p:cNvPicPr>
          <p:nvPr/>
        </p:nvPicPr>
        <p:blipFill>
          <a:blip r:embed="rId3"/>
          <a:stretch>
            <a:fillRect/>
          </a:stretch>
        </p:blipFill>
        <p:spPr>
          <a:xfrm>
            <a:off x="534190" y="1983702"/>
            <a:ext cx="5396615" cy="3673736"/>
          </a:xfrm>
          <a:prstGeom prst="rect">
            <a:avLst/>
          </a:prstGeom>
        </p:spPr>
      </p:pic>
      <p:graphicFrame>
        <p:nvGraphicFramePr>
          <p:cNvPr id="8" name="Diagrama 7">
            <a:extLst>
              <a:ext uri="{FF2B5EF4-FFF2-40B4-BE49-F238E27FC236}">
                <a16:creationId xmlns:a16="http://schemas.microsoft.com/office/drawing/2014/main" id="{0823BF4A-C2C8-4D4E-901F-3794A393F2E6}"/>
              </a:ext>
            </a:extLst>
          </p:cNvPr>
          <p:cNvGraphicFramePr/>
          <p:nvPr>
            <p:extLst>
              <p:ext uri="{D42A27DB-BD31-4B8C-83A1-F6EECF244321}">
                <p14:modId xmlns:p14="http://schemas.microsoft.com/office/powerpoint/2010/main" val="1485361286"/>
              </p:ext>
            </p:extLst>
          </p:nvPr>
        </p:nvGraphicFramePr>
        <p:xfrm>
          <a:off x="2214065" y="1397673"/>
          <a:ext cx="7763870" cy="5860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Imagen 8">
            <a:extLst>
              <a:ext uri="{FF2B5EF4-FFF2-40B4-BE49-F238E27FC236}">
                <a16:creationId xmlns:a16="http://schemas.microsoft.com/office/drawing/2014/main" id="{08A397E9-0B43-4BF9-A2F2-D96E1D1B53F5}"/>
              </a:ext>
            </a:extLst>
          </p:cNvPr>
          <p:cNvPicPr>
            <a:picLocks noChangeAspect="1"/>
          </p:cNvPicPr>
          <p:nvPr/>
        </p:nvPicPr>
        <p:blipFill rotWithShape="1">
          <a:blip r:embed="rId9"/>
          <a:srcRect l="30000" t="30007" r="30912" b="6979"/>
          <a:stretch/>
        </p:blipFill>
        <p:spPr>
          <a:xfrm>
            <a:off x="6526446" y="2108499"/>
            <a:ext cx="5396615" cy="4738132"/>
          </a:xfrm>
          <a:prstGeom prst="rect">
            <a:avLst/>
          </a:prstGeom>
        </p:spPr>
      </p:pic>
      <p:graphicFrame>
        <p:nvGraphicFramePr>
          <p:cNvPr id="15" name="Diagrama 14">
            <a:extLst>
              <a:ext uri="{FF2B5EF4-FFF2-40B4-BE49-F238E27FC236}">
                <a16:creationId xmlns:a16="http://schemas.microsoft.com/office/drawing/2014/main" id="{58C86E43-4E74-47C2-9E14-701C6F4AFB27}"/>
              </a:ext>
            </a:extLst>
          </p:cNvPr>
          <p:cNvGraphicFramePr/>
          <p:nvPr>
            <p:extLst>
              <p:ext uri="{D42A27DB-BD31-4B8C-83A1-F6EECF244321}">
                <p14:modId xmlns:p14="http://schemas.microsoft.com/office/powerpoint/2010/main" val="3467879903"/>
              </p:ext>
            </p:extLst>
          </p:nvPr>
        </p:nvGraphicFramePr>
        <p:xfrm>
          <a:off x="138654" y="5733825"/>
          <a:ext cx="5957346" cy="102845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16019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08DBB-8AF5-4946-8D6F-2497255C98C3}"/>
              </a:ext>
            </a:extLst>
          </p:cNvPr>
          <p:cNvSpPr>
            <a:spLocks noGrp="1"/>
          </p:cNvSpPr>
          <p:nvPr>
            <p:ph type="title"/>
          </p:nvPr>
        </p:nvSpPr>
        <p:spPr>
          <a:xfrm>
            <a:off x="609600" y="228600"/>
            <a:ext cx="10972800" cy="914400"/>
          </a:xfrm>
        </p:spPr>
        <p:txBody>
          <a:bodyPr anchor="b">
            <a:normAutofit/>
          </a:bodyPr>
          <a:lstStyle/>
          <a:p>
            <a:r>
              <a:rPr lang="es-ES" dirty="0"/>
              <a:t>Adware</a:t>
            </a:r>
          </a:p>
        </p:txBody>
      </p:sp>
      <p:sp>
        <p:nvSpPr>
          <p:cNvPr id="5" name="Marcador de contenido 4">
            <a:extLst>
              <a:ext uri="{FF2B5EF4-FFF2-40B4-BE49-F238E27FC236}">
                <a16:creationId xmlns:a16="http://schemas.microsoft.com/office/drawing/2014/main" id="{FC55A9E7-6366-58BA-9507-E13C9792DADA}"/>
              </a:ext>
            </a:extLst>
          </p:cNvPr>
          <p:cNvSpPr>
            <a:spLocks noGrp="1"/>
          </p:cNvSpPr>
          <p:nvPr>
            <p:ph sz="quarter" idx="1"/>
          </p:nvPr>
        </p:nvSpPr>
        <p:spPr>
          <a:xfrm>
            <a:off x="609600" y="1219200"/>
            <a:ext cx="5388864" cy="4937760"/>
          </a:xfrm>
        </p:spPr>
        <p:txBody>
          <a:bodyPr>
            <a:normAutofit/>
          </a:bodyPr>
          <a:lstStyle/>
          <a:p>
            <a:pPr lvl="0"/>
            <a:r>
              <a:rPr lang="es-ES" dirty="0"/>
              <a:t>Características</a:t>
            </a:r>
          </a:p>
          <a:p>
            <a:pPr lvl="1"/>
            <a:r>
              <a:rPr lang="es-ES" sz="1950" dirty="0">
                <a:solidFill>
                  <a:schemeClr val="tx1"/>
                </a:solidFill>
              </a:rPr>
              <a:t>Su objetivo principal es mostrar anuncios en la interfaz del usuario.</a:t>
            </a:r>
          </a:p>
          <a:p>
            <a:pPr lvl="1"/>
            <a:r>
              <a:rPr lang="es-ES" sz="1950" dirty="0">
                <a:solidFill>
                  <a:schemeClr val="tx1"/>
                </a:solidFill>
              </a:rPr>
              <a:t>Se camufla como software legítimo y puede ser molesto al inundar la experiencia de navegación con anuncios no deseados.</a:t>
            </a:r>
          </a:p>
          <a:p>
            <a:pPr lvl="1"/>
            <a:r>
              <a:rPr lang="es-ES" sz="1950" dirty="0">
                <a:solidFill>
                  <a:schemeClr val="tx1"/>
                </a:solidFill>
              </a:rPr>
              <a:t>Los anuncios continuos generados por el adware consumen más datos, ralentizan las descargas y la navegación.</a:t>
            </a:r>
          </a:p>
          <a:p>
            <a:pPr lvl="0"/>
            <a:r>
              <a:rPr lang="es-ES" dirty="0"/>
              <a:t>Consejo</a:t>
            </a:r>
          </a:p>
          <a:p>
            <a:pPr lvl="1"/>
            <a:r>
              <a:rPr lang="es-ES" sz="1950" dirty="0">
                <a:solidFill>
                  <a:schemeClr val="tx1"/>
                </a:solidFill>
              </a:rPr>
              <a:t>Mantener el antivirus actualizado y evitar hacer clic en anuncios sospechosos.</a:t>
            </a:r>
          </a:p>
          <a:p>
            <a:endParaRPr lang="es-MX" dirty="0"/>
          </a:p>
        </p:txBody>
      </p:sp>
      <p:pic>
        <p:nvPicPr>
          <p:cNvPr id="6" name="Imagen 5">
            <a:extLst>
              <a:ext uri="{FF2B5EF4-FFF2-40B4-BE49-F238E27FC236}">
                <a16:creationId xmlns:a16="http://schemas.microsoft.com/office/drawing/2014/main" id="{27A0F8EB-C774-4068-8DE7-7F58AE5D91CC}"/>
              </a:ext>
            </a:extLst>
          </p:cNvPr>
          <p:cNvPicPr>
            <a:picLocks noChangeAspect="1"/>
          </p:cNvPicPr>
          <p:nvPr/>
        </p:nvPicPr>
        <p:blipFill>
          <a:blip r:embed="rId3"/>
          <a:stretch>
            <a:fillRect/>
          </a:stretch>
        </p:blipFill>
        <p:spPr>
          <a:xfrm>
            <a:off x="6176264" y="1886499"/>
            <a:ext cx="5388864" cy="3597066"/>
          </a:xfrm>
          <a:prstGeom prst="rect">
            <a:avLst/>
          </a:prstGeom>
          <a:noFill/>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84745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53EA1-4C68-4631-B218-AEDD924CC569}"/>
              </a:ext>
            </a:extLst>
          </p:cNvPr>
          <p:cNvSpPr>
            <a:spLocks noGrp="1"/>
          </p:cNvSpPr>
          <p:nvPr>
            <p:ph type="title"/>
          </p:nvPr>
        </p:nvSpPr>
        <p:spPr>
          <a:xfrm>
            <a:off x="609600" y="228600"/>
            <a:ext cx="10972800" cy="914400"/>
          </a:xfrm>
        </p:spPr>
        <p:txBody>
          <a:bodyPr anchor="b">
            <a:normAutofit/>
          </a:bodyPr>
          <a:lstStyle/>
          <a:p>
            <a:r>
              <a:rPr lang="es-ES" dirty="0"/>
              <a:t>Tendencias de adware</a:t>
            </a:r>
          </a:p>
        </p:txBody>
      </p:sp>
      <p:sp>
        <p:nvSpPr>
          <p:cNvPr id="6" name="Marcador de contenido 5">
            <a:extLst>
              <a:ext uri="{FF2B5EF4-FFF2-40B4-BE49-F238E27FC236}">
                <a16:creationId xmlns:a16="http://schemas.microsoft.com/office/drawing/2014/main" id="{5C49471C-CEBF-071C-1AF9-D68FC3A7506C}"/>
              </a:ext>
            </a:extLst>
          </p:cNvPr>
          <p:cNvSpPr>
            <a:spLocks noGrp="1"/>
          </p:cNvSpPr>
          <p:nvPr>
            <p:ph sz="quarter" idx="1"/>
          </p:nvPr>
        </p:nvSpPr>
        <p:spPr>
          <a:xfrm>
            <a:off x="609600" y="1219200"/>
            <a:ext cx="5388864" cy="4937760"/>
          </a:xfrm>
        </p:spPr>
        <p:txBody>
          <a:bodyPr>
            <a:normAutofit/>
          </a:bodyPr>
          <a:lstStyle/>
          <a:p>
            <a:pPr lvl="0"/>
            <a:r>
              <a:rPr lang="es-ES" dirty="0" err="1"/>
              <a:t>DealPly</a:t>
            </a:r>
            <a:endParaRPr lang="es-ES" dirty="0"/>
          </a:p>
          <a:p>
            <a:pPr lvl="1"/>
            <a:r>
              <a:rPr lang="es-ES" sz="1950">
                <a:solidFill>
                  <a:schemeClr val="tx1"/>
                </a:solidFill>
              </a:rPr>
              <a:t>Es una extensión de Chrome, capaz de modificar las nuevas páginas dentro del navegador.</a:t>
            </a:r>
          </a:p>
          <a:p>
            <a:pPr lvl="1"/>
            <a:r>
              <a:rPr lang="es-ES" sz="1950">
                <a:solidFill>
                  <a:schemeClr val="tx1"/>
                </a:solidFill>
              </a:rPr>
              <a:t>Puede reemplazar las pestañas recién abiertas, leer el historial del navegador, cambiar los marcadores y gestionar las aplicaciones, extensiones y temas del navegador.</a:t>
            </a:r>
          </a:p>
          <a:p>
            <a:pPr lvl="1"/>
            <a:r>
              <a:rPr lang="es-ES" sz="1950">
                <a:solidFill>
                  <a:schemeClr val="tx1"/>
                </a:solidFill>
              </a:rPr>
              <a:t>Lo anterior permite al atacante modificar los resultados de las búsquedas y sustituirlos por anuncios, leer las contraseñas y los datos de las tarjetas de crédito almacenados en el navegador y leer lo que los usuarios introducen en los formularios, así como lo que rellenaron en el pasado.</a:t>
            </a:r>
          </a:p>
          <a:p>
            <a:endParaRPr lang="es-MX" dirty="0"/>
          </a:p>
        </p:txBody>
      </p:sp>
      <p:pic>
        <p:nvPicPr>
          <p:cNvPr id="2050" name="Picture 2" descr="DealPly Adware - Easy removal steps (updated)">
            <a:extLst>
              <a:ext uri="{FF2B5EF4-FFF2-40B4-BE49-F238E27FC236}">
                <a16:creationId xmlns:a16="http://schemas.microsoft.com/office/drawing/2014/main" id="{1E739B68-D63F-10C5-1600-4CB58D0F2CF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6264" y="1920179"/>
            <a:ext cx="5388864" cy="352970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31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08DBB-8AF5-4946-8D6F-2497255C98C3}"/>
              </a:ext>
            </a:extLst>
          </p:cNvPr>
          <p:cNvSpPr>
            <a:spLocks noGrp="1"/>
          </p:cNvSpPr>
          <p:nvPr>
            <p:ph type="title"/>
          </p:nvPr>
        </p:nvSpPr>
        <p:spPr>
          <a:xfrm>
            <a:off x="609600" y="228600"/>
            <a:ext cx="10972800" cy="914400"/>
          </a:xfrm>
        </p:spPr>
        <p:txBody>
          <a:bodyPr anchor="b">
            <a:normAutofit/>
          </a:bodyPr>
          <a:lstStyle/>
          <a:p>
            <a:r>
              <a:rPr lang="es-ES" dirty="0"/>
              <a:t>Gusanos</a:t>
            </a:r>
          </a:p>
        </p:txBody>
      </p:sp>
      <p:sp>
        <p:nvSpPr>
          <p:cNvPr id="6" name="Marcador de contenido 5">
            <a:extLst>
              <a:ext uri="{FF2B5EF4-FFF2-40B4-BE49-F238E27FC236}">
                <a16:creationId xmlns:a16="http://schemas.microsoft.com/office/drawing/2014/main" id="{A6615796-0429-2958-6B9A-A40CB8EB6496}"/>
              </a:ext>
            </a:extLst>
          </p:cNvPr>
          <p:cNvSpPr>
            <a:spLocks noGrp="1"/>
          </p:cNvSpPr>
          <p:nvPr>
            <p:ph sz="quarter" idx="1"/>
          </p:nvPr>
        </p:nvSpPr>
        <p:spPr>
          <a:xfrm>
            <a:off x="609600" y="1219200"/>
            <a:ext cx="5388864" cy="4937760"/>
          </a:xfrm>
        </p:spPr>
        <p:txBody>
          <a:bodyPr>
            <a:normAutofit/>
          </a:bodyPr>
          <a:lstStyle/>
          <a:p>
            <a:pPr lvl="0"/>
            <a:r>
              <a:rPr lang="es-ES" dirty="0"/>
              <a:t>Características</a:t>
            </a:r>
          </a:p>
          <a:p>
            <a:pPr lvl="1"/>
            <a:r>
              <a:rPr lang="es-ES" sz="1950">
                <a:solidFill>
                  <a:schemeClr val="tx1"/>
                </a:solidFill>
              </a:rPr>
              <a:t>El objetivo principal de un gusano es afectar la mayor cantidad de equipos posible.</a:t>
            </a:r>
          </a:p>
          <a:p>
            <a:pPr lvl="1"/>
            <a:r>
              <a:rPr lang="es-ES" sz="1950">
                <a:solidFill>
                  <a:schemeClr val="tx1"/>
                </a:solidFill>
              </a:rPr>
              <a:t>A diferencia de los virus, no se insertan en otros programas, sino que se replican y se propagan por sí mismos.</a:t>
            </a:r>
          </a:p>
          <a:p>
            <a:pPr lvl="1"/>
            <a:r>
              <a:rPr lang="es-ES" sz="1950">
                <a:solidFill>
                  <a:schemeClr val="tx1"/>
                </a:solidFill>
              </a:rPr>
              <a:t>Pueden expandirse rápidamente a través de redes, ya sea en entornos domésticos o corporativos.</a:t>
            </a:r>
          </a:p>
          <a:p>
            <a:pPr lvl="1"/>
            <a:r>
              <a:rPr lang="es-ES" sz="1950">
                <a:solidFill>
                  <a:schemeClr val="tx1"/>
                </a:solidFill>
              </a:rPr>
              <a:t>Al propagarse, los gusanos pueden ralentizar las máquinas víctimas o la red en la que se encuentran.</a:t>
            </a:r>
          </a:p>
          <a:p>
            <a:pPr lvl="0"/>
            <a:r>
              <a:rPr lang="es-ES" dirty="0"/>
              <a:t>Consejo</a:t>
            </a:r>
          </a:p>
          <a:p>
            <a:pPr lvl="1"/>
            <a:r>
              <a:rPr lang="es-ES" sz="1950">
                <a:solidFill>
                  <a:schemeClr val="tx1"/>
                </a:solidFill>
              </a:rPr>
              <a:t>Utilizar antivirus actualizado para detectar y eliminar gusanos.</a:t>
            </a:r>
          </a:p>
          <a:p>
            <a:endParaRPr lang="es-MX" dirty="0"/>
          </a:p>
        </p:txBody>
      </p:sp>
      <p:pic>
        <p:nvPicPr>
          <p:cNvPr id="5" name="Imagen 4">
            <a:extLst>
              <a:ext uri="{FF2B5EF4-FFF2-40B4-BE49-F238E27FC236}">
                <a16:creationId xmlns:a16="http://schemas.microsoft.com/office/drawing/2014/main" id="{AE890EF8-F8F2-49C0-AC0A-21CF121777C5}"/>
              </a:ext>
            </a:extLst>
          </p:cNvPr>
          <p:cNvPicPr>
            <a:picLocks noChangeAspect="1"/>
          </p:cNvPicPr>
          <p:nvPr/>
        </p:nvPicPr>
        <p:blipFill>
          <a:blip r:embed="rId3"/>
          <a:stretch>
            <a:fillRect/>
          </a:stretch>
        </p:blipFill>
        <p:spPr>
          <a:xfrm>
            <a:off x="6176264" y="2128998"/>
            <a:ext cx="5388864" cy="3112068"/>
          </a:xfrm>
          <a:prstGeom prst="rect">
            <a:avLst/>
          </a:prstGeom>
          <a:noFill/>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10921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53EA1-4C68-4631-B218-AEDD924CC569}"/>
              </a:ext>
            </a:extLst>
          </p:cNvPr>
          <p:cNvSpPr>
            <a:spLocks noGrp="1"/>
          </p:cNvSpPr>
          <p:nvPr>
            <p:ph type="title"/>
          </p:nvPr>
        </p:nvSpPr>
        <p:spPr/>
        <p:txBody>
          <a:bodyPr/>
          <a:lstStyle/>
          <a:p>
            <a:r>
              <a:rPr lang="es-ES" dirty="0"/>
              <a:t>Tendencias de gusanos</a:t>
            </a:r>
          </a:p>
        </p:txBody>
      </p:sp>
      <p:graphicFrame>
        <p:nvGraphicFramePr>
          <p:cNvPr id="8" name="Diagrama 7">
            <a:extLst>
              <a:ext uri="{FF2B5EF4-FFF2-40B4-BE49-F238E27FC236}">
                <a16:creationId xmlns:a16="http://schemas.microsoft.com/office/drawing/2014/main" id="{0823BF4A-C2C8-4D4E-901F-3794A393F2E6}"/>
              </a:ext>
            </a:extLst>
          </p:cNvPr>
          <p:cNvGraphicFramePr/>
          <p:nvPr>
            <p:extLst>
              <p:ext uri="{D42A27DB-BD31-4B8C-83A1-F6EECF244321}">
                <p14:modId xmlns:p14="http://schemas.microsoft.com/office/powerpoint/2010/main" val="2986302834"/>
              </p:ext>
            </p:extLst>
          </p:nvPr>
        </p:nvGraphicFramePr>
        <p:xfrm>
          <a:off x="615726" y="1514322"/>
          <a:ext cx="10960547" cy="9897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a 2">
            <a:extLst>
              <a:ext uri="{FF2B5EF4-FFF2-40B4-BE49-F238E27FC236}">
                <a16:creationId xmlns:a16="http://schemas.microsoft.com/office/drawing/2014/main" id="{F8D62524-EF39-422E-96AA-5798ADDF4898}"/>
              </a:ext>
            </a:extLst>
          </p:cNvPr>
          <p:cNvGraphicFramePr/>
          <p:nvPr>
            <p:extLst>
              <p:ext uri="{D42A27DB-BD31-4B8C-83A1-F6EECF244321}">
                <p14:modId xmlns:p14="http://schemas.microsoft.com/office/powerpoint/2010/main" val="463811860"/>
              </p:ext>
            </p:extLst>
          </p:nvPr>
        </p:nvGraphicFramePr>
        <p:xfrm>
          <a:off x="2914127" y="3098202"/>
          <a:ext cx="8662146" cy="358229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5" name="Imagen 4">
            <a:extLst>
              <a:ext uri="{FF2B5EF4-FFF2-40B4-BE49-F238E27FC236}">
                <a16:creationId xmlns:a16="http://schemas.microsoft.com/office/drawing/2014/main" id="{3AF742DE-D70A-46E4-BB49-5FAC6574A2BA}"/>
              </a:ext>
            </a:extLst>
          </p:cNvPr>
          <p:cNvPicPr>
            <a:picLocks noChangeAspect="1"/>
          </p:cNvPicPr>
          <p:nvPr/>
        </p:nvPicPr>
        <p:blipFill>
          <a:blip r:embed="rId13"/>
          <a:stretch>
            <a:fillRect/>
          </a:stretch>
        </p:blipFill>
        <p:spPr>
          <a:xfrm>
            <a:off x="123302" y="3291840"/>
            <a:ext cx="2523079" cy="159347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21583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08DBB-8AF5-4946-8D6F-2497255C98C3}"/>
              </a:ext>
            </a:extLst>
          </p:cNvPr>
          <p:cNvSpPr>
            <a:spLocks noGrp="1"/>
          </p:cNvSpPr>
          <p:nvPr>
            <p:ph type="title"/>
          </p:nvPr>
        </p:nvSpPr>
        <p:spPr>
          <a:xfrm>
            <a:off x="609600" y="228600"/>
            <a:ext cx="10972800" cy="914400"/>
          </a:xfrm>
        </p:spPr>
        <p:txBody>
          <a:bodyPr anchor="b">
            <a:normAutofit/>
          </a:bodyPr>
          <a:lstStyle/>
          <a:p>
            <a:r>
              <a:rPr lang="es-ES" dirty="0"/>
              <a:t>Troyanos</a:t>
            </a:r>
          </a:p>
        </p:txBody>
      </p:sp>
      <p:sp>
        <p:nvSpPr>
          <p:cNvPr id="6" name="Marcador de contenido 5">
            <a:extLst>
              <a:ext uri="{FF2B5EF4-FFF2-40B4-BE49-F238E27FC236}">
                <a16:creationId xmlns:a16="http://schemas.microsoft.com/office/drawing/2014/main" id="{F57C8A44-9AD9-C80F-FF7E-B27635CEEE2E}"/>
              </a:ext>
            </a:extLst>
          </p:cNvPr>
          <p:cNvSpPr>
            <a:spLocks noGrp="1"/>
          </p:cNvSpPr>
          <p:nvPr>
            <p:ph sz="quarter" idx="1"/>
          </p:nvPr>
        </p:nvSpPr>
        <p:spPr>
          <a:xfrm>
            <a:off x="609600" y="1219200"/>
            <a:ext cx="5388864" cy="4937760"/>
          </a:xfrm>
        </p:spPr>
        <p:txBody>
          <a:bodyPr>
            <a:normAutofit/>
          </a:bodyPr>
          <a:lstStyle/>
          <a:p>
            <a:pPr lvl="0"/>
            <a:r>
              <a:rPr lang="es-ES" dirty="0"/>
              <a:t>Características</a:t>
            </a:r>
          </a:p>
          <a:p>
            <a:pPr lvl="1"/>
            <a:r>
              <a:rPr lang="es-ES" sz="1950" dirty="0">
                <a:solidFill>
                  <a:schemeClr val="tx1"/>
                </a:solidFill>
              </a:rPr>
              <a:t>Los troyanos están diseñados para permitir el acceso remoto, no autorizado, a un sistema mediante una puerta trasera (backdoor).</a:t>
            </a:r>
          </a:p>
          <a:p>
            <a:pPr lvl="1"/>
            <a:r>
              <a:rPr lang="es-ES" sz="1950" dirty="0">
                <a:solidFill>
                  <a:schemeClr val="tx1"/>
                </a:solidFill>
              </a:rPr>
              <a:t>Se camuflan dentro de software legítimo y suelen diseñarse para espiar o robar datos.</a:t>
            </a:r>
          </a:p>
          <a:p>
            <a:pPr lvl="1"/>
            <a:r>
              <a:rPr lang="es-ES" sz="1950" dirty="0">
                <a:solidFill>
                  <a:schemeClr val="tx1"/>
                </a:solidFill>
              </a:rPr>
              <a:t>Pueden robar datos confidenciales, como información bancaria, contraseñas y archivos personales, así como causar daños en el equipo.</a:t>
            </a:r>
          </a:p>
          <a:p>
            <a:pPr lvl="0"/>
            <a:r>
              <a:rPr lang="es-ES" dirty="0"/>
              <a:t>Consejo</a:t>
            </a:r>
          </a:p>
          <a:p>
            <a:pPr lvl="1"/>
            <a:r>
              <a:rPr lang="es-ES" sz="1950" dirty="0">
                <a:solidFill>
                  <a:schemeClr val="tx1"/>
                </a:solidFill>
              </a:rPr>
              <a:t>Ser cauteloso al abrir archivos adjuntos o instalar software desconocido.</a:t>
            </a:r>
          </a:p>
          <a:p>
            <a:endParaRPr lang="es-MX" dirty="0"/>
          </a:p>
        </p:txBody>
      </p:sp>
      <p:pic>
        <p:nvPicPr>
          <p:cNvPr id="5" name="Imagen 4">
            <a:extLst>
              <a:ext uri="{FF2B5EF4-FFF2-40B4-BE49-F238E27FC236}">
                <a16:creationId xmlns:a16="http://schemas.microsoft.com/office/drawing/2014/main" id="{EC7CCCD9-D0E1-4595-8DFA-CC0D230FCF45}"/>
              </a:ext>
            </a:extLst>
          </p:cNvPr>
          <p:cNvPicPr>
            <a:picLocks noChangeAspect="1"/>
          </p:cNvPicPr>
          <p:nvPr/>
        </p:nvPicPr>
        <p:blipFill>
          <a:blip r:embed="rId3"/>
          <a:stretch>
            <a:fillRect/>
          </a:stretch>
        </p:blipFill>
        <p:spPr>
          <a:xfrm>
            <a:off x="6754513" y="1216152"/>
            <a:ext cx="4232365" cy="4937760"/>
          </a:xfrm>
          <a:prstGeom prst="rect">
            <a:avLst/>
          </a:prstGeom>
          <a:noFill/>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64608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53EA1-4C68-4631-B218-AEDD924CC569}"/>
              </a:ext>
            </a:extLst>
          </p:cNvPr>
          <p:cNvSpPr>
            <a:spLocks noGrp="1"/>
          </p:cNvSpPr>
          <p:nvPr>
            <p:ph type="title"/>
          </p:nvPr>
        </p:nvSpPr>
        <p:spPr/>
        <p:txBody>
          <a:bodyPr/>
          <a:lstStyle/>
          <a:p>
            <a:r>
              <a:rPr lang="es-ES" dirty="0"/>
              <a:t>Tendencias de troyanos</a:t>
            </a:r>
          </a:p>
        </p:txBody>
      </p:sp>
      <p:graphicFrame>
        <p:nvGraphicFramePr>
          <p:cNvPr id="8" name="Diagrama 7">
            <a:extLst>
              <a:ext uri="{FF2B5EF4-FFF2-40B4-BE49-F238E27FC236}">
                <a16:creationId xmlns:a16="http://schemas.microsoft.com/office/drawing/2014/main" id="{0823BF4A-C2C8-4D4E-901F-3794A393F2E6}"/>
              </a:ext>
            </a:extLst>
          </p:cNvPr>
          <p:cNvGraphicFramePr/>
          <p:nvPr>
            <p:extLst>
              <p:ext uri="{D42A27DB-BD31-4B8C-83A1-F6EECF244321}">
                <p14:modId xmlns:p14="http://schemas.microsoft.com/office/powerpoint/2010/main" val="2152617677"/>
              </p:ext>
            </p:extLst>
          </p:nvPr>
        </p:nvGraphicFramePr>
        <p:xfrm>
          <a:off x="592734" y="1518565"/>
          <a:ext cx="11006529" cy="12246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Imagen 2">
            <a:extLst>
              <a:ext uri="{FF2B5EF4-FFF2-40B4-BE49-F238E27FC236}">
                <a16:creationId xmlns:a16="http://schemas.microsoft.com/office/drawing/2014/main" id="{90462D50-3904-40DA-BE72-092F9C50DC0F}"/>
              </a:ext>
            </a:extLst>
          </p:cNvPr>
          <p:cNvPicPr>
            <a:picLocks noChangeAspect="1"/>
          </p:cNvPicPr>
          <p:nvPr/>
        </p:nvPicPr>
        <p:blipFill>
          <a:blip r:embed="rId8"/>
          <a:stretch>
            <a:fillRect/>
          </a:stretch>
        </p:blipFill>
        <p:spPr>
          <a:xfrm>
            <a:off x="592735" y="3991759"/>
            <a:ext cx="2981325" cy="1714500"/>
          </a:xfrm>
          <a:prstGeom prst="rect">
            <a:avLst/>
          </a:prstGeom>
          <a:ln>
            <a:noFill/>
          </a:ln>
          <a:effectLst>
            <a:outerShdw blurRad="190500" algn="tl" rotWithShape="0">
              <a:srgbClr val="000000">
                <a:alpha val="70000"/>
              </a:srgbClr>
            </a:outerShdw>
          </a:effectLst>
        </p:spPr>
      </p:pic>
      <p:graphicFrame>
        <p:nvGraphicFramePr>
          <p:cNvPr id="4" name="Diagrama 3">
            <a:extLst>
              <a:ext uri="{FF2B5EF4-FFF2-40B4-BE49-F238E27FC236}">
                <a16:creationId xmlns:a16="http://schemas.microsoft.com/office/drawing/2014/main" id="{0C85F065-5F6A-42FC-A068-106DCC5B8EEB}"/>
              </a:ext>
            </a:extLst>
          </p:cNvPr>
          <p:cNvGraphicFramePr/>
          <p:nvPr>
            <p:extLst>
              <p:ext uri="{D42A27DB-BD31-4B8C-83A1-F6EECF244321}">
                <p14:modId xmlns:p14="http://schemas.microsoft.com/office/powerpoint/2010/main" val="1817753319"/>
              </p:ext>
            </p:extLst>
          </p:nvPr>
        </p:nvGraphicFramePr>
        <p:xfrm>
          <a:off x="4077147" y="2958354"/>
          <a:ext cx="7522117" cy="372214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916248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08DBB-8AF5-4946-8D6F-2497255C98C3}"/>
              </a:ext>
            </a:extLst>
          </p:cNvPr>
          <p:cNvSpPr>
            <a:spLocks noGrp="1"/>
          </p:cNvSpPr>
          <p:nvPr>
            <p:ph type="title"/>
          </p:nvPr>
        </p:nvSpPr>
        <p:spPr>
          <a:xfrm>
            <a:off x="609600" y="228600"/>
            <a:ext cx="10972800" cy="914400"/>
          </a:xfrm>
        </p:spPr>
        <p:txBody>
          <a:bodyPr anchor="b">
            <a:normAutofit/>
          </a:bodyPr>
          <a:lstStyle/>
          <a:p>
            <a:r>
              <a:rPr lang="es-ES" dirty="0"/>
              <a:t>Redes de robots (</a:t>
            </a:r>
            <a:r>
              <a:rPr lang="es-ES" dirty="0" err="1"/>
              <a:t>Botnets</a:t>
            </a:r>
            <a:r>
              <a:rPr lang="es-ES" dirty="0"/>
              <a:t>)</a:t>
            </a:r>
          </a:p>
        </p:txBody>
      </p:sp>
      <p:sp>
        <p:nvSpPr>
          <p:cNvPr id="6" name="Marcador de contenido 5">
            <a:extLst>
              <a:ext uri="{FF2B5EF4-FFF2-40B4-BE49-F238E27FC236}">
                <a16:creationId xmlns:a16="http://schemas.microsoft.com/office/drawing/2014/main" id="{C9DC07ED-92EC-4FF4-5235-015CFB573B08}"/>
              </a:ext>
            </a:extLst>
          </p:cNvPr>
          <p:cNvSpPr>
            <a:spLocks noGrp="1"/>
          </p:cNvSpPr>
          <p:nvPr>
            <p:ph sz="quarter" idx="1"/>
          </p:nvPr>
        </p:nvSpPr>
        <p:spPr>
          <a:xfrm>
            <a:off x="609600" y="1219200"/>
            <a:ext cx="5388864" cy="4937760"/>
          </a:xfrm>
        </p:spPr>
        <p:txBody>
          <a:bodyPr>
            <a:normAutofit/>
          </a:bodyPr>
          <a:lstStyle/>
          <a:p>
            <a:pPr lvl="0"/>
            <a:r>
              <a:rPr lang="es-ES" dirty="0"/>
              <a:t>Características</a:t>
            </a:r>
          </a:p>
          <a:p>
            <a:pPr lvl="1"/>
            <a:r>
              <a:rPr lang="es-ES" sz="1950" dirty="0">
                <a:solidFill>
                  <a:schemeClr val="tx1"/>
                </a:solidFill>
              </a:rPr>
              <a:t>Son redes de dispositivos infectados por malware que son controlados por un atacante.</a:t>
            </a:r>
          </a:p>
          <a:p>
            <a:pPr lvl="1"/>
            <a:r>
              <a:rPr lang="es-ES" sz="1950" dirty="0">
                <a:solidFill>
                  <a:schemeClr val="tx1"/>
                </a:solidFill>
              </a:rPr>
              <a:t>A menudo se ocultan en el sistema infectado y evitan la detección mediante técnicas como la encriptación y el uso de diferentes servidores de comando y control.</a:t>
            </a:r>
          </a:p>
          <a:p>
            <a:pPr lvl="1"/>
            <a:r>
              <a:rPr lang="es-ES" sz="1950" dirty="0">
                <a:solidFill>
                  <a:schemeClr val="tx1"/>
                </a:solidFill>
              </a:rPr>
              <a:t>Dispositivos (como computadoras, servidores o dispositivos </a:t>
            </a:r>
            <a:r>
              <a:rPr lang="es-ES" sz="1950" dirty="0" err="1">
                <a:solidFill>
                  <a:schemeClr val="tx1"/>
                </a:solidFill>
              </a:rPr>
              <a:t>IoT</a:t>
            </a:r>
            <a:r>
              <a:rPr lang="es-ES" sz="1950" dirty="0">
                <a:solidFill>
                  <a:schemeClr val="tx1"/>
                </a:solidFill>
              </a:rPr>
              <a:t>) se utilizan para llevar a cabo ataques coordinados, como ataques </a:t>
            </a:r>
            <a:r>
              <a:rPr lang="es-ES" sz="1950" dirty="0" err="1">
                <a:solidFill>
                  <a:schemeClr val="tx1"/>
                </a:solidFill>
              </a:rPr>
              <a:t>DDoS</a:t>
            </a:r>
            <a:r>
              <a:rPr lang="es-ES" sz="1950" dirty="0">
                <a:solidFill>
                  <a:schemeClr val="tx1"/>
                </a:solidFill>
              </a:rPr>
              <a:t> o robo de información.</a:t>
            </a:r>
          </a:p>
          <a:p>
            <a:pPr lvl="0"/>
            <a:r>
              <a:rPr lang="es-ES" dirty="0"/>
              <a:t>Consejo</a:t>
            </a:r>
          </a:p>
          <a:p>
            <a:pPr lvl="1"/>
            <a:r>
              <a:rPr lang="es-ES" sz="1950" dirty="0">
                <a:solidFill>
                  <a:schemeClr val="tx1"/>
                </a:solidFill>
              </a:rPr>
              <a:t>Mantener los dispositivos seguros y actualizados para evitar formar parte de una </a:t>
            </a:r>
            <a:r>
              <a:rPr lang="es-ES" sz="1950" dirty="0" err="1">
                <a:solidFill>
                  <a:schemeClr val="tx1"/>
                </a:solidFill>
              </a:rPr>
              <a:t>botnet</a:t>
            </a:r>
            <a:r>
              <a:rPr lang="es-ES" sz="1950" dirty="0">
                <a:solidFill>
                  <a:schemeClr val="tx1"/>
                </a:solidFill>
              </a:rPr>
              <a:t>.</a:t>
            </a:r>
          </a:p>
          <a:p>
            <a:endParaRPr lang="es-MX" dirty="0"/>
          </a:p>
        </p:txBody>
      </p:sp>
      <p:pic>
        <p:nvPicPr>
          <p:cNvPr id="3" name="Imagen 2">
            <a:extLst>
              <a:ext uri="{FF2B5EF4-FFF2-40B4-BE49-F238E27FC236}">
                <a16:creationId xmlns:a16="http://schemas.microsoft.com/office/drawing/2014/main" id="{6A353A23-7D19-4EF0-995B-1665FE15B17A}"/>
              </a:ext>
            </a:extLst>
          </p:cNvPr>
          <p:cNvPicPr>
            <a:picLocks noChangeAspect="1"/>
          </p:cNvPicPr>
          <p:nvPr/>
        </p:nvPicPr>
        <p:blipFill>
          <a:blip r:embed="rId3"/>
          <a:stretch>
            <a:fillRect/>
          </a:stretch>
        </p:blipFill>
        <p:spPr>
          <a:xfrm>
            <a:off x="6176264" y="2243511"/>
            <a:ext cx="5388864" cy="2883042"/>
          </a:xfrm>
          <a:prstGeom prst="rect">
            <a:avLst/>
          </a:prstGeom>
          <a:noFill/>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49968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53EA1-4C68-4631-B218-AEDD924CC569}"/>
              </a:ext>
            </a:extLst>
          </p:cNvPr>
          <p:cNvSpPr>
            <a:spLocks noGrp="1"/>
          </p:cNvSpPr>
          <p:nvPr>
            <p:ph type="title"/>
          </p:nvPr>
        </p:nvSpPr>
        <p:spPr/>
        <p:txBody>
          <a:bodyPr/>
          <a:lstStyle/>
          <a:p>
            <a:r>
              <a:rPr lang="es-ES" dirty="0"/>
              <a:t>Tendencias de </a:t>
            </a:r>
            <a:r>
              <a:rPr lang="es-ES" dirty="0" err="1"/>
              <a:t>botnets</a:t>
            </a:r>
            <a:endParaRPr lang="es-ES" dirty="0"/>
          </a:p>
        </p:txBody>
      </p:sp>
      <p:graphicFrame>
        <p:nvGraphicFramePr>
          <p:cNvPr id="8" name="Diagrama 7">
            <a:extLst>
              <a:ext uri="{FF2B5EF4-FFF2-40B4-BE49-F238E27FC236}">
                <a16:creationId xmlns:a16="http://schemas.microsoft.com/office/drawing/2014/main" id="{0823BF4A-C2C8-4D4E-901F-3794A393F2E6}"/>
              </a:ext>
            </a:extLst>
          </p:cNvPr>
          <p:cNvGraphicFramePr/>
          <p:nvPr>
            <p:extLst>
              <p:ext uri="{D42A27DB-BD31-4B8C-83A1-F6EECF244321}">
                <p14:modId xmlns:p14="http://schemas.microsoft.com/office/powerpoint/2010/main" val="3421124677"/>
              </p:ext>
            </p:extLst>
          </p:nvPr>
        </p:nvGraphicFramePr>
        <p:xfrm>
          <a:off x="592734" y="1518565"/>
          <a:ext cx="11006529" cy="12246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a 3">
            <a:extLst>
              <a:ext uri="{FF2B5EF4-FFF2-40B4-BE49-F238E27FC236}">
                <a16:creationId xmlns:a16="http://schemas.microsoft.com/office/drawing/2014/main" id="{0C85F065-5F6A-42FC-A068-106DCC5B8EEB}"/>
              </a:ext>
            </a:extLst>
          </p:cNvPr>
          <p:cNvGraphicFramePr/>
          <p:nvPr>
            <p:extLst>
              <p:ext uri="{D42A27DB-BD31-4B8C-83A1-F6EECF244321}">
                <p14:modId xmlns:p14="http://schemas.microsoft.com/office/powerpoint/2010/main" val="1187725965"/>
              </p:ext>
            </p:extLst>
          </p:nvPr>
        </p:nvGraphicFramePr>
        <p:xfrm>
          <a:off x="4077147" y="2958354"/>
          <a:ext cx="7522117" cy="372214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6" name="Imagen 5">
            <a:extLst>
              <a:ext uri="{FF2B5EF4-FFF2-40B4-BE49-F238E27FC236}">
                <a16:creationId xmlns:a16="http://schemas.microsoft.com/office/drawing/2014/main" id="{D1FB67EE-EBCF-4579-AC67-C45E04AA8A86}"/>
              </a:ext>
            </a:extLst>
          </p:cNvPr>
          <p:cNvPicPr>
            <a:picLocks noChangeAspect="1"/>
          </p:cNvPicPr>
          <p:nvPr/>
        </p:nvPicPr>
        <p:blipFill>
          <a:blip r:embed="rId13"/>
          <a:stretch>
            <a:fillRect/>
          </a:stretch>
        </p:blipFill>
        <p:spPr>
          <a:xfrm>
            <a:off x="223446" y="3429000"/>
            <a:ext cx="3627792" cy="219740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8213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2BC219-54C2-474A-AD70-19AA09E1328C}"/>
              </a:ext>
            </a:extLst>
          </p:cNvPr>
          <p:cNvSpPr>
            <a:spLocks noGrp="1"/>
          </p:cNvSpPr>
          <p:nvPr>
            <p:ph type="title"/>
          </p:nvPr>
        </p:nvSpPr>
        <p:spPr/>
        <p:txBody>
          <a:bodyPr/>
          <a:lstStyle/>
          <a:p>
            <a:r>
              <a:rPr lang="es-ES" dirty="0"/>
              <a:t>¿Por cuál vía se propaga un malware?</a:t>
            </a:r>
          </a:p>
        </p:txBody>
      </p:sp>
      <p:pic>
        <p:nvPicPr>
          <p:cNvPr id="4" name="Imagen 3">
            <a:extLst>
              <a:ext uri="{FF2B5EF4-FFF2-40B4-BE49-F238E27FC236}">
                <a16:creationId xmlns:a16="http://schemas.microsoft.com/office/drawing/2014/main" id="{E7C2C833-ED00-4FAF-86EB-37892FC4A8D8}"/>
              </a:ext>
            </a:extLst>
          </p:cNvPr>
          <p:cNvPicPr>
            <a:picLocks noChangeAspect="1"/>
          </p:cNvPicPr>
          <p:nvPr/>
        </p:nvPicPr>
        <p:blipFill rotWithShape="1">
          <a:blip r:embed="rId3"/>
          <a:srcRect t="21772" b="24388"/>
          <a:stretch/>
        </p:blipFill>
        <p:spPr>
          <a:xfrm>
            <a:off x="2991509" y="1238625"/>
            <a:ext cx="6208981" cy="5060771"/>
          </a:xfrm>
          <a:prstGeom prst="rect">
            <a:avLst/>
          </a:prstGeom>
        </p:spPr>
      </p:pic>
    </p:spTree>
    <p:extLst>
      <p:ext uri="{BB962C8B-B14F-4D97-AF65-F5344CB8AC3E}">
        <p14:creationId xmlns:p14="http://schemas.microsoft.com/office/powerpoint/2010/main" val="2861689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A4D3A2-0865-4D91-817E-C7C6F3BA3582}"/>
              </a:ext>
            </a:extLst>
          </p:cNvPr>
          <p:cNvSpPr>
            <a:spLocks noGrp="1"/>
          </p:cNvSpPr>
          <p:nvPr>
            <p:ph type="title"/>
          </p:nvPr>
        </p:nvSpPr>
        <p:spPr/>
        <p:txBody>
          <a:bodyPr/>
          <a:lstStyle/>
          <a:p>
            <a:r>
              <a:rPr lang="es-ES" dirty="0"/>
              <a:t>Situaciones en las que nos podemos encontrar</a:t>
            </a:r>
          </a:p>
        </p:txBody>
      </p:sp>
      <p:graphicFrame>
        <p:nvGraphicFramePr>
          <p:cNvPr id="6" name="Diagrama 5">
            <a:extLst>
              <a:ext uri="{FF2B5EF4-FFF2-40B4-BE49-F238E27FC236}">
                <a16:creationId xmlns:a16="http://schemas.microsoft.com/office/drawing/2014/main" id="{3C006A8D-D136-4BF0-AC7D-DFFFA78A7E9B}"/>
              </a:ext>
            </a:extLst>
          </p:cNvPr>
          <p:cNvGraphicFramePr/>
          <p:nvPr>
            <p:extLst>
              <p:ext uri="{D42A27DB-BD31-4B8C-83A1-F6EECF244321}">
                <p14:modId xmlns:p14="http://schemas.microsoft.com/office/powerpoint/2010/main" val="3923659920"/>
              </p:ext>
            </p:extLst>
          </p:nvPr>
        </p:nvGraphicFramePr>
        <p:xfrm>
          <a:off x="838200" y="1385712"/>
          <a:ext cx="10515600" cy="4860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7880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3918A-83AA-41BD-BA71-A16D087FAA1E}"/>
              </a:ext>
            </a:extLst>
          </p:cNvPr>
          <p:cNvSpPr>
            <a:spLocks noGrp="1"/>
          </p:cNvSpPr>
          <p:nvPr>
            <p:ph type="title"/>
          </p:nvPr>
        </p:nvSpPr>
        <p:spPr/>
        <p:txBody>
          <a:bodyPr/>
          <a:lstStyle/>
          <a:p>
            <a:r>
              <a:rPr lang="es-ES" dirty="0"/>
              <a:t>¿Cómo podemos protegernos?</a:t>
            </a:r>
          </a:p>
        </p:txBody>
      </p:sp>
      <p:pic>
        <p:nvPicPr>
          <p:cNvPr id="4" name="Imagen 3">
            <a:extLst>
              <a:ext uri="{FF2B5EF4-FFF2-40B4-BE49-F238E27FC236}">
                <a16:creationId xmlns:a16="http://schemas.microsoft.com/office/drawing/2014/main" id="{7C4E52CD-3968-4CD6-ABFF-288B87A822E6}"/>
              </a:ext>
            </a:extLst>
          </p:cNvPr>
          <p:cNvPicPr>
            <a:picLocks noChangeAspect="1"/>
          </p:cNvPicPr>
          <p:nvPr/>
        </p:nvPicPr>
        <p:blipFill>
          <a:blip r:embed="rId2"/>
          <a:stretch>
            <a:fillRect/>
          </a:stretch>
        </p:blipFill>
        <p:spPr>
          <a:xfrm>
            <a:off x="2947686" y="1262178"/>
            <a:ext cx="6296628" cy="506121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75609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17ADEB-BCF0-4DF3-A9C5-6E13C0852E55}"/>
              </a:ext>
            </a:extLst>
          </p:cNvPr>
          <p:cNvSpPr>
            <a:spLocks noGrp="1"/>
          </p:cNvSpPr>
          <p:nvPr>
            <p:ph type="title"/>
          </p:nvPr>
        </p:nvSpPr>
        <p:spPr/>
        <p:txBody>
          <a:bodyPr/>
          <a:lstStyle/>
          <a:p>
            <a:r>
              <a:rPr lang="es-ES" dirty="0"/>
              <a:t>Análisis de malware a través de la inteligencia artificial</a:t>
            </a:r>
          </a:p>
        </p:txBody>
      </p:sp>
      <p:pic>
        <p:nvPicPr>
          <p:cNvPr id="4" name="Imagen 3">
            <a:extLst>
              <a:ext uri="{FF2B5EF4-FFF2-40B4-BE49-F238E27FC236}">
                <a16:creationId xmlns:a16="http://schemas.microsoft.com/office/drawing/2014/main" id="{0A05E495-B6FF-4516-BC76-AF35D533C7CC}"/>
              </a:ext>
            </a:extLst>
          </p:cNvPr>
          <p:cNvPicPr>
            <a:picLocks noChangeAspect="1"/>
          </p:cNvPicPr>
          <p:nvPr/>
        </p:nvPicPr>
        <p:blipFill>
          <a:blip r:embed="rId3"/>
          <a:stretch>
            <a:fillRect/>
          </a:stretch>
        </p:blipFill>
        <p:spPr>
          <a:xfrm>
            <a:off x="1604102" y="1351641"/>
            <a:ext cx="8629403" cy="48540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4937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38D63C-97C8-4459-A9F4-CB325605EC53}"/>
              </a:ext>
            </a:extLst>
          </p:cNvPr>
          <p:cNvSpPr>
            <a:spLocks noGrp="1"/>
          </p:cNvSpPr>
          <p:nvPr>
            <p:ph type="title"/>
          </p:nvPr>
        </p:nvSpPr>
        <p:spPr/>
        <p:txBody>
          <a:bodyPr/>
          <a:lstStyle/>
          <a:p>
            <a:r>
              <a:rPr lang="es-ES" dirty="0"/>
              <a:t>Problemas a los que se enfrentan los profesionales de la seguridad</a:t>
            </a:r>
          </a:p>
        </p:txBody>
      </p:sp>
      <p:graphicFrame>
        <p:nvGraphicFramePr>
          <p:cNvPr id="6" name="Diagrama 5">
            <a:extLst>
              <a:ext uri="{FF2B5EF4-FFF2-40B4-BE49-F238E27FC236}">
                <a16:creationId xmlns:a16="http://schemas.microsoft.com/office/drawing/2014/main" id="{A806E9DA-A5AC-42A5-95B5-72EABBB4CB98}"/>
              </a:ext>
            </a:extLst>
          </p:cNvPr>
          <p:cNvGraphicFramePr/>
          <p:nvPr>
            <p:extLst>
              <p:ext uri="{D42A27DB-BD31-4B8C-83A1-F6EECF244321}">
                <p14:modId xmlns:p14="http://schemas.microsoft.com/office/powerpoint/2010/main" val="2046096773"/>
              </p:ext>
            </p:extLst>
          </p:nvPr>
        </p:nvGraphicFramePr>
        <p:xfrm>
          <a:off x="599044" y="1444003"/>
          <a:ext cx="10983356" cy="45351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71141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6EFD8-2C0D-46B1-B028-6F942650CEA6}"/>
              </a:ext>
            </a:extLst>
          </p:cNvPr>
          <p:cNvSpPr>
            <a:spLocks noGrp="1"/>
          </p:cNvSpPr>
          <p:nvPr>
            <p:ph type="title"/>
          </p:nvPr>
        </p:nvSpPr>
        <p:spPr/>
        <p:txBody>
          <a:bodyPr/>
          <a:lstStyle/>
          <a:p>
            <a:r>
              <a:rPr lang="es-ES" dirty="0"/>
              <a:t>¿Cómo aplicar la IA?</a:t>
            </a:r>
          </a:p>
        </p:txBody>
      </p:sp>
      <p:graphicFrame>
        <p:nvGraphicFramePr>
          <p:cNvPr id="4" name="Diagrama 3">
            <a:extLst>
              <a:ext uri="{FF2B5EF4-FFF2-40B4-BE49-F238E27FC236}">
                <a16:creationId xmlns:a16="http://schemas.microsoft.com/office/drawing/2014/main" id="{E3FFF9AF-0F83-42DC-B6AF-F50559506504}"/>
              </a:ext>
            </a:extLst>
          </p:cNvPr>
          <p:cNvGraphicFramePr/>
          <p:nvPr>
            <p:extLst>
              <p:ext uri="{D42A27DB-BD31-4B8C-83A1-F6EECF244321}">
                <p14:modId xmlns:p14="http://schemas.microsoft.com/office/powerpoint/2010/main" val="2809674928"/>
              </p:ext>
            </p:extLst>
          </p:nvPr>
        </p:nvGraphicFramePr>
        <p:xfrm>
          <a:off x="609600" y="1534719"/>
          <a:ext cx="10782465" cy="4167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1825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223F6-E40A-435C-8AB5-A6D37F28C1F7}"/>
              </a:ext>
            </a:extLst>
          </p:cNvPr>
          <p:cNvSpPr>
            <a:spLocks noGrp="1"/>
          </p:cNvSpPr>
          <p:nvPr>
            <p:ph type="title"/>
          </p:nvPr>
        </p:nvSpPr>
        <p:spPr/>
        <p:txBody>
          <a:bodyPr>
            <a:normAutofit/>
          </a:bodyPr>
          <a:lstStyle/>
          <a:p>
            <a:r>
              <a:rPr lang="es-ES" dirty="0" err="1"/>
              <a:t>VirusTotal</a:t>
            </a:r>
            <a:r>
              <a:rPr lang="es-ES" dirty="0"/>
              <a:t> </a:t>
            </a:r>
            <a:r>
              <a:rPr lang="es-ES" dirty="0" err="1"/>
              <a:t>Code</a:t>
            </a:r>
            <a:r>
              <a:rPr lang="es-ES" dirty="0"/>
              <a:t> </a:t>
            </a:r>
            <a:r>
              <a:rPr lang="es-ES" dirty="0" err="1"/>
              <a:t>Insight</a:t>
            </a:r>
            <a:endParaRPr lang="es-ES" dirty="0"/>
          </a:p>
        </p:txBody>
      </p:sp>
      <p:sp>
        <p:nvSpPr>
          <p:cNvPr id="7" name="Marcador de contenido 6">
            <a:extLst>
              <a:ext uri="{FF2B5EF4-FFF2-40B4-BE49-F238E27FC236}">
                <a16:creationId xmlns:a16="http://schemas.microsoft.com/office/drawing/2014/main" id="{34A129B0-4BD8-2422-F1AF-E90B6A5EF4F7}"/>
              </a:ext>
            </a:extLst>
          </p:cNvPr>
          <p:cNvSpPr>
            <a:spLocks noGrp="1"/>
          </p:cNvSpPr>
          <p:nvPr>
            <p:ph sz="quarter" idx="1"/>
          </p:nvPr>
        </p:nvSpPr>
        <p:spPr/>
        <p:txBody>
          <a:bodyPr/>
          <a:lstStyle/>
          <a:p>
            <a:endParaRPr lang="es-MX"/>
          </a:p>
        </p:txBody>
      </p:sp>
      <p:pic>
        <p:nvPicPr>
          <p:cNvPr id="4" name="Imagen 3">
            <a:extLst>
              <a:ext uri="{FF2B5EF4-FFF2-40B4-BE49-F238E27FC236}">
                <a16:creationId xmlns:a16="http://schemas.microsoft.com/office/drawing/2014/main" id="{B4D222C9-39D1-44BC-A0F0-6B35522167B8}"/>
              </a:ext>
            </a:extLst>
          </p:cNvPr>
          <p:cNvPicPr>
            <a:picLocks noChangeAspect="1"/>
          </p:cNvPicPr>
          <p:nvPr/>
        </p:nvPicPr>
        <p:blipFill>
          <a:blip r:embed="rId3"/>
          <a:stretch>
            <a:fillRect/>
          </a:stretch>
        </p:blipFill>
        <p:spPr>
          <a:xfrm>
            <a:off x="304800" y="1936605"/>
            <a:ext cx="6096000" cy="4314825"/>
          </a:xfrm>
          <a:prstGeom prst="rect">
            <a:avLst/>
          </a:prstGeom>
          <a:ln>
            <a:noFill/>
          </a:ln>
          <a:effectLst>
            <a:outerShdw blurRad="292100" dist="139700" dir="2700000" algn="tl" rotWithShape="0">
              <a:srgbClr val="333333">
                <a:alpha val="65000"/>
              </a:srgbClr>
            </a:outerShdw>
          </a:effectLst>
        </p:spPr>
      </p:pic>
      <p:graphicFrame>
        <p:nvGraphicFramePr>
          <p:cNvPr id="5" name="Diagrama 4">
            <a:extLst>
              <a:ext uri="{FF2B5EF4-FFF2-40B4-BE49-F238E27FC236}">
                <a16:creationId xmlns:a16="http://schemas.microsoft.com/office/drawing/2014/main" id="{2EF64AC8-48AF-4773-92F9-AEB5AD5BF69B}"/>
              </a:ext>
            </a:extLst>
          </p:cNvPr>
          <p:cNvGraphicFramePr/>
          <p:nvPr>
            <p:extLst>
              <p:ext uri="{D42A27DB-BD31-4B8C-83A1-F6EECF244321}">
                <p14:modId xmlns:p14="http://schemas.microsoft.com/office/powerpoint/2010/main" val="2280035964"/>
              </p:ext>
            </p:extLst>
          </p:nvPr>
        </p:nvGraphicFramePr>
        <p:xfrm>
          <a:off x="6721431" y="2153826"/>
          <a:ext cx="5248893" cy="48021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Imagen 5">
            <a:extLst>
              <a:ext uri="{FF2B5EF4-FFF2-40B4-BE49-F238E27FC236}">
                <a16:creationId xmlns:a16="http://schemas.microsoft.com/office/drawing/2014/main" id="{421DEF02-6636-42A3-9615-38EAC634823D}"/>
              </a:ext>
            </a:extLst>
          </p:cNvPr>
          <p:cNvPicPr>
            <a:picLocks noChangeAspect="1"/>
          </p:cNvPicPr>
          <p:nvPr/>
        </p:nvPicPr>
        <p:blipFill>
          <a:blip r:embed="rId9"/>
          <a:stretch>
            <a:fillRect/>
          </a:stretch>
        </p:blipFill>
        <p:spPr>
          <a:xfrm>
            <a:off x="8282542" y="365125"/>
            <a:ext cx="2126673" cy="12643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71738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B16D8A-1BBC-47A8-A816-5F92E7157263}"/>
              </a:ext>
            </a:extLst>
          </p:cNvPr>
          <p:cNvSpPr>
            <a:spLocks noGrp="1"/>
          </p:cNvSpPr>
          <p:nvPr>
            <p:ph type="title"/>
          </p:nvPr>
        </p:nvSpPr>
        <p:spPr/>
        <p:txBody>
          <a:bodyPr/>
          <a:lstStyle/>
          <a:p>
            <a:r>
              <a:rPr lang="es-ES" dirty="0"/>
              <a:t>Caso de estudio </a:t>
            </a:r>
          </a:p>
        </p:txBody>
      </p:sp>
      <p:graphicFrame>
        <p:nvGraphicFramePr>
          <p:cNvPr id="4" name="Diagrama 3">
            <a:extLst>
              <a:ext uri="{FF2B5EF4-FFF2-40B4-BE49-F238E27FC236}">
                <a16:creationId xmlns:a16="http://schemas.microsoft.com/office/drawing/2014/main" id="{A4CD4BAB-5298-43A1-98AA-3467A88E9DD1}"/>
              </a:ext>
            </a:extLst>
          </p:cNvPr>
          <p:cNvGraphicFramePr/>
          <p:nvPr>
            <p:extLst>
              <p:ext uri="{D42A27DB-BD31-4B8C-83A1-F6EECF244321}">
                <p14:modId xmlns:p14="http://schemas.microsoft.com/office/powerpoint/2010/main" val="3690687160"/>
              </p:ext>
            </p:extLst>
          </p:nvPr>
        </p:nvGraphicFramePr>
        <p:xfrm>
          <a:off x="838200" y="2223708"/>
          <a:ext cx="9747624" cy="3032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1835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FC18F-9D8D-460A-8D27-ED4E8771CE95}"/>
              </a:ext>
            </a:extLst>
          </p:cNvPr>
          <p:cNvSpPr>
            <a:spLocks noGrp="1"/>
          </p:cNvSpPr>
          <p:nvPr>
            <p:ph type="title"/>
          </p:nvPr>
        </p:nvSpPr>
        <p:spPr/>
        <p:txBody>
          <a:bodyPr/>
          <a:lstStyle/>
          <a:p>
            <a:r>
              <a:rPr lang="es-ES" dirty="0"/>
              <a:t>Características del conjunto de datos</a:t>
            </a:r>
          </a:p>
        </p:txBody>
      </p:sp>
      <p:graphicFrame>
        <p:nvGraphicFramePr>
          <p:cNvPr id="6" name="Diagrama 5">
            <a:extLst>
              <a:ext uri="{FF2B5EF4-FFF2-40B4-BE49-F238E27FC236}">
                <a16:creationId xmlns:a16="http://schemas.microsoft.com/office/drawing/2014/main" id="{6A8AB52E-3CA6-4B89-B624-2F48030E4AAF}"/>
              </a:ext>
            </a:extLst>
          </p:cNvPr>
          <p:cNvGraphicFramePr/>
          <p:nvPr>
            <p:extLst>
              <p:ext uri="{D42A27DB-BD31-4B8C-83A1-F6EECF244321}">
                <p14:modId xmlns:p14="http://schemas.microsoft.com/office/powerpoint/2010/main" val="600988182"/>
              </p:ext>
            </p:extLst>
          </p:nvPr>
        </p:nvGraphicFramePr>
        <p:xfrm>
          <a:off x="1610300" y="1489952"/>
          <a:ext cx="8803102" cy="45816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17788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86FCB-9F0B-49E9-BAC3-13AAF51DBDBE}"/>
              </a:ext>
            </a:extLst>
          </p:cNvPr>
          <p:cNvSpPr>
            <a:spLocks noGrp="1"/>
          </p:cNvSpPr>
          <p:nvPr>
            <p:ph type="title"/>
          </p:nvPr>
        </p:nvSpPr>
        <p:spPr/>
        <p:txBody>
          <a:bodyPr/>
          <a:lstStyle/>
          <a:p>
            <a:r>
              <a:rPr lang="es-ES" dirty="0"/>
              <a:t>Procesos a realizar sobre el caso de estudio</a:t>
            </a:r>
          </a:p>
        </p:txBody>
      </p:sp>
      <p:graphicFrame>
        <p:nvGraphicFramePr>
          <p:cNvPr id="4" name="Diagrama 3">
            <a:extLst>
              <a:ext uri="{FF2B5EF4-FFF2-40B4-BE49-F238E27FC236}">
                <a16:creationId xmlns:a16="http://schemas.microsoft.com/office/drawing/2014/main" id="{51A1D821-C40A-427D-AB64-035643117202}"/>
              </a:ext>
            </a:extLst>
          </p:cNvPr>
          <p:cNvGraphicFramePr/>
          <p:nvPr>
            <p:extLst>
              <p:ext uri="{D42A27DB-BD31-4B8C-83A1-F6EECF244321}">
                <p14:modId xmlns:p14="http://schemas.microsoft.com/office/powerpoint/2010/main" val="1667924236"/>
              </p:ext>
            </p:extLst>
          </p:nvPr>
        </p:nvGraphicFramePr>
        <p:xfrm>
          <a:off x="625676" y="1863524"/>
          <a:ext cx="10940648" cy="3453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542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A8B41-A026-4F3F-AD86-5871D42DDE84}"/>
              </a:ext>
            </a:extLst>
          </p:cNvPr>
          <p:cNvSpPr>
            <a:spLocks noGrp="1"/>
          </p:cNvSpPr>
          <p:nvPr>
            <p:ph type="title"/>
          </p:nvPr>
        </p:nvSpPr>
        <p:spPr/>
        <p:txBody>
          <a:bodyPr/>
          <a:lstStyle/>
          <a:p>
            <a:r>
              <a:rPr lang="es-ES" dirty="0"/>
              <a:t>Validación cruzada</a:t>
            </a:r>
          </a:p>
        </p:txBody>
      </p:sp>
      <p:pic>
        <p:nvPicPr>
          <p:cNvPr id="4" name="Imagen 3">
            <a:extLst>
              <a:ext uri="{FF2B5EF4-FFF2-40B4-BE49-F238E27FC236}">
                <a16:creationId xmlns:a16="http://schemas.microsoft.com/office/drawing/2014/main" id="{CE51BAC0-23CD-4DAA-ABF1-6BDF668C3E94}"/>
              </a:ext>
            </a:extLst>
          </p:cNvPr>
          <p:cNvPicPr>
            <a:picLocks noChangeAspect="1"/>
          </p:cNvPicPr>
          <p:nvPr/>
        </p:nvPicPr>
        <p:blipFill rotWithShape="1">
          <a:blip r:embed="rId3"/>
          <a:srcRect r="9649" b="10684"/>
          <a:stretch/>
        </p:blipFill>
        <p:spPr>
          <a:xfrm>
            <a:off x="6895652" y="1923442"/>
            <a:ext cx="5135444" cy="4241581"/>
          </a:xfrm>
          <a:prstGeom prst="rect">
            <a:avLst/>
          </a:prstGeom>
          <a:ln>
            <a:noFill/>
          </a:ln>
          <a:effectLst>
            <a:outerShdw blurRad="190500" algn="tl" rotWithShape="0">
              <a:srgbClr val="000000">
                <a:alpha val="70000"/>
              </a:srgbClr>
            </a:outerShdw>
          </a:effectLst>
        </p:spPr>
      </p:pic>
      <p:graphicFrame>
        <p:nvGraphicFramePr>
          <p:cNvPr id="5" name="Diagrama 4">
            <a:extLst>
              <a:ext uri="{FF2B5EF4-FFF2-40B4-BE49-F238E27FC236}">
                <a16:creationId xmlns:a16="http://schemas.microsoft.com/office/drawing/2014/main" id="{4008F6EA-CC54-4B0C-9B8B-DD4A47BAC9C7}"/>
              </a:ext>
            </a:extLst>
          </p:cNvPr>
          <p:cNvGraphicFramePr/>
          <p:nvPr>
            <p:extLst>
              <p:ext uri="{D42A27DB-BD31-4B8C-83A1-F6EECF244321}">
                <p14:modId xmlns:p14="http://schemas.microsoft.com/office/powerpoint/2010/main" val="3624105233"/>
              </p:ext>
            </p:extLst>
          </p:nvPr>
        </p:nvGraphicFramePr>
        <p:xfrm>
          <a:off x="160903" y="1796529"/>
          <a:ext cx="6261411" cy="14307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Diagrama 5">
            <a:extLst>
              <a:ext uri="{FF2B5EF4-FFF2-40B4-BE49-F238E27FC236}">
                <a16:creationId xmlns:a16="http://schemas.microsoft.com/office/drawing/2014/main" id="{63BD1215-F6E5-490A-AB14-8D4DBFDF4167}"/>
              </a:ext>
            </a:extLst>
          </p:cNvPr>
          <p:cNvGraphicFramePr/>
          <p:nvPr>
            <p:extLst>
              <p:ext uri="{D42A27DB-BD31-4B8C-83A1-F6EECF244321}">
                <p14:modId xmlns:p14="http://schemas.microsoft.com/office/powerpoint/2010/main" val="2329820233"/>
              </p:ext>
            </p:extLst>
          </p:nvPr>
        </p:nvGraphicFramePr>
        <p:xfrm>
          <a:off x="221129" y="3630707"/>
          <a:ext cx="6201185" cy="307604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016394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174CA8-7D5B-4CB9-B7D3-3B04437E8906}"/>
              </a:ext>
            </a:extLst>
          </p:cNvPr>
          <p:cNvSpPr>
            <a:spLocks noGrp="1"/>
          </p:cNvSpPr>
          <p:nvPr>
            <p:ph type="title"/>
          </p:nvPr>
        </p:nvSpPr>
        <p:spPr/>
        <p:txBody>
          <a:bodyPr/>
          <a:lstStyle/>
          <a:p>
            <a:r>
              <a:rPr lang="es-ES" dirty="0"/>
              <a:t>Actividad práctica</a:t>
            </a:r>
          </a:p>
        </p:txBody>
      </p:sp>
      <p:graphicFrame>
        <p:nvGraphicFramePr>
          <p:cNvPr id="4" name="Marcador de contenido 3">
            <a:extLst>
              <a:ext uri="{FF2B5EF4-FFF2-40B4-BE49-F238E27FC236}">
                <a16:creationId xmlns:a16="http://schemas.microsoft.com/office/drawing/2014/main" id="{A527E37E-D917-4D80-A740-63ED2E144B84}"/>
              </a:ext>
            </a:extLst>
          </p:cNvPr>
          <p:cNvGraphicFramePr>
            <a:graphicFrameLocks noGrp="1"/>
          </p:cNvGraphicFramePr>
          <p:nvPr>
            <p:ph sz="quarter" idx="1"/>
            <p:extLst>
              <p:ext uri="{D42A27DB-BD31-4B8C-83A1-F6EECF244321}">
                <p14:modId xmlns:p14="http://schemas.microsoft.com/office/powerpoint/2010/main" val="1424797162"/>
              </p:ext>
            </p:extLst>
          </p:nvPr>
        </p:nvGraphicFramePr>
        <p:xfrm>
          <a:off x="609600" y="1219200"/>
          <a:ext cx="10972800" cy="4937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46082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ClaroDataMining">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TemaClaroDataMining" id="{607B8C43-EBB6-5746-94C6-4B54890C5F19}" vid="{A6AA9852-215E-524B-A9F7-60E3399656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TemaClaroDataMining</Template>
  <TotalTime>1802</TotalTime>
  <Words>7798</Words>
  <Application>Microsoft Office PowerPoint</Application>
  <PresentationFormat>Panorámica</PresentationFormat>
  <Paragraphs>426</Paragraphs>
  <Slides>30</Slides>
  <Notes>23</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30</vt:i4>
      </vt:variant>
    </vt:vector>
  </HeadingPairs>
  <TitlesOfParts>
    <vt:vector size="42" baseType="lpstr">
      <vt:lpstr>-apple-system</vt:lpstr>
      <vt:lpstr>Arial</vt:lpstr>
      <vt:lpstr>Barlow</vt:lpstr>
      <vt:lpstr>Bookman Old Style</vt:lpstr>
      <vt:lpstr>Calibri</vt:lpstr>
      <vt:lpstr>Gill Sans MT</vt:lpstr>
      <vt:lpstr>Roboto-Regular</vt:lpstr>
      <vt:lpstr>Source-Serif-Bold</vt:lpstr>
      <vt:lpstr>Source-Serif-Regular</vt:lpstr>
      <vt:lpstr>Wingdings</vt:lpstr>
      <vt:lpstr>Wingdings 3</vt:lpstr>
      <vt:lpstr>TemaClaroDataMining</vt:lpstr>
      <vt:lpstr>Aprendizaje Automatizado en Ciberseguridad Sesión 2 – Detección de APKs maliciosas</vt:lpstr>
      <vt:lpstr>Introducción</vt:lpstr>
      <vt:lpstr>Introducción</vt:lpstr>
      <vt:lpstr>Introducción</vt:lpstr>
      <vt:lpstr>Introducción</vt:lpstr>
      <vt:lpstr>Tipos de aplicaciones maliciosas</vt:lpstr>
      <vt:lpstr>Ransomware</vt:lpstr>
      <vt:lpstr>Tendencias de ransomware</vt:lpstr>
      <vt:lpstr>Spyware</vt:lpstr>
      <vt:lpstr>Tendencias de spyware</vt:lpstr>
      <vt:lpstr>Adware</vt:lpstr>
      <vt:lpstr>Tendencias de adware</vt:lpstr>
      <vt:lpstr>Gusanos</vt:lpstr>
      <vt:lpstr>Tendencias de gusanos</vt:lpstr>
      <vt:lpstr>Troyanos</vt:lpstr>
      <vt:lpstr>Tendencias de troyanos</vt:lpstr>
      <vt:lpstr>Redes de robots (Botnets)</vt:lpstr>
      <vt:lpstr>Tendencias de botnets</vt:lpstr>
      <vt:lpstr>¿Por cuál vía se propaga un malware?</vt:lpstr>
      <vt:lpstr>Situaciones en las que nos podemos encontrar</vt:lpstr>
      <vt:lpstr>¿Cómo podemos protegernos?</vt:lpstr>
      <vt:lpstr>Análisis de malware a través de la inteligencia artificial</vt:lpstr>
      <vt:lpstr>Problemas a los que se enfrentan los profesionales de la seguridad</vt:lpstr>
      <vt:lpstr>¿Cómo aplicar la IA?</vt:lpstr>
      <vt:lpstr>VirusTotal Code Insight</vt:lpstr>
      <vt:lpstr>Caso de estudio </vt:lpstr>
      <vt:lpstr>Características del conjunto de datos</vt:lpstr>
      <vt:lpstr>Procesos a realizar sobre el caso de estudio</vt:lpstr>
      <vt:lpstr>Validación cruzada</vt:lpstr>
      <vt:lpstr>Actividad práctica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Ciberseguridad con Inteligencia Artificial</dc:title>
  <dc:creator>Alexander</dc:creator>
  <cp:lastModifiedBy>Bustio Martínez Lázaro</cp:lastModifiedBy>
  <cp:revision>401</cp:revision>
  <dcterms:created xsi:type="dcterms:W3CDTF">2024-03-22T15:35:13Z</dcterms:created>
  <dcterms:modified xsi:type="dcterms:W3CDTF">2025-06-02T00:38:02Z</dcterms:modified>
</cp:coreProperties>
</file>