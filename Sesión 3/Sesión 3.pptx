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fif" ContentType="image/jpeg"/>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4" r:id="rId2"/>
  </p:sldMasterIdLst>
  <p:notesMasterIdLst>
    <p:notesMasterId r:id="rId123"/>
  </p:notesMasterIdLst>
  <p:sldIdLst>
    <p:sldId id="256" r:id="rId3"/>
    <p:sldId id="257" r:id="rId4"/>
    <p:sldId id="267" r:id="rId5"/>
    <p:sldId id="268" r:id="rId6"/>
    <p:sldId id="266" r:id="rId7"/>
    <p:sldId id="270" r:id="rId8"/>
    <p:sldId id="271" r:id="rId9"/>
    <p:sldId id="272" r:id="rId10"/>
    <p:sldId id="273" r:id="rId11"/>
    <p:sldId id="274" r:id="rId12"/>
    <p:sldId id="288" r:id="rId13"/>
    <p:sldId id="263" r:id="rId14"/>
    <p:sldId id="289" r:id="rId15"/>
    <p:sldId id="290" r:id="rId16"/>
    <p:sldId id="291" r:id="rId17"/>
    <p:sldId id="292" r:id="rId18"/>
    <p:sldId id="293" r:id="rId19"/>
    <p:sldId id="294" r:id="rId20"/>
    <p:sldId id="316" r:id="rId21"/>
    <p:sldId id="295" r:id="rId22"/>
    <p:sldId id="296" r:id="rId23"/>
    <p:sldId id="297" r:id="rId24"/>
    <p:sldId id="298" r:id="rId25"/>
    <p:sldId id="276" r:id="rId26"/>
    <p:sldId id="277" r:id="rId27"/>
    <p:sldId id="278" r:id="rId28"/>
    <p:sldId id="279" r:id="rId29"/>
    <p:sldId id="275" r:id="rId30"/>
    <p:sldId id="280" r:id="rId31"/>
    <p:sldId id="281" r:id="rId32"/>
    <p:sldId id="282" r:id="rId33"/>
    <p:sldId id="299" r:id="rId34"/>
    <p:sldId id="300" r:id="rId35"/>
    <p:sldId id="301" r:id="rId36"/>
    <p:sldId id="283" r:id="rId37"/>
    <p:sldId id="286" r:id="rId38"/>
    <p:sldId id="317" r:id="rId39"/>
    <p:sldId id="303" r:id="rId40"/>
    <p:sldId id="287" r:id="rId41"/>
    <p:sldId id="304" r:id="rId42"/>
    <p:sldId id="284" r:id="rId43"/>
    <p:sldId id="305" r:id="rId44"/>
    <p:sldId id="306" r:id="rId45"/>
    <p:sldId id="313" r:id="rId46"/>
    <p:sldId id="264" r:id="rId47"/>
    <p:sldId id="315" r:id="rId48"/>
    <p:sldId id="1070" r:id="rId49"/>
    <p:sldId id="1071" r:id="rId50"/>
    <p:sldId id="1043" r:id="rId51"/>
    <p:sldId id="1044" r:id="rId52"/>
    <p:sldId id="1045" r:id="rId53"/>
    <p:sldId id="1046" r:id="rId54"/>
    <p:sldId id="1047" r:id="rId55"/>
    <p:sldId id="1050" r:id="rId56"/>
    <p:sldId id="1072" r:id="rId57"/>
    <p:sldId id="1073" r:id="rId58"/>
    <p:sldId id="424" r:id="rId59"/>
    <p:sldId id="425" r:id="rId60"/>
    <p:sldId id="427" r:id="rId61"/>
    <p:sldId id="428" r:id="rId62"/>
    <p:sldId id="429" r:id="rId63"/>
    <p:sldId id="430" r:id="rId64"/>
    <p:sldId id="431" r:id="rId65"/>
    <p:sldId id="432" r:id="rId66"/>
    <p:sldId id="433" r:id="rId67"/>
    <p:sldId id="434" r:id="rId68"/>
    <p:sldId id="435" r:id="rId69"/>
    <p:sldId id="436" r:id="rId70"/>
    <p:sldId id="437" r:id="rId71"/>
    <p:sldId id="438" r:id="rId72"/>
    <p:sldId id="439" r:id="rId73"/>
    <p:sldId id="440" r:id="rId74"/>
    <p:sldId id="441" r:id="rId75"/>
    <p:sldId id="442" r:id="rId76"/>
    <p:sldId id="443" r:id="rId77"/>
    <p:sldId id="444" r:id="rId78"/>
    <p:sldId id="445" r:id="rId79"/>
    <p:sldId id="446" r:id="rId80"/>
    <p:sldId id="447" r:id="rId81"/>
    <p:sldId id="269" r:id="rId82"/>
    <p:sldId id="1051" r:id="rId83"/>
    <p:sldId id="1052" r:id="rId84"/>
    <p:sldId id="1053" r:id="rId85"/>
    <p:sldId id="1054" r:id="rId86"/>
    <p:sldId id="1055" r:id="rId87"/>
    <p:sldId id="1057" r:id="rId88"/>
    <p:sldId id="1058" r:id="rId89"/>
    <p:sldId id="1059" r:id="rId90"/>
    <p:sldId id="1060" r:id="rId91"/>
    <p:sldId id="448" r:id="rId92"/>
    <p:sldId id="449" r:id="rId93"/>
    <p:sldId id="450" r:id="rId94"/>
    <p:sldId id="493" r:id="rId95"/>
    <p:sldId id="494" r:id="rId96"/>
    <p:sldId id="495" r:id="rId97"/>
    <p:sldId id="498" r:id="rId98"/>
    <p:sldId id="499" r:id="rId99"/>
    <p:sldId id="513" r:id="rId100"/>
    <p:sldId id="514" r:id="rId101"/>
    <p:sldId id="503" r:id="rId102"/>
    <p:sldId id="515" r:id="rId103"/>
    <p:sldId id="516" r:id="rId104"/>
    <p:sldId id="502" r:id="rId105"/>
    <p:sldId id="517" r:id="rId106"/>
    <p:sldId id="518" r:id="rId107"/>
    <p:sldId id="519" r:id="rId108"/>
    <p:sldId id="520" r:id="rId109"/>
    <p:sldId id="521" r:id="rId110"/>
    <p:sldId id="509" r:id="rId111"/>
    <p:sldId id="451" r:id="rId112"/>
    <p:sldId id="452" r:id="rId113"/>
    <p:sldId id="453" r:id="rId114"/>
    <p:sldId id="454" r:id="rId115"/>
    <p:sldId id="455" r:id="rId116"/>
    <p:sldId id="1062" r:id="rId117"/>
    <p:sldId id="1063" r:id="rId118"/>
    <p:sldId id="1064" r:id="rId119"/>
    <p:sldId id="259" r:id="rId120"/>
    <p:sldId id="262" r:id="rId121"/>
    <p:sldId id="260" r:id="rId122"/>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nejo de tablas con Python" id="{87FB4000-7BB0-B34B-A709-C149A5FE65CF}">
          <p14:sldIdLst>
            <p14:sldId id="256"/>
            <p14:sldId id="257"/>
          </p14:sldIdLst>
        </p14:section>
        <p14:section name="Estadística Descriptiva" id="{5F4E4D24-BF5B-1241-8292-7F01C4643015}">
          <p14:sldIdLst>
            <p14:sldId id="267"/>
            <p14:sldId id="268"/>
            <p14:sldId id="266"/>
            <p14:sldId id="270"/>
            <p14:sldId id="271"/>
            <p14:sldId id="272"/>
            <p14:sldId id="273"/>
            <p14:sldId id="274"/>
            <p14:sldId id="288"/>
            <p14:sldId id="263"/>
            <p14:sldId id="289"/>
            <p14:sldId id="290"/>
            <p14:sldId id="291"/>
            <p14:sldId id="292"/>
            <p14:sldId id="293"/>
            <p14:sldId id="294"/>
            <p14:sldId id="316"/>
            <p14:sldId id="295"/>
            <p14:sldId id="296"/>
            <p14:sldId id="297"/>
            <p14:sldId id="298"/>
            <p14:sldId id="276"/>
            <p14:sldId id="277"/>
            <p14:sldId id="278"/>
            <p14:sldId id="279"/>
            <p14:sldId id="275"/>
            <p14:sldId id="280"/>
            <p14:sldId id="281"/>
            <p14:sldId id="282"/>
            <p14:sldId id="299"/>
            <p14:sldId id="300"/>
            <p14:sldId id="301"/>
            <p14:sldId id="283"/>
            <p14:sldId id="286"/>
            <p14:sldId id="317"/>
            <p14:sldId id="303"/>
            <p14:sldId id="287"/>
            <p14:sldId id="304"/>
            <p14:sldId id="284"/>
            <p14:sldId id="305"/>
            <p14:sldId id="306"/>
            <p14:sldId id="313"/>
            <p14:sldId id="264"/>
            <p14:sldId id="315"/>
          </p14:sldIdLst>
        </p14:section>
        <p14:section name="Preprocesamiento de datos" id="{15D2EE88-0EE4-5E4A-B188-73EAA7825416}">
          <p14:sldIdLst>
            <p14:sldId id="1070"/>
            <p14:sldId id="1071"/>
            <p14:sldId id="1043"/>
            <p14:sldId id="1044"/>
            <p14:sldId id="1045"/>
            <p14:sldId id="1046"/>
            <p14:sldId id="1047"/>
            <p14:sldId id="1050"/>
            <p14:sldId id="1072"/>
            <p14:sldId id="1073"/>
            <p14:sldId id="424"/>
            <p14:sldId id="425"/>
            <p14:sldId id="427"/>
            <p14:sldId id="42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269"/>
            <p14:sldId id="1051"/>
            <p14:sldId id="1052"/>
            <p14:sldId id="1053"/>
            <p14:sldId id="1054"/>
            <p14:sldId id="1055"/>
            <p14:sldId id="1057"/>
            <p14:sldId id="1058"/>
            <p14:sldId id="1059"/>
            <p14:sldId id="1060"/>
            <p14:sldId id="448"/>
            <p14:sldId id="449"/>
            <p14:sldId id="450"/>
            <p14:sldId id="493"/>
            <p14:sldId id="494"/>
            <p14:sldId id="495"/>
            <p14:sldId id="498"/>
            <p14:sldId id="499"/>
            <p14:sldId id="513"/>
            <p14:sldId id="514"/>
            <p14:sldId id="503"/>
            <p14:sldId id="515"/>
            <p14:sldId id="516"/>
            <p14:sldId id="502"/>
            <p14:sldId id="517"/>
            <p14:sldId id="518"/>
            <p14:sldId id="519"/>
            <p14:sldId id="520"/>
            <p14:sldId id="521"/>
            <p14:sldId id="509"/>
            <p14:sldId id="451"/>
            <p14:sldId id="452"/>
            <p14:sldId id="453"/>
            <p14:sldId id="454"/>
            <p14:sldId id="455"/>
            <p14:sldId id="1062"/>
            <p14:sldId id="1063"/>
            <p14:sldId id="1064"/>
          </p14:sldIdLst>
        </p14:section>
        <p14:section name="Actividad 1 - Estadística Descriptiva" id="{9F4A8F55-9C5E-BF45-8B1B-A1D5353D9F51}">
          <p14:sldIdLst>
            <p14:sldId id="259"/>
            <p14:sldId id="262"/>
            <p14:sldId id="260"/>
          </p14:sldIdLst>
        </p14:section>
        <p14:section name="Actividad 2 - Trabajo Independiente" id="{F6C30204-63B9-354B-AD2D-A0FF588EA74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1905" autoAdjust="0"/>
  </p:normalViewPr>
  <p:slideViewPr>
    <p:cSldViewPr snapToGrid="0">
      <p:cViewPr varScale="1">
        <p:scale>
          <a:sx n="78" d="100"/>
          <a:sy n="78"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notesMaster" Target="notesMasters/notesMaster1.xml"/><Relationship Id="rId128" Type="http://schemas.microsoft.com/office/2016/11/relationships/changesInfo" Target="changesInfos/changesInfo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presProps" Target="presProps.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ázaro Bustio Martínez" userId="40a2716d-298b-429a-a0ab-e42e295773ea" providerId="ADAL" clId="{B51BB446-5362-491B-A00D-58186257F252}"/>
    <pc:docChg chg="custSel delSld modSld modSection">
      <pc:chgData name="Lázaro Bustio Martínez" userId="40a2716d-298b-429a-a0ab-e42e295773ea" providerId="ADAL" clId="{B51BB446-5362-491B-A00D-58186257F252}" dt="2023-02-07T00:32:01.672" v="39" actId="33524"/>
      <pc:docMkLst>
        <pc:docMk/>
      </pc:docMkLst>
      <pc:sldChg chg="modSp mod">
        <pc:chgData name="Lázaro Bustio Martínez" userId="40a2716d-298b-429a-a0ab-e42e295773ea" providerId="ADAL" clId="{B51BB446-5362-491B-A00D-58186257F252}" dt="2023-02-07T00:27:57.158" v="32" actId="20577"/>
        <pc:sldMkLst>
          <pc:docMk/>
          <pc:sldMk cId="743409814" sldId="257"/>
        </pc:sldMkLst>
        <pc:spChg chg="mod">
          <ac:chgData name="Lázaro Bustio Martínez" userId="40a2716d-298b-429a-a0ab-e42e295773ea" providerId="ADAL" clId="{B51BB446-5362-491B-A00D-58186257F252}" dt="2023-02-07T00:27:57.158" v="32" actId="20577"/>
          <ac:spMkLst>
            <pc:docMk/>
            <pc:sldMk cId="743409814" sldId="257"/>
            <ac:spMk id="3" creationId="{4060C38F-8746-47AB-AB7B-5896529B7352}"/>
          </ac:spMkLst>
        </pc:spChg>
      </pc:sldChg>
      <pc:sldChg chg="del">
        <pc:chgData name="Lázaro Bustio Martínez" userId="40a2716d-298b-429a-a0ab-e42e295773ea" providerId="ADAL" clId="{B51BB446-5362-491B-A00D-58186257F252}" dt="2023-02-07T00:28:25.585" v="33" actId="47"/>
        <pc:sldMkLst>
          <pc:docMk/>
          <pc:sldMk cId="3844230619" sldId="261"/>
        </pc:sldMkLst>
      </pc:sldChg>
      <pc:sldChg chg="mod modShow">
        <pc:chgData name="Lázaro Bustio Martínez" userId="40a2716d-298b-429a-a0ab-e42e295773ea" providerId="ADAL" clId="{B51BB446-5362-491B-A00D-58186257F252}" dt="2023-02-07T00:29:56.147" v="34" actId="729"/>
        <pc:sldMkLst>
          <pc:docMk/>
          <pc:sldMk cId="0" sldId="283"/>
        </pc:sldMkLst>
      </pc:sldChg>
      <pc:sldChg chg="mod modShow">
        <pc:chgData name="Lázaro Bustio Martínez" userId="40a2716d-298b-429a-a0ab-e42e295773ea" providerId="ADAL" clId="{B51BB446-5362-491B-A00D-58186257F252}" dt="2023-02-07T00:30:17.536" v="35" actId="729"/>
        <pc:sldMkLst>
          <pc:docMk/>
          <pc:sldMk cId="0" sldId="284"/>
        </pc:sldMkLst>
      </pc:sldChg>
      <pc:sldChg chg="mod modShow">
        <pc:chgData name="Lázaro Bustio Martínez" userId="40a2716d-298b-429a-a0ab-e42e295773ea" providerId="ADAL" clId="{B51BB446-5362-491B-A00D-58186257F252}" dt="2023-02-07T00:29:56.147" v="34" actId="729"/>
        <pc:sldMkLst>
          <pc:docMk/>
          <pc:sldMk cId="0" sldId="286"/>
        </pc:sldMkLst>
      </pc:sldChg>
      <pc:sldChg chg="mod modShow">
        <pc:chgData name="Lázaro Bustio Martínez" userId="40a2716d-298b-429a-a0ab-e42e295773ea" providerId="ADAL" clId="{B51BB446-5362-491B-A00D-58186257F252}" dt="2023-02-07T00:29:56.147" v="34" actId="729"/>
        <pc:sldMkLst>
          <pc:docMk/>
          <pc:sldMk cId="0" sldId="303"/>
        </pc:sldMkLst>
      </pc:sldChg>
      <pc:sldChg chg="mod modShow">
        <pc:chgData name="Lázaro Bustio Martínez" userId="40a2716d-298b-429a-a0ab-e42e295773ea" providerId="ADAL" clId="{B51BB446-5362-491B-A00D-58186257F252}" dt="2023-02-07T00:30:17.536" v="35" actId="729"/>
        <pc:sldMkLst>
          <pc:docMk/>
          <pc:sldMk cId="0" sldId="305"/>
        </pc:sldMkLst>
      </pc:sldChg>
      <pc:sldChg chg="mod modShow">
        <pc:chgData name="Lázaro Bustio Martínez" userId="40a2716d-298b-429a-a0ab-e42e295773ea" providerId="ADAL" clId="{B51BB446-5362-491B-A00D-58186257F252}" dt="2023-02-07T00:30:28.721" v="36" actId="729"/>
        <pc:sldMkLst>
          <pc:docMk/>
          <pc:sldMk cId="0" sldId="306"/>
        </pc:sldMkLst>
      </pc:sldChg>
      <pc:sldChg chg="mod modShow">
        <pc:chgData name="Lázaro Bustio Martínez" userId="40a2716d-298b-429a-a0ab-e42e295773ea" providerId="ADAL" clId="{B51BB446-5362-491B-A00D-58186257F252}" dt="2023-02-07T00:29:56.147" v="34" actId="729"/>
        <pc:sldMkLst>
          <pc:docMk/>
          <pc:sldMk cId="2737135416" sldId="317"/>
        </pc:sldMkLst>
      </pc:sldChg>
      <pc:sldChg chg="modSp mod">
        <pc:chgData name="Lázaro Bustio Martínez" userId="40a2716d-298b-429a-a0ab-e42e295773ea" providerId="ADAL" clId="{B51BB446-5362-491B-A00D-58186257F252}" dt="2023-02-07T00:32:01.672" v="39" actId="33524"/>
        <pc:sldMkLst>
          <pc:docMk/>
          <pc:sldMk cId="0" sldId="498"/>
        </pc:sldMkLst>
        <pc:spChg chg="mod">
          <ac:chgData name="Lázaro Bustio Martínez" userId="40a2716d-298b-429a-a0ab-e42e295773ea" providerId="ADAL" clId="{B51BB446-5362-491B-A00D-58186257F252}" dt="2023-02-07T00:32:01.672" v="39" actId="33524"/>
          <ac:spMkLst>
            <pc:docMk/>
            <pc:sldMk cId="0" sldId="498"/>
            <ac:spMk id="973827" creationId="{EE531181-9E9D-4F08-9EA0-5B10DD5598D2}"/>
          </ac:spMkLst>
        </pc:spChg>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diagrams/_rels/data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ata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ata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svg"/><Relationship Id="rId1" Type="http://schemas.openxmlformats.org/officeDocument/2006/relationships/image" Target="../media/image47.png"/><Relationship Id="rId4" Type="http://schemas.openxmlformats.org/officeDocument/2006/relationships/image" Target="../media/image50.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4" Type="http://schemas.openxmlformats.org/officeDocument/2006/relationships/image" Target="../media/image2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 Id="rId6" Type="http://schemas.openxmlformats.org/officeDocument/2006/relationships/image" Target="../media/image46.svg"/><Relationship Id="rId5" Type="http://schemas.openxmlformats.org/officeDocument/2006/relationships/image" Target="../media/image45.png"/><Relationship Id="rId4" Type="http://schemas.openxmlformats.org/officeDocument/2006/relationships/image" Target="../media/image44.svg"/></Relationships>
</file>

<file path=ppt/diagrams/_rels/drawing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svg"/><Relationship Id="rId1" Type="http://schemas.openxmlformats.org/officeDocument/2006/relationships/image" Target="../media/image47.png"/><Relationship Id="rId4" Type="http://schemas.openxmlformats.org/officeDocument/2006/relationships/image" Target="../media/image50.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3B07F1B-4A0E-430F-8B69-F68681A8D076}"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3BE72CE3-ED0C-454D-B797-DD0856E51EF3}">
      <dgm:prSet/>
      <dgm:spPr/>
      <dgm:t>
        <a:bodyPr/>
        <a:lstStyle/>
        <a:p>
          <a:r>
            <a:rPr lang="en-US"/>
            <a:t>Maximize insight into a dataset</a:t>
          </a:r>
        </a:p>
      </dgm:t>
    </dgm:pt>
    <dgm:pt modelId="{CDE57C10-B326-4182-B302-DA5916DAEB39}" type="parTrans" cxnId="{F6E8F5A0-F922-404E-970F-07F253AC50E0}">
      <dgm:prSet/>
      <dgm:spPr/>
      <dgm:t>
        <a:bodyPr/>
        <a:lstStyle/>
        <a:p>
          <a:endParaRPr lang="en-US"/>
        </a:p>
      </dgm:t>
    </dgm:pt>
    <dgm:pt modelId="{4AF5E5F6-4496-4FA0-8A82-BC8F908E02E3}" type="sibTrans" cxnId="{F6E8F5A0-F922-404E-970F-07F253AC50E0}">
      <dgm:prSet phldrT="01" phldr="0"/>
      <dgm:spPr/>
      <dgm:t>
        <a:bodyPr/>
        <a:lstStyle/>
        <a:p>
          <a:r>
            <a:rPr lang="en-US"/>
            <a:t>01</a:t>
          </a:r>
        </a:p>
      </dgm:t>
    </dgm:pt>
    <dgm:pt modelId="{F920B93B-A534-4CE4-BD05-473D75E2C236}">
      <dgm:prSet/>
      <dgm:spPr/>
      <dgm:t>
        <a:bodyPr/>
        <a:lstStyle/>
        <a:p>
          <a:r>
            <a:rPr lang="en-US"/>
            <a:t>Uncover underlying structure</a:t>
          </a:r>
        </a:p>
      </dgm:t>
    </dgm:pt>
    <dgm:pt modelId="{82DEC116-CEC8-474C-8AD9-50EB4F99C3E3}" type="parTrans" cxnId="{D2D85378-D789-4661-BDDA-03755AB1F306}">
      <dgm:prSet/>
      <dgm:spPr/>
      <dgm:t>
        <a:bodyPr/>
        <a:lstStyle/>
        <a:p>
          <a:endParaRPr lang="en-US"/>
        </a:p>
      </dgm:t>
    </dgm:pt>
    <dgm:pt modelId="{C8EF2C82-8B13-4D1F-8DBA-B3B4AEE14B67}" type="sibTrans" cxnId="{D2D85378-D789-4661-BDDA-03755AB1F306}">
      <dgm:prSet phldrT="02" phldr="0"/>
      <dgm:spPr/>
      <dgm:t>
        <a:bodyPr/>
        <a:lstStyle/>
        <a:p>
          <a:r>
            <a:rPr lang="en-US"/>
            <a:t>02</a:t>
          </a:r>
        </a:p>
      </dgm:t>
    </dgm:pt>
    <dgm:pt modelId="{6336E026-FE7B-4DDF-98DD-73A6BF075FDC}">
      <dgm:prSet/>
      <dgm:spPr/>
      <dgm:t>
        <a:bodyPr/>
        <a:lstStyle/>
        <a:p>
          <a:r>
            <a:rPr lang="en-US"/>
            <a:t>Extract important variables</a:t>
          </a:r>
        </a:p>
      </dgm:t>
    </dgm:pt>
    <dgm:pt modelId="{F0014C7D-5CAB-4F34-81DC-122C7F0B1E76}" type="parTrans" cxnId="{63AFAD7E-27A6-489F-AA59-004166197AE5}">
      <dgm:prSet/>
      <dgm:spPr/>
      <dgm:t>
        <a:bodyPr/>
        <a:lstStyle/>
        <a:p>
          <a:endParaRPr lang="en-US"/>
        </a:p>
      </dgm:t>
    </dgm:pt>
    <dgm:pt modelId="{4266AEF7-EFC7-49BF-A785-980C9F785116}" type="sibTrans" cxnId="{63AFAD7E-27A6-489F-AA59-004166197AE5}">
      <dgm:prSet phldrT="03" phldr="0"/>
      <dgm:spPr/>
      <dgm:t>
        <a:bodyPr/>
        <a:lstStyle/>
        <a:p>
          <a:r>
            <a:rPr lang="en-US"/>
            <a:t>03</a:t>
          </a:r>
        </a:p>
      </dgm:t>
    </dgm:pt>
    <dgm:pt modelId="{7675C24C-4070-43DC-94B9-5916F4B04C48}">
      <dgm:prSet/>
      <dgm:spPr/>
      <dgm:t>
        <a:bodyPr/>
        <a:lstStyle/>
        <a:p>
          <a:r>
            <a:rPr lang="en-US"/>
            <a:t>Detect outliers and anomalies</a:t>
          </a:r>
        </a:p>
      </dgm:t>
    </dgm:pt>
    <dgm:pt modelId="{B20B246E-4BE6-44A0-A234-0BB993115DAC}" type="parTrans" cxnId="{EFB69BB2-B85C-45FF-9A36-95C7C1DF6B6A}">
      <dgm:prSet/>
      <dgm:spPr/>
      <dgm:t>
        <a:bodyPr/>
        <a:lstStyle/>
        <a:p>
          <a:endParaRPr lang="en-US"/>
        </a:p>
      </dgm:t>
    </dgm:pt>
    <dgm:pt modelId="{45AB7AA5-87A5-4E14-AFAF-B48400941BC9}" type="sibTrans" cxnId="{EFB69BB2-B85C-45FF-9A36-95C7C1DF6B6A}">
      <dgm:prSet phldrT="04" phldr="0"/>
      <dgm:spPr/>
      <dgm:t>
        <a:bodyPr/>
        <a:lstStyle/>
        <a:p>
          <a:r>
            <a:rPr lang="en-US"/>
            <a:t>04</a:t>
          </a:r>
        </a:p>
      </dgm:t>
    </dgm:pt>
    <dgm:pt modelId="{FB46A88A-7D0B-4CF0-8C59-C72D169EE9C5}">
      <dgm:prSet/>
      <dgm:spPr/>
      <dgm:t>
        <a:bodyPr/>
        <a:lstStyle/>
        <a:p>
          <a:r>
            <a:rPr lang="en-US"/>
            <a:t>Test underlying assumptions</a:t>
          </a:r>
        </a:p>
      </dgm:t>
    </dgm:pt>
    <dgm:pt modelId="{7EC1C7EE-3DF4-4C14-95BB-C966144A7246}" type="parTrans" cxnId="{8CBDB0D6-3B1E-41A7-B461-61F230F80D79}">
      <dgm:prSet/>
      <dgm:spPr/>
      <dgm:t>
        <a:bodyPr/>
        <a:lstStyle/>
        <a:p>
          <a:endParaRPr lang="en-US"/>
        </a:p>
      </dgm:t>
    </dgm:pt>
    <dgm:pt modelId="{7144784F-2DCA-4546-908A-B11FE5B2BB90}" type="sibTrans" cxnId="{8CBDB0D6-3B1E-41A7-B461-61F230F80D79}">
      <dgm:prSet phldrT="05" phldr="0"/>
      <dgm:spPr/>
      <dgm:t>
        <a:bodyPr/>
        <a:lstStyle/>
        <a:p>
          <a:r>
            <a:rPr lang="en-US"/>
            <a:t>05</a:t>
          </a:r>
        </a:p>
      </dgm:t>
    </dgm:pt>
    <dgm:pt modelId="{33F26CCC-8A56-4C9D-B01F-7558239F3461}">
      <dgm:prSet/>
      <dgm:spPr/>
      <dgm:t>
        <a:bodyPr/>
        <a:lstStyle/>
        <a:p>
          <a:r>
            <a:rPr lang="en-US"/>
            <a:t>Develop valid models</a:t>
          </a:r>
        </a:p>
      </dgm:t>
    </dgm:pt>
    <dgm:pt modelId="{460CEE2F-5040-40B4-8B1C-1BFF7E60DE83}" type="parTrans" cxnId="{94F7BB5E-4631-4E7C-9E3C-13B201020CC2}">
      <dgm:prSet/>
      <dgm:spPr/>
      <dgm:t>
        <a:bodyPr/>
        <a:lstStyle/>
        <a:p>
          <a:endParaRPr lang="en-US"/>
        </a:p>
      </dgm:t>
    </dgm:pt>
    <dgm:pt modelId="{CB8737E7-5AF0-4701-841B-4498D3F160BD}" type="sibTrans" cxnId="{94F7BB5E-4631-4E7C-9E3C-13B201020CC2}">
      <dgm:prSet phldrT="06" phldr="0"/>
      <dgm:spPr/>
      <dgm:t>
        <a:bodyPr/>
        <a:lstStyle/>
        <a:p>
          <a:r>
            <a:rPr lang="en-US"/>
            <a:t>06</a:t>
          </a:r>
        </a:p>
      </dgm:t>
    </dgm:pt>
    <dgm:pt modelId="{9B418485-A75A-4E7B-BE25-2F630E0E24FF}">
      <dgm:prSet/>
      <dgm:spPr/>
      <dgm:t>
        <a:bodyPr/>
        <a:lstStyle/>
        <a:p>
          <a:r>
            <a:rPr lang="en-US"/>
            <a:t>Determine optimal factor settings (Xs)</a:t>
          </a:r>
        </a:p>
      </dgm:t>
    </dgm:pt>
    <dgm:pt modelId="{6A081741-2956-4993-9346-BC435955DDA6}" type="parTrans" cxnId="{B3A19B42-E062-41EF-8080-6D76376E767F}">
      <dgm:prSet/>
      <dgm:spPr/>
      <dgm:t>
        <a:bodyPr/>
        <a:lstStyle/>
        <a:p>
          <a:endParaRPr lang="en-US"/>
        </a:p>
      </dgm:t>
    </dgm:pt>
    <dgm:pt modelId="{533B8430-13B3-4999-88DA-E7DC0F30CC6F}" type="sibTrans" cxnId="{B3A19B42-E062-41EF-8080-6D76376E767F}">
      <dgm:prSet phldrT="07" phldr="0"/>
      <dgm:spPr/>
      <dgm:t>
        <a:bodyPr/>
        <a:lstStyle/>
        <a:p>
          <a:r>
            <a:rPr lang="en-US"/>
            <a:t>07</a:t>
          </a:r>
        </a:p>
      </dgm:t>
    </dgm:pt>
    <dgm:pt modelId="{4E51A7C2-FA02-46F1-8599-46D87F0431B5}" type="pres">
      <dgm:prSet presAssocID="{D3B07F1B-4A0E-430F-8B69-F68681A8D076}" presName="Name0" presStyleCnt="0">
        <dgm:presLayoutVars>
          <dgm:animLvl val="lvl"/>
          <dgm:resizeHandles val="exact"/>
        </dgm:presLayoutVars>
      </dgm:prSet>
      <dgm:spPr/>
    </dgm:pt>
    <dgm:pt modelId="{E238286E-04DA-4229-A693-A0665CDAFD0E}" type="pres">
      <dgm:prSet presAssocID="{3BE72CE3-ED0C-454D-B797-DD0856E51EF3}" presName="compositeNode" presStyleCnt="0">
        <dgm:presLayoutVars>
          <dgm:bulletEnabled val="1"/>
        </dgm:presLayoutVars>
      </dgm:prSet>
      <dgm:spPr/>
    </dgm:pt>
    <dgm:pt modelId="{9FABB4A1-831E-4718-BCCF-00E5490C2688}" type="pres">
      <dgm:prSet presAssocID="{3BE72CE3-ED0C-454D-B797-DD0856E51EF3}" presName="bgRect" presStyleLbl="alignNode1" presStyleIdx="0" presStyleCnt="7"/>
      <dgm:spPr/>
    </dgm:pt>
    <dgm:pt modelId="{A6021CF5-FD52-4C21-A066-2484EF87BF2D}" type="pres">
      <dgm:prSet presAssocID="{4AF5E5F6-4496-4FA0-8A82-BC8F908E02E3}" presName="sibTransNodeRect" presStyleLbl="alignNode1" presStyleIdx="0" presStyleCnt="7">
        <dgm:presLayoutVars>
          <dgm:chMax val="0"/>
          <dgm:bulletEnabled val="1"/>
        </dgm:presLayoutVars>
      </dgm:prSet>
      <dgm:spPr/>
    </dgm:pt>
    <dgm:pt modelId="{B3B74509-450F-40AC-A166-9A4665746E77}" type="pres">
      <dgm:prSet presAssocID="{3BE72CE3-ED0C-454D-B797-DD0856E51EF3}" presName="nodeRect" presStyleLbl="alignNode1" presStyleIdx="0" presStyleCnt="7">
        <dgm:presLayoutVars>
          <dgm:bulletEnabled val="1"/>
        </dgm:presLayoutVars>
      </dgm:prSet>
      <dgm:spPr/>
    </dgm:pt>
    <dgm:pt modelId="{33073EC6-AB28-4901-BF33-2D3163719DB9}" type="pres">
      <dgm:prSet presAssocID="{4AF5E5F6-4496-4FA0-8A82-BC8F908E02E3}" presName="sibTrans" presStyleCnt="0"/>
      <dgm:spPr/>
    </dgm:pt>
    <dgm:pt modelId="{30F3EB31-274D-47FE-9C3F-6701AEDB14FA}" type="pres">
      <dgm:prSet presAssocID="{F920B93B-A534-4CE4-BD05-473D75E2C236}" presName="compositeNode" presStyleCnt="0">
        <dgm:presLayoutVars>
          <dgm:bulletEnabled val="1"/>
        </dgm:presLayoutVars>
      </dgm:prSet>
      <dgm:spPr/>
    </dgm:pt>
    <dgm:pt modelId="{A3A8D0DF-CC8B-46C5-B94A-E3FFDE6C96B1}" type="pres">
      <dgm:prSet presAssocID="{F920B93B-A534-4CE4-BD05-473D75E2C236}" presName="bgRect" presStyleLbl="alignNode1" presStyleIdx="1" presStyleCnt="7"/>
      <dgm:spPr/>
    </dgm:pt>
    <dgm:pt modelId="{2DF7B9FD-156A-4166-A461-ED727A6688FC}" type="pres">
      <dgm:prSet presAssocID="{C8EF2C82-8B13-4D1F-8DBA-B3B4AEE14B67}" presName="sibTransNodeRect" presStyleLbl="alignNode1" presStyleIdx="1" presStyleCnt="7">
        <dgm:presLayoutVars>
          <dgm:chMax val="0"/>
          <dgm:bulletEnabled val="1"/>
        </dgm:presLayoutVars>
      </dgm:prSet>
      <dgm:spPr/>
    </dgm:pt>
    <dgm:pt modelId="{43C6CBE9-5904-42EA-8AEC-06716D913F36}" type="pres">
      <dgm:prSet presAssocID="{F920B93B-A534-4CE4-BD05-473D75E2C236}" presName="nodeRect" presStyleLbl="alignNode1" presStyleIdx="1" presStyleCnt="7">
        <dgm:presLayoutVars>
          <dgm:bulletEnabled val="1"/>
        </dgm:presLayoutVars>
      </dgm:prSet>
      <dgm:spPr/>
    </dgm:pt>
    <dgm:pt modelId="{38C28119-755D-46C9-83BF-02C110971864}" type="pres">
      <dgm:prSet presAssocID="{C8EF2C82-8B13-4D1F-8DBA-B3B4AEE14B67}" presName="sibTrans" presStyleCnt="0"/>
      <dgm:spPr/>
    </dgm:pt>
    <dgm:pt modelId="{B27C6A93-E45B-486D-96C1-40267D3D887A}" type="pres">
      <dgm:prSet presAssocID="{6336E026-FE7B-4DDF-98DD-73A6BF075FDC}" presName="compositeNode" presStyleCnt="0">
        <dgm:presLayoutVars>
          <dgm:bulletEnabled val="1"/>
        </dgm:presLayoutVars>
      </dgm:prSet>
      <dgm:spPr/>
    </dgm:pt>
    <dgm:pt modelId="{6A9683BB-C4A0-4AB2-BE46-7C4792CCB295}" type="pres">
      <dgm:prSet presAssocID="{6336E026-FE7B-4DDF-98DD-73A6BF075FDC}" presName="bgRect" presStyleLbl="alignNode1" presStyleIdx="2" presStyleCnt="7"/>
      <dgm:spPr/>
    </dgm:pt>
    <dgm:pt modelId="{3A618046-4B77-40AB-A3F4-6B050B81154F}" type="pres">
      <dgm:prSet presAssocID="{4266AEF7-EFC7-49BF-A785-980C9F785116}" presName="sibTransNodeRect" presStyleLbl="alignNode1" presStyleIdx="2" presStyleCnt="7">
        <dgm:presLayoutVars>
          <dgm:chMax val="0"/>
          <dgm:bulletEnabled val="1"/>
        </dgm:presLayoutVars>
      </dgm:prSet>
      <dgm:spPr/>
    </dgm:pt>
    <dgm:pt modelId="{C7AB0B1B-597D-4C02-A21F-6C57DB360B6A}" type="pres">
      <dgm:prSet presAssocID="{6336E026-FE7B-4DDF-98DD-73A6BF075FDC}" presName="nodeRect" presStyleLbl="alignNode1" presStyleIdx="2" presStyleCnt="7">
        <dgm:presLayoutVars>
          <dgm:bulletEnabled val="1"/>
        </dgm:presLayoutVars>
      </dgm:prSet>
      <dgm:spPr/>
    </dgm:pt>
    <dgm:pt modelId="{02CB5E8A-9ED1-46DA-B432-0F8B20491B0D}" type="pres">
      <dgm:prSet presAssocID="{4266AEF7-EFC7-49BF-A785-980C9F785116}" presName="sibTrans" presStyleCnt="0"/>
      <dgm:spPr/>
    </dgm:pt>
    <dgm:pt modelId="{075814B4-1C1B-42C4-A193-2528BBB65069}" type="pres">
      <dgm:prSet presAssocID="{7675C24C-4070-43DC-94B9-5916F4B04C48}" presName="compositeNode" presStyleCnt="0">
        <dgm:presLayoutVars>
          <dgm:bulletEnabled val="1"/>
        </dgm:presLayoutVars>
      </dgm:prSet>
      <dgm:spPr/>
    </dgm:pt>
    <dgm:pt modelId="{A7C8E9EA-E5DD-43F7-88EE-558D5BE1AE89}" type="pres">
      <dgm:prSet presAssocID="{7675C24C-4070-43DC-94B9-5916F4B04C48}" presName="bgRect" presStyleLbl="alignNode1" presStyleIdx="3" presStyleCnt="7"/>
      <dgm:spPr/>
    </dgm:pt>
    <dgm:pt modelId="{309C060F-7B19-4B23-A535-B355176D831F}" type="pres">
      <dgm:prSet presAssocID="{45AB7AA5-87A5-4E14-AFAF-B48400941BC9}" presName="sibTransNodeRect" presStyleLbl="alignNode1" presStyleIdx="3" presStyleCnt="7">
        <dgm:presLayoutVars>
          <dgm:chMax val="0"/>
          <dgm:bulletEnabled val="1"/>
        </dgm:presLayoutVars>
      </dgm:prSet>
      <dgm:spPr/>
    </dgm:pt>
    <dgm:pt modelId="{72440ECB-406A-498E-8FB3-E61EA3031AF3}" type="pres">
      <dgm:prSet presAssocID="{7675C24C-4070-43DC-94B9-5916F4B04C48}" presName="nodeRect" presStyleLbl="alignNode1" presStyleIdx="3" presStyleCnt="7">
        <dgm:presLayoutVars>
          <dgm:bulletEnabled val="1"/>
        </dgm:presLayoutVars>
      </dgm:prSet>
      <dgm:spPr/>
    </dgm:pt>
    <dgm:pt modelId="{DE405517-EF84-4A6B-B2F0-D1C095618532}" type="pres">
      <dgm:prSet presAssocID="{45AB7AA5-87A5-4E14-AFAF-B48400941BC9}" presName="sibTrans" presStyleCnt="0"/>
      <dgm:spPr/>
    </dgm:pt>
    <dgm:pt modelId="{34BE8E10-43B8-4BA0-8C82-0FCB26B64BDB}" type="pres">
      <dgm:prSet presAssocID="{FB46A88A-7D0B-4CF0-8C59-C72D169EE9C5}" presName="compositeNode" presStyleCnt="0">
        <dgm:presLayoutVars>
          <dgm:bulletEnabled val="1"/>
        </dgm:presLayoutVars>
      </dgm:prSet>
      <dgm:spPr/>
    </dgm:pt>
    <dgm:pt modelId="{1B4839EE-5B6E-4D85-A2FA-9C6592D546D1}" type="pres">
      <dgm:prSet presAssocID="{FB46A88A-7D0B-4CF0-8C59-C72D169EE9C5}" presName="bgRect" presStyleLbl="alignNode1" presStyleIdx="4" presStyleCnt="7"/>
      <dgm:spPr/>
    </dgm:pt>
    <dgm:pt modelId="{0A02390B-A9F6-4B37-A72D-EF38CD091DB4}" type="pres">
      <dgm:prSet presAssocID="{7144784F-2DCA-4546-908A-B11FE5B2BB90}" presName="sibTransNodeRect" presStyleLbl="alignNode1" presStyleIdx="4" presStyleCnt="7">
        <dgm:presLayoutVars>
          <dgm:chMax val="0"/>
          <dgm:bulletEnabled val="1"/>
        </dgm:presLayoutVars>
      </dgm:prSet>
      <dgm:spPr/>
    </dgm:pt>
    <dgm:pt modelId="{64E69619-D795-49A7-8456-8C0EB3651E6E}" type="pres">
      <dgm:prSet presAssocID="{FB46A88A-7D0B-4CF0-8C59-C72D169EE9C5}" presName="nodeRect" presStyleLbl="alignNode1" presStyleIdx="4" presStyleCnt="7">
        <dgm:presLayoutVars>
          <dgm:bulletEnabled val="1"/>
        </dgm:presLayoutVars>
      </dgm:prSet>
      <dgm:spPr/>
    </dgm:pt>
    <dgm:pt modelId="{E493DA8C-F049-44E3-809A-8841708BC033}" type="pres">
      <dgm:prSet presAssocID="{7144784F-2DCA-4546-908A-B11FE5B2BB90}" presName="sibTrans" presStyleCnt="0"/>
      <dgm:spPr/>
    </dgm:pt>
    <dgm:pt modelId="{DDA0A073-12B2-46AE-A422-7B85212D3633}" type="pres">
      <dgm:prSet presAssocID="{33F26CCC-8A56-4C9D-B01F-7558239F3461}" presName="compositeNode" presStyleCnt="0">
        <dgm:presLayoutVars>
          <dgm:bulletEnabled val="1"/>
        </dgm:presLayoutVars>
      </dgm:prSet>
      <dgm:spPr/>
    </dgm:pt>
    <dgm:pt modelId="{DC405963-D577-451B-B03F-A25D0E0B5CED}" type="pres">
      <dgm:prSet presAssocID="{33F26CCC-8A56-4C9D-B01F-7558239F3461}" presName="bgRect" presStyleLbl="alignNode1" presStyleIdx="5" presStyleCnt="7"/>
      <dgm:spPr/>
    </dgm:pt>
    <dgm:pt modelId="{95B488CA-915B-422B-995E-95B3E470C3E7}" type="pres">
      <dgm:prSet presAssocID="{CB8737E7-5AF0-4701-841B-4498D3F160BD}" presName="sibTransNodeRect" presStyleLbl="alignNode1" presStyleIdx="5" presStyleCnt="7">
        <dgm:presLayoutVars>
          <dgm:chMax val="0"/>
          <dgm:bulletEnabled val="1"/>
        </dgm:presLayoutVars>
      </dgm:prSet>
      <dgm:spPr/>
    </dgm:pt>
    <dgm:pt modelId="{8C9E867A-7B63-4827-AEED-9CB395F8A9DD}" type="pres">
      <dgm:prSet presAssocID="{33F26CCC-8A56-4C9D-B01F-7558239F3461}" presName="nodeRect" presStyleLbl="alignNode1" presStyleIdx="5" presStyleCnt="7">
        <dgm:presLayoutVars>
          <dgm:bulletEnabled val="1"/>
        </dgm:presLayoutVars>
      </dgm:prSet>
      <dgm:spPr/>
    </dgm:pt>
    <dgm:pt modelId="{66F57ECE-27AA-4952-8DC9-77171B61F8C2}" type="pres">
      <dgm:prSet presAssocID="{CB8737E7-5AF0-4701-841B-4498D3F160BD}" presName="sibTrans" presStyleCnt="0"/>
      <dgm:spPr/>
    </dgm:pt>
    <dgm:pt modelId="{2661D5AD-1DFC-4A66-9F6B-CF0566E6F0A8}" type="pres">
      <dgm:prSet presAssocID="{9B418485-A75A-4E7B-BE25-2F630E0E24FF}" presName="compositeNode" presStyleCnt="0">
        <dgm:presLayoutVars>
          <dgm:bulletEnabled val="1"/>
        </dgm:presLayoutVars>
      </dgm:prSet>
      <dgm:spPr/>
    </dgm:pt>
    <dgm:pt modelId="{EABC307E-1543-47EE-BA04-362623228A3E}" type="pres">
      <dgm:prSet presAssocID="{9B418485-A75A-4E7B-BE25-2F630E0E24FF}" presName="bgRect" presStyleLbl="alignNode1" presStyleIdx="6" presStyleCnt="7"/>
      <dgm:spPr/>
    </dgm:pt>
    <dgm:pt modelId="{DCCB3C2A-8E98-481B-9304-73581AC20FED}" type="pres">
      <dgm:prSet presAssocID="{533B8430-13B3-4999-88DA-E7DC0F30CC6F}" presName="sibTransNodeRect" presStyleLbl="alignNode1" presStyleIdx="6" presStyleCnt="7">
        <dgm:presLayoutVars>
          <dgm:chMax val="0"/>
          <dgm:bulletEnabled val="1"/>
        </dgm:presLayoutVars>
      </dgm:prSet>
      <dgm:spPr/>
    </dgm:pt>
    <dgm:pt modelId="{0790832D-97DC-411A-9AEA-0111AD7FA9D9}" type="pres">
      <dgm:prSet presAssocID="{9B418485-A75A-4E7B-BE25-2F630E0E24FF}" presName="nodeRect" presStyleLbl="alignNode1" presStyleIdx="6" presStyleCnt="7">
        <dgm:presLayoutVars>
          <dgm:bulletEnabled val="1"/>
        </dgm:presLayoutVars>
      </dgm:prSet>
      <dgm:spPr/>
    </dgm:pt>
  </dgm:ptLst>
  <dgm:cxnLst>
    <dgm:cxn modelId="{0CA50409-C983-4162-96C5-7100982B8362}" type="presOf" srcId="{CB8737E7-5AF0-4701-841B-4498D3F160BD}" destId="{95B488CA-915B-422B-995E-95B3E470C3E7}" srcOrd="0" destOrd="0" presId="urn:microsoft.com/office/officeart/2016/7/layout/LinearBlockProcessNumbered"/>
    <dgm:cxn modelId="{3BBCEA0D-A004-4559-83D7-36CEAA7CD311}" type="presOf" srcId="{7675C24C-4070-43DC-94B9-5916F4B04C48}" destId="{A7C8E9EA-E5DD-43F7-88EE-558D5BE1AE89}" srcOrd="0" destOrd="0" presId="urn:microsoft.com/office/officeart/2016/7/layout/LinearBlockProcessNumbered"/>
    <dgm:cxn modelId="{391B9311-74F8-485C-BC27-7C9B3FB8CF4B}" type="presOf" srcId="{7675C24C-4070-43DC-94B9-5916F4B04C48}" destId="{72440ECB-406A-498E-8FB3-E61EA3031AF3}" srcOrd="1" destOrd="0" presId="urn:microsoft.com/office/officeart/2016/7/layout/LinearBlockProcessNumbered"/>
    <dgm:cxn modelId="{057A4D17-8C52-4C76-8563-BE5421308E4C}" type="presOf" srcId="{C8EF2C82-8B13-4D1F-8DBA-B3B4AEE14B67}" destId="{2DF7B9FD-156A-4166-A461-ED727A6688FC}" srcOrd="0" destOrd="0" presId="urn:microsoft.com/office/officeart/2016/7/layout/LinearBlockProcessNumbered"/>
    <dgm:cxn modelId="{19A74C1E-9061-4FA2-BB6F-3315C9586141}" type="presOf" srcId="{D3B07F1B-4A0E-430F-8B69-F68681A8D076}" destId="{4E51A7C2-FA02-46F1-8599-46D87F0431B5}" srcOrd="0" destOrd="0" presId="urn:microsoft.com/office/officeart/2016/7/layout/LinearBlockProcessNumbered"/>
    <dgm:cxn modelId="{A0794020-F584-4D17-9DFF-C65860D3EF46}" type="presOf" srcId="{6336E026-FE7B-4DDF-98DD-73A6BF075FDC}" destId="{C7AB0B1B-597D-4C02-A21F-6C57DB360B6A}" srcOrd="1" destOrd="0" presId="urn:microsoft.com/office/officeart/2016/7/layout/LinearBlockProcessNumbered"/>
    <dgm:cxn modelId="{3CA17521-63D6-40CE-A1A8-F1D5BEAC838A}" type="presOf" srcId="{33F26CCC-8A56-4C9D-B01F-7558239F3461}" destId="{DC405963-D577-451B-B03F-A25D0E0B5CED}" srcOrd="0" destOrd="0" presId="urn:microsoft.com/office/officeart/2016/7/layout/LinearBlockProcessNumbered"/>
    <dgm:cxn modelId="{DD1DC23B-29F4-48B1-9F8F-C2CA18085728}" type="presOf" srcId="{33F26CCC-8A56-4C9D-B01F-7558239F3461}" destId="{8C9E867A-7B63-4827-AEED-9CB395F8A9DD}" srcOrd="1" destOrd="0" presId="urn:microsoft.com/office/officeart/2016/7/layout/LinearBlockProcessNumbered"/>
    <dgm:cxn modelId="{94F7BB5E-4631-4E7C-9E3C-13B201020CC2}" srcId="{D3B07F1B-4A0E-430F-8B69-F68681A8D076}" destId="{33F26CCC-8A56-4C9D-B01F-7558239F3461}" srcOrd="5" destOrd="0" parTransId="{460CEE2F-5040-40B4-8B1C-1BFF7E60DE83}" sibTransId="{CB8737E7-5AF0-4701-841B-4498D3F160BD}"/>
    <dgm:cxn modelId="{E472355F-9297-4B39-ABB1-1F7F720B0788}" type="presOf" srcId="{6336E026-FE7B-4DDF-98DD-73A6BF075FDC}" destId="{6A9683BB-C4A0-4AB2-BE46-7C4792CCB295}" srcOrd="0" destOrd="0" presId="urn:microsoft.com/office/officeart/2016/7/layout/LinearBlockProcessNumbered"/>
    <dgm:cxn modelId="{B3A19B42-E062-41EF-8080-6D76376E767F}" srcId="{D3B07F1B-4A0E-430F-8B69-F68681A8D076}" destId="{9B418485-A75A-4E7B-BE25-2F630E0E24FF}" srcOrd="6" destOrd="0" parTransId="{6A081741-2956-4993-9346-BC435955DDA6}" sibTransId="{533B8430-13B3-4999-88DA-E7DC0F30CC6F}"/>
    <dgm:cxn modelId="{0C41E547-A69A-442A-8382-3121007F7468}" type="presOf" srcId="{4266AEF7-EFC7-49BF-A785-980C9F785116}" destId="{3A618046-4B77-40AB-A3F4-6B050B81154F}" srcOrd="0" destOrd="0" presId="urn:microsoft.com/office/officeart/2016/7/layout/LinearBlockProcessNumbered"/>
    <dgm:cxn modelId="{3736CC48-6217-45EB-BF79-FA9C5D7D0F59}" type="presOf" srcId="{F920B93B-A534-4CE4-BD05-473D75E2C236}" destId="{A3A8D0DF-CC8B-46C5-B94A-E3FFDE6C96B1}" srcOrd="0" destOrd="0" presId="urn:microsoft.com/office/officeart/2016/7/layout/LinearBlockProcessNumbered"/>
    <dgm:cxn modelId="{A9396D6A-B77B-418C-AFB2-3563EA1F8E23}" type="presOf" srcId="{9B418485-A75A-4E7B-BE25-2F630E0E24FF}" destId="{EABC307E-1543-47EE-BA04-362623228A3E}" srcOrd="0" destOrd="0" presId="urn:microsoft.com/office/officeart/2016/7/layout/LinearBlockProcessNumbered"/>
    <dgm:cxn modelId="{C26E3A70-3BF5-4BAC-A2A3-C5AB084CCA34}" type="presOf" srcId="{FB46A88A-7D0B-4CF0-8C59-C72D169EE9C5}" destId="{64E69619-D795-49A7-8456-8C0EB3651E6E}" srcOrd="1" destOrd="0" presId="urn:microsoft.com/office/officeart/2016/7/layout/LinearBlockProcessNumbered"/>
    <dgm:cxn modelId="{985FED70-42DD-4266-9E99-64470B83E1B8}" type="presOf" srcId="{3BE72CE3-ED0C-454D-B797-DD0856E51EF3}" destId="{B3B74509-450F-40AC-A166-9A4665746E77}" srcOrd="1" destOrd="0" presId="urn:microsoft.com/office/officeart/2016/7/layout/LinearBlockProcessNumbered"/>
    <dgm:cxn modelId="{D2D85378-D789-4661-BDDA-03755AB1F306}" srcId="{D3B07F1B-4A0E-430F-8B69-F68681A8D076}" destId="{F920B93B-A534-4CE4-BD05-473D75E2C236}" srcOrd="1" destOrd="0" parTransId="{82DEC116-CEC8-474C-8AD9-50EB4F99C3E3}" sibTransId="{C8EF2C82-8B13-4D1F-8DBA-B3B4AEE14B67}"/>
    <dgm:cxn modelId="{7523B25A-628B-417C-A691-0F411C987262}" type="presOf" srcId="{7144784F-2DCA-4546-908A-B11FE5B2BB90}" destId="{0A02390B-A9F6-4B37-A72D-EF38CD091DB4}" srcOrd="0" destOrd="0" presId="urn:microsoft.com/office/officeart/2016/7/layout/LinearBlockProcessNumbered"/>
    <dgm:cxn modelId="{63AFAD7E-27A6-489F-AA59-004166197AE5}" srcId="{D3B07F1B-4A0E-430F-8B69-F68681A8D076}" destId="{6336E026-FE7B-4DDF-98DD-73A6BF075FDC}" srcOrd="2" destOrd="0" parTransId="{F0014C7D-5CAB-4F34-81DC-122C7F0B1E76}" sibTransId="{4266AEF7-EFC7-49BF-A785-980C9F785116}"/>
    <dgm:cxn modelId="{18CB6F8E-5ACD-4EC1-B685-1213AD32920E}" type="presOf" srcId="{45AB7AA5-87A5-4E14-AFAF-B48400941BC9}" destId="{309C060F-7B19-4B23-A535-B355176D831F}" srcOrd="0" destOrd="0" presId="urn:microsoft.com/office/officeart/2016/7/layout/LinearBlockProcessNumbered"/>
    <dgm:cxn modelId="{F6E8F5A0-F922-404E-970F-07F253AC50E0}" srcId="{D3B07F1B-4A0E-430F-8B69-F68681A8D076}" destId="{3BE72CE3-ED0C-454D-B797-DD0856E51EF3}" srcOrd="0" destOrd="0" parTransId="{CDE57C10-B326-4182-B302-DA5916DAEB39}" sibTransId="{4AF5E5F6-4496-4FA0-8A82-BC8F908E02E3}"/>
    <dgm:cxn modelId="{3CE430A6-6F66-4D03-AC06-3B66D93374FB}" type="presOf" srcId="{3BE72CE3-ED0C-454D-B797-DD0856E51EF3}" destId="{9FABB4A1-831E-4718-BCCF-00E5490C2688}" srcOrd="0" destOrd="0" presId="urn:microsoft.com/office/officeart/2016/7/layout/LinearBlockProcessNumbered"/>
    <dgm:cxn modelId="{EFB69BB2-B85C-45FF-9A36-95C7C1DF6B6A}" srcId="{D3B07F1B-4A0E-430F-8B69-F68681A8D076}" destId="{7675C24C-4070-43DC-94B9-5916F4B04C48}" srcOrd="3" destOrd="0" parTransId="{B20B246E-4BE6-44A0-A234-0BB993115DAC}" sibTransId="{45AB7AA5-87A5-4E14-AFAF-B48400941BC9}"/>
    <dgm:cxn modelId="{78A100C0-8511-401F-AAC0-39B9B8140000}" type="presOf" srcId="{9B418485-A75A-4E7B-BE25-2F630E0E24FF}" destId="{0790832D-97DC-411A-9AEA-0111AD7FA9D9}" srcOrd="1" destOrd="0" presId="urn:microsoft.com/office/officeart/2016/7/layout/LinearBlockProcessNumbered"/>
    <dgm:cxn modelId="{05F059C7-6DFE-424D-8744-A89B62EAA449}" type="presOf" srcId="{FB46A88A-7D0B-4CF0-8C59-C72D169EE9C5}" destId="{1B4839EE-5B6E-4D85-A2FA-9C6592D546D1}" srcOrd="0" destOrd="0" presId="urn:microsoft.com/office/officeart/2016/7/layout/LinearBlockProcessNumbered"/>
    <dgm:cxn modelId="{8CBDB0D6-3B1E-41A7-B461-61F230F80D79}" srcId="{D3B07F1B-4A0E-430F-8B69-F68681A8D076}" destId="{FB46A88A-7D0B-4CF0-8C59-C72D169EE9C5}" srcOrd="4" destOrd="0" parTransId="{7EC1C7EE-3DF4-4C14-95BB-C966144A7246}" sibTransId="{7144784F-2DCA-4546-908A-B11FE5B2BB90}"/>
    <dgm:cxn modelId="{A5C3CAE4-7D02-4B34-AEB2-EA8522607C7B}" type="presOf" srcId="{4AF5E5F6-4496-4FA0-8A82-BC8F908E02E3}" destId="{A6021CF5-FD52-4C21-A066-2484EF87BF2D}" srcOrd="0" destOrd="0" presId="urn:microsoft.com/office/officeart/2016/7/layout/LinearBlockProcessNumbered"/>
    <dgm:cxn modelId="{695C7AEB-4D7C-48CB-B696-C84165A1E63E}" type="presOf" srcId="{533B8430-13B3-4999-88DA-E7DC0F30CC6F}" destId="{DCCB3C2A-8E98-481B-9304-73581AC20FED}" srcOrd="0" destOrd="0" presId="urn:microsoft.com/office/officeart/2016/7/layout/LinearBlockProcessNumbered"/>
    <dgm:cxn modelId="{9670D1F2-7339-4C61-AC5D-EBF501C41710}" type="presOf" srcId="{F920B93B-A534-4CE4-BD05-473D75E2C236}" destId="{43C6CBE9-5904-42EA-8AEC-06716D913F36}" srcOrd="1" destOrd="0" presId="urn:microsoft.com/office/officeart/2016/7/layout/LinearBlockProcessNumbered"/>
    <dgm:cxn modelId="{6C6A834E-763B-4CD6-9140-600546ECD991}" type="presParOf" srcId="{4E51A7C2-FA02-46F1-8599-46D87F0431B5}" destId="{E238286E-04DA-4229-A693-A0665CDAFD0E}" srcOrd="0" destOrd="0" presId="urn:microsoft.com/office/officeart/2016/7/layout/LinearBlockProcessNumbered"/>
    <dgm:cxn modelId="{E2833629-128F-4648-987D-304A3031F425}" type="presParOf" srcId="{E238286E-04DA-4229-A693-A0665CDAFD0E}" destId="{9FABB4A1-831E-4718-BCCF-00E5490C2688}" srcOrd="0" destOrd="0" presId="urn:microsoft.com/office/officeart/2016/7/layout/LinearBlockProcessNumbered"/>
    <dgm:cxn modelId="{96644165-B347-44AF-B316-825FC182AE7B}" type="presParOf" srcId="{E238286E-04DA-4229-A693-A0665CDAFD0E}" destId="{A6021CF5-FD52-4C21-A066-2484EF87BF2D}" srcOrd="1" destOrd="0" presId="urn:microsoft.com/office/officeart/2016/7/layout/LinearBlockProcessNumbered"/>
    <dgm:cxn modelId="{6A738F70-22F2-4179-A569-8750ACB99162}" type="presParOf" srcId="{E238286E-04DA-4229-A693-A0665CDAFD0E}" destId="{B3B74509-450F-40AC-A166-9A4665746E77}" srcOrd="2" destOrd="0" presId="urn:microsoft.com/office/officeart/2016/7/layout/LinearBlockProcessNumbered"/>
    <dgm:cxn modelId="{10EDC2CD-BBFA-496C-8CEF-08151BAB92A0}" type="presParOf" srcId="{4E51A7C2-FA02-46F1-8599-46D87F0431B5}" destId="{33073EC6-AB28-4901-BF33-2D3163719DB9}" srcOrd="1" destOrd="0" presId="urn:microsoft.com/office/officeart/2016/7/layout/LinearBlockProcessNumbered"/>
    <dgm:cxn modelId="{CBF0F35B-D762-4800-8B1C-B395FE04C0EC}" type="presParOf" srcId="{4E51A7C2-FA02-46F1-8599-46D87F0431B5}" destId="{30F3EB31-274D-47FE-9C3F-6701AEDB14FA}" srcOrd="2" destOrd="0" presId="urn:microsoft.com/office/officeart/2016/7/layout/LinearBlockProcessNumbered"/>
    <dgm:cxn modelId="{134C83B4-2EEB-43CF-8158-3F87C778A185}" type="presParOf" srcId="{30F3EB31-274D-47FE-9C3F-6701AEDB14FA}" destId="{A3A8D0DF-CC8B-46C5-B94A-E3FFDE6C96B1}" srcOrd="0" destOrd="0" presId="urn:microsoft.com/office/officeart/2016/7/layout/LinearBlockProcessNumbered"/>
    <dgm:cxn modelId="{433D6F22-D30B-444D-9A58-A4A2CBA68ABC}" type="presParOf" srcId="{30F3EB31-274D-47FE-9C3F-6701AEDB14FA}" destId="{2DF7B9FD-156A-4166-A461-ED727A6688FC}" srcOrd="1" destOrd="0" presId="urn:microsoft.com/office/officeart/2016/7/layout/LinearBlockProcessNumbered"/>
    <dgm:cxn modelId="{48DD761C-FFC6-4DCA-B847-F0DAA0FE5685}" type="presParOf" srcId="{30F3EB31-274D-47FE-9C3F-6701AEDB14FA}" destId="{43C6CBE9-5904-42EA-8AEC-06716D913F36}" srcOrd="2" destOrd="0" presId="urn:microsoft.com/office/officeart/2016/7/layout/LinearBlockProcessNumbered"/>
    <dgm:cxn modelId="{9123AC13-C1B9-4E43-8A0E-FAD1D448B6F6}" type="presParOf" srcId="{4E51A7C2-FA02-46F1-8599-46D87F0431B5}" destId="{38C28119-755D-46C9-83BF-02C110971864}" srcOrd="3" destOrd="0" presId="urn:microsoft.com/office/officeart/2016/7/layout/LinearBlockProcessNumbered"/>
    <dgm:cxn modelId="{BDF7DE8A-222B-44EB-8F92-123A66FBFA76}" type="presParOf" srcId="{4E51A7C2-FA02-46F1-8599-46D87F0431B5}" destId="{B27C6A93-E45B-486D-96C1-40267D3D887A}" srcOrd="4" destOrd="0" presId="urn:microsoft.com/office/officeart/2016/7/layout/LinearBlockProcessNumbered"/>
    <dgm:cxn modelId="{67813E17-CA54-4F09-A469-D43758A2E13A}" type="presParOf" srcId="{B27C6A93-E45B-486D-96C1-40267D3D887A}" destId="{6A9683BB-C4A0-4AB2-BE46-7C4792CCB295}" srcOrd="0" destOrd="0" presId="urn:microsoft.com/office/officeart/2016/7/layout/LinearBlockProcessNumbered"/>
    <dgm:cxn modelId="{575847C7-5572-4C53-9268-D7A875577702}" type="presParOf" srcId="{B27C6A93-E45B-486D-96C1-40267D3D887A}" destId="{3A618046-4B77-40AB-A3F4-6B050B81154F}" srcOrd="1" destOrd="0" presId="urn:microsoft.com/office/officeart/2016/7/layout/LinearBlockProcessNumbered"/>
    <dgm:cxn modelId="{88C01B17-A168-4D9B-AF5E-95928903E992}" type="presParOf" srcId="{B27C6A93-E45B-486D-96C1-40267D3D887A}" destId="{C7AB0B1B-597D-4C02-A21F-6C57DB360B6A}" srcOrd="2" destOrd="0" presId="urn:microsoft.com/office/officeart/2016/7/layout/LinearBlockProcessNumbered"/>
    <dgm:cxn modelId="{6690CCF5-AAFE-4CD8-9477-14E30A794EC6}" type="presParOf" srcId="{4E51A7C2-FA02-46F1-8599-46D87F0431B5}" destId="{02CB5E8A-9ED1-46DA-B432-0F8B20491B0D}" srcOrd="5" destOrd="0" presId="urn:microsoft.com/office/officeart/2016/7/layout/LinearBlockProcessNumbered"/>
    <dgm:cxn modelId="{C4ADDE81-AF91-4E8B-BE74-A9BC99B7E01B}" type="presParOf" srcId="{4E51A7C2-FA02-46F1-8599-46D87F0431B5}" destId="{075814B4-1C1B-42C4-A193-2528BBB65069}" srcOrd="6" destOrd="0" presId="urn:microsoft.com/office/officeart/2016/7/layout/LinearBlockProcessNumbered"/>
    <dgm:cxn modelId="{EFBBD169-5232-4589-8C55-D7A980BF08A4}" type="presParOf" srcId="{075814B4-1C1B-42C4-A193-2528BBB65069}" destId="{A7C8E9EA-E5DD-43F7-88EE-558D5BE1AE89}" srcOrd="0" destOrd="0" presId="urn:microsoft.com/office/officeart/2016/7/layout/LinearBlockProcessNumbered"/>
    <dgm:cxn modelId="{397C3904-4A0F-4660-9ABC-7C86CB949AA0}" type="presParOf" srcId="{075814B4-1C1B-42C4-A193-2528BBB65069}" destId="{309C060F-7B19-4B23-A535-B355176D831F}" srcOrd="1" destOrd="0" presId="urn:microsoft.com/office/officeart/2016/7/layout/LinearBlockProcessNumbered"/>
    <dgm:cxn modelId="{B6C00FEF-8D28-4835-B893-7F7F47187592}" type="presParOf" srcId="{075814B4-1C1B-42C4-A193-2528BBB65069}" destId="{72440ECB-406A-498E-8FB3-E61EA3031AF3}" srcOrd="2" destOrd="0" presId="urn:microsoft.com/office/officeart/2016/7/layout/LinearBlockProcessNumbered"/>
    <dgm:cxn modelId="{55231488-8F61-427F-8D0B-7145777B2796}" type="presParOf" srcId="{4E51A7C2-FA02-46F1-8599-46D87F0431B5}" destId="{DE405517-EF84-4A6B-B2F0-D1C095618532}" srcOrd="7" destOrd="0" presId="urn:microsoft.com/office/officeart/2016/7/layout/LinearBlockProcessNumbered"/>
    <dgm:cxn modelId="{7A1DCA3E-B69B-478E-B723-7768468E3A76}" type="presParOf" srcId="{4E51A7C2-FA02-46F1-8599-46D87F0431B5}" destId="{34BE8E10-43B8-4BA0-8C82-0FCB26B64BDB}" srcOrd="8" destOrd="0" presId="urn:microsoft.com/office/officeart/2016/7/layout/LinearBlockProcessNumbered"/>
    <dgm:cxn modelId="{218C08F1-29BB-46AF-A2E2-5C1A443FA99D}" type="presParOf" srcId="{34BE8E10-43B8-4BA0-8C82-0FCB26B64BDB}" destId="{1B4839EE-5B6E-4D85-A2FA-9C6592D546D1}" srcOrd="0" destOrd="0" presId="urn:microsoft.com/office/officeart/2016/7/layout/LinearBlockProcessNumbered"/>
    <dgm:cxn modelId="{494DB23F-FC47-4779-A0E9-9A8C147209D0}" type="presParOf" srcId="{34BE8E10-43B8-4BA0-8C82-0FCB26B64BDB}" destId="{0A02390B-A9F6-4B37-A72D-EF38CD091DB4}" srcOrd="1" destOrd="0" presId="urn:microsoft.com/office/officeart/2016/7/layout/LinearBlockProcessNumbered"/>
    <dgm:cxn modelId="{045EFF98-3F1A-48B2-805D-13D1A3316C59}" type="presParOf" srcId="{34BE8E10-43B8-4BA0-8C82-0FCB26B64BDB}" destId="{64E69619-D795-49A7-8456-8C0EB3651E6E}" srcOrd="2" destOrd="0" presId="urn:microsoft.com/office/officeart/2016/7/layout/LinearBlockProcessNumbered"/>
    <dgm:cxn modelId="{1C339365-5E69-4AB5-9007-668F29D1CFCB}" type="presParOf" srcId="{4E51A7C2-FA02-46F1-8599-46D87F0431B5}" destId="{E493DA8C-F049-44E3-809A-8841708BC033}" srcOrd="9" destOrd="0" presId="urn:microsoft.com/office/officeart/2016/7/layout/LinearBlockProcessNumbered"/>
    <dgm:cxn modelId="{B1024473-A4D8-4981-AF68-32E3F7264540}" type="presParOf" srcId="{4E51A7C2-FA02-46F1-8599-46D87F0431B5}" destId="{DDA0A073-12B2-46AE-A422-7B85212D3633}" srcOrd="10" destOrd="0" presId="urn:microsoft.com/office/officeart/2016/7/layout/LinearBlockProcessNumbered"/>
    <dgm:cxn modelId="{18B8C337-2215-494F-A927-3A3CB991A133}" type="presParOf" srcId="{DDA0A073-12B2-46AE-A422-7B85212D3633}" destId="{DC405963-D577-451B-B03F-A25D0E0B5CED}" srcOrd="0" destOrd="0" presId="urn:microsoft.com/office/officeart/2016/7/layout/LinearBlockProcessNumbered"/>
    <dgm:cxn modelId="{65D813E9-DA89-4BCA-9B4B-7F4FE9A61878}" type="presParOf" srcId="{DDA0A073-12B2-46AE-A422-7B85212D3633}" destId="{95B488CA-915B-422B-995E-95B3E470C3E7}" srcOrd="1" destOrd="0" presId="urn:microsoft.com/office/officeart/2016/7/layout/LinearBlockProcessNumbered"/>
    <dgm:cxn modelId="{4A269D50-695C-4062-A50F-11EB2830753D}" type="presParOf" srcId="{DDA0A073-12B2-46AE-A422-7B85212D3633}" destId="{8C9E867A-7B63-4827-AEED-9CB395F8A9DD}" srcOrd="2" destOrd="0" presId="urn:microsoft.com/office/officeart/2016/7/layout/LinearBlockProcessNumbered"/>
    <dgm:cxn modelId="{A44B2FB6-66A2-4E99-A968-9A58B5CD480F}" type="presParOf" srcId="{4E51A7C2-FA02-46F1-8599-46D87F0431B5}" destId="{66F57ECE-27AA-4952-8DC9-77171B61F8C2}" srcOrd="11" destOrd="0" presId="urn:microsoft.com/office/officeart/2016/7/layout/LinearBlockProcessNumbered"/>
    <dgm:cxn modelId="{7157732D-A503-4B0C-AA9C-731C4AC286B8}" type="presParOf" srcId="{4E51A7C2-FA02-46F1-8599-46D87F0431B5}" destId="{2661D5AD-1DFC-4A66-9F6B-CF0566E6F0A8}" srcOrd="12" destOrd="0" presId="urn:microsoft.com/office/officeart/2016/7/layout/LinearBlockProcessNumbered"/>
    <dgm:cxn modelId="{06D86E0F-4DA2-47C0-A1C6-99F0959BAD17}" type="presParOf" srcId="{2661D5AD-1DFC-4A66-9F6B-CF0566E6F0A8}" destId="{EABC307E-1543-47EE-BA04-362623228A3E}" srcOrd="0" destOrd="0" presId="urn:microsoft.com/office/officeart/2016/7/layout/LinearBlockProcessNumbered"/>
    <dgm:cxn modelId="{AB5A9781-2C4B-4E34-9311-DC492951C0C0}" type="presParOf" srcId="{2661D5AD-1DFC-4A66-9F6B-CF0566E6F0A8}" destId="{DCCB3C2A-8E98-481B-9304-73581AC20FED}" srcOrd="1" destOrd="0" presId="urn:microsoft.com/office/officeart/2016/7/layout/LinearBlockProcessNumbered"/>
    <dgm:cxn modelId="{3D11C756-C3D1-4396-823C-D26729A5879E}" type="presParOf" srcId="{2661D5AD-1DFC-4A66-9F6B-CF0566E6F0A8}" destId="{0790832D-97DC-411A-9AEA-0111AD7FA9D9}"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FDB2E3-EBB7-4BD2-A364-83AAFC3AA114}"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s-MX"/>
        </a:p>
      </dgm:t>
    </dgm:pt>
    <dgm:pt modelId="{72203E93-6B13-4C0A-87EC-68D92B60ED8A}">
      <dgm:prSet/>
      <dgm:spPr/>
      <dgm:t>
        <a:bodyPr/>
        <a:lstStyle/>
        <a:p>
          <a:pPr>
            <a:lnSpc>
              <a:spcPct val="100000"/>
            </a:lnSpc>
            <a:defRPr b="1"/>
          </a:pPr>
          <a:r>
            <a:rPr lang="en-US"/>
            <a:t>Generate good research questions</a:t>
          </a:r>
          <a:endParaRPr lang="es-MX"/>
        </a:p>
      </dgm:t>
    </dgm:pt>
    <dgm:pt modelId="{8C79BFF2-141A-40CA-9CD9-3398ED43876E}" type="parTrans" cxnId="{A1B87AA8-A709-4EB2-BDA1-00885278C0E3}">
      <dgm:prSet/>
      <dgm:spPr/>
      <dgm:t>
        <a:bodyPr/>
        <a:lstStyle/>
        <a:p>
          <a:endParaRPr lang="es-MX"/>
        </a:p>
      </dgm:t>
    </dgm:pt>
    <dgm:pt modelId="{02B14C79-3C72-4752-B68F-F1AC4C5AF67C}" type="sibTrans" cxnId="{A1B87AA8-A709-4EB2-BDA1-00885278C0E3}">
      <dgm:prSet/>
      <dgm:spPr/>
      <dgm:t>
        <a:bodyPr/>
        <a:lstStyle/>
        <a:p>
          <a:endParaRPr lang="es-MX"/>
        </a:p>
      </dgm:t>
    </dgm:pt>
    <dgm:pt modelId="{38D05957-5281-4A8D-9B78-3A74CC5CC493}">
      <dgm:prSet/>
      <dgm:spPr/>
      <dgm:t>
        <a:bodyPr/>
        <a:lstStyle/>
        <a:p>
          <a:pPr>
            <a:lnSpc>
              <a:spcPct val="100000"/>
            </a:lnSpc>
            <a:defRPr b="1"/>
          </a:pPr>
          <a:r>
            <a:rPr lang="en-US"/>
            <a:t>Data restructuring: You may need to make new variables from the existing ones.</a:t>
          </a:r>
          <a:endParaRPr lang="es-MX"/>
        </a:p>
      </dgm:t>
    </dgm:pt>
    <dgm:pt modelId="{90E82C5B-C8D4-4048-926B-2D2FBD80ADC0}" type="parTrans" cxnId="{1043DC4B-4621-4EAD-9AB8-C22828411F44}">
      <dgm:prSet/>
      <dgm:spPr/>
      <dgm:t>
        <a:bodyPr/>
        <a:lstStyle/>
        <a:p>
          <a:endParaRPr lang="es-MX"/>
        </a:p>
      </dgm:t>
    </dgm:pt>
    <dgm:pt modelId="{A471EFBD-DF11-4B14-A42D-425E5A29CEF1}" type="sibTrans" cxnId="{1043DC4B-4621-4EAD-9AB8-C22828411F44}">
      <dgm:prSet/>
      <dgm:spPr/>
      <dgm:t>
        <a:bodyPr/>
        <a:lstStyle/>
        <a:p>
          <a:endParaRPr lang="es-MX"/>
        </a:p>
      </dgm:t>
    </dgm:pt>
    <dgm:pt modelId="{1BA60500-7096-4A68-AC28-DE037D6019D7}">
      <dgm:prSet/>
      <dgm:spPr/>
      <dgm:t>
        <a:bodyPr/>
        <a:lstStyle/>
        <a:p>
          <a:pPr>
            <a:lnSpc>
              <a:spcPct val="100000"/>
            </a:lnSpc>
          </a:pPr>
          <a:r>
            <a:rPr lang="en-US" dirty="0"/>
            <a:t>Instead of using two variables, obtaining rates or percentages of them</a:t>
          </a:r>
          <a:endParaRPr lang="es-MX" dirty="0"/>
        </a:p>
      </dgm:t>
    </dgm:pt>
    <dgm:pt modelId="{7F5E6421-623F-41C3-BAFE-DCA67A2862C8}" type="parTrans" cxnId="{8126D009-4465-4142-B9CC-2902C0423171}">
      <dgm:prSet/>
      <dgm:spPr/>
      <dgm:t>
        <a:bodyPr/>
        <a:lstStyle/>
        <a:p>
          <a:endParaRPr lang="es-MX"/>
        </a:p>
      </dgm:t>
    </dgm:pt>
    <dgm:pt modelId="{FEF32A81-E57D-4BEE-B9D8-597543572094}" type="sibTrans" cxnId="{8126D009-4465-4142-B9CC-2902C0423171}">
      <dgm:prSet/>
      <dgm:spPr/>
      <dgm:t>
        <a:bodyPr/>
        <a:lstStyle/>
        <a:p>
          <a:endParaRPr lang="es-MX"/>
        </a:p>
      </dgm:t>
    </dgm:pt>
    <dgm:pt modelId="{04FE0E57-294A-49BE-B3E7-AECB6287D0C9}">
      <dgm:prSet/>
      <dgm:spPr/>
      <dgm:t>
        <a:bodyPr/>
        <a:lstStyle/>
        <a:p>
          <a:pPr>
            <a:lnSpc>
              <a:spcPct val="100000"/>
            </a:lnSpc>
          </a:pPr>
          <a:r>
            <a:rPr lang="en-US"/>
            <a:t>Creating dummy variables for categorical variables</a:t>
          </a:r>
          <a:endParaRPr lang="es-MX"/>
        </a:p>
      </dgm:t>
    </dgm:pt>
    <dgm:pt modelId="{23775A38-ED50-47B0-8BF6-AD10D016928C}" type="parTrans" cxnId="{EA0E4FA8-AFAD-4715-9015-615A7B3FB461}">
      <dgm:prSet/>
      <dgm:spPr/>
      <dgm:t>
        <a:bodyPr/>
        <a:lstStyle/>
        <a:p>
          <a:endParaRPr lang="es-MX"/>
        </a:p>
      </dgm:t>
    </dgm:pt>
    <dgm:pt modelId="{96BBBDF1-EDBE-4B41-B7E6-B8C49B063C3E}" type="sibTrans" cxnId="{EA0E4FA8-AFAD-4715-9015-615A7B3FB461}">
      <dgm:prSet/>
      <dgm:spPr/>
      <dgm:t>
        <a:bodyPr/>
        <a:lstStyle/>
        <a:p>
          <a:endParaRPr lang="es-MX"/>
        </a:p>
      </dgm:t>
    </dgm:pt>
    <dgm:pt modelId="{1A56450A-9B9E-4EF7-94BB-0D4CFDFE170D}">
      <dgm:prSet/>
      <dgm:spPr/>
      <dgm:t>
        <a:bodyPr/>
        <a:lstStyle/>
        <a:p>
          <a:pPr>
            <a:lnSpc>
              <a:spcPct val="100000"/>
            </a:lnSpc>
            <a:defRPr b="1"/>
          </a:pPr>
          <a:r>
            <a:rPr lang="en-US"/>
            <a:t>Based on the research questions, use appropriate graphical tools and obtain descriptive statistics. Try to understand the data structure, relationships, anomalies, unexpected behaviors.</a:t>
          </a:r>
          <a:endParaRPr lang="es-MX"/>
        </a:p>
      </dgm:t>
    </dgm:pt>
    <dgm:pt modelId="{478E7D07-FC40-43F7-8633-8C4B561D120F}" type="parTrans" cxnId="{42F9AA83-A07B-497F-A836-53A515A39BDC}">
      <dgm:prSet/>
      <dgm:spPr/>
      <dgm:t>
        <a:bodyPr/>
        <a:lstStyle/>
        <a:p>
          <a:endParaRPr lang="es-MX"/>
        </a:p>
      </dgm:t>
    </dgm:pt>
    <dgm:pt modelId="{542329DC-F04D-4C1A-9246-43AAD6D4311A}" type="sibTrans" cxnId="{42F9AA83-A07B-497F-A836-53A515A39BDC}">
      <dgm:prSet/>
      <dgm:spPr/>
      <dgm:t>
        <a:bodyPr/>
        <a:lstStyle/>
        <a:p>
          <a:endParaRPr lang="es-MX"/>
        </a:p>
      </dgm:t>
    </dgm:pt>
    <dgm:pt modelId="{6D257259-21FA-4B01-B7E4-6AE28B0A9CC0}">
      <dgm:prSet/>
      <dgm:spPr/>
      <dgm:t>
        <a:bodyPr/>
        <a:lstStyle/>
        <a:p>
          <a:pPr>
            <a:lnSpc>
              <a:spcPct val="100000"/>
            </a:lnSpc>
            <a:defRPr b="1"/>
          </a:pPr>
          <a:r>
            <a:rPr lang="en-US"/>
            <a:t>Try to identify confounding variables, interaction relations and multicollinearity, if any.</a:t>
          </a:r>
          <a:endParaRPr lang="es-MX"/>
        </a:p>
      </dgm:t>
    </dgm:pt>
    <dgm:pt modelId="{2D23849B-7431-48E8-A4D9-677657F22763}" type="parTrans" cxnId="{18C56D5F-3434-459F-B50F-245F22AD0B47}">
      <dgm:prSet/>
      <dgm:spPr/>
      <dgm:t>
        <a:bodyPr/>
        <a:lstStyle/>
        <a:p>
          <a:endParaRPr lang="es-MX"/>
        </a:p>
      </dgm:t>
    </dgm:pt>
    <dgm:pt modelId="{C4DDBBAF-D1D6-490B-A2AA-6AF9BE9FA118}" type="sibTrans" cxnId="{18C56D5F-3434-459F-B50F-245F22AD0B47}">
      <dgm:prSet/>
      <dgm:spPr/>
      <dgm:t>
        <a:bodyPr/>
        <a:lstStyle/>
        <a:p>
          <a:endParaRPr lang="es-MX"/>
        </a:p>
      </dgm:t>
    </dgm:pt>
    <dgm:pt modelId="{036C8030-EC99-4995-BBE7-78E48F0299F0}">
      <dgm:prSet/>
      <dgm:spPr/>
      <dgm:t>
        <a:bodyPr/>
        <a:lstStyle/>
        <a:p>
          <a:pPr>
            <a:lnSpc>
              <a:spcPct val="100000"/>
            </a:lnSpc>
            <a:defRPr b="1"/>
          </a:pPr>
          <a:r>
            <a:rPr lang="en-US"/>
            <a:t>Handle missing observations</a:t>
          </a:r>
          <a:endParaRPr lang="es-MX"/>
        </a:p>
      </dgm:t>
    </dgm:pt>
    <dgm:pt modelId="{C8D167FC-BD5A-442A-885D-8137846FF946}" type="parTrans" cxnId="{B4DABA11-2E65-4AA6-B5ED-9378B5E4702B}">
      <dgm:prSet/>
      <dgm:spPr/>
      <dgm:t>
        <a:bodyPr/>
        <a:lstStyle/>
        <a:p>
          <a:endParaRPr lang="es-MX"/>
        </a:p>
      </dgm:t>
    </dgm:pt>
    <dgm:pt modelId="{B125A95F-4058-4F3E-B4F0-419312321F8E}" type="sibTrans" cxnId="{B4DABA11-2E65-4AA6-B5ED-9378B5E4702B}">
      <dgm:prSet/>
      <dgm:spPr/>
      <dgm:t>
        <a:bodyPr/>
        <a:lstStyle/>
        <a:p>
          <a:endParaRPr lang="es-MX"/>
        </a:p>
      </dgm:t>
    </dgm:pt>
    <dgm:pt modelId="{DECCC884-335E-4A8F-ADC7-9E425CF6D7DF}">
      <dgm:prSet/>
      <dgm:spPr/>
      <dgm:t>
        <a:bodyPr/>
        <a:lstStyle/>
        <a:p>
          <a:pPr>
            <a:lnSpc>
              <a:spcPct val="100000"/>
            </a:lnSpc>
            <a:defRPr b="1"/>
          </a:pPr>
          <a:r>
            <a:rPr lang="en-US"/>
            <a:t>Decide on the need of transformation (on response and/or explanatory variables).</a:t>
          </a:r>
          <a:endParaRPr lang="es-MX"/>
        </a:p>
      </dgm:t>
    </dgm:pt>
    <dgm:pt modelId="{60C5A756-67EC-42C9-BB33-3969163C42E1}" type="parTrans" cxnId="{DF21FBB5-846B-416D-9306-C61EE0F2CE61}">
      <dgm:prSet/>
      <dgm:spPr/>
      <dgm:t>
        <a:bodyPr/>
        <a:lstStyle/>
        <a:p>
          <a:endParaRPr lang="es-MX"/>
        </a:p>
      </dgm:t>
    </dgm:pt>
    <dgm:pt modelId="{7D369B0D-08C2-411F-B253-3A45D3E83B39}" type="sibTrans" cxnId="{DF21FBB5-846B-416D-9306-C61EE0F2CE61}">
      <dgm:prSet/>
      <dgm:spPr/>
      <dgm:t>
        <a:bodyPr/>
        <a:lstStyle/>
        <a:p>
          <a:endParaRPr lang="es-MX"/>
        </a:p>
      </dgm:t>
    </dgm:pt>
    <dgm:pt modelId="{E5C00111-6E3E-40BF-BEF2-D2A5BE3F6DE1}">
      <dgm:prSet/>
      <dgm:spPr/>
      <dgm:t>
        <a:bodyPr/>
        <a:lstStyle/>
        <a:p>
          <a:pPr>
            <a:lnSpc>
              <a:spcPct val="100000"/>
            </a:lnSpc>
            <a:defRPr b="1"/>
          </a:pPr>
          <a:r>
            <a:rPr lang="en-US"/>
            <a:t>Decide on the hypothesis based on your research questions</a:t>
          </a:r>
          <a:endParaRPr lang="es-MX"/>
        </a:p>
      </dgm:t>
    </dgm:pt>
    <dgm:pt modelId="{18FAE120-8CD7-43C9-A4A6-F31BAA97BE47}" type="parTrans" cxnId="{9800A84F-BEE0-4B6A-846D-24A69E800EFD}">
      <dgm:prSet/>
      <dgm:spPr/>
      <dgm:t>
        <a:bodyPr/>
        <a:lstStyle/>
        <a:p>
          <a:endParaRPr lang="es-MX"/>
        </a:p>
      </dgm:t>
    </dgm:pt>
    <dgm:pt modelId="{AB9D1955-FBC4-4152-BFE6-8BD31429E349}" type="sibTrans" cxnId="{9800A84F-BEE0-4B6A-846D-24A69E800EFD}">
      <dgm:prSet/>
      <dgm:spPr/>
      <dgm:t>
        <a:bodyPr/>
        <a:lstStyle/>
        <a:p>
          <a:endParaRPr lang="es-MX"/>
        </a:p>
      </dgm:t>
    </dgm:pt>
    <dgm:pt modelId="{B6ACC4FE-EEA9-49E9-9E3A-AEF655063FE7}" type="pres">
      <dgm:prSet presAssocID="{3DFDB2E3-EBB7-4BD2-A364-83AAFC3AA114}" presName="root" presStyleCnt="0">
        <dgm:presLayoutVars>
          <dgm:dir/>
          <dgm:resizeHandles val="exact"/>
        </dgm:presLayoutVars>
      </dgm:prSet>
      <dgm:spPr/>
    </dgm:pt>
    <dgm:pt modelId="{17575170-6682-4676-9463-71155D66E76F}" type="pres">
      <dgm:prSet presAssocID="{72203E93-6B13-4C0A-87EC-68D92B60ED8A}" presName="compNode" presStyleCnt="0"/>
      <dgm:spPr/>
    </dgm:pt>
    <dgm:pt modelId="{5649502B-6253-42E3-861F-4FF019778199}" type="pres">
      <dgm:prSet presAssocID="{72203E93-6B13-4C0A-87EC-68D92B60ED8A}"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p"/>
        </a:ext>
      </dgm:extLst>
    </dgm:pt>
    <dgm:pt modelId="{4E3EEBD5-8275-4F8F-A15A-390AECB8DAF3}" type="pres">
      <dgm:prSet presAssocID="{72203E93-6B13-4C0A-87EC-68D92B60ED8A}" presName="iconSpace" presStyleCnt="0"/>
      <dgm:spPr/>
    </dgm:pt>
    <dgm:pt modelId="{FB5C8BAB-41AA-4C4F-BB66-DC51BCDF6E26}" type="pres">
      <dgm:prSet presAssocID="{72203E93-6B13-4C0A-87EC-68D92B60ED8A}" presName="parTx" presStyleLbl="revTx" presStyleIdx="0" presStyleCnt="14">
        <dgm:presLayoutVars>
          <dgm:chMax val="0"/>
          <dgm:chPref val="0"/>
        </dgm:presLayoutVars>
      </dgm:prSet>
      <dgm:spPr/>
    </dgm:pt>
    <dgm:pt modelId="{A1467900-304E-4EA4-9434-F984C1AB07D8}" type="pres">
      <dgm:prSet presAssocID="{72203E93-6B13-4C0A-87EC-68D92B60ED8A}" presName="txSpace" presStyleCnt="0"/>
      <dgm:spPr/>
    </dgm:pt>
    <dgm:pt modelId="{D732BD85-FC1D-4C00-93A9-DE877F2E35EF}" type="pres">
      <dgm:prSet presAssocID="{72203E93-6B13-4C0A-87EC-68D92B60ED8A}" presName="desTx" presStyleLbl="revTx" presStyleIdx="1" presStyleCnt="14">
        <dgm:presLayoutVars/>
      </dgm:prSet>
      <dgm:spPr/>
    </dgm:pt>
    <dgm:pt modelId="{3CF3D5E3-160C-42C4-8BC0-8CB131806390}" type="pres">
      <dgm:prSet presAssocID="{02B14C79-3C72-4752-B68F-F1AC4C5AF67C}" presName="sibTrans" presStyleCnt="0"/>
      <dgm:spPr/>
    </dgm:pt>
    <dgm:pt modelId="{A6C824A0-F0D0-42A9-A177-7E03373A7B74}" type="pres">
      <dgm:prSet presAssocID="{38D05957-5281-4A8D-9B78-3A74CC5CC493}" presName="compNode" presStyleCnt="0"/>
      <dgm:spPr/>
    </dgm:pt>
    <dgm:pt modelId="{1497AC92-A0E7-4D95-A8AD-95555B2C4FC3}" type="pres">
      <dgm:prSet presAssocID="{38D05957-5281-4A8D-9B78-3A74CC5CC493}"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stadísticas"/>
        </a:ext>
      </dgm:extLst>
    </dgm:pt>
    <dgm:pt modelId="{C6B81596-0DDC-4C5E-991E-403687967D5A}" type="pres">
      <dgm:prSet presAssocID="{38D05957-5281-4A8D-9B78-3A74CC5CC493}" presName="iconSpace" presStyleCnt="0"/>
      <dgm:spPr/>
    </dgm:pt>
    <dgm:pt modelId="{99FE869F-5AD6-4C94-AE01-A7C6538D9C22}" type="pres">
      <dgm:prSet presAssocID="{38D05957-5281-4A8D-9B78-3A74CC5CC493}" presName="parTx" presStyleLbl="revTx" presStyleIdx="2" presStyleCnt="14">
        <dgm:presLayoutVars>
          <dgm:chMax val="0"/>
          <dgm:chPref val="0"/>
        </dgm:presLayoutVars>
      </dgm:prSet>
      <dgm:spPr/>
    </dgm:pt>
    <dgm:pt modelId="{70B16172-B765-4104-8285-10463592E5AF}" type="pres">
      <dgm:prSet presAssocID="{38D05957-5281-4A8D-9B78-3A74CC5CC493}" presName="txSpace" presStyleCnt="0"/>
      <dgm:spPr/>
    </dgm:pt>
    <dgm:pt modelId="{ACB2784E-74B1-4790-9951-C68C49AB03B4}" type="pres">
      <dgm:prSet presAssocID="{38D05957-5281-4A8D-9B78-3A74CC5CC493}" presName="desTx" presStyleLbl="revTx" presStyleIdx="3" presStyleCnt="14" custLinFactY="-26620" custLinFactNeighborX="-785" custLinFactNeighborY="-100000">
        <dgm:presLayoutVars/>
      </dgm:prSet>
      <dgm:spPr/>
    </dgm:pt>
    <dgm:pt modelId="{C8D9A98A-44E9-4C29-A6EF-D73A14FA371A}" type="pres">
      <dgm:prSet presAssocID="{A471EFBD-DF11-4B14-A42D-425E5A29CEF1}" presName="sibTrans" presStyleCnt="0"/>
      <dgm:spPr/>
    </dgm:pt>
    <dgm:pt modelId="{BE954936-1B11-40C2-A28F-2D608F1CE2D6}" type="pres">
      <dgm:prSet presAssocID="{1A56450A-9B9E-4EF7-94BB-0D4CFDFE170D}" presName="compNode" presStyleCnt="0"/>
      <dgm:spPr/>
    </dgm:pt>
    <dgm:pt modelId="{8661B4F4-88DC-4652-A810-70D70D9A50CD}" type="pres">
      <dgm:prSet presAssocID="{1A56450A-9B9E-4EF7-94BB-0D4CFDFE170D}"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3B44CD80-5B05-4A89-A261-F27130885782}" type="pres">
      <dgm:prSet presAssocID="{1A56450A-9B9E-4EF7-94BB-0D4CFDFE170D}" presName="iconSpace" presStyleCnt="0"/>
      <dgm:spPr/>
    </dgm:pt>
    <dgm:pt modelId="{3894B161-1651-4BF6-8EE4-F905139B9649}" type="pres">
      <dgm:prSet presAssocID="{1A56450A-9B9E-4EF7-94BB-0D4CFDFE170D}" presName="parTx" presStyleLbl="revTx" presStyleIdx="4" presStyleCnt="14">
        <dgm:presLayoutVars>
          <dgm:chMax val="0"/>
          <dgm:chPref val="0"/>
        </dgm:presLayoutVars>
      </dgm:prSet>
      <dgm:spPr/>
    </dgm:pt>
    <dgm:pt modelId="{A58D8F85-35C6-462D-8AEB-E41909A100BB}" type="pres">
      <dgm:prSet presAssocID="{1A56450A-9B9E-4EF7-94BB-0D4CFDFE170D}" presName="txSpace" presStyleCnt="0"/>
      <dgm:spPr/>
    </dgm:pt>
    <dgm:pt modelId="{32310259-3CC7-4885-88CC-65182669AA2B}" type="pres">
      <dgm:prSet presAssocID="{1A56450A-9B9E-4EF7-94BB-0D4CFDFE170D}" presName="desTx" presStyleLbl="revTx" presStyleIdx="5" presStyleCnt="14">
        <dgm:presLayoutVars/>
      </dgm:prSet>
      <dgm:spPr/>
    </dgm:pt>
    <dgm:pt modelId="{234603D6-D654-4A55-947A-317A8B7F4523}" type="pres">
      <dgm:prSet presAssocID="{542329DC-F04D-4C1A-9246-43AAD6D4311A}" presName="sibTrans" presStyleCnt="0"/>
      <dgm:spPr/>
    </dgm:pt>
    <dgm:pt modelId="{6CB22BE4-AB7B-491E-ACA7-1C17FF58838A}" type="pres">
      <dgm:prSet presAssocID="{6D257259-21FA-4B01-B7E4-6AE28B0A9CC0}" presName="compNode" presStyleCnt="0"/>
      <dgm:spPr/>
    </dgm:pt>
    <dgm:pt modelId="{B8E6B999-326F-43C3-9A1F-1016A2EEFBB4}" type="pres">
      <dgm:prSet presAssocID="{6D257259-21FA-4B01-B7E4-6AE28B0A9CC0}"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arget Audience"/>
        </a:ext>
      </dgm:extLst>
    </dgm:pt>
    <dgm:pt modelId="{588E3360-EE3B-47C6-9650-649848A1B9CE}" type="pres">
      <dgm:prSet presAssocID="{6D257259-21FA-4B01-B7E4-6AE28B0A9CC0}" presName="iconSpace" presStyleCnt="0"/>
      <dgm:spPr/>
    </dgm:pt>
    <dgm:pt modelId="{44398D41-3EDE-4FAE-98F9-C4DB3388941E}" type="pres">
      <dgm:prSet presAssocID="{6D257259-21FA-4B01-B7E4-6AE28B0A9CC0}" presName="parTx" presStyleLbl="revTx" presStyleIdx="6" presStyleCnt="14">
        <dgm:presLayoutVars>
          <dgm:chMax val="0"/>
          <dgm:chPref val="0"/>
        </dgm:presLayoutVars>
      </dgm:prSet>
      <dgm:spPr/>
    </dgm:pt>
    <dgm:pt modelId="{7021AFBC-9EB5-447F-AC1F-D708E5CD8269}" type="pres">
      <dgm:prSet presAssocID="{6D257259-21FA-4B01-B7E4-6AE28B0A9CC0}" presName="txSpace" presStyleCnt="0"/>
      <dgm:spPr/>
    </dgm:pt>
    <dgm:pt modelId="{FBC4A749-BF33-460D-8F08-3BEC7E71A43D}" type="pres">
      <dgm:prSet presAssocID="{6D257259-21FA-4B01-B7E4-6AE28B0A9CC0}" presName="desTx" presStyleLbl="revTx" presStyleIdx="7" presStyleCnt="14">
        <dgm:presLayoutVars/>
      </dgm:prSet>
      <dgm:spPr/>
    </dgm:pt>
    <dgm:pt modelId="{2BF04D30-BE0E-41C5-B10C-0042E5CAFD50}" type="pres">
      <dgm:prSet presAssocID="{C4DDBBAF-D1D6-490B-A2AA-6AF9BE9FA118}" presName="sibTrans" presStyleCnt="0"/>
      <dgm:spPr/>
    </dgm:pt>
    <dgm:pt modelId="{21608688-022E-49A7-AB3F-C8BF8903A40A}" type="pres">
      <dgm:prSet presAssocID="{036C8030-EC99-4995-BBE7-78E48F0299F0}" presName="compNode" presStyleCnt="0"/>
      <dgm:spPr/>
    </dgm:pt>
    <dgm:pt modelId="{D021D966-0188-474D-ABAA-84BF0C9E4C5A}" type="pres">
      <dgm:prSet presAssocID="{036C8030-EC99-4995-BBE7-78E48F0299F0}"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agnifying glass"/>
        </a:ext>
      </dgm:extLst>
    </dgm:pt>
    <dgm:pt modelId="{253A228E-7FA8-4BC6-9C00-D8FFE2917E17}" type="pres">
      <dgm:prSet presAssocID="{036C8030-EC99-4995-BBE7-78E48F0299F0}" presName="iconSpace" presStyleCnt="0"/>
      <dgm:spPr/>
    </dgm:pt>
    <dgm:pt modelId="{A98D4B18-F0B3-411B-9AFB-0011DE688974}" type="pres">
      <dgm:prSet presAssocID="{036C8030-EC99-4995-BBE7-78E48F0299F0}" presName="parTx" presStyleLbl="revTx" presStyleIdx="8" presStyleCnt="14">
        <dgm:presLayoutVars>
          <dgm:chMax val="0"/>
          <dgm:chPref val="0"/>
        </dgm:presLayoutVars>
      </dgm:prSet>
      <dgm:spPr/>
    </dgm:pt>
    <dgm:pt modelId="{80220D56-8B05-448A-949A-6A193EC7B9D6}" type="pres">
      <dgm:prSet presAssocID="{036C8030-EC99-4995-BBE7-78E48F0299F0}" presName="txSpace" presStyleCnt="0"/>
      <dgm:spPr/>
    </dgm:pt>
    <dgm:pt modelId="{22A7DA1E-58F8-4C07-8D83-20FE4EA894F2}" type="pres">
      <dgm:prSet presAssocID="{036C8030-EC99-4995-BBE7-78E48F0299F0}" presName="desTx" presStyleLbl="revTx" presStyleIdx="9" presStyleCnt="14">
        <dgm:presLayoutVars/>
      </dgm:prSet>
      <dgm:spPr/>
    </dgm:pt>
    <dgm:pt modelId="{9EDE3104-668E-4C8A-A8D0-78D08D74F0DD}" type="pres">
      <dgm:prSet presAssocID="{B125A95F-4058-4F3E-B4F0-419312321F8E}" presName="sibTrans" presStyleCnt="0"/>
      <dgm:spPr/>
    </dgm:pt>
    <dgm:pt modelId="{194A7A9F-65F0-4CC9-8845-88B9514128B2}" type="pres">
      <dgm:prSet presAssocID="{DECCC884-335E-4A8F-ADC7-9E425CF6D7DF}" presName="compNode" presStyleCnt="0"/>
      <dgm:spPr/>
    </dgm:pt>
    <dgm:pt modelId="{22BBD6A5-CEEA-4F31-A2A7-E3411B701F98}" type="pres">
      <dgm:prSet presAssocID="{DECCC884-335E-4A8F-ADC7-9E425CF6D7DF}"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Person with Idea"/>
        </a:ext>
      </dgm:extLst>
    </dgm:pt>
    <dgm:pt modelId="{ACB337D4-3980-4096-BFEF-727C1F9182E4}" type="pres">
      <dgm:prSet presAssocID="{DECCC884-335E-4A8F-ADC7-9E425CF6D7DF}" presName="iconSpace" presStyleCnt="0"/>
      <dgm:spPr/>
    </dgm:pt>
    <dgm:pt modelId="{CA3B554A-0D65-4CF1-8979-48D209830AEE}" type="pres">
      <dgm:prSet presAssocID="{DECCC884-335E-4A8F-ADC7-9E425CF6D7DF}" presName="parTx" presStyleLbl="revTx" presStyleIdx="10" presStyleCnt="14">
        <dgm:presLayoutVars>
          <dgm:chMax val="0"/>
          <dgm:chPref val="0"/>
        </dgm:presLayoutVars>
      </dgm:prSet>
      <dgm:spPr/>
    </dgm:pt>
    <dgm:pt modelId="{EC0A6558-E992-46E7-B468-E315D62EC402}" type="pres">
      <dgm:prSet presAssocID="{DECCC884-335E-4A8F-ADC7-9E425CF6D7DF}" presName="txSpace" presStyleCnt="0"/>
      <dgm:spPr/>
    </dgm:pt>
    <dgm:pt modelId="{A421FD65-2645-45DF-88FB-2548A9A940B9}" type="pres">
      <dgm:prSet presAssocID="{DECCC884-335E-4A8F-ADC7-9E425CF6D7DF}" presName="desTx" presStyleLbl="revTx" presStyleIdx="11" presStyleCnt="14">
        <dgm:presLayoutVars/>
      </dgm:prSet>
      <dgm:spPr/>
    </dgm:pt>
    <dgm:pt modelId="{348CB304-D476-4287-9C19-79A13AFEE639}" type="pres">
      <dgm:prSet presAssocID="{7D369B0D-08C2-411F-B253-3A45D3E83B39}" presName="sibTrans" presStyleCnt="0"/>
      <dgm:spPr/>
    </dgm:pt>
    <dgm:pt modelId="{0C274891-A913-471C-9F14-46B4BB9C08FA}" type="pres">
      <dgm:prSet presAssocID="{E5C00111-6E3E-40BF-BEF2-D2A5BE3F6DE1}" presName="compNode" presStyleCnt="0"/>
      <dgm:spPr/>
    </dgm:pt>
    <dgm:pt modelId="{4E03EC62-8BB6-4374-882B-F2DF9D21AD3D}" type="pres">
      <dgm:prSet presAssocID="{E5C00111-6E3E-40BF-BEF2-D2A5BE3F6DE1}"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Head with Gears"/>
        </a:ext>
      </dgm:extLst>
    </dgm:pt>
    <dgm:pt modelId="{9F288F0D-59C3-46E2-8A8B-1E9F59C192F4}" type="pres">
      <dgm:prSet presAssocID="{E5C00111-6E3E-40BF-BEF2-D2A5BE3F6DE1}" presName="iconSpace" presStyleCnt="0"/>
      <dgm:spPr/>
    </dgm:pt>
    <dgm:pt modelId="{19F7AD6F-3C9D-42A4-AED7-1139057B80B5}" type="pres">
      <dgm:prSet presAssocID="{E5C00111-6E3E-40BF-BEF2-D2A5BE3F6DE1}" presName="parTx" presStyleLbl="revTx" presStyleIdx="12" presStyleCnt="14">
        <dgm:presLayoutVars>
          <dgm:chMax val="0"/>
          <dgm:chPref val="0"/>
        </dgm:presLayoutVars>
      </dgm:prSet>
      <dgm:spPr/>
    </dgm:pt>
    <dgm:pt modelId="{B19E5485-570F-4F7D-8E66-A971D6B92118}" type="pres">
      <dgm:prSet presAssocID="{E5C00111-6E3E-40BF-BEF2-D2A5BE3F6DE1}" presName="txSpace" presStyleCnt="0"/>
      <dgm:spPr/>
    </dgm:pt>
    <dgm:pt modelId="{408FCD1B-CBF4-4D8F-BFCE-0B93F6FCBE1C}" type="pres">
      <dgm:prSet presAssocID="{E5C00111-6E3E-40BF-BEF2-D2A5BE3F6DE1}" presName="desTx" presStyleLbl="revTx" presStyleIdx="13" presStyleCnt="14">
        <dgm:presLayoutVars/>
      </dgm:prSet>
      <dgm:spPr/>
    </dgm:pt>
  </dgm:ptLst>
  <dgm:cxnLst>
    <dgm:cxn modelId="{8126D009-4465-4142-B9CC-2902C0423171}" srcId="{38D05957-5281-4A8D-9B78-3A74CC5CC493}" destId="{1BA60500-7096-4A68-AC28-DE037D6019D7}" srcOrd="0" destOrd="0" parTransId="{7F5E6421-623F-41C3-BAFE-DCA67A2862C8}" sibTransId="{FEF32A81-E57D-4BEE-B9D8-597543572094}"/>
    <dgm:cxn modelId="{FB46D70F-B7DE-497F-85AC-964DC525273B}" type="presOf" srcId="{1BA60500-7096-4A68-AC28-DE037D6019D7}" destId="{ACB2784E-74B1-4790-9951-C68C49AB03B4}" srcOrd="0" destOrd="0" presId="urn:microsoft.com/office/officeart/2018/5/layout/CenteredIconLabelDescriptionList"/>
    <dgm:cxn modelId="{B4DABA11-2E65-4AA6-B5ED-9378B5E4702B}" srcId="{3DFDB2E3-EBB7-4BD2-A364-83AAFC3AA114}" destId="{036C8030-EC99-4995-BBE7-78E48F0299F0}" srcOrd="4" destOrd="0" parTransId="{C8D167FC-BD5A-442A-885D-8137846FF946}" sibTransId="{B125A95F-4058-4F3E-B4F0-419312321F8E}"/>
    <dgm:cxn modelId="{6E939916-1203-405C-B08D-525FE0301429}" type="presOf" srcId="{04FE0E57-294A-49BE-B3E7-AECB6287D0C9}" destId="{ACB2784E-74B1-4790-9951-C68C49AB03B4}" srcOrd="0" destOrd="1" presId="urn:microsoft.com/office/officeart/2018/5/layout/CenteredIconLabelDescriptionList"/>
    <dgm:cxn modelId="{767AE625-8FCC-4523-A3C1-0ACFAE1F703D}" type="presOf" srcId="{1A56450A-9B9E-4EF7-94BB-0D4CFDFE170D}" destId="{3894B161-1651-4BF6-8EE4-F905139B9649}" srcOrd="0" destOrd="0" presId="urn:microsoft.com/office/officeart/2018/5/layout/CenteredIconLabelDescriptionList"/>
    <dgm:cxn modelId="{7B398B5D-3708-4E32-B862-A0D93E03F0AF}" type="presOf" srcId="{036C8030-EC99-4995-BBE7-78E48F0299F0}" destId="{A98D4B18-F0B3-411B-9AFB-0011DE688974}" srcOrd="0" destOrd="0" presId="urn:microsoft.com/office/officeart/2018/5/layout/CenteredIconLabelDescriptionList"/>
    <dgm:cxn modelId="{18C56D5F-3434-459F-B50F-245F22AD0B47}" srcId="{3DFDB2E3-EBB7-4BD2-A364-83AAFC3AA114}" destId="{6D257259-21FA-4B01-B7E4-6AE28B0A9CC0}" srcOrd="3" destOrd="0" parTransId="{2D23849B-7431-48E8-A4D9-677657F22763}" sibTransId="{C4DDBBAF-D1D6-490B-A2AA-6AF9BE9FA118}"/>
    <dgm:cxn modelId="{6CCCA247-CD8E-48C0-94CE-6B2301E95821}" type="presOf" srcId="{72203E93-6B13-4C0A-87EC-68D92B60ED8A}" destId="{FB5C8BAB-41AA-4C4F-BB66-DC51BCDF6E26}" srcOrd="0" destOrd="0" presId="urn:microsoft.com/office/officeart/2018/5/layout/CenteredIconLabelDescriptionList"/>
    <dgm:cxn modelId="{1043DC4B-4621-4EAD-9AB8-C22828411F44}" srcId="{3DFDB2E3-EBB7-4BD2-A364-83AAFC3AA114}" destId="{38D05957-5281-4A8D-9B78-3A74CC5CC493}" srcOrd="1" destOrd="0" parTransId="{90E82C5B-C8D4-4048-926B-2D2FBD80ADC0}" sibTransId="{A471EFBD-DF11-4B14-A42D-425E5A29CEF1}"/>
    <dgm:cxn modelId="{9800A84F-BEE0-4B6A-846D-24A69E800EFD}" srcId="{3DFDB2E3-EBB7-4BD2-A364-83AAFC3AA114}" destId="{E5C00111-6E3E-40BF-BEF2-D2A5BE3F6DE1}" srcOrd="6" destOrd="0" parTransId="{18FAE120-8CD7-43C9-A4A6-F31BAA97BE47}" sibTransId="{AB9D1955-FBC4-4152-BFE6-8BD31429E349}"/>
    <dgm:cxn modelId="{F76BE650-5C82-46BA-B045-C04FAF12C566}" type="presOf" srcId="{6D257259-21FA-4B01-B7E4-6AE28B0A9CC0}" destId="{44398D41-3EDE-4FAE-98F9-C4DB3388941E}" srcOrd="0" destOrd="0" presId="urn:microsoft.com/office/officeart/2018/5/layout/CenteredIconLabelDescriptionList"/>
    <dgm:cxn modelId="{42F9AA83-A07B-497F-A836-53A515A39BDC}" srcId="{3DFDB2E3-EBB7-4BD2-A364-83AAFC3AA114}" destId="{1A56450A-9B9E-4EF7-94BB-0D4CFDFE170D}" srcOrd="2" destOrd="0" parTransId="{478E7D07-FC40-43F7-8633-8C4B561D120F}" sibTransId="{542329DC-F04D-4C1A-9246-43AAD6D4311A}"/>
    <dgm:cxn modelId="{F815C385-17AD-447C-ACDD-A11ADB94C58B}" type="presOf" srcId="{38D05957-5281-4A8D-9B78-3A74CC5CC493}" destId="{99FE869F-5AD6-4C94-AE01-A7C6538D9C22}" srcOrd="0" destOrd="0" presId="urn:microsoft.com/office/officeart/2018/5/layout/CenteredIconLabelDescriptionList"/>
    <dgm:cxn modelId="{DB0DDC88-3CF2-4B8C-B079-2DC9949E707B}" type="presOf" srcId="{E5C00111-6E3E-40BF-BEF2-D2A5BE3F6DE1}" destId="{19F7AD6F-3C9D-42A4-AED7-1139057B80B5}" srcOrd="0" destOrd="0" presId="urn:microsoft.com/office/officeart/2018/5/layout/CenteredIconLabelDescriptionList"/>
    <dgm:cxn modelId="{EA0E4FA8-AFAD-4715-9015-615A7B3FB461}" srcId="{38D05957-5281-4A8D-9B78-3A74CC5CC493}" destId="{04FE0E57-294A-49BE-B3E7-AECB6287D0C9}" srcOrd="1" destOrd="0" parTransId="{23775A38-ED50-47B0-8BF6-AD10D016928C}" sibTransId="{96BBBDF1-EDBE-4B41-B7E6-B8C49B063C3E}"/>
    <dgm:cxn modelId="{A1B87AA8-A709-4EB2-BDA1-00885278C0E3}" srcId="{3DFDB2E3-EBB7-4BD2-A364-83AAFC3AA114}" destId="{72203E93-6B13-4C0A-87EC-68D92B60ED8A}" srcOrd="0" destOrd="0" parTransId="{8C79BFF2-141A-40CA-9CD9-3398ED43876E}" sibTransId="{02B14C79-3C72-4752-B68F-F1AC4C5AF67C}"/>
    <dgm:cxn modelId="{02A771AB-019A-4811-B9F4-DDAA8DF91FCB}" type="presOf" srcId="{DECCC884-335E-4A8F-ADC7-9E425CF6D7DF}" destId="{CA3B554A-0D65-4CF1-8979-48D209830AEE}" srcOrd="0" destOrd="0" presId="urn:microsoft.com/office/officeart/2018/5/layout/CenteredIconLabelDescriptionList"/>
    <dgm:cxn modelId="{DF21FBB5-846B-416D-9306-C61EE0F2CE61}" srcId="{3DFDB2E3-EBB7-4BD2-A364-83AAFC3AA114}" destId="{DECCC884-335E-4A8F-ADC7-9E425CF6D7DF}" srcOrd="5" destOrd="0" parTransId="{60C5A756-67EC-42C9-BB33-3969163C42E1}" sibTransId="{7D369B0D-08C2-411F-B253-3A45D3E83B39}"/>
    <dgm:cxn modelId="{8CAF4BFA-C997-42C3-822B-EFBCD6E35E9D}" type="presOf" srcId="{3DFDB2E3-EBB7-4BD2-A364-83AAFC3AA114}" destId="{B6ACC4FE-EEA9-49E9-9E3A-AEF655063FE7}" srcOrd="0" destOrd="0" presId="urn:microsoft.com/office/officeart/2018/5/layout/CenteredIconLabelDescriptionList"/>
    <dgm:cxn modelId="{5EAC29C1-04EC-48AC-B0FD-0CB3FBA7CCD3}" type="presParOf" srcId="{B6ACC4FE-EEA9-49E9-9E3A-AEF655063FE7}" destId="{17575170-6682-4676-9463-71155D66E76F}" srcOrd="0" destOrd="0" presId="urn:microsoft.com/office/officeart/2018/5/layout/CenteredIconLabelDescriptionList"/>
    <dgm:cxn modelId="{A3A1EE44-E2B1-43D2-B44D-E59C73AB7E90}" type="presParOf" srcId="{17575170-6682-4676-9463-71155D66E76F}" destId="{5649502B-6253-42E3-861F-4FF019778199}" srcOrd="0" destOrd="0" presId="urn:microsoft.com/office/officeart/2018/5/layout/CenteredIconLabelDescriptionList"/>
    <dgm:cxn modelId="{B5BE334B-0582-4007-B680-E4312F95EF45}" type="presParOf" srcId="{17575170-6682-4676-9463-71155D66E76F}" destId="{4E3EEBD5-8275-4F8F-A15A-390AECB8DAF3}" srcOrd="1" destOrd="0" presId="urn:microsoft.com/office/officeart/2018/5/layout/CenteredIconLabelDescriptionList"/>
    <dgm:cxn modelId="{68545099-E438-4418-BF9C-BCACE7D56D2B}" type="presParOf" srcId="{17575170-6682-4676-9463-71155D66E76F}" destId="{FB5C8BAB-41AA-4C4F-BB66-DC51BCDF6E26}" srcOrd="2" destOrd="0" presId="urn:microsoft.com/office/officeart/2018/5/layout/CenteredIconLabelDescriptionList"/>
    <dgm:cxn modelId="{E643AFDC-A534-4CCC-A3A4-FB44C5D6CD83}" type="presParOf" srcId="{17575170-6682-4676-9463-71155D66E76F}" destId="{A1467900-304E-4EA4-9434-F984C1AB07D8}" srcOrd="3" destOrd="0" presId="urn:microsoft.com/office/officeart/2018/5/layout/CenteredIconLabelDescriptionList"/>
    <dgm:cxn modelId="{2797D3CE-70D1-4A9F-91B3-D8CBB6BD4757}" type="presParOf" srcId="{17575170-6682-4676-9463-71155D66E76F}" destId="{D732BD85-FC1D-4C00-93A9-DE877F2E35EF}" srcOrd="4" destOrd="0" presId="urn:microsoft.com/office/officeart/2018/5/layout/CenteredIconLabelDescriptionList"/>
    <dgm:cxn modelId="{A7BD2B88-2B56-4315-B448-062E0E0F8C20}" type="presParOf" srcId="{B6ACC4FE-EEA9-49E9-9E3A-AEF655063FE7}" destId="{3CF3D5E3-160C-42C4-8BC0-8CB131806390}" srcOrd="1" destOrd="0" presId="urn:microsoft.com/office/officeart/2018/5/layout/CenteredIconLabelDescriptionList"/>
    <dgm:cxn modelId="{36E13C19-8BAD-43EE-A1EE-4F7A6B2873A8}" type="presParOf" srcId="{B6ACC4FE-EEA9-49E9-9E3A-AEF655063FE7}" destId="{A6C824A0-F0D0-42A9-A177-7E03373A7B74}" srcOrd="2" destOrd="0" presId="urn:microsoft.com/office/officeart/2018/5/layout/CenteredIconLabelDescriptionList"/>
    <dgm:cxn modelId="{FA74EEA9-1E4D-4AFB-9AF2-344E75E5EC82}" type="presParOf" srcId="{A6C824A0-F0D0-42A9-A177-7E03373A7B74}" destId="{1497AC92-A0E7-4D95-A8AD-95555B2C4FC3}" srcOrd="0" destOrd="0" presId="urn:microsoft.com/office/officeart/2018/5/layout/CenteredIconLabelDescriptionList"/>
    <dgm:cxn modelId="{D2731DF8-DA9F-4DD2-974F-BEDA4761B96F}" type="presParOf" srcId="{A6C824A0-F0D0-42A9-A177-7E03373A7B74}" destId="{C6B81596-0DDC-4C5E-991E-403687967D5A}" srcOrd="1" destOrd="0" presId="urn:microsoft.com/office/officeart/2018/5/layout/CenteredIconLabelDescriptionList"/>
    <dgm:cxn modelId="{2307063C-85CE-4FBB-8006-D927FC2A7CF2}" type="presParOf" srcId="{A6C824A0-F0D0-42A9-A177-7E03373A7B74}" destId="{99FE869F-5AD6-4C94-AE01-A7C6538D9C22}" srcOrd="2" destOrd="0" presId="urn:microsoft.com/office/officeart/2018/5/layout/CenteredIconLabelDescriptionList"/>
    <dgm:cxn modelId="{864210DB-084F-4C67-89AC-A28D65FC52F1}" type="presParOf" srcId="{A6C824A0-F0D0-42A9-A177-7E03373A7B74}" destId="{70B16172-B765-4104-8285-10463592E5AF}" srcOrd="3" destOrd="0" presId="urn:microsoft.com/office/officeart/2018/5/layout/CenteredIconLabelDescriptionList"/>
    <dgm:cxn modelId="{BAD6B880-9A57-40A2-87F3-D35C77120C83}" type="presParOf" srcId="{A6C824A0-F0D0-42A9-A177-7E03373A7B74}" destId="{ACB2784E-74B1-4790-9951-C68C49AB03B4}" srcOrd="4" destOrd="0" presId="urn:microsoft.com/office/officeart/2018/5/layout/CenteredIconLabelDescriptionList"/>
    <dgm:cxn modelId="{ED6202F2-C11C-48E6-B51F-C2F754FC918D}" type="presParOf" srcId="{B6ACC4FE-EEA9-49E9-9E3A-AEF655063FE7}" destId="{C8D9A98A-44E9-4C29-A6EF-D73A14FA371A}" srcOrd="3" destOrd="0" presId="urn:microsoft.com/office/officeart/2018/5/layout/CenteredIconLabelDescriptionList"/>
    <dgm:cxn modelId="{69E9243D-B260-4851-94C6-F9A7C8BF2A7C}" type="presParOf" srcId="{B6ACC4FE-EEA9-49E9-9E3A-AEF655063FE7}" destId="{BE954936-1B11-40C2-A28F-2D608F1CE2D6}" srcOrd="4" destOrd="0" presId="urn:microsoft.com/office/officeart/2018/5/layout/CenteredIconLabelDescriptionList"/>
    <dgm:cxn modelId="{CF3EE1A2-EE8A-4A4D-B1F8-CB963C3E3F1B}" type="presParOf" srcId="{BE954936-1B11-40C2-A28F-2D608F1CE2D6}" destId="{8661B4F4-88DC-4652-A810-70D70D9A50CD}" srcOrd="0" destOrd="0" presId="urn:microsoft.com/office/officeart/2018/5/layout/CenteredIconLabelDescriptionList"/>
    <dgm:cxn modelId="{0E389C50-F8B0-44F6-A9D0-941914A6DBA9}" type="presParOf" srcId="{BE954936-1B11-40C2-A28F-2D608F1CE2D6}" destId="{3B44CD80-5B05-4A89-A261-F27130885782}" srcOrd="1" destOrd="0" presId="urn:microsoft.com/office/officeart/2018/5/layout/CenteredIconLabelDescriptionList"/>
    <dgm:cxn modelId="{610C1BC9-687C-4357-9ABD-52AC7506EAE8}" type="presParOf" srcId="{BE954936-1B11-40C2-A28F-2D608F1CE2D6}" destId="{3894B161-1651-4BF6-8EE4-F905139B9649}" srcOrd="2" destOrd="0" presId="urn:microsoft.com/office/officeart/2018/5/layout/CenteredIconLabelDescriptionList"/>
    <dgm:cxn modelId="{126F6D02-A274-4900-BCD3-C861138ADA92}" type="presParOf" srcId="{BE954936-1B11-40C2-A28F-2D608F1CE2D6}" destId="{A58D8F85-35C6-462D-8AEB-E41909A100BB}" srcOrd="3" destOrd="0" presId="urn:microsoft.com/office/officeart/2018/5/layout/CenteredIconLabelDescriptionList"/>
    <dgm:cxn modelId="{6F04EF39-AB5A-4BEF-BE3F-0B813EFE3C2C}" type="presParOf" srcId="{BE954936-1B11-40C2-A28F-2D608F1CE2D6}" destId="{32310259-3CC7-4885-88CC-65182669AA2B}" srcOrd="4" destOrd="0" presId="urn:microsoft.com/office/officeart/2018/5/layout/CenteredIconLabelDescriptionList"/>
    <dgm:cxn modelId="{318F8D5A-79B2-4588-B61B-C805CFBF30D2}" type="presParOf" srcId="{B6ACC4FE-EEA9-49E9-9E3A-AEF655063FE7}" destId="{234603D6-D654-4A55-947A-317A8B7F4523}" srcOrd="5" destOrd="0" presId="urn:microsoft.com/office/officeart/2018/5/layout/CenteredIconLabelDescriptionList"/>
    <dgm:cxn modelId="{BF453F66-802B-4000-B0E2-925D71E4ECA1}" type="presParOf" srcId="{B6ACC4FE-EEA9-49E9-9E3A-AEF655063FE7}" destId="{6CB22BE4-AB7B-491E-ACA7-1C17FF58838A}" srcOrd="6" destOrd="0" presId="urn:microsoft.com/office/officeart/2018/5/layout/CenteredIconLabelDescriptionList"/>
    <dgm:cxn modelId="{6C9095BB-0E84-435D-856C-48F5B0F34556}" type="presParOf" srcId="{6CB22BE4-AB7B-491E-ACA7-1C17FF58838A}" destId="{B8E6B999-326F-43C3-9A1F-1016A2EEFBB4}" srcOrd="0" destOrd="0" presId="urn:microsoft.com/office/officeart/2018/5/layout/CenteredIconLabelDescriptionList"/>
    <dgm:cxn modelId="{08B3EEBD-D4AE-48AD-ACC7-CBBA8FF264A4}" type="presParOf" srcId="{6CB22BE4-AB7B-491E-ACA7-1C17FF58838A}" destId="{588E3360-EE3B-47C6-9650-649848A1B9CE}" srcOrd="1" destOrd="0" presId="urn:microsoft.com/office/officeart/2018/5/layout/CenteredIconLabelDescriptionList"/>
    <dgm:cxn modelId="{D995FAD6-1AF5-48C4-B4B4-A7A56432250C}" type="presParOf" srcId="{6CB22BE4-AB7B-491E-ACA7-1C17FF58838A}" destId="{44398D41-3EDE-4FAE-98F9-C4DB3388941E}" srcOrd="2" destOrd="0" presId="urn:microsoft.com/office/officeart/2018/5/layout/CenteredIconLabelDescriptionList"/>
    <dgm:cxn modelId="{33EDFF64-9C21-4313-AC6B-8D0AE7492189}" type="presParOf" srcId="{6CB22BE4-AB7B-491E-ACA7-1C17FF58838A}" destId="{7021AFBC-9EB5-447F-AC1F-D708E5CD8269}" srcOrd="3" destOrd="0" presId="urn:microsoft.com/office/officeart/2018/5/layout/CenteredIconLabelDescriptionList"/>
    <dgm:cxn modelId="{B46F1F44-BE00-4668-8330-49ADCED06502}" type="presParOf" srcId="{6CB22BE4-AB7B-491E-ACA7-1C17FF58838A}" destId="{FBC4A749-BF33-460D-8F08-3BEC7E71A43D}" srcOrd="4" destOrd="0" presId="urn:microsoft.com/office/officeart/2018/5/layout/CenteredIconLabelDescriptionList"/>
    <dgm:cxn modelId="{CD70F998-DA22-419E-979E-05D79DCA7848}" type="presParOf" srcId="{B6ACC4FE-EEA9-49E9-9E3A-AEF655063FE7}" destId="{2BF04D30-BE0E-41C5-B10C-0042E5CAFD50}" srcOrd="7" destOrd="0" presId="urn:microsoft.com/office/officeart/2018/5/layout/CenteredIconLabelDescriptionList"/>
    <dgm:cxn modelId="{B62D1AA1-6738-4B2A-928E-4F5A1D5C32BE}" type="presParOf" srcId="{B6ACC4FE-EEA9-49E9-9E3A-AEF655063FE7}" destId="{21608688-022E-49A7-AB3F-C8BF8903A40A}" srcOrd="8" destOrd="0" presId="urn:microsoft.com/office/officeart/2018/5/layout/CenteredIconLabelDescriptionList"/>
    <dgm:cxn modelId="{B39F7C56-5573-45F7-8674-54F9E8E2443E}" type="presParOf" srcId="{21608688-022E-49A7-AB3F-C8BF8903A40A}" destId="{D021D966-0188-474D-ABAA-84BF0C9E4C5A}" srcOrd="0" destOrd="0" presId="urn:microsoft.com/office/officeart/2018/5/layout/CenteredIconLabelDescriptionList"/>
    <dgm:cxn modelId="{2495338C-A413-4A60-87E0-1810BF8185AB}" type="presParOf" srcId="{21608688-022E-49A7-AB3F-C8BF8903A40A}" destId="{253A228E-7FA8-4BC6-9C00-D8FFE2917E17}" srcOrd="1" destOrd="0" presId="urn:microsoft.com/office/officeart/2018/5/layout/CenteredIconLabelDescriptionList"/>
    <dgm:cxn modelId="{7DA38985-1C5B-4630-B45B-0745E7CA3544}" type="presParOf" srcId="{21608688-022E-49A7-AB3F-C8BF8903A40A}" destId="{A98D4B18-F0B3-411B-9AFB-0011DE688974}" srcOrd="2" destOrd="0" presId="urn:microsoft.com/office/officeart/2018/5/layout/CenteredIconLabelDescriptionList"/>
    <dgm:cxn modelId="{8D30B892-B89E-4F36-9C87-AF13DB0CCE29}" type="presParOf" srcId="{21608688-022E-49A7-AB3F-C8BF8903A40A}" destId="{80220D56-8B05-448A-949A-6A193EC7B9D6}" srcOrd="3" destOrd="0" presId="urn:microsoft.com/office/officeart/2018/5/layout/CenteredIconLabelDescriptionList"/>
    <dgm:cxn modelId="{AE29F398-432F-4AB7-9F71-AA438732F8B9}" type="presParOf" srcId="{21608688-022E-49A7-AB3F-C8BF8903A40A}" destId="{22A7DA1E-58F8-4C07-8D83-20FE4EA894F2}" srcOrd="4" destOrd="0" presId="urn:microsoft.com/office/officeart/2018/5/layout/CenteredIconLabelDescriptionList"/>
    <dgm:cxn modelId="{B5D6E470-FA34-4FFF-9D35-7236AB92BC4F}" type="presParOf" srcId="{B6ACC4FE-EEA9-49E9-9E3A-AEF655063FE7}" destId="{9EDE3104-668E-4C8A-A8D0-78D08D74F0DD}" srcOrd="9" destOrd="0" presId="urn:microsoft.com/office/officeart/2018/5/layout/CenteredIconLabelDescriptionList"/>
    <dgm:cxn modelId="{6CC8C933-1479-4553-87CB-C907DE46FCE8}" type="presParOf" srcId="{B6ACC4FE-EEA9-49E9-9E3A-AEF655063FE7}" destId="{194A7A9F-65F0-4CC9-8845-88B9514128B2}" srcOrd="10" destOrd="0" presId="urn:microsoft.com/office/officeart/2018/5/layout/CenteredIconLabelDescriptionList"/>
    <dgm:cxn modelId="{735B4FC4-A322-4802-9C14-BF67C5EB0AD2}" type="presParOf" srcId="{194A7A9F-65F0-4CC9-8845-88B9514128B2}" destId="{22BBD6A5-CEEA-4F31-A2A7-E3411B701F98}" srcOrd="0" destOrd="0" presId="urn:microsoft.com/office/officeart/2018/5/layout/CenteredIconLabelDescriptionList"/>
    <dgm:cxn modelId="{5F5DE5B6-F33B-4C5D-AE0C-2F35D9106C83}" type="presParOf" srcId="{194A7A9F-65F0-4CC9-8845-88B9514128B2}" destId="{ACB337D4-3980-4096-BFEF-727C1F9182E4}" srcOrd="1" destOrd="0" presId="urn:microsoft.com/office/officeart/2018/5/layout/CenteredIconLabelDescriptionList"/>
    <dgm:cxn modelId="{8EDA4D88-0C5C-46AA-AB5C-18F527C732F2}" type="presParOf" srcId="{194A7A9F-65F0-4CC9-8845-88B9514128B2}" destId="{CA3B554A-0D65-4CF1-8979-48D209830AEE}" srcOrd="2" destOrd="0" presId="urn:microsoft.com/office/officeart/2018/5/layout/CenteredIconLabelDescriptionList"/>
    <dgm:cxn modelId="{1112AC4F-9534-4698-8012-2DA3C76CEFC2}" type="presParOf" srcId="{194A7A9F-65F0-4CC9-8845-88B9514128B2}" destId="{EC0A6558-E992-46E7-B468-E315D62EC402}" srcOrd="3" destOrd="0" presId="urn:microsoft.com/office/officeart/2018/5/layout/CenteredIconLabelDescriptionList"/>
    <dgm:cxn modelId="{809ADF16-B456-4E64-98E9-64D18A1C5716}" type="presParOf" srcId="{194A7A9F-65F0-4CC9-8845-88B9514128B2}" destId="{A421FD65-2645-45DF-88FB-2548A9A940B9}" srcOrd="4" destOrd="0" presId="urn:microsoft.com/office/officeart/2018/5/layout/CenteredIconLabelDescriptionList"/>
    <dgm:cxn modelId="{BB3C94B3-CB26-489F-8CB9-AC232D1B36FA}" type="presParOf" srcId="{B6ACC4FE-EEA9-49E9-9E3A-AEF655063FE7}" destId="{348CB304-D476-4287-9C19-79A13AFEE639}" srcOrd="11" destOrd="0" presId="urn:microsoft.com/office/officeart/2018/5/layout/CenteredIconLabelDescriptionList"/>
    <dgm:cxn modelId="{9644369B-EE57-45EA-9C9F-293404D8073A}" type="presParOf" srcId="{B6ACC4FE-EEA9-49E9-9E3A-AEF655063FE7}" destId="{0C274891-A913-471C-9F14-46B4BB9C08FA}" srcOrd="12" destOrd="0" presId="urn:microsoft.com/office/officeart/2018/5/layout/CenteredIconLabelDescriptionList"/>
    <dgm:cxn modelId="{50F87B4D-DEDF-432B-A81B-5879956BB603}" type="presParOf" srcId="{0C274891-A913-471C-9F14-46B4BB9C08FA}" destId="{4E03EC62-8BB6-4374-882B-F2DF9D21AD3D}" srcOrd="0" destOrd="0" presId="urn:microsoft.com/office/officeart/2018/5/layout/CenteredIconLabelDescriptionList"/>
    <dgm:cxn modelId="{CDBE4B24-2C5C-4F96-9F11-FD2B990B826D}" type="presParOf" srcId="{0C274891-A913-471C-9F14-46B4BB9C08FA}" destId="{9F288F0D-59C3-46E2-8A8B-1E9F59C192F4}" srcOrd="1" destOrd="0" presId="urn:microsoft.com/office/officeart/2018/5/layout/CenteredIconLabelDescriptionList"/>
    <dgm:cxn modelId="{0B24ABB3-C8F4-4137-AFE0-D9DA4F4BF075}" type="presParOf" srcId="{0C274891-A913-471C-9F14-46B4BB9C08FA}" destId="{19F7AD6F-3C9D-42A4-AED7-1139057B80B5}" srcOrd="2" destOrd="0" presId="urn:microsoft.com/office/officeart/2018/5/layout/CenteredIconLabelDescriptionList"/>
    <dgm:cxn modelId="{BAFE06A6-BA21-4CB4-A2DB-911FAA474852}" type="presParOf" srcId="{0C274891-A913-471C-9F14-46B4BB9C08FA}" destId="{B19E5485-570F-4F7D-8E66-A971D6B92118}" srcOrd="3" destOrd="0" presId="urn:microsoft.com/office/officeart/2018/5/layout/CenteredIconLabelDescriptionList"/>
    <dgm:cxn modelId="{0C2D9BEF-9D15-4AF8-8127-415E37852129}" type="presParOf" srcId="{0C274891-A913-471C-9F14-46B4BB9C08FA}" destId="{408FCD1B-CBF4-4D8F-BFCE-0B93F6FCBE1C}"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8A111EA-53DC-4C02-BE59-13DF3D66FBD4}"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2D5F74E0-C822-49CD-8CFE-707FB0847655}">
      <dgm:prSet/>
      <dgm:spPr/>
      <dgm:t>
        <a:bodyPr/>
        <a:lstStyle/>
        <a:p>
          <a:pPr>
            <a:defRPr cap="all"/>
          </a:pPr>
          <a:r>
            <a:rPr lang="en-US"/>
            <a:t>Confirmatory Data Analysis: Verify the hypothesis by statistical analysis</a:t>
          </a:r>
        </a:p>
      </dgm:t>
    </dgm:pt>
    <dgm:pt modelId="{A45F39D4-5ABF-4624-8984-134D4BF81DF8}" type="parTrans" cxnId="{82C97117-1B54-480C-B5C3-D61B08843DCF}">
      <dgm:prSet/>
      <dgm:spPr/>
      <dgm:t>
        <a:bodyPr/>
        <a:lstStyle/>
        <a:p>
          <a:endParaRPr lang="en-US"/>
        </a:p>
      </dgm:t>
    </dgm:pt>
    <dgm:pt modelId="{D392BB97-C431-4832-B5D7-01AFC494DDB3}" type="sibTrans" cxnId="{82C97117-1B54-480C-B5C3-D61B08843DCF}">
      <dgm:prSet/>
      <dgm:spPr/>
      <dgm:t>
        <a:bodyPr/>
        <a:lstStyle/>
        <a:p>
          <a:endParaRPr lang="en-US"/>
        </a:p>
      </dgm:t>
    </dgm:pt>
    <dgm:pt modelId="{3B01AB8A-ED59-4650-B473-1C203C62532B}">
      <dgm:prSet/>
      <dgm:spPr/>
      <dgm:t>
        <a:bodyPr/>
        <a:lstStyle/>
        <a:p>
          <a:pPr>
            <a:defRPr cap="all"/>
          </a:pPr>
          <a:r>
            <a:rPr lang="en-US"/>
            <a:t>Get conclusions and present your results nicely.</a:t>
          </a:r>
        </a:p>
      </dgm:t>
    </dgm:pt>
    <dgm:pt modelId="{EC59DD94-E2D7-45EC-B7E2-CAF9D99E8A46}" type="parTrans" cxnId="{384428A6-7989-471C-9749-D093BC9C0E5F}">
      <dgm:prSet/>
      <dgm:spPr/>
      <dgm:t>
        <a:bodyPr/>
        <a:lstStyle/>
        <a:p>
          <a:endParaRPr lang="en-US"/>
        </a:p>
      </dgm:t>
    </dgm:pt>
    <dgm:pt modelId="{9DA78AEF-B92D-4618-A1A0-113EF8CD7D4D}" type="sibTrans" cxnId="{384428A6-7989-471C-9749-D093BC9C0E5F}">
      <dgm:prSet/>
      <dgm:spPr/>
      <dgm:t>
        <a:bodyPr/>
        <a:lstStyle/>
        <a:p>
          <a:endParaRPr lang="en-US"/>
        </a:p>
      </dgm:t>
    </dgm:pt>
    <dgm:pt modelId="{7D99F850-8933-4F44-9AB6-C032E054CA61}" type="pres">
      <dgm:prSet presAssocID="{F8A111EA-53DC-4C02-BE59-13DF3D66FBD4}" presName="root" presStyleCnt="0">
        <dgm:presLayoutVars>
          <dgm:dir/>
          <dgm:resizeHandles val="exact"/>
        </dgm:presLayoutVars>
      </dgm:prSet>
      <dgm:spPr/>
    </dgm:pt>
    <dgm:pt modelId="{79FCB45B-93C8-47E6-9278-F7CD4D5958FC}" type="pres">
      <dgm:prSet presAssocID="{2D5F74E0-C822-49CD-8CFE-707FB0847655}" presName="compNode" presStyleCnt="0"/>
      <dgm:spPr/>
    </dgm:pt>
    <dgm:pt modelId="{DBD93591-0375-4139-BAF9-361FE3AD7D75}" type="pres">
      <dgm:prSet presAssocID="{2D5F74E0-C822-49CD-8CFE-707FB0847655}" presName="iconBgRect" presStyleLbl="bgShp" presStyleIdx="0" presStyleCnt="2"/>
      <dgm:spPr/>
    </dgm:pt>
    <dgm:pt modelId="{2BF1F543-7C66-4874-B70F-AF41CA8D673F}" type="pres">
      <dgm:prSet presAssocID="{2D5F74E0-C822-49CD-8CFE-707FB084765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3C81A78C-D4E3-46F0-BAA3-2BD8A0E29DC2}" type="pres">
      <dgm:prSet presAssocID="{2D5F74E0-C822-49CD-8CFE-707FB0847655}" presName="spaceRect" presStyleCnt="0"/>
      <dgm:spPr/>
    </dgm:pt>
    <dgm:pt modelId="{EAF0CFA9-8F43-488B-B5C7-1643FBA7C213}" type="pres">
      <dgm:prSet presAssocID="{2D5F74E0-C822-49CD-8CFE-707FB0847655}" presName="textRect" presStyleLbl="revTx" presStyleIdx="0" presStyleCnt="2">
        <dgm:presLayoutVars>
          <dgm:chMax val="1"/>
          <dgm:chPref val="1"/>
        </dgm:presLayoutVars>
      </dgm:prSet>
      <dgm:spPr/>
    </dgm:pt>
    <dgm:pt modelId="{84F1C22C-D06B-47CE-A239-48F9E7C7A007}" type="pres">
      <dgm:prSet presAssocID="{D392BB97-C431-4832-B5D7-01AFC494DDB3}" presName="sibTrans" presStyleCnt="0"/>
      <dgm:spPr/>
    </dgm:pt>
    <dgm:pt modelId="{CBFFAEEA-5892-4A76-9B82-E29CB583406C}" type="pres">
      <dgm:prSet presAssocID="{3B01AB8A-ED59-4650-B473-1C203C62532B}" presName="compNode" presStyleCnt="0"/>
      <dgm:spPr/>
    </dgm:pt>
    <dgm:pt modelId="{387B307C-F67F-4CFD-8479-36826D48E7F7}" type="pres">
      <dgm:prSet presAssocID="{3B01AB8A-ED59-4650-B473-1C203C62532B}" presName="iconBgRect" presStyleLbl="bgShp" presStyleIdx="1" presStyleCnt="2"/>
      <dgm:spPr/>
    </dgm:pt>
    <dgm:pt modelId="{45E97AC5-2F81-40C5-8FCE-8961FBCEC47D}" type="pres">
      <dgm:prSet presAssocID="{3B01AB8A-ED59-4650-B473-1C203C62532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antalones"/>
        </a:ext>
      </dgm:extLst>
    </dgm:pt>
    <dgm:pt modelId="{060FB93C-EBED-461B-9DB6-52CA0EBA885F}" type="pres">
      <dgm:prSet presAssocID="{3B01AB8A-ED59-4650-B473-1C203C62532B}" presName="spaceRect" presStyleCnt="0"/>
      <dgm:spPr/>
    </dgm:pt>
    <dgm:pt modelId="{5690E80A-1CA3-4BE4-9DFE-C731F3E7A443}" type="pres">
      <dgm:prSet presAssocID="{3B01AB8A-ED59-4650-B473-1C203C62532B}" presName="textRect" presStyleLbl="revTx" presStyleIdx="1" presStyleCnt="2">
        <dgm:presLayoutVars>
          <dgm:chMax val="1"/>
          <dgm:chPref val="1"/>
        </dgm:presLayoutVars>
      </dgm:prSet>
      <dgm:spPr/>
    </dgm:pt>
  </dgm:ptLst>
  <dgm:cxnLst>
    <dgm:cxn modelId="{82C97117-1B54-480C-B5C3-D61B08843DCF}" srcId="{F8A111EA-53DC-4C02-BE59-13DF3D66FBD4}" destId="{2D5F74E0-C822-49CD-8CFE-707FB0847655}" srcOrd="0" destOrd="0" parTransId="{A45F39D4-5ABF-4624-8984-134D4BF81DF8}" sibTransId="{D392BB97-C431-4832-B5D7-01AFC494DDB3}"/>
    <dgm:cxn modelId="{D1277A17-9BC8-43B8-8B88-1332A4DE03E9}" type="presOf" srcId="{F8A111EA-53DC-4C02-BE59-13DF3D66FBD4}" destId="{7D99F850-8933-4F44-9AB6-C032E054CA61}" srcOrd="0" destOrd="0" presId="urn:microsoft.com/office/officeart/2018/5/layout/IconCircleLabelList"/>
    <dgm:cxn modelId="{DD939219-1A70-437E-BDCB-FA6AF1BB5D47}" type="presOf" srcId="{3B01AB8A-ED59-4650-B473-1C203C62532B}" destId="{5690E80A-1CA3-4BE4-9DFE-C731F3E7A443}" srcOrd="0" destOrd="0" presId="urn:microsoft.com/office/officeart/2018/5/layout/IconCircleLabelList"/>
    <dgm:cxn modelId="{384428A6-7989-471C-9749-D093BC9C0E5F}" srcId="{F8A111EA-53DC-4C02-BE59-13DF3D66FBD4}" destId="{3B01AB8A-ED59-4650-B473-1C203C62532B}" srcOrd="1" destOrd="0" parTransId="{EC59DD94-E2D7-45EC-B7E2-CAF9D99E8A46}" sibTransId="{9DA78AEF-B92D-4618-A1A0-113EF8CD7D4D}"/>
    <dgm:cxn modelId="{E7AF47D8-BD34-4C76-80FA-9DD91A8C94B9}" type="presOf" srcId="{2D5F74E0-C822-49CD-8CFE-707FB0847655}" destId="{EAF0CFA9-8F43-488B-B5C7-1643FBA7C213}" srcOrd="0" destOrd="0" presId="urn:microsoft.com/office/officeart/2018/5/layout/IconCircleLabelList"/>
    <dgm:cxn modelId="{1DDD6E6B-1964-43F7-9E7B-8D9ED723C673}" type="presParOf" srcId="{7D99F850-8933-4F44-9AB6-C032E054CA61}" destId="{79FCB45B-93C8-47E6-9278-F7CD4D5958FC}" srcOrd="0" destOrd="0" presId="urn:microsoft.com/office/officeart/2018/5/layout/IconCircleLabelList"/>
    <dgm:cxn modelId="{85639C20-20D9-4434-8E67-70B0A3826156}" type="presParOf" srcId="{79FCB45B-93C8-47E6-9278-F7CD4D5958FC}" destId="{DBD93591-0375-4139-BAF9-361FE3AD7D75}" srcOrd="0" destOrd="0" presId="urn:microsoft.com/office/officeart/2018/5/layout/IconCircleLabelList"/>
    <dgm:cxn modelId="{E036670C-7035-4A2B-B41E-E14E7D0336A5}" type="presParOf" srcId="{79FCB45B-93C8-47E6-9278-F7CD4D5958FC}" destId="{2BF1F543-7C66-4874-B70F-AF41CA8D673F}" srcOrd="1" destOrd="0" presId="urn:microsoft.com/office/officeart/2018/5/layout/IconCircleLabelList"/>
    <dgm:cxn modelId="{F58B3CE4-6CAE-40D4-A687-9E2191D70709}" type="presParOf" srcId="{79FCB45B-93C8-47E6-9278-F7CD4D5958FC}" destId="{3C81A78C-D4E3-46F0-BAA3-2BD8A0E29DC2}" srcOrd="2" destOrd="0" presId="urn:microsoft.com/office/officeart/2018/5/layout/IconCircleLabelList"/>
    <dgm:cxn modelId="{74DD2874-D2E9-4B0E-81D9-2681397E452B}" type="presParOf" srcId="{79FCB45B-93C8-47E6-9278-F7CD4D5958FC}" destId="{EAF0CFA9-8F43-488B-B5C7-1643FBA7C213}" srcOrd="3" destOrd="0" presId="urn:microsoft.com/office/officeart/2018/5/layout/IconCircleLabelList"/>
    <dgm:cxn modelId="{58B385BA-860E-4CCD-BE0A-863F7BD2E279}" type="presParOf" srcId="{7D99F850-8933-4F44-9AB6-C032E054CA61}" destId="{84F1C22C-D06B-47CE-A239-48F9E7C7A007}" srcOrd="1" destOrd="0" presId="urn:microsoft.com/office/officeart/2018/5/layout/IconCircleLabelList"/>
    <dgm:cxn modelId="{F8B78C14-3639-436F-8F73-255759F098F6}" type="presParOf" srcId="{7D99F850-8933-4F44-9AB6-C032E054CA61}" destId="{CBFFAEEA-5892-4A76-9B82-E29CB583406C}" srcOrd="2" destOrd="0" presId="urn:microsoft.com/office/officeart/2018/5/layout/IconCircleLabelList"/>
    <dgm:cxn modelId="{701BCD39-D14A-4F31-9826-EFDD596795CD}" type="presParOf" srcId="{CBFFAEEA-5892-4A76-9B82-E29CB583406C}" destId="{387B307C-F67F-4CFD-8479-36826D48E7F7}" srcOrd="0" destOrd="0" presId="urn:microsoft.com/office/officeart/2018/5/layout/IconCircleLabelList"/>
    <dgm:cxn modelId="{F263FD7C-ADF1-4EB0-9F24-6828DB7DB2B0}" type="presParOf" srcId="{CBFFAEEA-5892-4A76-9B82-E29CB583406C}" destId="{45E97AC5-2F81-40C5-8FCE-8961FBCEC47D}" srcOrd="1" destOrd="0" presId="urn:microsoft.com/office/officeart/2018/5/layout/IconCircleLabelList"/>
    <dgm:cxn modelId="{A431CE9D-5FAD-46F7-8090-514C88C13392}" type="presParOf" srcId="{CBFFAEEA-5892-4A76-9B82-E29CB583406C}" destId="{060FB93C-EBED-461B-9DB6-52CA0EBA885F}" srcOrd="2" destOrd="0" presId="urn:microsoft.com/office/officeart/2018/5/layout/IconCircleLabelList"/>
    <dgm:cxn modelId="{78F90530-80C7-4EDD-99A8-D83333E668BB}" type="presParOf" srcId="{CBFFAEEA-5892-4A76-9B82-E29CB583406C}" destId="{5690E80A-1CA3-4BE4-9DFE-C731F3E7A443}"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83F0B0F-18DC-4D68-88C3-621603EFFA07}" type="doc">
      <dgm:prSet loTypeId="urn:microsoft.com/office/officeart/2005/8/layout/list1" loCatId="list" qsTypeId="urn:microsoft.com/office/officeart/2005/8/quickstyle/simple1" qsCatId="simple" csTypeId="urn:microsoft.com/office/officeart/2005/8/colors/accent0_1" csCatId="mainScheme"/>
      <dgm:spPr/>
      <dgm:t>
        <a:bodyPr/>
        <a:lstStyle/>
        <a:p>
          <a:endParaRPr lang="en-US"/>
        </a:p>
      </dgm:t>
    </dgm:pt>
    <dgm:pt modelId="{5D30874E-33D9-4FDA-9D32-4818DEA96DC1}">
      <dgm:prSet/>
      <dgm:spPr/>
      <dgm:t>
        <a:bodyPr/>
        <a:lstStyle/>
        <a:p>
          <a:r>
            <a:rPr lang="en-US"/>
            <a:t>Indices of central tendency:</a:t>
          </a:r>
        </a:p>
      </dgm:t>
    </dgm:pt>
    <dgm:pt modelId="{02A25E27-391B-4265-945F-87A9C948A1A8}" type="parTrans" cxnId="{5B21A188-2C8A-4711-A1B1-EC57FDA09A17}">
      <dgm:prSet/>
      <dgm:spPr/>
      <dgm:t>
        <a:bodyPr/>
        <a:lstStyle/>
        <a:p>
          <a:endParaRPr lang="en-US"/>
        </a:p>
      </dgm:t>
    </dgm:pt>
    <dgm:pt modelId="{9D4E55C3-2C49-4AE0-961F-78137429CC89}" type="sibTrans" cxnId="{5B21A188-2C8A-4711-A1B1-EC57FDA09A17}">
      <dgm:prSet/>
      <dgm:spPr/>
      <dgm:t>
        <a:bodyPr/>
        <a:lstStyle/>
        <a:p>
          <a:endParaRPr lang="en-US"/>
        </a:p>
      </dgm:t>
    </dgm:pt>
    <dgm:pt modelId="{90560586-2A65-41CA-918A-6447C32E6043}">
      <dgm:prSet/>
      <dgm:spPr/>
      <dgm:t>
        <a:bodyPr/>
        <a:lstStyle/>
        <a:p>
          <a:r>
            <a:rPr lang="en-US"/>
            <a:t>Mean – the average value</a:t>
          </a:r>
        </a:p>
      </dgm:t>
    </dgm:pt>
    <dgm:pt modelId="{73333C4B-C07B-4521-8DEB-FEA47D194820}" type="parTrans" cxnId="{401FBEA0-01DF-4967-956B-2F69C7032DF1}">
      <dgm:prSet/>
      <dgm:spPr/>
      <dgm:t>
        <a:bodyPr/>
        <a:lstStyle/>
        <a:p>
          <a:endParaRPr lang="en-US"/>
        </a:p>
      </dgm:t>
    </dgm:pt>
    <dgm:pt modelId="{B225D32C-48BF-4B50-8013-2F0ECD4CA9EB}" type="sibTrans" cxnId="{401FBEA0-01DF-4967-956B-2F69C7032DF1}">
      <dgm:prSet/>
      <dgm:spPr/>
      <dgm:t>
        <a:bodyPr/>
        <a:lstStyle/>
        <a:p>
          <a:endParaRPr lang="en-US"/>
        </a:p>
      </dgm:t>
    </dgm:pt>
    <dgm:pt modelId="{881A9F89-D215-40C2-99DA-7C1C12148242}">
      <dgm:prSet/>
      <dgm:spPr/>
      <dgm:t>
        <a:bodyPr/>
        <a:lstStyle/>
        <a:p>
          <a:r>
            <a:rPr lang="en-US"/>
            <a:t>Median – the middle value</a:t>
          </a:r>
        </a:p>
      </dgm:t>
    </dgm:pt>
    <dgm:pt modelId="{42C6BA15-393D-42C8-BBCC-E194F16AA050}" type="parTrans" cxnId="{864E8EB2-71AF-4A2D-9B5B-1C0697F5984A}">
      <dgm:prSet/>
      <dgm:spPr/>
      <dgm:t>
        <a:bodyPr/>
        <a:lstStyle/>
        <a:p>
          <a:endParaRPr lang="en-US"/>
        </a:p>
      </dgm:t>
    </dgm:pt>
    <dgm:pt modelId="{202BFA21-4C5E-40CE-B40E-673B49968570}" type="sibTrans" cxnId="{864E8EB2-71AF-4A2D-9B5B-1C0697F5984A}">
      <dgm:prSet/>
      <dgm:spPr/>
      <dgm:t>
        <a:bodyPr/>
        <a:lstStyle/>
        <a:p>
          <a:endParaRPr lang="en-US"/>
        </a:p>
      </dgm:t>
    </dgm:pt>
    <dgm:pt modelId="{99E4C942-AF57-4CE2-B121-E27E3A28BE74}">
      <dgm:prSet/>
      <dgm:spPr/>
      <dgm:t>
        <a:bodyPr/>
        <a:lstStyle/>
        <a:p>
          <a:r>
            <a:rPr lang="en-US"/>
            <a:t>Mode – the most frequent value</a:t>
          </a:r>
        </a:p>
      </dgm:t>
    </dgm:pt>
    <dgm:pt modelId="{86A228BB-5E11-4A96-B68E-B7FF61266F39}" type="parTrans" cxnId="{AFB6E637-9929-49FE-88B2-597D0FFCE605}">
      <dgm:prSet/>
      <dgm:spPr/>
      <dgm:t>
        <a:bodyPr/>
        <a:lstStyle/>
        <a:p>
          <a:endParaRPr lang="en-US"/>
        </a:p>
      </dgm:t>
    </dgm:pt>
    <dgm:pt modelId="{2ACC1387-4A1D-455C-AF62-F33531D83C2E}" type="sibTrans" cxnId="{AFB6E637-9929-49FE-88B2-597D0FFCE605}">
      <dgm:prSet/>
      <dgm:spPr/>
      <dgm:t>
        <a:bodyPr/>
        <a:lstStyle/>
        <a:p>
          <a:endParaRPr lang="en-US"/>
        </a:p>
      </dgm:t>
    </dgm:pt>
    <dgm:pt modelId="{4DD19CCA-E308-4FCB-B00A-CDC9F601EE5A}">
      <dgm:prSet/>
      <dgm:spPr/>
      <dgm:t>
        <a:bodyPr/>
        <a:lstStyle/>
        <a:p>
          <a:r>
            <a:rPr lang="en-US"/>
            <a:t>Indices of Variability:</a:t>
          </a:r>
        </a:p>
      </dgm:t>
    </dgm:pt>
    <dgm:pt modelId="{DCADD936-B947-4BDC-9D3B-414723901DBF}" type="parTrans" cxnId="{455BB506-77DF-4E07-86A3-41F9087943AC}">
      <dgm:prSet/>
      <dgm:spPr/>
      <dgm:t>
        <a:bodyPr/>
        <a:lstStyle/>
        <a:p>
          <a:endParaRPr lang="en-US"/>
        </a:p>
      </dgm:t>
    </dgm:pt>
    <dgm:pt modelId="{ABB0730F-A6FB-41DD-8DBC-45B6F41EC2E4}" type="sibTrans" cxnId="{455BB506-77DF-4E07-86A3-41F9087943AC}">
      <dgm:prSet/>
      <dgm:spPr/>
      <dgm:t>
        <a:bodyPr/>
        <a:lstStyle/>
        <a:p>
          <a:endParaRPr lang="en-US"/>
        </a:p>
      </dgm:t>
    </dgm:pt>
    <dgm:pt modelId="{EADD1210-092E-45E4-BB7A-0744652A4CF7}">
      <dgm:prSet/>
      <dgm:spPr/>
      <dgm:t>
        <a:bodyPr/>
        <a:lstStyle/>
        <a:p>
          <a:r>
            <a:rPr lang="en-US"/>
            <a:t>Variance – the spread around the mean</a:t>
          </a:r>
        </a:p>
      </dgm:t>
    </dgm:pt>
    <dgm:pt modelId="{61D2D404-41C8-4439-8FB6-CA271CB63577}" type="parTrans" cxnId="{494BA90E-C6D6-4F13-8C46-2C3C378B2BA2}">
      <dgm:prSet/>
      <dgm:spPr/>
      <dgm:t>
        <a:bodyPr/>
        <a:lstStyle/>
        <a:p>
          <a:endParaRPr lang="en-US"/>
        </a:p>
      </dgm:t>
    </dgm:pt>
    <dgm:pt modelId="{847A7B50-50FC-4BB9-9658-8BB05958C7D3}" type="sibTrans" cxnId="{494BA90E-C6D6-4F13-8C46-2C3C378B2BA2}">
      <dgm:prSet/>
      <dgm:spPr/>
      <dgm:t>
        <a:bodyPr/>
        <a:lstStyle/>
        <a:p>
          <a:endParaRPr lang="en-US"/>
        </a:p>
      </dgm:t>
    </dgm:pt>
    <dgm:pt modelId="{3C05373F-4B34-454A-8E62-BCBBA911E07C}">
      <dgm:prSet/>
      <dgm:spPr/>
      <dgm:t>
        <a:bodyPr/>
        <a:lstStyle/>
        <a:p>
          <a:r>
            <a:rPr lang="en-US"/>
            <a:t>Standard deviation </a:t>
          </a:r>
        </a:p>
      </dgm:t>
    </dgm:pt>
    <dgm:pt modelId="{B35D1E08-83B4-44E2-BFAF-C3CA3B40BD04}" type="parTrans" cxnId="{8DFF9B8E-92FE-4308-9CDF-E8F391060849}">
      <dgm:prSet/>
      <dgm:spPr/>
      <dgm:t>
        <a:bodyPr/>
        <a:lstStyle/>
        <a:p>
          <a:endParaRPr lang="en-US"/>
        </a:p>
      </dgm:t>
    </dgm:pt>
    <dgm:pt modelId="{095F9FD2-1699-4286-9560-DA702A9FCA2C}" type="sibTrans" cxnId="{8DFF9B8E-92FE-4308-9CDF-E8F391060849}">
      <dgm:prSet/>
      <dgm:spPr/>
      <dgm:t>
        <a:bodyPr/>
        <a:lstStyle/>
        <a:p>
          <a:endParaRPr lang="en-US"/>
        </a:p>
      </dgm:t>
    </dgm:pt>
    <dgm:pt modelId="{77D04C78-E8D1-4EC6-B3B3-32313F10C84F}">
      <dgm:prSet/>
      <dgm:spPr/>
      <dgm:t>
        <a:bodyPr/>
        <a:lstStyle/>
        <a:p>
          <a:r>
            <a:rPr lang="en-US"/>
            <a:t>Standard error of the mean (estimate)</a:t>
          </a:r>
        </a:p>
      </dgm:t>
    </dgm:pt>
    <dgm:pt modelId="{F28B9BF5-9FD6-4BDC-B681-719CAE2E1D04}" type="parTrans" cxnId="{1505BD09-B21F-4699-B80B-D41391C78BF2}">
      <dgm:prSet/>
      <dgm:spPr/>
      <dgm:t>
        <a:bodyPr/>
        <a:lstStyle/>
        <a:p>
          <a:endParaRPr lang="en-US"/>
        </a:p>
      </dgm:t>
    </dgm:pt>
    <dgm:pt modelId="{C06A2EA1-AD9F-4336-9B10-2449BEBC7BCD}" type="sibTrans" cxnId="{1505BD09-B21F-4699-B80B-D41391C78BF2}">
      <dgm:prSet/>
      <dgm:spPr/>
      <dgm:t>
        <a:bodyPr/>
        <a:lstStyle/>
        <a:p>
          <a:endParaRPr lang="en-US"/>
        </a:p>
      </dgm:t>
    </dgm:pt>
    <dgm:pt modelId="{9A5FDE06-9244-419A-928F-3563C616ED9A}" type="pres">
      <dgm:prSet presAssocID="{883F0B0F-18DC-4D68-88C3-621603EFFA07}" presName="linear" presStyleCnt="0">
        <dgm:presLayoutVars>
          <dgm:dir/>
          <dgm:animLvl val="lvl"/>
          <dgm:resizeHandles val="exact"/>
        </dgm:presLayoutVars>
      </dgm:prSet>
      <dgm:spPr/>
    </dgm:pt>
    <dgm:pt modelId="{6155B919-5157-4059-B202-5428EE7C8706}" type="pres">
      <dgm:prSet presAssocID="{5D30874E-33D9-4FDA-9D32-4818DEA96DC1}" presName="parentLin" presStyleCnt="0"/>
      <dgm:spPr/>
    </dgm:pt>
    <dgm:pt modelId="{69AB2E0B-FB52-435B-8CAA-4AF868A40117}" type="pres">
      <dgm:prSet presAssocID="{5D30874E-33D9-4FDA-9D32-4818DEA96DC1}" presName="parentLeftMargin" presStyleLbl="node1" presStyleIdx="0" presStyleCnt="2"/>
      <dgm:spPr/>
    </dgm:pt>
    <dgm:pt modelId="{6C99C29C-4470-40CC-9BAF-7727FE2332F6}" type="pres">
      <dgm:prSet presAssocID="{5D30874E-33D9-4FDA-9D32-4818DEA96DC1}" presName="parentText" presStyleLbl="node1" presStyleIdx="0" presStyleCnt="2">
        <dgm:presLayoutVars>
          <dgm:chMax val="0"/>
          <dgm:bulletEnabled val="1"/>
        </dgm:presLayoutVars>
      </dgm:prSet>
      <dgm:spPr/>
    </dgm:pt>
    <dgm:pt modelId="{E7C3E9D6-A982-4CEE-8173-8E618B02D605}" type="pres">
      <dgm:prSet presAssocID="{5D30874E-33D9-4FDA-9D32-4818DEA96DC1}" presName="negativeSpace" presStyleCnt="0"/>
      <dgm:spPr/>
    </dgm:pt>
    <dgm:pt modelId="{0EC5919E-D07D-422D-8400-C022CD5246EB}" type="pres">
      <dgm:prSet presAssocID="{5D30874E-33D9-4FDA-9D32-4818DEA96DC1}" presName="childText" presStyleLbl="conFgAcc1" presStyleIdx="0" presStyleCnt="2">
        <dgm:presLayoutVars>
          <dgm:bulletEnabled val="1"/>
        </dgm:presLayoutVars>
      </dgm:prSet>
      <dgm:spPr/>
    </dgm:pt>
    <dgm:pt modelId="{3EBF0568-C308-400A-AD90-969686223ED1}" type="pres">
      <dgm:prSet presAssocID="{9D4E55C3-2C49-4AE0-961F-78137429CC89}" presName="spaceBetweenRectangles" presStyleCnt="0"/>
      <dgm:spPr/>
    </dgm:pt>
    <dgm:pt modelId="{2ACF2A4F-2688-4BBA-A276-4A33D30E2408}" type="pres">
      <dgm:prSet presAssocID="{4DD19CCA-E308-4FCB-B00A-CDC9F601EE5A}" presName="parentLin" presStyleCnt="0"/>
      <dgm:spPr/>
    </dgm:pt>
    <dgm:pt modelId="{24594200-BA77-49EA-B871-E7645C38F5E1}" type="pres">
      <dgm:prSet presAssocID="{4DD19CCA-E308-4FCB-B00A-CDC9F601EE5A}" presName="parentLeftMargin" presStyleLbl="node1" presStyleIdx="0" presStyleCnt="2"/>
      <dgm:spPr/>
    </dgm:pt>
    <dgm:pt modelId="{4A40BEBF-966B-4D23-8252-AFEA42675A10}" type="pres">
      <dgm:prSet presAssocID="{4DD19CCA-E308-4FCB-B00A-CDC9F601EE5A}" presName="parentText" presStyleLbl="node1" presStyleIdx="1" presStyleCnt="2">
        <dgm:presLayoutVars>
          <dgm:chMax val="0"/>
          <dgm:bulletEnabled val="1"/>
        </dgm:presLayoutVars>
      </dgm:prSet>
      <dgm:spPr/>
    </dgm:pt>
    <dgm:pt modelId="{2C3B6762-A58E-4F22-83C2-E6B1D1C869D6}" type="pres">
      <dgm:prSet presAssocID="{4DD19CCA-E308-4FCB-B00A-CDC9F601EE5A}" presName="negativeSpace" presStyleCnt="0"/>
      <dgm:spPr/>
    </dgm:pt>
    <dgm:pt modelId="{556E7521-9FB0-414E-89D0-5A2C948A527A}" type="pres">
      <dgm:prSet presAssocID="{4DD19CCA-E308-4FCB-B00A-CDC9F601EE5A}" presName="childText" presStyleLbl="conFgAcc1" presStyleIdx="1" presStyleCnt="2">
        <dgm:presLayoutVars>
          <dgm:bulletEnabled val="1"/>
        </dgm:presLayoutVars>
      </dgm:prSet>
      <dgm:spPr/>
    </dgm:pt>
  </dgm:ptLst>
  <dgm:cxnLst>
    <dgm:cxn modelId="{A6366F02-3DD9-4D6B-9E3E-FAC6F9518DE0}" type="presOf" srcId="{4DD19CCA-E308-4FCB-B00A-CDC9F601EE5A}" destId="{24594200-BA77-49EA-B871-E7645C38F5E1}" srcOrd="0" destOrd="0" presId="urn:microsoft.com/office/officeart/2005/8/layout/list1"/>
    <dgm:cxn modelId="{455BB506-77DF-4E07-86A3-41F9087943AC}" srcId="{883F0B0F-18DC-4D68-88C3-621603EFFA07}" destId="{4DD19CCA-E308-4FCB-B00A-CDC9F601EE5A}" srcOrd="1" destOrd="0" parTransId="{DCADD936-B947-4BDC-9D3B-414723901DBF}" sibTransId="{ABB0730F-A6FB-41DD-8DBC-45B6F41EC2E4}"/>
    <dgm:cxn modelId="{1505BD09-B21F-4699-B80B-D41391C78BF2}" srcId="{4DD19CCA-E308-4FCB-B00A-CDC9F601EE5A}" destId="{77D04C78-E8D1-4EC6-B3B3-32313F10C84F}" srcOrd="2" destOrd="0" parTransId="{F28B9BF5-9FD6-4BDC-B681-719CAE2E1D04}" sibTransId="{C06A2EA1-AD9F-4336-9B10-2449BEBC7BCD}"/>
    <dgm:cxn modelId="{494BA90E-C6D6-4F13-8C46-2C3C378B2BA2}" srcId="{4DD19CCA-E308-4FCB-B00A-CDC9F601EE5A}" destId="{EADD1210-092E-45E4-BB7A-0744652A4CF7}" srcOrd="0" destOrd="0" parTransId="{61D2D404-41C8-4439-8FB6-CA271CB63577}" sibTransId="{847A7B50-50FC-4BB9-9658-8BB05958C7D3}"/>
    <dgm:cxn modelId="{CD673718-6BD7-4001-B2EB-6B719F080DE5}" type="presOf" srcId="{5D30874E-33D9-4FDA-9D32-4818DEA96DC1}" destId="{69AB2E0B-FB52-435B-8CAA-4AF868A40117}" srcOrd="0" destOrd="0" presId="urn:microsoft.com/office/officeart/2005/8/layout/list1"/>
    <dgm:cxn modelId="{834AC12B-D2A2-4C8D-A0AA-8057AADCD3E1}" type="presOf" srcId="{77D04C78-E8D1-4EC6-B3B3-32313F10C84F}" destId="{556E7521-9FB0-414E-89D0-5A2C948A527A}" srcOrd="0" destOrd="2" presId="urn:microsoft.com/office/officeart/2005/8/layout/list1"/>
    <dgm:cxn modelId="{C5B72E37-56AA-4D9A-92D9-274F5258C62E}" type="presOf" srcId="{99E4C942-AF57-4CE2-B121-E27E3A28BE74}" destId="{0EC5919E-D07D-422D-8400-C022CD5246EB}" srcOrd="0" destOrd="2" presId="urn:microsoft.com/office/officeart/2005/8/layout/list1"/>
    <dgm:cxn modelId="{AFB6E637-9929-49FE-88B2-597D0FFCE605}" srcId="{5D30874E-33D9-4FDA-9D32-4818DEA96DC1}" destId="{99E4C942-AF57-4CE2-B121-E27E3A28BE74}" srcOrd="2" destOrd="0" parTransId="{86A228BB-5E11-4A96-B68E-B7FF61266F39}" sibTransId="{2ACC1387-4A1D-455C-AF62-F33531D83C2E}"/>
    <dgm:cxn modelId="{2B256742-CD89-459F-988E-42094E3FE226}" type="presOf" srcId="{881A9F89-D215-40C2-99DA-7C1C12148242}" destId="{0EC5919E-D07D-422D-8400-C022CD5246EB}" srcOrd="0" destOrd="1" presId="urn:microsoft.com/office/officeart/2005/8/layout/list1"/>
    <dgm:cxn modelId="{8D1DD44A-A6DE-4A60-BB21-DC45EA82DA66}" type="presOf" srcId="{883F0B0F-18DC-4D68-88C3-621603EFFA07}" destId="{9A5FDE06-9244-419A-928F-3563C616ED9A}" srcOrd="0" destOrd="0" presId="urn:microsoft.com/office/officeart/2005/8/layout/list1"/>
    <dgm:cxn modelId="{3C62B170-5E87-4F84-9573-F70995CFA3E7}" type="presOf" srcId="{3C05373F-4B34-454A-8E62-BCBBA911E07C}" destId="{556E7521-9FB0-414E-89D0-5A2C948A527A}" srcOrd="0" destOrd="1" presId="urn:microsoft.com/office/officeart/2005/8/layout/list1"/>
    <dgm:cxn modelId="{79693072-5B5A-434A-BB45-B3E03A1261E9}" type="presOf" srcId="{EADD1210-092E-45E4-BB7A-0744652A4CF7}" destId="{556E7521-9FB0-414E-89D0-5A2C948A527A}" srcOrd="0" destOrd="0" presId="urn:microsoft.com/office/officeart/2005/8/layout/list1"/>
    <dgm:cxn modelId="{D8B52174-3AEC-4729-8512-BAA8631A0714}" type="presOf" srcId="{90560586-2A65-41CA-918A-6447C32E6043}" destId="{0EC5919E-D07D-422D-8400-C022CD5246EB}" srcOrd="0" destOrd="0" presId="urn:microsoft.com/office/officeart/2005/8/layout/list1"/>
    <dgm:cxn modelId="{5B21A188-2C8A-4711-A1B1-EC57FDA09A17}" srcId="{883F0B0F-18DC-4D68-88C3-621603EFFA07}" destId="{5D30874E-33D9-4FDA-9D32-4818DEA96DC1}" srcOrd="0" destOrd="0" parTransId="{02A25E27-391B-4265-945F-87A9C948A1A8}" sibTransId="{9D4E55C3-2C49-4AE0-961F-78137429CC89}"/>
    <dgm:cxn modelId="{2C854C8E-F0C1-415C-B661-F8283FC71248}" type="presOf" srcId="{5D30874E-33D9-4FDA-9D32-4818DEA96DC1}" destId="{6C99C29C-4470-40CC-9BAF-7727FE2332F6}" srcOrd="1" destOrd="0" presId="urn:microsoft.com/office/officeart/2005/8/layout/list1"/>
    <dgm:cxn modelId="{8DFF9B8E-92FE-4308-9CDF-E8F391060849}" srcId="{4DD19CCA-E308-4FCB-B00A-CDC9F601EE5A}" destId="{3C05373F-4B34-454A-8E62-BCBBA911E07C}" srcOrd="1" destOrd="0" parTransId="{B35D1E08-83B4-44E2-BFAF-C3CA3B40BD04}" sibTransId="{095F9FD2-1699-4286-9560-DA702A9FCA2C}"/>
    <dgm:cxn modelId="{401FBEA0-01DF-4967-956B-2F69C7032DF1}" srcId="{5D30874E-33D9-4FDA-9D32-4818DEA96DC1}" destId="{90560586-2A65-41CA-918A-6447C32E6043}" srcOrd="0" destOrd="0" parTransId="{73333C4B-C07B-4521-8DEB-FEA47D194820}" sibTransId="{B225D32C-48BF-4B50-8013-2F0ECD4CA9EB}"/>
    <dgm:cxn modelId="{864E8EB2-71AF-4A2D-9B5B-1C0697F5984A}" srcId="{5D30874E-33D9-4FDA-9D32-4818DEA96DC1}" destId="{881A9F89-D215-40C2-99DA-7C1C12148242}" srcOrd="1" destOrd="0" parTransId="{42C6BA15-393D-42C8-BBCC-E194F16AA050}" sibTransId="{202BFA21-4C5E-40CE-B40E-673B49968570}"/>
    <dgm:cxn modelId="{7B2D14FD-4447-4EF8-B92E-E3EA8E4AB7EC}" type="presOf" srcId="{4DD19CCA-E308-4FCB-B00A-CDC9F601EE5A}" destId="{4A40BEBF-966B-4D23-8252-AFEA42675A10}" srcOrd="1" destOrd="0" presId="urn:microsoft.com/office/officeart/2005/8/layout/list1"/>
    <dgm:cxn modelId="{C04B131C-46D1-4A58-B1DF-3D51319E5853}" type="presParOf" srcId="{9A5FDE06-9244-419A-928F-3563C616ED9A}" destId="{6155B919-5157-4059-B202-5428EE7C8706}" srcOrd="0" destOrd="0" presId="urn:microsoft.com/office/officeart/2005/8/layout/list1"/>
    <dgm:cxn modelId="{B4A49DC1-D22E-46BD-BCA4-1030AB8F74EB}" type="presParOf" srcId="{6155B919-5157-4059-B202-5428EE7C8706}" destId="{69AB2E0B-FB52-435B-8CAA-4AF868A40117}" srcOrd="0" destOrd="0" presId="urn:microsoft.com/office/officeart/2005/8/layout/list1"/>
    <dgm:cxn modelId="{39FBEC05-1257-4795-8C65-D5275BC8AD4A}" type="presParOf" srcId="{6155B919-5157-4059-B202-5428EE7C8706}" destId="{6C99C29C-4470-40CC-9BAF-7727FE2332F6}" srcOrd="1" destOrd="0" presId="urn:microsoft.com/office/officeart/2005/8/layout/list1"/>
    <dgm:cxn modelId="{5A4E30AC-F9C2-487F-9D2E-60C64D1C3549}" type="presParOf" srcId="{9A5FDE06-9244-419A-928F-3563C616ED9A}" destId="{E7C3E9D6-A982-4CEE-8173-8E618B02D605}" srcOrd="1" destOrd="0" presId="urn:microsoft.com/office/officeart/2005/8/layout/list1"/>
    <dgm:cxn modelId="{5948986F-A7B8-421D-92A4-8BC8EA442626}" type="presParOf" srcId="{9A5FDE06-9244-419A-928F-3563C616ED9A}" destId="{0EC5919E-D07D-422D-8400-C022CD5246EB}" srcOrd="2" destOrd="0" presId="urn:microsoft.com/office/officeart/2005/8/layout/list1"/>
    <dgm:cxn modelId="{71BE199F-8E82-4370-AD38-D2E610D870A5}" type="presParOf" srcId="{9A5FDE06-9244-419A-928F-3563C616ED9A}" destId="{3EBF0568-C308-400A-AD90-969686223ED1}" srcOrd="3" destOrd="0" presId="urn:microsoft.com/office/officeart/2005/8/layout/list1"/>
    <dgm:cxn modelId="{162C6A62-62E0-4506-9C6C-ACA7E5CE3D80}" type="presParOf" srcId="{9A5FDE06-9244-419A-928F-3563C616ED9A}" destId="{2ACF2A4F-2688-4BBA-A276-4A33D30E2408}" srcOrd="4" destOrd="0" presId="urn:microsoft.com/office/officeart/2005/8/layout/list1"/>
    <dgm:cxn modelId="{8443EDAE-487A-4FC9-BA1E-7C5BD0ADEEE7}" type="presParOf" srcId="{2ACF2A4F-2688-4BBA-A276-4A33D30E2408}" destId="{24594200-BA77-49EA-B871-E7645C38F5E1}" srcOrd="0" destOrd="0" presId="urn:microsoft.com/office/officeart/2005/8/layout/list1"/>
    <dgm:cxn modelId="{E8D7D526-222B-4BF9-9250-1F8C074DD8C1}" type="presParOf" srcId="{2ACF2A4F-2688-4BBA-A276-4A33D30E2408}" destId="{4A40BEBF-966B-4D23-8252-AFEA42675A10}" srcOrd="1" destOrd="0" presId="urn:microsoft.com/office/officeart/2005/8/layout/list1"/>
    <dgm:cxn modelId="{928EB9F8-B344-4E57-B833-C1C9A775702E}" type="presParOf" srcId="{9A5FDE06-9244-419A-928F-3563C616ED9A}" destId="{2C3B6762-A58E-4F22-83C2-E6B1D1C869D6}" srcOrd="5" destOrd="0" presId="urn:microsoft.com/office/officeart/2005/8/layout/list1"/>
    <dgm:cxn modelId="{E07E6074-5318-4439-8C72-E7A04758A727}" type="presParOf" srcId="{9A5FDE06-9244-419A-928F-3563C616ED9A}" destId="{556E7521-9FB0-414E-89D0-5A2C948A527A}"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F624B1B-F177-4257-8C41-59419FB3BC16}" type="doc">
      <dgm:prSet loTypeId="urn:microsoft.com/office/officeart/2018/5/layout/IconCircle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6446F56C-7085-4AF9-879F-838FD0AEEEE0}">
      <dgm:prSet/>
      <dgm:spPr/>
      <dgm:t>
        <a:bodyPr/>
        <a:lstStyle/>
        <a:p>
          <a:pPr>
            <a:defRPr cap="all"/>
          </a:pPr>
          <a:r>
            <a:rPr lang="en-US"/>
            <a:t>If you find a mistake, fix it.</a:t>
          </a:r>
        </a:p>
      </dgm:t>
    </dgm:pt>
    <dgm:pt modelId="{BEC97AB7-E75E-4015-B340-43764C938B31}" type="parTrans" cxnId="{0A7963B6-9593-4F29-852D-4AA7888CD14E}">
      <dgm:prSet/>
      <dgm:spPr/>
      <dgm:t>
        <a:bodyPr/>
        <a:lstStyle/>
        <a:p>
          <a:endParaRPr lang="en-US"/>
        </a:p>
      </dgm:t>
    </dgm:pt>
    <dgm:pt modelId="{E15B3B04-4283-45DE-A39A-5ABC40569252}" type="sibTrans" cxnId="{0A7963B6-9593-4F29-852D-4AA7888CD14E}">
      <dgm:prSet/>
      <dgm:spPr/>
      <dgm:t>
        <a:bodyPr/>
        <a:lstStyle/>
        <a:p>
          <a:endParaRPr lang="en-US"/>
        </a:p>
      </dgm:t>
    </dgm:pt>
    <dgm:pt modelId="{438C7047-62EF-40F0-A593-39CF3B934441}">
      <dgm:prSet/>
      <dgm:spPr/>
      <dgm:t>
        <a:bodyPr/>
        <a:lstStyle/>
        <a:p>
          <a:pPr>
            <a:defRPr cap="all"/>
          </a:pPr>
          <a:r>
            <a:rPr lang="en-US"/>
            <a:t>If you find an outlier, trim it or delete it.</a:t>
          </a:r>
        </a:p>
      </dgm:t>
    </dgm:pt>
    <dgm:pt modelId="{B4CF3E81-E746-4033-BBDF-C53856094C58}" type="parTrans" cxnId="{B4FC47B7-C3CF-4A5F-B2F9-DC9B44F32D52}">
      <dgm:prSet/>
      <dgm:spPr/>
      <dgm:t>
        <a:bodyPr/>
        <a:lstStyle/>
        <a:p>
          <a:endParaRPr lang="en-US"/>
        </a:p>
      </dgm:t>
    </dgm:pt>
    <dgm:pt modelId="{85B476B6-AAD7-43A2-AFAA-867AF4F52C24}" type="sibTrans" cxnId="{B4FC47B7-C3CF-4A5F-B2F9-DC9B44F32D52}">
      <dgm:prSet/>
      <dgm:spPr/>
      <dgm:t>
        <a:bodyPr/>
        <a:lstStyle/>
        <a:p>
          <a:endParaRPr lang="en-US"/>
        </a:p>
      </dgm:t>
    </dgm:pt>
    <dgm:pt modelId="{1F3FF82A-A2DE-45E7-8491-3093FAA4DAD5}">
      <dgm:prSet/>
      <dgm:spPr/>
      <dgm:t>
        <a:bodyPr/>
        <a:lstStyle/>
        <a:p>
          <a:pPr>
            <a:defRPr cap="all"/>
          </a:pPr>
          <a:r>
            <a:rPr lang="en-US"/>
            <a:t>If your distributions are askew, transform the data.</a:t>
          </a:r>
        </a:p>
      </dgm:t>
    </dgm:pt>
    <dgm:pt modelId="{C290FE4A-ACC2-4811-A7D6-EDB931414F7E}" type="parTrans" cxnId="{6A018739-844F-484B-95AE-012B0C53AEF3}">
      <dgm:prSet/>
      <dgm:spPr/>
      <dgm:t>
        <a:bodyPr/>
        <a:lstStyle/>
        <a:p>
          <a:endParaRPr lang="en-US"/>
        </a:p>
      </dgm:t>
    </dgm:pt>
    <dgm:pt modelId="{064517DB-68BF-4CFE-8433-965CB3798181}" type="sibTrans" cxnId="{6A018739-844F-484B-95AE-012B0C53AEF3}">
      <dgm:prSet/>
      <dgm:spPr/>
      <dgm:t>
        <a:bodyPr/>
        <a:lstStyle/>
        <a:p>
          <a:endParaRPr lang="en-US"/>
        </a:p>
      </dgm:t>
    </dgm:pt>
    <dgm:pt modelId="{6AAC6A3B-BEA7-42C0-BEB1-BA35FEFE68A8}" type="pres">
      <dgm:prSet presAssocID="{DF624B1B-F177-4257-8C41-59419FB3BC16}" presName="root" presStyleCnt="0">
        <dgm:presLayoutVars>
          <dgm:dir/>
          <dgm:resizeHandles val="exact"/>
        </dgm:presLayoutVars>
      </dgm:prSet>
      <dgm:spPr/>
    </dgm:pt>
    <dgm:pt modelId="{4E1FC666-2BD5-48A9-842E-6935DC0A0829}" type="pres">
      <dgm:prSet presAssocID="{6446F56C-7085-4AF9-879F-838FD0AEEEE0}" presName="compNode" presStyleCnt="0"/>
      <dgm:spPr/>
    </dgm:pt>
    <dgm:pt modelId="{57E5D915-219E-4281-ABFB-CDBAECA2A418}" type="pres">
      <dgm:prSet presAssocID="{6446F56C-7085-4AF9-879F-838FD0AEEEE0}" presName="iconBgRect" presStyleLbl="bgShp" presStyleIdx="0" presStyleCnt="3"/>
      <dgm:spPr/>
    </dgm:pt>
    <dgm:pt modelId="{BE196C37-157E-4804-A450-12156F906E3D}" type="pres">
      <dgm:prSet presAssocID="{6446F56C-7085-4AF9-879F-838FD0AEEEE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Open Quotation Mark"/>
        </a:ext>
      </dgm:extLst>
    </dgm:pt>
    <dgm:pt modelId="{59141E2A-0246-4D21-B17E-B381957E81EC}" type="pres">
      <dgm:prSet presAssocID="{6446F56C-7085-4AF9-879F-838FD0AEEEE0}" presName="spaceRect" presStyleCnt="0"/>
      <dgm:spPr/>
    </dgm:pt>
    <dgm:pt modelId="{031819C6-70AC-4DB2-A5B7-31B87150F6C2}" type="pres">
      <dgm:prSet presAssocID="{6446F56C-7085-4AF9-879F-838FD0AEEEE0}" presName="textRect" presStyleLbl="revTx" presStyleIdx="0" presStyleCnt="3">
        <dgm:presLayoutVars>
          <dgm:chMax val="1"/>
          <dgm:chPref val="1"/>
        </dgm:presLayoutVars>
      </dgm:prSet>
      <dgm:spPr/>
    </dgm:pt>
    <dgm:pt modelId="{1BB34FE3-293B-4357-B9CE-465393E2CDEE}" type="pres">
      <dgm:prSet presAssocID="{E15B3B04-4283-45DE-A39A-5ABC40569252}" presName="sibTrans" presStyleCnt="0"/>
      <dgm:spPr/>
    </dgm:pt>
    <dgm:pt modelId="{27EF8B75-E5CC-4996-9FA9-0498DB1C4614}" type="pres">
      <dgm:prSet presAssocID="{438C7047-62EF-40F0-A593-39CF3B934441}" presName="compNode" presStyleCnt="0"/>
      <dgm:spPr/>
    </dgm:pt>
    <dgm:pt modelId="{32E53F50-9FB8-4678-B6B4-CF95D43106D3}" type="pres">
      <dgm:prSet presAssocID="{438C7047-62EF-40F0-A593-39CF3B934441}" presName="iconBgRect" presStyleLbl="bgShp" presStyleIdx="1" presStyleCnt="3"/>
      <dgm:spPr/>
    </dgm:pt>
    <dgm:pt modelId="{2BB49D1A-7116-4A7C-9011-DDEA16D7C55D}" type="pres">
      <dgm:prSet presAssocID="{438C7047-62EF-40F0-A593-39CF3B93444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Estadísticas"/>
        </a:ext>
      </dgm:extLst>
    </dgm:pt>
    <dgm:pt modelId="{B4DC5872-4453-4CA8-A27B-24B1CF871884}" type="pres">
      <dgm:prSet presAssocID="{438C7047-62EF-40F0-A593-39CF3B934441}" presName="spaceRect" presStyleCnt="0"/>
      <dgm:spPr/>
    </dgm:pt>
    <dgm:pt modelId="{2B363A2F-16F1-4C14-A752-F6ADBB07C25A}" type="pres">
      <dgm:prSet presAssocID="{438C7047-62EF-40F0-A593-39CF3B934441}" presName="textRect" presStyleLbl="revTx" presStyleIdx="1" presStyleCnt="3">
        <dgm:presLayoutVars>
          <dgm:chMax val="1"/>
          <dgm:chPref val="1"/>
        </dgm:presLayoutVars>
      </dgm:prSet>
      <dgm:spPr/>
    </dgm:pt>
    <dgm:pt modelId="{5A79BF50-4639-4138-AB17-38DF8CA74DE0}" type="pres">
      <dgm:prSet presAssocID="{85B476B6-AAD7-43A2-AFAA-867AF4F52C24}" presName="sibTrans" presStyleCnt="0"/>
      <dgm:spPr/>
    </dgm:pt>
    <dgm:pt modelId="{5847F156-AB52-4E7F-A259-B01098BB2984}" type="pres">
      <dgm:prSet presAssocID="{1F3FF82A-A2DE-45E7-8491-3093FAA4DAD5}" presName="compNode" presStyleCnt="0"/>
      <dgm:spPr/>
    </dgm:pt>
    <dgm:pt modelId="{54D611DD-864A-4A63-AC7B-1DCCEEA75681}" type="pres">
      <dgm:prSet presAssocID="{1F3FF82A-A2DE-45E7-8491-3093FAA4DAD5}" presName="iconBgRect" presStyleLbl="bgShp" presStyleIdx="2" presStyleCnt="3"/>
      <dgm:spPr/>
    </dgm:pt>
    <dgm:pt modelId="{37A33201-2831-4033-B7D4-734C2FB75D6D}" type="pres">
      <dgm:prSet presAssocID="{1F3FF82A-A2DE-45E7-8491-3093FAA4DAD5}"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yncing Cloud"/>
        </a:ext>
      </dgm:extLst>
    </dgm:pt>
    <dgm:pt modelId="{86FA433A-A5FD-4B7F-A4BB-DB8FD98C5968}" type="pres">
      <dgm:prSet presAssocID="{1F3FF82A-A2DE-45E7-8491-3093FAA4DAD5}" presName="spaceRect" presStyleCnt="0"/>
      <dgm:spPr/>
    </dgm:pt>
    <dgm:pt modelId="{46E2D5C8-7409-47C6-AB04-0169B5729E87}" type="pres">
      <dgm:prSet presAssocID="{1F3FF82A-A2DE-45E7-8491-3093FAA4DAD5}" presName="textRect" presStyleLbl="revTx" presStyleIdx="2" presStyleCnt="3">
        <dgm:presLayoutVars>
          <dgm:chMax val="1"/>
          <dgm:chPref val="1"/>
        </dgm:presLayoutVars>
      </dgm:prSet>
      <dgm:spPr/>
    </dgm:pt>
  </dgm:ptLst>
  <dgm:cxnLst>
    <dgm:cxn modelId="{B2B0DA2B-5569-4D7B-98E6-2DFB11A48725}" type="presOf" srcId="{1F3FF82A-A2DE-45E7-8491-3093FAA4DAD5}" destId="{46E2D5C8-7409-47C6-AB04-0169B5729E87}" srcOrd="0" destOrd="0" presId="urn:microsoft.com/office/officeart/2018/5/layout/IconCircleLabelList"/>
    <dgm:cxn modelId="{6A018739-844F-484B-95AE-012B0C53AEF3}" srcId="{DF624B1B-F177-4257-8C41-59419FB3BC16}" destId="{1F3FF82A-A2DE-45E7-8491-3093FAA4DAD5}" srcOrd="2" destOrd="0" parTransId="{C290FE4A-ACC2-4811-A7D6-EDB931414F7E}" sibTransId="{064517DB-68BF-4CFE-8433-965CB3798181}"/>
    <dgm:cxn modelId="{E6544388-E7A8-49DC-ADB8-51D2067547F2}" type="presOf" srcId="{DF624B1B-F177-4257-8C41-59419FB3BC16}" destId="{6AAC6A3B-BEA7-42C0-BEB1-BA35FEFE68A8}" srcOrd="0" destOrd="0" presId="urn:microsoft.com/office/officeart/2018/5/layout/IconCircleLabelList"/>
    <dgm:cxn modelId="{781708B1-F3E8-4D7A-A7D6-A6EE46CB8FF8}" type="presOf" srcId="{6446F56C-7085-4AF9-879F-838FD0AEEEE0}" destId="{031819C6-70AC-4DB2-A5B7-31B87150F6C2}" srcOrd="0" destOrd="0" presId="urn:microsoft.com/office/officeart/2018/5/layout/IconCircleLabelList"/>
    <dgm:cxn modelId="{0A7963B6-9593-4F29-852D-4AA7888CD14E}" srcId="{DF624B1B-F177-4257-8C41-59419FB3BC16}" destId="{6446F56C-7085-4AF9-879F-838FD0AEEEE0}" srcOrd="0" destOrd="0" parTransId="{BEC97AB7-E75E-4015-B340-43764C938B31}" sibTransId="{E15B3B04-4283-45DE-A39A-5ABC40569252}"/>
    <dgm:cxn modelId="{B4FC47B7-C3CF-4A5F-B2F9-DC9B44F32D52}" srcId="{DF624B1B-F177-4257-8C41-59419FB3BC16}" destId="{438C7047-62EF-40F0-A593-39CF3B934441}" srcOrd="1" destOrd="0" parTransId="{B4CF3E81-E746-4033-BBDF-C53856094C58}" sibTransId="{85B476B6-AAD7-43A2-AFAA-867AF4F52C24}"/>
    <dgm:cxn modelId="{C2E879EC-22B8-4BF4-9E1D-5A2B139C5019}" type="presOf" srcId="{438C7047-62EF-40F0-A593-39CF3B934441}" destId="{2B363A2F-16F1-4C14-A752-F6ADBB07C25A}" srcOrd="0" destOrd="0" presId="urn:microsoft.com/office/officeart/2018/5/layout/IconCircleLabelList"/>
    <dgm:cxn modelId="{BE9A0C5C-96E2-4118-A4B8-2A4637365F0C}" type="presParOf" srcId="{6AAC6A3B-BEA7-42C0-BEB1-BA35FEFE68A8}" destId="{4E1FC666-2BD5-48A9-842E-6935DC0A0829}" srcOrd="0" destOrd="0" presId="urn:microsoft.com/office/officeart/2018/5/layout/IconCircleLabelList"/>
    <dgm:cxn modelId="{76D2F085-030F-4D83-840B-864A7E542B40}" type="presParOf" srcId="{4E1FC666-2BD5-48A9-842E-6935DC0A0829}" destId="{57E5D915-219E-4281-ABFB-CDBAECA2A418}" srcOrd="0" destOrd="0" presId="urn:microsoft.com/office/officeart/2018/5/layout/IconCircleLabelList"/>
    <dgm:cxn modelId="{284CEE0F-433F-4DA5-B32C-E812EAC5A6DC}" type="presParOf" srcId="{4E1FC666-2BD5-48A9-842E-6935DC0A0829}" destId="{BE196C37-157E-4804-A450-12156F906E3D}" srcOrd="1" destOrd="0" presId="urn:microsoft.com/office/officeart/2018/5/layout/IconCircleLabelList"/>
    <dgm:cxn modelId="{7DA9D2D3-33FC-440C-9068-11F6A9E70CB9}" type="presParOf" srcId="{4E1FC666-2BD5-48A9-842E-6935DC0A0829}" destId="{59141E2A-0246-4D21-B17E-B381957E81EC}" srcOrd="2" destOrd="0" presId="urn:microsoft.com/office/officeart/2018/5/layout/IconCircleLabelList"/>
    <dgm:cxn modelId="{F87A99E5-C2CA-4F5A-8C11-BCB38904717F}" type="presParOf" srcId="{4E1FC666-2BD5-48A9-842E-6935DC0A0829}" destId="{031819C6-70AC-4DB2-A5B7-31B87150F6C2}" srcOrd="3" destOrd="0" presId="urn:microsoft.com/office/officeart/2018/5/layout/IconCircleLabelList"/>
    <dgm:cxn modelId="{B60B6315-B3B8-4ACC-9740-82690747CE4F}" type="presParOf" srcId="{6AAC6A3B-BEA7-42C0-BEB1-BA35FEFE68A8}" destId="{1BB34FE3-293B-4357-B9CE-465393E2CDEE}" srcOrd="1" destOrd="0" presId="urn:microsoft.com/office/officeart/2018/5/layout/IconCircleLabelList"/>
    <dgm:cxn modelId="{26535C12-BA94-4292-9BAE-5DE54503D2F9}" type="presParOf" srcId="{6AAC6A3B-BEA7-42C0-BEB1-BA35FEFE68A8}" destId="{27EF8B75-E5CC-4996-9FA9-0498DB1C4614}" srcOrd="2" destOrd="0" presId="urn:microsoft.com/office/officeart/2018/5/layout/IconCircleLabelList"/>
    <dgm:cxn modelId="{3121942A-DBCD-458C-890B-D2F22BC36285}" type="presParOf" srcId="{27EF8B75-E5CC-4996-9FA9-0498DB1C4614}" destId="{32E53F50-9FB8-4678-B6B4-CF95D43106D3}" srcOrd="0" destOrd="0" presId="urn:microsoft.com/office/officeart/2018/5/layout/IconCircleLabelList"/>
    <dgm:cxn modelId="{13EFC078-6F30-42F7-9B2F-88D029146B6A}" type="presParOf" srcId="{27EF8B75-E5CC-4996-9FA9-0498DB1C4614}" destId="{2BB49D1A-7116-4A7C-9011-DDEA16D7C55D}" srcOrd="1" destOrd="0" presId="urn:microsoft.com/office/officeart/2018/5/layout/IconCircleLabelList"/>
    <dgm:cxn modelId="{5C49EA37-221C-408C-A83F-A6E5C66A2610}" type="presParOf" srcId="{27EF8B75-E5CC-4996-9FA9-0498DB1C4614}" destId="{B4DC5872-4453-4CA8-A27B-24B1CF871884}" srcOrd="2" destOrd="0" presId="urn:microsoft.com/office/officeart/2018/5/layout/IconCircleLabelList"/>
    <dgm:cxn modelId="{702379C1-1096-42B5-BE4B-2AC747787A99}" type="presParOf" srcId="{27EF8B75-E5CC-4996-9FA9-0498DB1C4614}" destId="{2B363A2F-16F1-4C14-A752-F6ADBB07C25A}" srcOrd="3" destOrd="0" presId="urn:microsoft.com/office/officeart/2018/5/layout/IconCircleLabelList"/>
    <dgm:cxn modelId="{F0E25756-72C3-4129-BC40-1B1F961C1A20}" type="presParOf" srcId="{6AAC6A3B-BEA7-42C0-BEB1-BA35FEFE68A8}" destId="{5A79BF50-4639-4138-AB17-38DF8CA74DE0}" srcOrd="3" destOrd="0" presId="urn:microsoft.com/office/officeart/2018/5/layout/IconCircleLabelList"/>
    <dgm:cxn modelId="{45996709-6638-49A3-A1B6-1B156FC0F0D7}" type="presParOf" srcId="{6AAC6A3B-BEA7-42C0-BEB1-BA35FEFE68A8}" destId="{5847F156-AB52-4E7F-A259-B01098BB2984}" srcOrd="4" destOrd="0" presId="urn:microsoft.com/office/officeart/2018/5/layout/IconCircleLabelList"/>
    <dgm:cxn modelId="{2CF6A976-965D-4F2D-AEDE-2600C0DDB290}" type="presParOf" srcId="{5847F156-AB52-4E7F-A259-B01098BB2984}" destId="{54D611DD-864A-4A63-AC7B-1DCCEEA75681}" srcOrd="0" destOrd="0" presId="urn:microsoft.com/office/officeart/2018/5/layout/IconCircleLabelList"/>
    <dgm:cxn modelId="{B3EE6B75-1069-4934-ABCA-A8A9625DEF33}" type="presParOf" srcId="{5847F156-AB52-4E7F-A259-B01098BB2984}" destId="{37A33201-2831-4033-B7D4-734C2FB75D6D}" srcOrd="1" destOrd="0" presId="urn:microsoft.com/office/officeart/2018/5/layout/IconCircleLabelList"/>
    <dgm:cxn modelId="{28C8AFF9-6E5E-4416-8BB4-6FD7D78C8070}" type="presParOf" srcId="{5847F156-AB52-4E7F-A259-B01098BB2984}" destId="{86FA433A-A5FD-4B7F-A4BB-DB8FD98C5968}" srcOrd="2" destOrd="0" presId="urn:microsoft.com/office/officeart/2018/5/layout/IconCircleLabelList"/>
    <dgm:cxn modelId="{E4DDF8DE-DDA3-48F5-B38D-6B03B6A9C463}" type="presParOf" srcId="{5847F156-AB52-4E7F-A259-B01098BB2984}" destId="{46E2D5C8-7409-47C6-AB04-0169B5729E87}"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4424CFA-0C62-4574-9628-805B04A98FAB}"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AD379FC-15A5-433F-BC22-0492879C08CA}">
      <dgm:prSet/>
      <dgm:spPr/>
      <dgm:t>
        <a:bodyPr/>
        <a:lstStyle/>
        <a:p>
          <a:r>
            <a:rPr lang="en-US"/>
            <a:t>It is very important to pay attention to the scale that you are using when you are plotting. </a:t>
          </a:r>
        </a:p>
      </dgm:t>
    </dgm:pt>
    <dgm:pt modelId="{2AB8FC6B-683F-4589-A5C4-690A23563356}" type="parTrans" cxnId="{0A7C6CA9-1682-46CF-806D-4207A5BD27BC}">
      <dgm:prSet/>
      <dgm:spPr/>
      <dgm:t>
        <a:bodyPr/>
        <a:lstStyle/>
        <a:p>
          <a:endParaRPr lang="en-US"/>
        </a:p>
      </dgm:t>
    </dgm:pt>
    <dgm:pt modelId="{57B7D424-8CFE-42BD-B971-D7FE5C0B9DB0}" type="sibTrans" cxnId="{0A7C6CA9-1682-46CF-806D-4207A5BD27BC}">
      <dgm:prSet/>
      <dgm:spPr/>
      <dgm:t>
        <a:bodyPr/>
        <a:lstStyle/>
        <a:p>
          <a:endParaRPr lang="en-US"/>
        </a:p>
      </dgm:t>
    </dgm:pt>
    <dgm:pt modelId="{511904A4-6CDD-4877-89D0-1B73F06BC3ED}">
      <dgm:prSet/>
      <dgm:spPr/>
      <dgm:t>
        <a:bodyPr/>
        <a:lstStyle/>
        <a:p>
          <a:r>
            <a:rPr lang="en-US"/>
            <a:t>Compare the following graphs created from identical data</a:t>
          </a:r>
        </a:p>
      </dgm:t>
    </dgm:pt>
    <dgm:pt modelId="{35F2A330-32DB-4095-8093-17C6635CCB7D}" type="parTrans" cxnId="{FA4F74E4-DDE4-48E8-B698-B303717996AB}">
      <dgm:prSet/>
      <dgm:spPr/>
      <dgm:t>
        <a:bodyPr/>
        <a:lstStyle/>
        <a:p>
          <a:endParaRPr lang="en-US"/>
        </a:p>
      </dgm:t>
    </dgm:pt>
    <dgm:pt modelId="{B8872945-C2AC-4EE2-AF10-64E120A731EB}" type="sibTrans" cxnId="{FA4F74E4-DDE4-48E8-B698-B303717996AB}">
      <dgm:prSet/>
      <dgm:spPr/>
      <dgm:t>
        <a:bodyPr/>
        <a:lstStyle/>
        <a:p>
          <a:endParaRPr lang="en-US"/>
        </a:p>
      </dgm:t>
    </dgm:pt>
    <dgm:pt modelId="{B6790CE5-FD06-497F-B9B2-A31FB7241D3C}" type="pres">
      <dgm:prSet presAssocID="{04424CFA-0C62-4574-9628-805B04A98FAB}" presName="root" presStyleCnt="0">
        <dgm:presLayoutVars>
          <dgm:dir/>
          <dgm:resizeHandles val="exact"/>
        </dgm:presLayoutVars>
      </dgm:prSet>
      <dgm:spPr/>
    </dgm:pt>
    <dgm:pt modelId="{55546002-CB97-4374-B629-B62B11AD09FD}" type="pres">
      <dgm:prSet presAssocID="{4AD379FC-15A5-433F-BC22-0492879C08CA}" presName="compNode" presStyleCnt="0"/>
      <dgm:spPr/>
    </dgm:pt>
    <dgm:pt modelId="{F65D47AE-6848-4DA7-BFCD-BF81C25F7164}" type="pres">
      <dgm:prSet presAssocID="{4AD379FC-15A5-433F-BC22-0492879C08C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DB405888-A528-431B-A81D-C14D8A88B8D4}" type="pres">
      <dgm:prSet presAssocID="{4AD379FC-15A5-433F-BC22-0492879C08CA}" presName="spaceRect" presStyleCnt="0"/>
      <dgm:spPr/>
    </dgm:pt>
    <dgm:pt modelId="{0FFBFCED-5813-4BB7-B159-FFF005D58D96}" type="pres">
      <dgm:prSet presAssocID="{4AD379FC-15A5-433F-BC22-0492879C08CA}" presName="textRect" presStyleLbl="revTx" presStyleIdx="0" presStyleCnt="2">
        <dgm:presLayoutVars>
          <dgm:chMax val="1"/>
          <dgm:chPref val="1"/>
        </dgm:presLayoutVars>
      </dgm:prSet>
      <dgm:spPr/>
    </dgm:pt>
    <dgm:pt modelId="{8B7E2AAE-60D5-4EC1-8287-20AA555AD32B}" type="pres">
      <dgm:prSet presAssocID="{57B7D424-8CFE-42BD-B971-D7FE5C0B9DB0}" presName="sibTrans" presStyleCnt="0"/>
      <dgm:spPr/>
    </dgm:pt>
    <dgm:pt modelId="{AE7C6871-3538-44EA-9585-A22423C4C8CC}" type="pres">
      <dgm:prSet presAssocID="{511904A4-6CDD-4877-89D0-1B73F06BC3ED}" presName="compNode" presStyleCnt="0"/>
      <dgm:spPr/>
    </dgm:pt>
    <dgm:pt modelId="{2FF5B547-359A-46FA-AB23-7A3DD42964AA}" type="pres">
      <dgm:prSet presAssocID="{511904A4-6CDD-4877-89D0-1B73F06BC3E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8674A4B5-D0C2-4496-8AF4-BEE9DA5A603A}" type="pres">
      <dgm:prSet presAssocID="{511904A4-6CDD-4877-89D0-1B73F06BC3ED}" presName="spaceRect" presStyleCnt="0"/>
      <dgm:spPr/>
    </dgm:pt>
    <dgm:pt modelId="{7873A524-4378-445B-9A0F-C0019967890C}" type="pres">
      <dgm:prSet presAssocID="{511904A4-6CDD-4877-89D0-1B73F06BC3ED}" presName="textRect" presStyleLbl="revTx" presStyleIdx="1" presStyleCnt="2">
        <dgm:presLayoutVars>
          <dgm:chMax val="1"/>
          <dgm:chPref val="1"/>
        </dgm:presLayoutVars>
      </dgm:prSet>
      <dgm:spPr/>
    </dgm:pt>
  </dgm:ptLst>
  <dgm:cxnLst>
    <dgm:cxn modelId="{00861516-F3E0-4CB2-BDF6-B4E04419018B}" type="presOf" srcId="{511904A4-6CDD-4877-89D0-1B73F06BC3ED}" destId="{7873A524-4378-445B-9A0F-C0019967890C}" srcOrd="0" destOrd="0" presId="urn:microsoft.com/office/officeart/2018/2/layout/IconLabelList"/>
    <dgm:cxn modelId="{7C0CFD1B-83A0-4055-A106-5C0FBB52AA37}" type="presOf" srcId="{04424CFA-0C62-4574-9628-805B04A98FAB}" destId="{B6790CE5-FD06-497F-B9B2-A31FB7241D3C}" srcOrd="0" destOrd="0" presId="urn:microsoft.com/office/officeart/2018/2/layout/IconLabelList"/>
    <dgm:cxn modelId="{0A7C6CA9-1682-46CF-806D-4207A5BD27BC}" srcId="{04424CFA-0C62-4574-9628-805B04A98FAB}" destId="{4AD379FC-15A5-433F-BC22-0492879C08CA}" srcOrd="0" destOrd="0" parTransId="{2AB8FC6B-683F-4589-A5C4-690A23563356}" sibTransId="{57B7D424-8CFE-42BD-B971-D7FE5C0B9DB0}"/>
    <dgm:cxn modelId="{79A333C3-A3BE-458D-B819-F6A212B4CE92}" type="presOf" srcId="{4AD379FC-15A5-433F-BC22-0492879C08CA}" destId="{0FFBFCED-5813-4BB7-B159-FFF005D58D96}" srcOrd="0" destOrd="0" presId="urn:microsoft.com/office/officeart/2018/2/layout/IconLabelList"/>
    <dgm:cxn modelId="{FA4F74E4-DDE4-48E8-B698-B303717996AB}" srcId="{04424CFA-0C62-4574-9628-805B04A98FAB}" destId="{511904A4-6CDD-4877-89D0-1B73F06BC3ED}" srcOrd="1" destOrd="0" parTransId="{35F2A330-32DB-4095-8093-17C6635CCB7D}" sibTransId="{B8872945-C2AC-4EE2-AF10-64E120A731EB}"/>
    <dgm:cxn modelId="{14B29C65-234C-448D-AAD6-FC2DF63949AD}" type="presParOf" srcId="{B6790CE5-FD06-497F-B9B2-A31FB7241D3C}" destId="{55546002-CB97-4374-B629-B62B11AD09FD}" srcOrd="0" destOrd="0" presId="urn:microsoft.com/office/officeart/2018/2/layout/IconLabelList"/>
    <dgm:cxn modelId="{6403C966-F3B3-4960-9173-5F0A8AF5473C}" type="presParOf" srcId="{55546002-CB97-4374-B629-B62B11AD09FD}" destId="{F65D47AE-6848-4DA7-BFCD-BF81C25F7164}" srcOrd="0" destOrd="0" presId="urn:microsoft.com/office/officeart/2018/2/layout/IconLabelList"/>
    <dgm:cxn modelId="{E2055C86-E825-41A4-82E9-5CCEBDE24EDA}" type="presParOf" srcId="{55546002-CB97-4374-B629-B62B11AD09FD}" destId="{DB405888-A528-431B-A81D-C14D8A88B8D4}" srcOrd="1" destOrd="0" presId="urn:microsoft.com/office/officeart/2018/2/layout/IconLabelList"/>
    <dgm:cxn modelId="{CF81A21A-3834-46F5-B0FF-06C1A825D22A}" type="presParOf" srcId="{55546002-CB97-4374-B629-B62B11AD09FD}" destId="{0FFBFCED-5813-4BB7-B159-FFF005D58D96}" srcOrd="2" destOrd="0" presId="urn:microsoft.com/office/officeart/2018/2/layout/IconLabelList"/>
    <dgm:cxn modelId="{F252EF3E-CDF2-499A-92C6-AA7EE8EBDE30}" type="presParOf" srcId="{B6790CE5-FD06-497F-B9B2-A31FB7241D3C}" destId="{8B7E2AAE-60D5-4EC1-8287-20AA555AD32B}" srcOrd="1" destOrd="0" presId="urn:microsoft.com/office/officeart/2018/2/layout/IconLabelList"/>
    <dgm:cxn modelId="{A40695E0-6230-447A-88DF-9E31776BAE3E}" type="presParOf" srcId="{B6790CE5-FD06-497F-B9B2-A31FB7241D3C}" destId="{AE7C6871-3538-44EA-9585-A22423C4C8CC}" srcOrd="2" destOrd="0" presId="urn:microsoft.com/office/officeart/2018/2/layout/IconLabelList"/>
    <dgm:cxn modelId="{B114B372-20BF-4090-A9C5-672E9B64503E}" type="presParOf" srcId="{AE7C6871-3538-44EA-9585-A22423C4C8CC}" destId="{2FF5B547-359A-46FA-AB23-7A3DD42964AA}" srcOrd="0" destOrd="0" presId="urn:microsoft.com/office/officeart/2018/2/layout/IconLabelList"/>
    <dgm:cxn modelId="{4138D10B-F9F9-4F62-8ACE-CFAE6A399C0E}" type="presParOf" srcId="{AE7C6871-3538-44EA-9585-A22423C4C8CC}" destId="{8674A4B5-D0C2-4496-8AF4-BEE9DA5A603A}" srcOrd="1" destOrd="0" presId="urn:microsoft.com/office/officeart/2018/2/layout/IconLabelList"/>
    <dgm:cxn modelId="{9BA06F1D-2510-4988-930E-34A9A5F24D60}" type="presParOf" srcId="{AE7C6871-3538-44EA-9585-A22423C4C8CC}" destId="{7873A524-4378-445B-9A0F-C0019967890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61CD4FD-8E18-48D5-A107-74F75C12A531}" type="doc">
      <dgm:prSet loTypeId="urn:microsoft.com/office/officeart/2016/7/layout/LinearBlockProcessNumbered" loCatId="process" qsTypeId="urn:microsoft.com/office/officeart/2005/8/quickstyle/simple1" qsCatId="simple" csTypeId="urn:microsoft.com/office/officeart/2005/8/colors/colorful5" csCatId="colorful"/>
      <dgm:spPr/>
      <dgm:t>
        <a:bodyPr/>
        <a:lstStyle/>
        <a:p>
          <a:endParaRPr lang="en-US"/>
        </a:p>
      </dgm:t>
    </dgm:pt>
    <dgm:pt modelId="{785478A2-EAAF-4E19-BD4E-54B864614AE2}">
      <dgm:prSet/>
      <dgm:spPr/>
      <dgm:t>
        <a:bodyPr/>
        <a:lstStyle/>
        <a:p>
          <a:r>
            <a:rPr lang="en-US"/>
            <a:t>Examine all your variables thoroughly and carefully before you begin analysis</a:t>
          </a:r>
        </a:p>
      </dgm:t>
    </dgm:pt>
    <dgm:pt modelId="{76261748-6EAC-469B-9DE3-0A689398980D}" type="parTrans" cxnId="{8A1B4091-2589-4528-8BF9-FA2A93B0F2FC}">
      <dgm:prSet/>
      <dgm:spPr/>
      <dgm:t>
        <a:bodyPr/>
        <a:lstStyle/>
        <a:p>
          <a:endParaRPr lang="en-US"/>
        </a:p>
      </dgm:t>
    </dgm:pt>
    <dgm:pt modelId="{F5BCA438-A454-4181-8183-481816BF8AC4}" type="sibTrans" cxnId="{8A1B4091-2589-4528-8BF9-FA2A93B0F2FC}">
      <dgm:prSet phldrT="01" phldr="0"/>
      <dgm:spPr/>
      <dgm:t>
        <a:bodyPr/>
        <a:lstStyle/>
        <a:p>
          <a:r>
            <a:rPr lang="en-US"/>
            <a:t>01</a:t>
          </a:r>
        </a:p>
      </dgm:t>
    </dgm:pt>
    <dgm:pt modelId="{CEEC87B4-6D59-47D5-8E51-60B62B25B154}">
      <dgm:prSet/>
      <dgm:spPr/>
      <dgm:t>
        <a:bodyPr/>
        <a:lstStyle/>
        <a:p>
          <a:r>
            <a:rPr lang="en-US"/>
            <a:t>Use visual displays whenever possible</a:t>
          </a:r>
        </a:p>
      </dgm:t>
    </dgm:pt>
    <dgm:pt modelId="{E1A1B7A7-0384-4079-818A-CF32AB61D687}" type="parTrans" cxnId="{E5F3BB21-0BAA-4404-BAEE-4DA9D664EA22}">
      <dgm:prSet/>
      <dgm:spPr/>
      <dgm:t>
        <a:bodyPr/>
        <a:lstStyle/>
        <a:p>
          <a:endParaRPr lang="en-US"/>
        </a:p>
      </dgm:t>
    </dgm:pt>
    <dgm:pt modelId="{C5A6AF16-EDA3-49F0-8CD2-89ACDAF08147}" type="sibTrans" cxnId="{E5F3BB21-0BAA-4404-BAEE-4DA9D664EA22}">
      <dgm:prSet phldrT="02" phldr="0"/>
      <dgm:spPr/>
      <dgm:t>
        <a:bodyPr/>
        <a:lstStyle/>
        <a:p>
          <a:r>
            <a:rPr lang="en-US"/>
            <a:t>02</a:t>
          </a:r>
        </a:p>
      </dgm:t>
    </dgm:pt>
    <dgm:pt modelId="{7A9A55D2-0B11-4826-81BC-DF36ED9C57F1}">
      <dgm:prSet/>
      <dgm:spPr/>
      <dgm:t>
        <a:bodyPr/>
        <a:lstStyle/>
        <a:p>
          <a:r>
            <a:rPr lang="en-US"/>
            <a:t>Transform each variable as necessary to deal with mistakes, outliers, and distributions</a:t>
          </a:r>
        </a:p>
      </dgm:t>
    </dgm:pt>
    <dgm:pt modelId="{5D99F741-63D4-413C-9555-69ACD5168E7E}" type="parTrans" cxnId="{F0057734-7F23-4F4F-80B6-9C606BF390B8}">
      <dgm:prSet/>
      <dgm:spPr/>
      <dgm:t>
        <a:bodyPr/>
        <a:lstStyle/>
        <a:p>
          <a:endParaRPr lang="en-US"/>
        </a:p>
      </dgm:t>
    </dgm:pt>
    <dgm:pt modelId="{AB126356-72D1-4A8D-B119-683C2A5AB4A7}" type="sibTrans" cxnId="{F0057734-7F23-4F4F-80B6-9C606BF390B8}">
      <dgm:prSet phldrT="03" phldr="0"/>
      <dgm:spPr/>
      <dgm:t>
        <a:bodyPr/>
        <a:lstStyle/>
        <a:p>
          <a:r>
            <a:rPr lang="en-US"/>
            <a:t>03</a:t>
          </a:r>
        </a:p>
      </dgm:t>
    </dgm:pt>
    <dgm:pt modelId="{793A0C04-A49C-485A-AD45-CDE67D84749F}" type="pres">
      <dgm:prSet presAssocID="{861CD4FD-8E18-48D5-A107-74F75C12A531}" presName="Name0" presStyleCnt="0">
        <dgm:presLayoutVars>
          <dgm:animLvl val="lvl"/>
          <dgm:resizeHandles val="exact"/>
        </dgm:presLayoutVars>
      </dgm:prSet>
      <dgm:spPr/>
    </dgm:pt>
    <dgm:pt modelId="{19EC3C7D-E72C-424A-87B0-8FB8C276F3D2}" type="pres">
      <dgm:prSet presAssocID="{785478A2-EAAF-4E19-BD4E-54B864614AE2}" presName="compositeNode" presStyleCnt="0">
        <dgm:presLayoutVars>
          <dgm:bulletEnabled val="1"/>
        </dgm:presLayoutVars>
      </dgm:prSet>
      <dgm:spPr/>
    </dgm:pt>
    <dgm:pt modelId="{F70670F8-FB0A-4D3B-9681-39A6A3AA8C3F}" type="pres">
      <dgm:prSet presAssocID="{785478A2-EAAF-4E19-BD4E-54B864614AE2}" presName="bgRect" presStyleLbl="alignNode1" presStyleIdx="0" presStyleCnt="3"/>
      <dgm:spPr/>
    </dgm:pt>
    <dgm:pt modelId="{A348A8FC-23E5-47D3-9559-21EB3857D391}" type="pres">
      <dgm:prSet presAssocID="{F5BCA438-A454-4181-8183-481816BF8AC4}" presName="sibTransNodeRect" presStyleLbl="alignNode1" presStyleIdx="0" presStyleCnt="3">
        <dgm:presLayoutVars>
          <dgm:chMax val="0"/>
          <dgm:bulletEnabled val="1"/>
        </dgm:presLayoutVars>
      </dgm:prSet>
      <dgm:spPr/>
    </dgm:pt>
    <dgm:pt modelId="{9D109E13-C3E8-4C32-A5A4-1C9E4BBA421D}" type="pres">
      <dgm:prSet presAssocID="{785478A2-EAAF-4E19-BD4E-54B864614AE2}" presName="nodeRect" presStyleLbl="alignNode1" presStyleIdx="0" presStyleCnt="3">
        <dgm:presLayoutVars>
          <dgm:bulletEnabled val="1"/>
        </dgm:presLayoutVars>
      </dgm:prSet>
      <dgm:spPr/>
    </dgm:pt>
    <dgm:pt modelId="{C0675DD6-C894-43BE-BDFA-62D26B89652C}" type="pres">
      <dgm:prSet presAssocID="{F5BCA438-A454-4181-8183-481816BF8AC4}" presName="sibTrans" presStyleCnt="0"/>
      <dgm:spPr/>
    </dgm:pt>
    <dgm:pt modelId="{246AF4DE-59FC-4C8F-9DD9-978D62CB8016}" type="pres">
      <dgm:prSet presAssocID="{CEEC87B4-6D59-47D5-8E51-60B62B25B154}" presName="compositeNode" presStyleCnt="0">
        <dgm:presLayoutVars>
          <dgm:bulletEnabled val="1"/>
        </dgm:presLayoutVars>
      </dgm:prSet>
      <dgm:spPr/>
    </dgm:pt>
    <dgm:pt modelId="{C6644BCA-99C1-472A-8F83-CD858F4205C3}" type="pres">
      <dgm:prSet presAssocID="{CEEC87B4-6D59-47D5-8E51-60B62B25B154}" presName="bgRect" presStyleLbl="alignNode1" presStyleIdx="1" presStyleCnt="3"/>
      <dgm:spPr/>
    </dgm:pt>
    <dgm:pt modelId="{6788E3CF-3E73-4DB5-990D-70346F9F9BB3}" type="pres">
      <dgm:prSet presAssocID="{C5A6AF16-EDA3-49F0-8CD2-89ACDAF08147}" presName="sibTransNodeRect" presStyleLbl="alignNode1" presStyleIdx="1" presStyleCnt="3">
        <dgm:presLayoutVars>
          <dgm:chMax val="0"/>
          <dgm:bulletEnabled val="1"/>
        </dgm:presLayoutVars>
      </dgm:prSet>
      <dgm:spPr/>
    </dgm:pt>
    <dgm:pt modelId="{8C41562C-657E-4A3E-AA08-EDF83D32D2C1}" type="pres">
      <dgm:prSet presAssocID="{CEEC87B4-6D59-47D5-8E51-60B62B25B154}" presName="nodeRect" presStyleLbl="alignNode1" presStyleIdx="1" presStyleCnt="3">
        <dgm:presLayoutVars>
          <dgm:bulletEnabled val="1"/>
        </dgm:presLayoutVars>
      </dgm:prSet>
      <dgm:spPr/>
    </dgm:pt>
    <dgm:pt modelId="{03B5AD2B-6919-4E97-9EA4-36A9DD2772A0}" type="pres">
      <dgm:prSet presAssocID="{C5A6AF16-EDA3-49F0-8CD2-89ACDAF08147}" presName="sibTrans" presStyleCnt="0"/>
      <dgm:spPr/>
    </dgm:pt>
    <dgm:pt modelId="{B5EEBAEB-9CD2-4765-99FD-815E63FCB472}" type="pres">
      <dgm:prSet presAssocID="{7A9A55D2-0B11-4826-81BC-DF36ED9C57F1}" presName="compositeNode" presStyleCnt="0">
        <dgm:presLayoutVars>
          <dgm:bulletEnabled val="1"/>
        </dgm:presLayoutVars>
      </dgm:prSet>
      <dgm:spPr/>
    </dgm:pt>
    <dgm:pt modelId="{3AA1827E-91DC-4A21-93AE-90DDB6C563FA}" type="pres">
      <dgm:prSet presAssocID="{7A9A55D2-0B11-4826-81BC-DF36ED9C57F1}" presName="bgRect" presStyleLbl="alignNode1" presStyleIdx="2" presStyleCnt="3"/>
      <dgm:spPr/>
    </dgm:pt>
    <dgm:pt modelId="{AE0A6D78-EC71-40D6-926A-18E8E8AF50A7}" type="pres">
      <dgm:prSet presAssocID="{AB126356-72D1-4A8D-B119-683C2A5AB4A7}" presName="sibTransNodeRect" presStyleLbl="alignNode1" presStyleIdx="2" presStyleCnt="3">
        <dgm:presLayoutVars>
          <dgm:chMax val="0"/>
          <dgm:bulletEnabled val="1"/>
        </dgm:presLayoutVars>
      </dgm:prSet>
      <dgm:spPr/>
    </dgm:pt>
    <dgm:pt modelId="{B2B9A9B4-CFAF-4B2F-B963-7021E08C1972}" type="pres">
      <dgm:prSet presAssocID="{7A9A55D2-0B11-4826-81BC-DF36ED9C57F1}" presName="nodeRect" presStyleLbl="alignNode1" presStyleIdx="2" presStyleCnt="3">
        <dgm:presLayoutVars>
          <dgm:bulletEnabled val="1"/>
        </dgm:presLayoutVars>
      </dgm:prSet>
      <dgm:spPr/>
    </dgm:pt>
  </dgm:ptLst>
  <dgm:cxnLst>
    <dgm:cxn modelId="{F0F72E02-926E-43D4-ACA4-085486A56CD6}" type="presOf" srcId="{AB126356-72D1-4A8D-B119-683C2A5AB4A7}" destId="{AE0A6D78-EC71-40D6-926A-18E8E8AF50A7}" srcOrd="0" destOrd="0" presId="urn:microsoft.com/office/officeart/2016/7/layout/LinearBlockProcessNumbered"/>
    <dgm:cxn modelId="{A4D84C06-097D-4218-9776-1CEEC96FC20F}" type="presOf" srcId="{CEEC87B4-6D59-47D5-8E51-60B62B25B154}" destId="{8C41562C-657E-4A3E-AA08-EDF83D32D2C1}" srcOrd="1" destOrd="0" presId="urn:microsoft.com/office/officeart/2016/7/layout/LinearBlockProcessNumbered"/>
    <dgm:cxn modelId="{A052A20A-7415-40E7-821D-1CB62B6ED4B5}" type="presOf" srcId="{F5BCA438-A454-4181-8183-481816BF8AC4}" destId="{A348A8FC-23E5-47D3-9559-21EB3857D391}" srcOrd="0" destOrd="0" presId="urn:microsoft.com/office/officeart/2016/7/layout/LinearBlockProcessNumbered"/>
    <dgm:cxn modelId="{E5F3BB21-0BAA-4404-BAEE-4DA9D664EA22}" srcId="{861CD4FD-8E18-48D5-A107-74F75C12A531}" destId="{CEEC87B4-6D59-47D5-8E51-60B62B25B154}" srcOrd="1" destOrd="0" parTransId="{E1A1B7A7-0384-4079-818A-CF32AB61D687}" sibTransId="{C5A6AF16-EDA3-49F0-8CD2-89ACDAF08147}"/>
    <dgm:cxn modelId="{8D82612A-4BBA-4891-BDD8-8C13D22B7765}" type="presOf" srcId="{CEEC87B4-6D59-47D5-8E51-60B62B25B154}" destId="{C6644BCA-99C1-472A-8F83-CD858F4205C3}" srcOrd="0" destOrd="0" presId="urn:microsoft.com/office/officeart/2016/7/layout/LinearBlockProcessNumbered"/>
    <dgm:cxn modelId="{F0057734-7F23-4F4F-80B6-9C606BF390B8}" srcId="{861CD4FD-8E18-48D5-A107-74F75C12A531}" destId="{7A9A55D2-0B11-4826-81BC-DF36ED9C57F1}" srcOrd="2" destOrd="0" parTransId="{5D99F741-63D4-413C-9555-69ACD5168E7E}" sibTransId="{AB126356-72D1-4A8D-B119-683C2A5AB4A7}"/>
    <dgm:cxn modelId="{D03A7042-0584-4B38-988D-8375A72F218B}" type="presOf" srcId="{7A9A55D2-0B11-4826-81BC-DF36ED9C57F1}" destId="{3AA1827E-91DC-4A21-93AE-90DDB6C563FA}" srcOrd="0" destOrd="0" presId="urn:microsoft.com/office/officeart/2016/7/layout/LinearBlockProcessNumbered"/>
    <dgm:cxn modelId="{2D876F4B-E6F5-4DF1-BADE-B1325309B577}" type="presOf" srcId="{785478A2-EAAF-4E19-BD4E-54B864614AE2}" destId="{9D109E13-C3E8-4C32-A5A4-1C9E4BBA421D}" srcOrd="1" destOrd="0" presId="urn:microsoft.com/office/officeart/2016/7/layout/LinearBlockProcessNumbered"/>
    <dgm:cxn modelId="{A8E70F7A-FF07-4834-9F0F-9E98377478C1}" type="presOf" srcId="{785478A2-EAAF-4E19-BD4E-54B864614AE2}" destId="{F70670F8-FB0A-4D3B-9681-39A6A3AA8C3F}" srcOrd="0" destOrd="0" presId="urn:microsoft.com/office/officeart/2016/7/layout/LinearBlockProcessNumbered"/>
    <dgm:cxn modelId="{8A1B4091-2589-4528-8BF9-FA2A93B0F2FC}" srcId="{861CD4FD-8E18-48D5-A107-74F75C12A531}" destId="{785478A2-EAAF-4E19-BD4E-54B864614AE2}" srcOrd="0" destOrd="0" parTransId="{76261748-6EAC-469B-9DE3-0A689398980D}" sibTransId="{F5BCA438-A454-4181-8183-481816BF8AC4}"/>
    <dgm:cxn modelId="{FACE4799-D57E-45F9-A932-A554AE96A9FF}" type="presOf" srcId="{C5A6AF16-EDA3-49F0-8CD2-89ACDAF08147}" destId="{6788E3CF-3E73-4DB5-990D-70346F9F9BB3}" srcOrd="0" destOrd="0" presId="urn:microsoft.com/office/officeart/2016/7/layout/LinearBlockProcessNumbered"/>
    <dgm:cxn modelId="{0E92FCA2-9BF5-44D9-BE54-FB8FB3866AB5}" type="presOf" srcId="{7A9A55D2-0B11-4826-81BC-DF36ED9C57F1}" destId="{B2B9A9B4-CFAF-4B2F-B963-7021E08C1972}" srcOrd="1" destOrd="0" presId="urn:microsoft.com/office/officeart/2016/7/layout/LinearBlockProcessNumbered"/>
    <dgm:cxn modelId="{5741A7F2-36CA-4F21-AFC3-7489969373C8}" type="presOf" srcId="{861CD4FD-8E18-48D5-A107-74F75C12A531}" destId="{793A0C04-A49C-485A-AD45-CDE67D84749F}" srcOrd="0" destOrd="0" presId="urn:microsoft.com/office/officeart/2016/7/layout/LinearBlockProcessNumbered"/>
    <dgm:cxn modelId="{EF4FB83B-A02B-40F9-A9C7-74FF967DD811}" type="presParOf" srcId="{793A0C04-A49C-485A-AD45-CDE67D84749F}" destId="{19EC3C7D-E72C-424A-87B0-8FB8C276F3D2}" srcOrd="0" destOrd="0" presId="urn:microsoft.com/office/officeart/2016/7/layout/LinearBlockProcessNumbered"/>
    <dgm:cxn modelId="{BCB067AA-FF6E-4A75-81E9-097708D54BE1}" type="presParOf" srcId="{19EC3C7D-E72C-424A-87B0-8FB8C276F3D2}" destId="{F70670F8-FB0A-4D3B-9681-39A6A3AA8C3F}" srcOrd="0" destOrd="0" presId="urn:microsoft.com/office/officeart/2016/7/layout/LinearBlockProcessNumbered"/>
    <dgm:cxn modelId="{2E1871A2-E8D3-4920-8207-13F7D6FDC481}" type="presParOf" srcId="{19EC3C7D-E72C-424A-87B0-8FB8C276F3D2}" destId="{A348A8FC-23E5-47D3-9559-21EB3857D391}" srcOrd="1" destOrd="0" presId="urn:microsoft.com/office/officeart/2016/7/layout/LinearBlockProcessNumbered"/>
    <dgm:cxn modelId="{080BD341-2147-47EF-B6E8-962C5280955B}" type="presParOf" srcId="{19EC3C7D-E72C-424A-87B0-8FB8C276F3D2}" destId="{9D109E13-C3E8-4C32-A5A4-1C9E4BBA421D}" srcOrd="2" destOrd="0" presId="urn:microsoft.com/office/officeart/2016/7/layout/LinearBlockProcessNumbered"/>
    <dgm:cxn modelId="{9E14A3F5-B410-4724-930E-8FA8B8C33DD1}" type="presParOf" srcId="{793A0C04-A49C-485A-AD45-CDE67D84749F}" destId="{C0675DD6-C894-43BE-BDFA-62D26B89652C}" srcOrd="1" destOrd="0" presId="urn:microsoft.com/office/officeart/2016/7/layout/LinearBlockProcessNumbered"/>
    <dgm:cxn modelId="{DB34857C-4168-4F4C-9C08-0FE2A93742B1}" type="presParOf" srcId="{793A0C04-A49C-485A-AD45-CDE67D84749F}" destId="{246AF4DE-59FC-4C8F-9DD9-978D62CB8016}" srcOrd="2" destOrd="0" presId="urn:microsoft.com/office/officeart/2016/7/layout/LinearBlockProcessNumbered"/>
    <dgm:cxn modelId="{0519A146-D039-4296-AA55-B440EEB17457}" type="presParOf" srcId="{246AF4DE-59FC-4C8F-9DD9-978D62CB8016}" destId="{C6644BCA-99C1-472A-8F83-CD858F4205C3}" srcOrd="0" destOrd="0" presId="urn:microsoft.com/office/officeart/2016/7/layout/LinearBlockProcessNumbered"/>
    <dgm:cxn modelId="{18394159-20E4-48F1-A948-3FE7A551CBD6}" type="presParOf" srcId="{246AF4DE-59FC-4C8F-9DD9-978D62CB8016}" destId="{6788E3CF-3E73-4DB5-990D-70346F9F9BB3}" srcOrd="1" destOrd="0" presId="urn:microsoft.com/office/officeart/2016/7/layout/LinearBlockProcessNumbered"/>
    <dgm:cxn modelId="{5B4CF5B7-BD29-41DB-96D2-1755722445CC}" type="presParOf" srcId="{246AF4DE-59FC-4C8F-9DD9-978D62CB8016}" destId="{8C41562C-657E-4A3E-AA08-EDF83D32D2C1}" srcOrd="2" destOrd="0" presId="urn:microsoft.com/office/officeart/2016/7/layout/LinearBlockProcessNumbered"/>
    <dgm:cxn modelId="{9A5A74C0-8246-459C-8C02-32103128E0F4}" type="presParOf" srcId="{793A0C04-A49C-485A-AD45-CDE67D84749F}" destId="{03B5AD2B-6919-4E97-9EA4-36A9DD2772A0}" srcOrd="3" destOrd="0" presId="urn:microsoft.com/office/officeart/2016/7/layout/LinearBlockProcessNumbered"/>
    <dgm:cxn modelId="{698D6859-7054-4829-98B1-82A91DF3D3F9}" type="presParOf" srcId="{793A0C04-A49C-485A-AD45-CDE67D84749F}" destId="{B5EEBAEB-9CD2-4765-99FD-815E63FCB472}" srcOrd="4" destOrd="0" presId="urn:microsoft.com/office/officeart/2016/7/layout/LinearBlockProcessNumbered"/>
    <dgm:cxn modelId="{71E6E23B-BF9E-4549-BB85-FA199D4360A2}" type="presParOf" srcId="{B5EEBAEB-9CD2-4765-99FD-815E63FCB472}" destId="{3AA1827E-91DC-4A21-93AE-90DDB6C563FA}" srcOrd="0" destOrd="0" presId="urn:microsoft.com/office/officeart/2016/7/layout/LinearBlockProcessNumbered"/>
    <dgm:cxn modelId="{B399C359-0B70-4C89-BA06-59728FAB51DD}" type="presParOf" srcId="{B5EEBAEB-9CD2-4765-99FD-815E63FCB472}" destId="{AE0A6D78-EC71-40D6-926A-18E8E8AF50A7}" srcOrd="1" destOrd="0" presId="urn:microsoft.com/office/officeart/2016/7/layout/LinearBlockProcessNumbered"/>
    <dgm:cxn modelId="{2245A49E-5458-4D81-BB8C-7C23408B133B}" type="presParOf" srcId="{B5EEBAEB-9CD2-4765-99FD-815E63FCB472}" destId="{B2B9A9B4-CFAF-4B2F-B963-7021E08C1972}"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E665084-9B8C-49E3-BA04-F5F78914025F}" type="doc">
      <dgm:prSet loTypeId="urn:microsoft.com/office/officeart/2005/8/layout/hList1" loCatId="list" qsTypeId="urn:microsoft.com/office/officeart/2005/8/quickstyle/simple1" qsCatId="simple" csTypeId="urn:microsoft.com/office/officeart/2005/8/colors/accent0_3" csCatId="mainScheme"/>
      <dgm:spPr/>
      <dgm:t>
        <a:bodyPr/>
        <a:lstStyle/>
        <a:p>
          <a:endParaRPr lang="es-MX"/>
        </a:p>
      </dgm:t>
    </dgm:pt>
    <dgm:pt modelId="{6A5069ED-F8BC-4965-AADC-8FB2A0360FAB}">
      <dgm:prSet/>
      <dgm:spPr/>
      <dgm:t>
        <a:bodyPr/>
        <a:lstStyle/>
        <a:p>
          <a:r>
            <a:rPr lang="en-US"/>
            <a:t>Incomplete data comes from</a:t>
          </a:r>
          <a:endParaRPr lang="es-MX"/>
        </a:p>
      </dgm:t>
    </dgm:pt>
    <dgm:pt modelId="{8840D6DD-4833-454A-9BEC-8129D6FFF3E5}" type="parTrans" cxnId="{9E486135-1E0F-40C6-8BAD-C55E1D73A6B1}">
      <dgm:prSet/>
      <dgm:spPr/>
      <dgm:t>
        <a:bodyPr/>
        <a:lstStyle/>
        <a:p>
          <a:endParaRPr lang="es-MX"/>
        </a:p>
      </dgm:t>
    </dgm:pt>
    <dgm:pt modelId="{DFAF1961-80D8-4401-B0AF-96522C44A1DA}" type="sibTrans" cxnId="{9E486135-1E0F-40C6-8BAD-C55E1D73A6B1}">
      <dgm:prSet/>
      <dgm:spPr/>
      <dgm:t>
        <a:bodyPr/>
        <a:lstStyle/>
        <a:p>
          <a:endParaRPr lang="es-MX"/>
        </a:p>
      </dgm:t>
    </dgm:pt>
    <dgm:pt modelId="{DDC8FFAF-8DCE-4254-884A-478B76CF6206}">
      <dgm:prSet/>
      <dgm:spPr/>
      <dgm:t>
        <a:bodyPr/>
        <a:lstStyle/>
        <a:p>
          <a:r>
            <a:rPr lang="en-US"/>
            <a:t>n/a data value when collected</a:t>
          </a:r>
          <a:endParaRPr lang="es-MX"/>
        </a:p>
      </dgm:t>
    </dgm:pt>
    <dgm:pt modelId="{525DB93A-C765-4E5F-9F9A-D9C6B3ACC920}" type="parTrans" cxnId="{829EA12F-DD74-4E85-91CF-4C0C37EFF2A3}">
      <dgm:prSet/>
      <dgm:spPr/>
      <dgm:t>
        <a:bodyPr/>
        <a:lstStyle/>
        <a:p>
          <a:endParaRPr lang="es-MX"/>
        </a:p>
      </dgm:t>
    </dgm:pt>
    <dgm:pt modelId="{E76CA7E5-9EB0-42A0-B5C3-9194E669A049}" type="sibTrans" cxnId="{829EA12F-DD74-4E85-91CF-4C0C37EFF2A3}">
      <dgm:prSet/>
      <dgm:spPr/>
      <dgm:t>
        <a:bodyPr/>
        <a:lstStyle/>
        <a:p>
          <a:endParaRPr lang="es-MX"/>
        </a:p>
      </dgm:t>
    </dgm:pt>
    <dgm:pt modelId="{62A4AA9F-16D2-4C58-8575-898C31C3C1B8}">
      <dgm:prSet/>
      <dgm:spPr/>
      <dgm:t>
        <a:bodyPr/>
        <a:lstStyle/>
        <a:p>
          <a:r>
            <a:rPr lang="en-US"/>
            <a:t>different consideration between the time when the data was collected and when it is analyzed.</a:t>
          </a:r>
          <a:endParaRPr lang="es-MX"/>
        </a:p>
      </dgm:t>
    </dgm:pt>
    <dgm:pt modelId="{7BBDDB57-8093-4BB8-B721-FD5495692975}" type="parTrans" cxnId="{C4164653-9D8B-4BF7-85F3-D10224922B4E}">
      <dgm:prSet/>
      <dgm:spPr/>
      <dgm:t>
        <a:bodyPr/>
        <a:lstStyle/>
        <a:p>
          <a:endParaRPr lang="es-MX"/>
        </a:p>
      </dgm:t>
    </dgm:pt>
    <dgm:pt modelId="{12677BB1-6E02-41A4-9EF2-A60F629A4FD6}" type="sibTrans" cxnId="{C4164653-9D8B-4BF7-85F3-D10224922B4E}">
      <dgm:prSet/>
      <dgm:spPr/>
      <dgm:t>
        <a:bodyPr/>
        <a:lstStyle/>
        <a:p>
          <a:endParaRPr lang="es-MX"/>
        </a:p>
      </dgm:t>
    </dgm:pt>
    <dgm:pt modelId="{EBAACEC2-CBF7-4BFD-B771-5AC6C00B73A6}">
      <dgm:prSet/>
      <dgm:spPr/>
      <dgm:t>
        <a:bodyPr/>
        <a:lstStyle/>
        <a:p>
          <a:r>
            <a:rPr lang="en-US"/>
            <a:t>human/hardware/software problems</a:t>
          </a:r>
          <a:endParaRPr lang="es-MX"/>
        </a:p>
      </dgm:t>
    </dgm:pt>
    <dgm:pt modelId="{487E2E17-1753-40A9-892C-5D2C5453956A}" type="parTrans" cxnId="{6B36AB2E-E4E8-4816-B22C-A99863B9B081}">
      <dgm:prSet/>
      <dgm:spPr/>
      <dgm:t>
        <a:bodyPr/>
        <a:lstStyle/>
        <a:p>
          <a:endParaRPr lang="es-MX"/>
        </a:p>
      </dgm:t>
    </dgm:pt>
    <dgm:pt modelId="{2A389A13-C95D-4EB6-BFD2-FEA3ABE88DD5}" type="sibTrans" cxnId="{6B36AB2E-E4E8-4816-B22C-A99863B9B081}">
      <dgm:prSet/>
      <dgm:spPr/>
      <dgm:t>
        <a:bodyPr/>
        <a:lstStyle/>
        <a:p>
          <a:endParaRPr lang="es-MX"/>
        </a:p>
      </dgm:t>
    </dgm:pt>
    <dgm:pt modelId="{7EED16FC-216C-4FF1-BF5B-36CB515B3CCB}">
      <dgm:prSet/>
      <dgm:spPr/>
      <dgm:t>
        <a:bodyPr/>
        <a:lstStyle/>
        <a:p>
          <a:r>
            <a:rPr lang="en-US"/>
            <a:t>Noisy data comes from the process of data</a:t>
          </a:r>
          <a:endParaRPr lang="es-MX"/>
        </a:p>
      </dgm:t>
    </dgm:pt>
    <dgm:pt modelId="{329DECE2-4779-4004-B9EB-6839DEEBDC35}" type="parTrans" cxnId="{A4FD0D7B-C2F9-4DE5-9710-2BDEEC84FEE0}">
      <dgm:prSet/>
      <dgm:spPr/>
      <dgm:t>
        <a:bodyPr/>
        <a:lstStyle/>
        <a:p>
          <a:endParaRPr lang="es-MX"/>
        </a:p>
      </dgm:t>
    </dgm:pt>
    <dgm:pt modelId="{2193795B-CF61-4EE4-B4D0-15B81EC44F63}" type="sibTrans" cxnId="{A4FD0D7B-C2F9-4DE5-9710-2BDEEC84FEE0}">
      <dgm:prSet/>
      <dgm:spPr/>
      <dgm:t>
        <a:bodyPr/>
        <a:lstStyle/>
        <a:p>
          <a:endParaRPr lang="es-MX"/>
        </a:p>
      </dgm:t>
    </dgm:pt>
    <dgm:pt modelId="{B5C9E47C-78E6-4F03-9DD8-76FC2F64660C}">
      <dgm:prSet/>
      <dgm:spPr/>
      <dgm:t>
        <a:bodyPr/>
        <a:lstStyle/>
        <a:p>
          <a:r>
            <a:rPr lang="en-US"/>
            <a:t>collection</a:t>
          </a:r>
          <a:endParaRPr lang="es-MX"/>
        </a:p>
      </dgm:t>
    </dgm:pt>
    <dgm:pt modelId="{D9FF8B3D-9B87-4DD4-B253-073E409F850F}" type="parTrans" cxnId="{46895DA5-D69F-43AF-8D6B-5C792DE7FD85}">
      <dgm:prSet/>
      <dgm:spPr/>
      <dgm:t>
        <a:bodyPr/>
        <a:lstStyle/>
        <a:p>
          <a:endParaRPr lang="es-MX"/>
        </a:p>
      </dgm:t>
    </dgm:pt>
    <dgm:pt modelId="{C15A9FB3-7001-428E-BC8D-790FE0A3470F}" type="sibTrans" cxnId="{46895DA5-D69F-43AF-8D6B-5C792DE7FD85}">
      <dgm:prSet/>
      <dgm:spPr/>
      <dgm:t>
        <a:bodyPr/>
        <a:lstStyle/>
        <a:p>
          <a:endParaRPr lang="es-MX"/>
        </a:p>
      </dgm:t>
    </dgm:pt>
    <dgm:pt modelId="{9D8A8DF5-2BCD-4164-A1F2-F0CBA9601F74}">
      <dgm:prSet/>
      <dgm:spPr/>
      <dgm:t>
        <a:bodyPr/>
        <a:lstStyle/>
        <a:p>
          <a:r>
            <a:rPr lang="en-US"/>
            <a:t>entry</a:t>
          </a:r>
          <a:endParaRPr lang="es-MX"/>
        </a:p>
      </dgm:t>
    </dgm:pt>
    <dgm:pt modelId="{C5F270EC-9B8E-4840-B0D9-AB2414A02493}" type="parTrans" cxnId="{87EFB9EA-B5D0-43B7-BA1D-6E2DEF44DA54}">
      <dgm:prSet/>
      <dgm:spPr/>
      <dgm:t>
        <a:bodyPr/>
        <a:lstStyle/>
        <a:p>
          <a:endParaRPr lang="es-MX"/>
        </a:p>
      </dgm:t>
    </dgm:pt>
    <dgm:pt modelId="{8AC29449-7471-4845-9287-D5C6352A8A67}" type="sibTrans" cxnId="{87EFB9EA-B5D0-43B7-BA1D-6E2DEF44DA54}">
      <dgm:prSet/>
      <dgm:spPr/>
      <dgm:t>
        <a:bodyPr/>
        <a:lstStyle/>
        <a:p>
          <a:endParaRPr lang="es-MX"/>
        </a:p>
      </dgm:t>
    </dgm:pt>
    <dgm:pt modelId="{255142C3-0A12-481E-9CEE-629D54DD5EEF}">
      <dgm:prSet/>
      <dgm:spPr/>
      <dgm:t>
        <a:bodyPr/>
        <a:lstStyle/>
        <a:p>
          <a:r>
            <a:rPr lang="en-US"/>
            <a:t>transmission</a:t>
          </a:r>
          <a:endParaRPr lang="es-MX"/>
        </a:p>
      </dgm:t>
    </dgm:pt>
    <dgm:pt modelId="{C3104DC6-6A83-4E2A-9B96-10BAF1253BEF}" type="parTrans" cxnId="{997EC94F-A2F9-4BA0-BB3B-A27FFC8AF443}">
      <dgm:prSet/>
      <dgm:spPr/>
      <dgm:t>
        <a:bodyPr/>
        <a:lstStyle/>
        <a:p>
          <a:endParaRPr lang="es-MX"/>
        </a:p>
      </dgm:t>
    </dgm:pt>
    <dgm:pt modelId="{A9429140-5E1A-41DC-B3D2-ECEBFEF899E8}" type="sibTrans" cxnId="{997EC94F-A2F9-4BA0-BB3B-A27FFC8AF443}">
      <dgm:prSet/>
      <dgm:spPr/>
      <dgm:t>
        <a:bodyPr/>
        <a:lstStyle/>
        <a:p>
          <a:endParaRPr lang="es-MX"/>
        </a:p>
      </dgm:t>
    </dgm:pt>
    <dgm:pt modelId="{9FEB4942-E157-4BF0-B971-DE390EE4114F}">
      <dgm:prSet/>
      <dgm:spPr/>
      <dgm:t>
        <a:bodyPr/>
        <a:lstStyle/>
        <a:p>
          <a:r>
            <a:rPr lang="en-US"/>
            <a:t>Inconsistent data comes from</a:t>
          </a:r>
          <a:endParaRPr lang="es-MX"/>
        </a:p>
      </dgm:t>
    </dgm:pt>
    <dgm:pt modelId="{4EEC4B43-E6A7-47B5-B7EE-ED161929DA50}" type="parTrans" cxnId="{283300E6-7AA1-4343-905B-CF57798B2EE7}">
      <dgm:prSet/>
      <dgm:spPr/>
      <dgm:t>
        <a:bodyPr/>
        <a:lstStyle/>
        <a:p>
          <a:endParaRPr lang="es-MX"/>
        </a:p>
      </dgm:t>
    </dgm:pt>
    <dgm:pt modelId="{A393F6D8-29E3-4F53-BDE3-4F2C14D52C82}" type="sibTrans" cxnId="{283300E6-7AA1-4343-905B-CF57798B2EE7}">
      <dgm:prSet/>
      <dgm:spPr/>
      <dgm:t>
        <a:bodyPr/>
        <a:lstStyle/>
        <a:p>
          <a:endParaRPr lang="es-MX"/>
        </a:p>
      </dgm:t>
    </dgm:pt>
    <dgm:pt modelId="{4662C203-A8A7-410C-BC98-55EFDD9D9A79}">
      <dgm:prSet/>
      <dgm:spPr/>
      <dgm:t>
        <a:bodyPr/>
        <a:lstStyle/>
        <a:p>
          <a:r>
            <a:rPr lang="en-US"/>
            <a:t>Different data sources</a:t>
          </a:r>
          <a:endParaRPr lang="es-MX"/>
        </a:p>
      </dgm:t>
    </dgm:pt>
    <dgm:pt modelId="{3CBA68B4-CF98-44FB-B1B5-189C624E8FC5}" type="parTrans" cxnId="{971557ED-52AA-4668-816B-5AD62CBD4726}">
      <dgm:prSet/>
      <dgm:spPr/>
      <dgm:t>
        <a:bodyPr/>
        <a:lstStyle/>
        <a:p>
          <a:endParaRPr lang="es-MX"/>
        </a:p>
      </dgm:t>
    </dgm:pt>
    <dgm:pt modelId="{E308B937-50A4-4CAF-AF35-C2C9CCAF50D0}" type="sibTrans" cxnId="{971557ED-52AA-4668-816B-5AD62CBD4726}">
      <dgm:prSet/>
      <dgm:spPr/>
      <dgm:t>
        <a:bodyPr/>
        <a:lstStyle/>
        <a:p>
          <a:endParaRPr lang="es-MX"/>
        </a:p>
      </dgm:t>
    </dgm:pt>
    <dgm:pt modelId="{14092FA0-59DB-47F3-8109-C96847A5DF77}">
      <dgm:prSet/>
      <dgm:spPr/>
      <dgm:t>
        <a:bodyPr/>
        <a:lstStyle/>
        <a:p>
          <a:r>
            <a:rPr lang="en-US"/>
            <a:t>Functional dependency violation</a:t>
          </a:r>
          <a:endParaRPr lang="es-MX"/>
        </a:p>
      </dgm:t>
    </dgm:pt>
    <dgm:pt modelId="{D1112093-6A47-40B4-A959-E5C0EB7E4DF3}" type="parTrans" cxnId="{91DC690C-F76B-4DEC-BE89-C4FE516FFF36}">
      <dgm:prSet/>
      <dgm:spPr/>
      <dgm:t>
        <a:bodyPr/>
        <a:lstStyle/>
        <a:p>
          <a:endParaRPr lang="es-MX"/>
        </a:p>
      </dgm:t>
    </dgm:pt>
    <dgm:pt modelId="{3A5A07DA-AE0B-4515-AAE5-067D6526E5C0}" type="sibTrans" cxnId="{91DC690C-F76B-4DEC-BE89-C4FE516FFF36}">
      <dgm:prSet/>
      <dgm:spPr/>
      <dgm:t>
        <a:bodyPr/>
        <a:lstStyle/>
        <a:p>
          <a:endParaRPr lang="es-MX"/>
        </a:p>
      </dgm:t>
    </dgm:pt>
    <dgm:pt modelId="{A594844E-CDDD-4BCB-971E-F5866114BD0F}" type="pres">
      <dgm:prSet presAssocID="{5E665084-9B8C-49E3-BA04-F5F78914025F}" presName="Name0" presStyleCnt="0">
        <dgm:presLayoutVars>
          <dgm:dir/>
          <dgm:animLvl val="lvl"/>
          <dgm:resizeHandles val="exact"/>
        </dgm:presLayoutVars>
      </dgm:prSet>
      <dgm:spPr/>
    </dgm:pt>
    <dgm:pt modelId="{DFA1A9F9-1FEC-49F3-9D22-53A2AEDAC144}" type="pres">
      <dgm:prSet presAssocID="{6A5069ED-F8BC-4965-AADC-8FB2A0360FAB}" presName="composite" presStyleCnt="0"/>
      <dgm:spPr/>
    </dgm:pt>
    <dgm:pt modelId="{A1E421F8-415C-44C1-838B-C1BA6BE5C2BA}" type="pres">
      <dgm:prSet presAssocID="{6A5069ED-F8BC-4965-AADC-8FB2A0360FAB}" presName="parTx" presStyleLbl="alignNode1" presStyleIdx="0" presStyleCnt="3">
        <dgm:presLayoutVars>
          <dgm:chMax val="0"/>
          <dgm:chPref val="0"/>
          <dgm:bulletEnabled val="1"/>
        </dgm:presLayoutVars>
      </dgm:prSet>
      <dgm:spPr/>
    </dgm:pt>
    <dgm:pt modelId="{21490CF0-8C71-4F43-8312-29011C93D237}" type="pres">
      <dgm:prSet presAssocID="{6A5069ED-F8BC-4965-AADC-8FB2A0360FAB}" presName="desTx" presStyleLbl="alignAccFollowNode1" presStyleIdx="0" presStyleCnt="3">
        <dgm:presLayoutVars>
          <dgm:bulletEnabled val="1"/>
        </dgm:presLayoutVars>
      </dgm:prSet>
      <dgm:spPr/>
    </dgm:pt>
    <dgm:pt modelId="{24B2976A-17A3-4E44-A90A-3E226AC25F7E}" type="pres">
      <dgm:prSet presAssocID="{DFAF1961-80D8-4401-B0AF-96522C44A1DA}" presName="space" presStyleCnt="0"/>
      <dgm:spPr/>
    </dgm:pt>
    <dgm:pt modelId="{12CE90EA-614A-4801-B38D-75302BBC6D84}" type="pres">
      <dgm:prSet presAssocID="{7EED16FC-216C-4FF1-BF5B-36CB515B3CCB}" presName="composite" presStyleCnt="0"/>
      <dgm:spPr/>
    </dgm:pt>
    <dgm:pt modelId="{4252200F-B3EA-4688-8F1E-7BFDC149C4D7}" type="pres">
      <dgm:prSet presAssocID="{7EED16FC-216C-4FF1-BF5B-36CB515B3CCB}" presName="parTx" presStyleLbl="alignNode1" presStyleIdx="1" presStyleCnt="3">
        <dgm:presLayoutVars>
          <dgm:chMax val="0"/>
          <dgm:chPref val="0"/>
          <dgm:bulletEnabled val="1"/>
        </dgm:presLayoutVars>
      </dgm:prSet>
      <dgm:spPr/>
    </dgm:pt>
    <dgm:pt modelId="{BF759CC6-6C1E-42DD-A75F-71AB1174E530}" type="pres">
      <dgm:prSet presAssocID="{7EED16FC-216C-4FF1-BF5B-36CB515B3CCB}" presName="desTx" presStyleLbl="alignAccFollowNode1" presStyleIdx="1" presStyleCnt="3">
        <dgm:presLayoutVars>
          <dgm:bulletEnabled val="1"/>
        </dgm:presLayoutVars>
      </dgm:prSet>
      <dgm:spPr/>
    </dgm:pt>
    <dgm:pt modelId="{5BEC7E6F-A202-4562-8CE2-D61365F63B21}" type="pres">
      <dgm:prSet presAssocID="{2193795B-CF61-4EE4-B4D0-15B81EC44F63}" presName="space" presStyleCnt="0"/>
      <dgm:spPr/>
    </dgm:pt>
    <dgm:pt modelId="{A00F418C-189E-4AF6-BFE9-0ADD9AAB92F8}" type="pres">
      <dgm:prSet presAssocID="{9FEB4942-E157-4BF0-B971-DE390EE4114F}" presName="composite" presStyleCnt="0"/>
      <dgm:spPr/>
    </dgm:pt>
    <dgm:pt modelId="{1F0CC375-EA38-4CA5-8BD9-7A5A9677C1F1}" type="pres">
      <dgm:prSet presAssocID="{9FEB4942-E157-4BF0-B971-DE390EE4114F}" presName="parTx" presStyleLbl="alignNode1" presStyleIdx="2" presStyleCnt="3">
        <dgm:presLayoutVars>
          <dgm:chMax val="0"/>
          <dgm:chPref val="0"/>
          <dgm:bulletEnabled val="1"/>
        </dgm:presLayoutVars>
      </dgm:prSet>
      <dgm:spPr/>
    </dgm:pt>
    <dgm:pt modelId="{DE4F8272-7FFE-4149-A276-F8AC9F10BA62}" type="pres">
      <dgm:prSet presAssocID="{9FEB4942-E157-4BF0-B971-DE390EE4114F}" presName="desTx" presStyleLbl="alignAccFollowNode1" presStyleIdx="2" presStyleCnt="3">
        <dgm:presLayoutVars>
          <dgm:bulletEnabled val="1"/>
        </dgm:presLayoutVars>
      </dgm:prSet>
      <dgm:spPr/>
    </dgm:pt>
  </dgm:ptLst>
  <dgm:cxnLst>
    <dgm:cxn modelId="{6E3F7900-1CE9-4E42-805F-4A3B42967C06}" type="presOf" srcId="{B5C9E47C-78E6-4F03-9DD8-76FC2F64660C}" destId="{BF759CC6-6C1E-42DD-A75F-71AB1174E530}" srcOrd="0" destOrd="0" presId="urn:microsoft.com/office/officeart/2005/8/layout/hList1"/>
    <dgm:cxn modelId="{E5A7C806-87B9-4263-BBAD-2D1618941CC2}" type="presOf" srcId="{255142C3-0A12-481E-9CEE-629D54DD5EEF}" destId="{BF759CC6-6C1E-42DD-A75F-71AB1174E530}" srcOrd="0" destOrd="2" presId="urn:microsoft.com/office/officeart/2005/8/layout/hList1"/>
    <dgm:cxn modelId="{91DC690C-F76B-4DEC-BE89-C4FE516FFF36}" srcId="{9FEB4942-E157-4BF0-B971-DE390EE4114F}" destId="{14092FA0-59DB-47F3-8109-C96847A5DF77}" srcOrd="1" destOrd="0" parTransId="{D1112093-6A47-40B4-A959-E5C0EB7E4DF3}" sibTransId="{3A5A07DA-AE0B-4515-AAE5-067D6526E5C0}"/>
    <dgm:cxn modelId="{FA2C3624-2645-44AF-8622-5647E7D15105}" type="presOf" srcId="{DDC8FFAF-8DCE-4254-884A-478B76CF6206}" destId="{21490CF0-8C71-4F43-8312-29011C93D237}" srcOrd="0" destOrd="0" presId="urn:microsoft.com/office/officeart/2005/8/layout/hList1"/>
    <dgm:cxn modelId="{6B36AB2E-E4E8-4816-B22C-A99863B9B081}" srcId="{6A5069ED-F8BC-4965-AADC-8FB2A0360FAB}" destId="{EBAACEC2-CBF7-4BFD-B771-5AC6C00B73A6}" srcOrd="2" destOrd="0" parTransId="{487E2E17-1753-40A9-892C-5D2C5453956A}" sibTransId="{2A389A13-C95D-4EB6-BFD2-FEA3ABE88DD5}"/>
    <dgm:cxn modelId="{829EA12F-DD74-4E85-91CF-4C0C37EFF2A3}" srcId="{6A5069ED-F8BC-4965-AADC-8FB2A0360FAB}" destId="{DDC8FFAF-8DCE-4254-884A-478B76CF6206}" srcOrd="0" destOrd="0" parTransId="{525DB93A-C765-4E5F-9F9A-D9C6B3ACC920}" sibTransId="{E76CA7E5-9EB0-42A0-B5C3-9194E669A049}"/>
    <dgm:cxn modelId="{9E486135-1E0F-40C6-8BAD-C55E1D73A6B1}" srcId="{5E665084-9B8C-49E3-BA04-F5F78914025F}" destId="{6A5069ED-F8BC-4965-AADC-8FB2A0360FAB}" srcOrd="0" destOrd="0" parTransId="{8840D6DD-4833-454A-9BEC-8129D6FFF3E5}" sibTransId="{DFAF1961-80D8-4401-B0AF-96522C44A1DA}"/>
    <dgm:cxn modelId="{14B9C73D-A1AD-4D6C-A590-D228401186EF}" type="presOf" srcId="{6A5069ED-F8BC-4965-AADC-8FB2A0360FAB}" destId="{A1E421F8-415C-44C1-838B-C1BA6BE5C2BA}" srcOrd="0" destOrd="0" presId="urn:microsoft.com/office/officeart/2005/8/layout/hList1"/>
    <dgm:cxn modelId="{FA00C846-07FF-4F9D-AD3A-CC77A5FC0ED9}" type="presOf" srcId="{9FEB4942-E157-4BF0-B971-DE390EE4114F}" destId="{1F0CC375-EA38-4CA5-8BD9-7A5A9677C1F1}" srcOrd="0" destOrd="0" presId="urn:microsoft.com/office/officeart/2005/8/layout/hList1"/>
    <dgm:cxn modelId="{B3346269-3150-4AB3-BBF6-FD4FB80188C7}" type="presOf" srcId="{4662C203-A8A7-410C-BC98-55EFDD9D9A79}" destId="{DE4F8272-7FFE-4149-A276-F8AC9F10BA62}" srcOrd="0" destOrd="0" presId="urn:microsoft.com/office/officeart/2005/8/layout/hList1"/>
    <dgm:cxn modelId="{997EC94F-A2F9-4BA0-BB3B-A27FFC8AF443}" srcId="{7EED16FC-216C-4FF1-BF5B-36CB515B3CCB}" destId="{255142C3-0A12-481E-9CEE-629D54DD5EEF}" srcOrd="2" destOrd="0" parTransId="{C3104DC6-6A83-4E2A-9B96-10BAF1253BEF}" sibTransId="{A9429140-5E1A-41DC-B3D2-ECEBFEF899E8}"/>
    <dgm:cxn modelId="{C4164653-9D8B-4BF7-85F3-D10224922B4E}" srcId="{6A5069ED-F8BC-4965-AADC-8FB2A0360FAB}" destId="{62A4AA9F-16D2-4C58-8575-898C31C3C1B8}" srcOrd="1" destOrd="0" parTransId="{7BBDDB57-8093-4BB8-B721-FD5495692975}" sibTransId="{12677BB1-6E02-41A4-9EF2-A60F629A4FD6}"/>
    <dgm:cxn modelId="{63728B54-4E4C-402A-9FD3-13A517517A00}" type="presOf" srcId="{62A4AA9F-16D2-4C58-8575-898C31C3C1B8}" destId="{21490CF0-8C71-4F43-8312-29011C93D237}" srcOrd="0" destOrd="1" presId="urn:microsoft.com/office/officeart/2005/8/layout/hList1"/>
    <dgm:cxn modelId="{A4FD0D7B-C2F9-4DE5-9710-2BDEEC84FEE0}" srcId="{5E665084-9B8C-49E3-BA04-F5F78914025F}" destId="{7EED16FC-216C-4FF1-BF5B-36CB515B3CCB}" srcOrd="1" destOrd="0" parTransId="{329DECE2-4779-4004-B9EB-6839DEEBDC35}" sibTransId="{2193795B-CF61-4EE4-B4D0-15B81EC44F63}"/>
    <dgm:cxn modelId="{B355D692-E2B3-4930-A4CD-F5446EF72CC4}" type="presOf" srcId="{5E665084-9B8C-49E3-BA04-F5F78914025F}" destId="{A594844E-CDDD-4BCB-971E-F5866114BD0F}" srcOrd="0" destOrd="0" presId="urn:microsoft.com/office/officeart/2005/8/layout/hList1"/>
    <dgm:cxn modelId="{02A64BA1-C6DC-487B-A4AD-19A22A83870D}" type="presOf" srcId="{EBAACEC2-CBF7-4BFD-B771-5AC6C00B73A6}" destId="{21490CF0-8C71-4F43-8312-29011C93D237}" srcOrd="0" destOrd="2" presId="urn:microsoft.com/office/officeart/2005/8/layout/hList1"/>
    <dgm:cxn modelId="{46895DA5-D69F-43AF-8D6B-5C792DE7FD85}" srcId="{7EED16FC-216C-4FF1-BF5B-36CB515B3CCB}" destId="{B5C9E47C-78E6-4F03-9DD8-76FC2F64660C}" srcOrd="0" destOrd="0" parTransId="{D9FF8B3D-9B87-4DD4-B253-073E409F850F}" sibTransId="{C15A9FB3-7001-428E-BC8D-790FE0A3470F}"/>
    <dgm:cxn modelId="{D4DAECA6-CD4C-40CA-AA06-B47347425BDB}" type="presOf" srcId="{7EED16FC-216C-4FF1-BF5B-36CB515B3CCB}" destId="{4252200F-B3EA-4688-8F1E-7BFDC149C4D7}" srcOrd="0" destOrd="0" presId="urn:microsoft.com/office/officeart/2005/8/layout/hList1"/>
    <dgm:cxn modelId="{283300E6-7AA1-4343-905B-CF57798B2EE7}" srcId="{5E665084-9B8C-49E3-BA04-F5F78914025F}" destId="{9FEB4942-E157-4BF0-B971-DE390EE4114F}" srcOrd="2" destOrd="0" parTransId="{4EEC4B43-E6A7-47B5-B7EE-ED161929DA50}" sibTransId="{A393F6D8-29E3-4F53-BDE3-4F2C14D52C82}"/>
    <dgm:cxn modelId="{87EFB9EA-B5D0-43B7-BA1D-6E2DEF44DA54}" srcId="{7EED16FC-216C-4FF1-BF5B-36CB515B3CCB}" destId="{9D8A8DF5-2BCD-4164-A1F2-F0CBA9601F74}" srcOrd="1" destOrd="0" parTransId="{C5F270EC-9B8E-4840-B0D9-AB2414A02493}" sibTransId="{8AC29449-7471-4845-9287-D5C6352A8A67}"/>
    <dgm:cxn modelId="{CA6E8AEB-4011-4054-B3D7-75F26657C738}" type="presOf" srcId="{14092FA0-59DB-47F3-8109-C96847A5DF77}" destId="{DE4F8272-7FFE-4149-A276-F8AC9F10BA62}" srcOrd="0" destOrd="1" presId="urn:microsoft.com/office/officeart/2005/8/layout/hList1"/>
    <dgm:cxn modelId="{971557ED-52AA-4668-816B-5AD62CBD4726}" srcId="{9FEB4942-E157-4BF0-B971-DE390EE4114F}" destId="{4662C203-A8A7-410C-BC98-55EFDD9D9A79}" srcOrd="0" destOrd="0" parTransId="{3CBA68B4-CF98-44FB-B1B5-189C624E8FC5}" sibTransId="{E308B937-50A4-4CAF-AF35-C2C9CCAF50D0}"/>
    <dgm:cxn modelId="{B1C2AFFC-BEF6-49E0-9BB3-E284C2C9A644}" type="presOf" srcId="{9D8A8DF5-2BCD-4164-A1F2-F0CBA9601F74}" destId="{BF759CC6-6C1E-42DD-A75F-71AB1174E530}" srcOrd="0" destOrd="1" presId="urn:microsoft.com/office/officeart/2005/8/layout/hList1"/>
    <dgm:cxn modelId="{262CA380-DB0B-42F6-9920-14F4A90E08A1}" type="presParOf" srcId="{A594844E-CDDD-4BCB-971E-F5866114BD0F}" destId="{DFA1A9F9-1FEC-49F3-9D22-53A2AEDAC144}" srcOrd="0" destOrd="0" presId="urn:microsoft.com/office/officeart/2005/8/layout/hList1"/>
    <dgm:cxn modelId="{B6A69585-01CB-4C18-9A1B-79ACDE615B2B}" type="presParOf" srcId="{DFA1A9F9-1FEC-49F3-9D22-53A2AEDAC144}" destId="{A1E421F8-415C-44C1-838B-C1BA6BE5C2BA}" srcOrd="0" destOrd="0" presId="urn:microsoft.com/office/officeart/2005/8/layout/hList1"/>
    <dgm:cxn modelId="{9C06DDC6-BEDD-41AD-9580-341F3AB5ED98}" type="presParOf" srcId="{DFA1A9F9-1FEC-49F3-9D22-53A2AEDAC144}" destId="{21490CF0-8C71-4F43-8312-29011C93D237}" srcOrd="1" destOrd="0" presId="urn:microsoft.com/office/officeart/2005/8/layout/hList1"/>
    <dgm:cxn modelId="{6E07D679-1CC4-438D-8390-47C3711B7CA0}" type="presParOf" srcId="{A594844E-CDDD-4BCB-971E-F5866114BD0F}" destId="{24B2976A-17A3-4E44-A90A-3E226AC25F7E}" srcOrd="1" destOrd="0" presId="urn:microsoft.com/office/officeart/2005/8/layout/hList1"/>
    <dgm:cxn modelId="{1B25D28E-0EF9-4ED3-A88F-9D5022090AD1}" type="presParOf" srcId="{A594844E-CDDD-4BCB-971E-F5866114BD0F}" destId="{12CE90EA-614A-4801-B38D-75302BBC6D84}" srcOrd="2" destOrd="0" presId="urn:microsoft.com/office/officeart/2005/8/layout/hList1"/>
    <dgm:cxn modelId="{64CD063A-63B1-4C7A-9CB7-46375897F57B}" type="presParOf" srcId="{12CE90EA-614A-4801-B38D-75302BBC6D84}" destId="{4252200F-B3EA-4688-8F1E-7BFDC149C4D7}" srcOrd="0" destOrd="0" presId="urn:microsoft.com/office/officeart/2005/8/layout/hList1"/>
    <dgm:cxn modelId="{5732F236-1842-4D31-9D7E-6DE2EF878539}" type="presParOf" srcId="{12CE90EA-614A-4801-B38D-75302BBC6D84}" destId="{BF759CC6-6C1E-42DD-A75F-71AB1174E530}" srcOrd="1" destOrd="0" presId="urn:microsoft.com/office/officeart/2005/8/layout/hList1"/>
    <dgm:cxn modelId="{468A6D28-ACD2-4CE2-8515-28253C6E9FD8}" type="presParOf" srcId="{A594844E-CDDD-4BCB-971E-F5866114BD0F}" destId="{5BEC7E6F-A202-4562-8CE2-D61365F63B21}" srcOrd="3" destOrd="0" presId="urn:microsoft.com/office/officeart/2005/8/layout/hList1"/>
    <dgm:cxn modelId="{08519A04-3B35-4AEE-93BF-008397637815}" type="presParOf" srcId="{A594844E-CDDD-4BCB-971E-F5866114BD0F}" destId="{A00F418C-189E-4AF6-BFE9-0ADD9AAB92F8}" srcOrd="4" destOrd="0" presId="urn:microsoft.com/office/officeart/2005/8/layout/hList1"/>
    <dgm:cxn modelId="{966B787E-A749-43D7-971F-07EB9B6740AD}" type="presParOf" srcId="{A00F418C-189E-4AF6-BFE9-0ADD9AAB92F8}" destId="{1F0CC375-EA38-4CA5-8BD9-7A5A9677C1F1}" srcOrd="0" destOrd="0" presId="urn:microsoft.com/office/officeart/2005/8/layout/hList1"/>
    <dgm:cxn modelId="{16B15E01-B1F4-44D4-AD4B-C74F403B90DD}" type="presParOf" srcId="{A00F418C-189E-4AF6-BFE9-0ADD9AAB92F8}" destId="{DE4F8272-7FFE-4149-A276-F8AC9F10BA6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162F166-148B-4F1E-8570-FCB83CE2B82F}" type="doc">
      <dgm:prSet loTypeId="urn:microsoft.com/office/officeart/2005/8/layout/hList1" loCatId="list" qsTypeId="urn:microsoft.com/office/officeart/2005/8/quickstyle/simple1" qsCatId="simple" csTypeId="urn:microsoft.com/office/officeart/2005/8/colors/accent0_3" csCatId="mainScheme"/>
      <dgm:spPr/>
      <dgm:t>
        <a:bodyPr/>
        <a:lstStyle/>
        <a:p>
          <a:endParaRPr lang="en-US"/>
        </a:p>
      </dgm:t>
    </dgm:pt>
    <dgm:pt modelId="{DBE775AC-E7B7-420F-90E3-C45F33A536E9}">
      <dgm:prSet/>
      <dgm:spPr/>
      <dgm:t>
        <a:bodyPr/>
        <a:lstStyle/>
        <a:p>
          <a:r>
            <a:rPr lang="en-US"/>
            <a:t>Purpose:</a:t>
          </a:r>
        </a:p>
      </dgm:t>
    </dgm:pt>
    <dgm:pt modelId="{0668D421-BBA2-45E1-8984-709BBDCCF314}" type="parTrans" cxnId="{F1EE198D-BB64-437F-9819-F12891DF068B}">
      <dgm:prSet/>
      <dgm:spPr/>
      <dgm:t>
        <a:bodyPr/>
        <a:lstStyle/>
        <a:p>
          <a:endParaRPr lang="en-US"/>
        </a:p>
      </dgm:t>
    </dgm:pt>
    <dgm:pt modelId="{84434599-9403-4AF7-B004-98E73855ED78}" type="sibTrans" cxnId="{F1EE198D-BB64-437F-9819-F12891DF068B}">
      <dgm:prSet/>
      <dgm:spPr/>
      <dgm:t>
        <a:bodyPr/>
        <a:lstStyle/>
        <a:p>
          <a:endParaRPr lang="en-US"/>
        </a:p>
      </dgm:t>
    </dgm:pt>
    <dgm:pt modelId="{ADAB01BF-4FAF-409C-81E3-3C0A0BF8693C}">
      <dgm:prSet/>
      <dgm:spPr/>
      <dgm:t>
        <a:bodyPr/>
        <a:lstStyle/>
        <a:p>
          <a:r>
            <a:rPr lang="en-US"/>
            <a:t>Avoid curse of dimensionality</a:t>
          </a:r>
        </a:p>
      </dgm:t>
    </dgm:pt>
    <dgm:pt modelId="{2EE9B4B9-E11A-408B-BBB1-26850A5E4F79}" type="parTrans" cxnId="{5AD372AA-B447-4A54-A2E3-A0D95250C2C6}">
      <dgm:prSet/>
      <dgm:spPr/>
      <dgm:t>
        <a:bodyPr/>
        <a:lstStyle/>
        <a:p>
          <a:endParaRPr lang="en-US"/>
        </a:p>
      </dgm:t>
    </dgm:pt>
    <dgm:pt modelId="{F9175E13-4B1A-4691-BF97-C375CA1FCA9B}" type="sibTrans" cxnId="{5AD372AA-B447-4A54-A2E3-A0D95250C2C6}">
      <dgm:prSet/>
      <dgm:spPr/>
      <dgm:t>
        <a:bodyPr/>
        <a:lstStyle/>
        <a:p>
          <a:endParaRPr lang="en-US"/>
        </a:p>
      </dgm:t>
    </dgm:pt>
    <dgm:pt modelId="{F5F5750B-FB4D-44D2-8CBA-80757C561795}">
      <dgm:prSet/>
      <dgm:spPr/>
      <dgm:t>
        <a:bodyPr/>
        <a:lstStyle/>
        <a:p>
          <a:r>
            <a:rPr lang="en-US"/>
            <a:t>Reduce amount of time and memory required by data mining algorithms</a:t>
          </a:r>
        </a:p>
      </dgm:t>
    </dgm:pt>
    <dgm:pt modelId="{B4330FEE-B039-4B6D-9DFF-6755634A4F23}" type="parTrans" cxnId="{CA43DBC4-C5E5-4E7A-B5AB-24E4D9E2A2B7}">
      <dgm:prSet/>
      <dgm:spPr/>
      <dgm:t>
        <a:bodyPr/>
        <a:lstStyle/>
        <a:p>
          <a:endParaRPr lang="en-US"/>
        </a:p>
      </dgm:t>
    </dgm:pt>
    <dgm:pt modelId="{1FCF75AE-D562-424D-B665-35211E1AC683}" type="sibTrans" cxnId="{CA43DBC4-C5E5-4E7A-B5AB-24E4D9E2A2B7}">
      <dgm:prSet/>
      <dgm:spPr/>
      <dgm:t>
        <a:bodyPr/>
        <a:lstStyle/>
        <a:p>
          <a:endParaRPr lang="en-US"/>
        </a:p>
      </dgm:t>
    </dgm:pt>
    <dgm:pt modelId="{59D50AA0-7D8F-4436-9E15-D04023C5EFB2}">
      <dgm:prSet/>
      <dgm:spPr/>
      <dgm:t>
        <a:bodyPr/>
        <a:lstStyle/>
        <a:p>
          <a:r>
            <a:rPr lang="en-US"/>
            <a:t>Allow data to be more easily visualized</a:t>
          </a:r>
        </a:p>
      </dgm:t>
    </dgm:pt>
    <dgm:pt modelId="{3A0332A9-E39A-44E3-BE2C-D19666C2D0AC}" type="parTrans" cxnId="{A911561E-195E-44CA-B2DC-825D1C85EB72}">
      <dgm:prSet/>
      <dgm:spPr/>
      <dgm:t>
        <a:bodyPr/>
        <a:lstStyle/>
        <a:p>
          <a:endParaRPr lang="en-US"/>
        </a:p>
      </dgm:t>
    </dgm:pt>
    <dgm:pt modelId="{81500884-3F52-4923-B5C7-BEC3F216CC26}" type="sibTrans" cxnId="{A911561E-195E-44CA-B2DC-825D1C85EB72}">
      <dgm:prSet/>
      <dgm:spPr/>
      <dgm:t>
        <a:bodyPr/>
        <a:lstStyle/>
        <a:p>
          <a:endParaRPr lang="en-US"/>
        </a:p>
      </dgm:t>
    </dgm:pt>
    <dgm:pt modelId="{732C9752-DC28-4AD3-8675-6EAFA38D5B45}">
      <dgm:prSet/>
      <dgm:spPr/>
      <dgm:t>
        <a:bodyPr/>
        <a:lstStyle/>
        <a:p>
          <a:r>
            <a:rPr lang="en-US"/>
            <a:t>May help to eliminate irrelevant features or reduce noise</a:t>
          </a:r>
        </a:p>
      </dgm:t>
    </dgm:pt>
    <dgm:pt modelId="{B18FF126-5029-4DD2-9695-2F4938464FCA}" type="parTrans" cxnId="{0E071F59-7912-4BDB-BD43-826DBE5D3D5F}">
      <dgm:prSet/>
      <dgm:spPr/>
      <dgm:t>
        <a:bodyPr/>
        <a:lstStyle/>
        <a:p>
          <a:endParaRPr lang="en-US"/>
        </a:p>
      </dgm:t>
    </dgm:pt>
    <dgm:pt modelId="{5139CAA8-2CEA-46B6-8DB6-5CA41BDAD157}" type="sibTrans" cxnId="{0E071F59-7912-4BDB-BD43-826DBE5D3D5F}">
      <dgm:prSet/>
      <dgm:spPr/>
      <dgm:t>
        <a:bodyPr/>
        <a:lstStyle/>
        <a:p>
          <a:endParaRPr lang="en-US"/>
        </a:p>
      </dgm:t>
    </dgm:pt>
    <dgm:pt modelId="{3F596A0C-7EFD-48C8-B68D-BB84A4053024}">
      <dgm:prSet/>
      <dgm:spPr/>
      <dgm:t>
        <a:bodyPr/>
        <a:lstStyle/>
        <a:p>
          <a:r>
            <a:rPr lang="en-US"/>
            <a:t>Techniques</a:t>
          </a:r>
        </a:p>
      </dgm:t>
    </dgm:pt>
    <dgm:pt modelId="{285DA033-064C-48AA-B23F-B19177E1A702}" type="parTrans" cxnId="{31F139F1-DFB6-4CD9-A4D9-119E779AA3AE}">
      <dgm:prSet/>
      <dgm:spPr/>
      <dgm:t>
        <a:bodyPr/>
        <a:lstStyle/>
        <a:p>
          <a:endParaRPr lang="en-US"/>
        </a:p>
      </dgm:t>
    </dgm:pt>
    <dgm:pt modelId="{2C2C83D4-3E44-404B-831D-41B7CCE49D42}" type="sibTrans" cxnId="{31F139F1-DFB6-4CD9-A4D9-119E779AA3AE}">
      <dgm:prSet/>
      <dgm:spPr/>
      <dgm:t>
        <a:bodyPr/>
        <a:lstStyle/>
        <a:p>
          <a:endParaRPr lang="en-US"/>
        </a:p>
      </dgm:t>
    </dgm:pt>
    <dgm:pt modelId="{E9B2E404-3778-4E48-B304-C26A2E7499F6}">
      <dgm:prSet/>
      <dgm:spPr/>
      <dgm:t>
        <a:bodyPr/>
        <a:lstStyle/>
        <a:p>
          <a:r>
            <a:rPr lang="en-US"/>
            <a:t>Principle Component Analysis</a:t>
          </a:r>
        </a:p>
      </dgm:t>
    </dgm:pt>
    <dgm:pt modelId="{B8954ED4-495F-467A-8E77-BC17ABD8021F}" type="parTrans" cxnId="{8E6EEE1C-D738-461F-9C7D-C65F3DCA8999}">
      <dgm:prSet/>
      <dgm:spPr/>
      <dgm:t>
        <a:bodyPr/>
        <a:lstStyle/>
        <a:p>
          <a:endParaRPr lang="en-US"/>
        </a:p>
      </dgm:t>
    </dgm:pt>
    <dgm:pt modelId="{E27EACE7-8A68-4DF7-8C85-6DCF4BBA7678}" type="sibTrans" cxnId="{8E6EEE1C-D738-461F-9C7D-C65F3DCA8999}">
      <dgm:prSet/>
      <dgm:spPr/>
      <dgm:t>
        <a:bodyPr/>
        <a:lstStyle/>
        <a:p>
          <a:endParaRPr lang="en-US"/>
        </a:p>
      </dgm:t>
    </dgm:pt>
    <dgm:pt modelId="{DD56F4FE-0098-497C-98EA-D955333901F4}">
      <dgm:prSet/>
      <dgm:spPr/>
      <dgm:t>
        <a:bodyPr/>
        <a:lstStyle/>
        <a:p>
          <a:r>
            <a:rPr lang="en-US"/>
            <a:t>Singular Value Decomposition</a:t>
          </a:r>
        </a:p>
      </dgm:t>
    </dgm:pt>
    <dgm:pt modelId="{0B6B01F2-66FA-418B-B768-CE6041C0A0CC}" type="parTrans" cxnId="{A8574B04-7331-41F7-B2F1-F75608D6082F}">
      <dgm:prSet/>
      <dgm:spPr/>
      <dgm:t>
        <a:bodyPr/>
        <a:lstStyle/>
        <a:p>
          <a:endParaRPr lang="en-US"/>
        </a:p>
      </dgm:t>
    </dgm:pt>
    <dgm:pt modelId="{1115354F-E702-4B64-A8C0-2D992D471A49}" type="sibTrans" cxnId="{A8574B04-7331-41F7-B2F1-F75608D6082F}">
      <dgm:prSet/>
      <dgm:spPr/>
      <dgm:t>
        <a:bodyPr/>
        <a:lstStyle/>
        <a:p>
          <a:endParaRPr lang="en-US"/>
        </a:p>
      </dgm:t>
    </dgm:pt>
    <dgm:pt modelId="{35A2FBEE-41B5-4154-9CCE-3A49C77DA0EC}">
      <dgm:prSet/>
      <dgm:spPr/>
      <dgm:t>
        <a:bodyPr/>
        <a:lstStyle/>
        <a:p>
          <a:r>
            <a:rPr lang="en-US"/>
            <a:t>Others: supervised and non-linear techniques</a:t>
          </a:r>
        </a:p>
      </dgm:t>
    </dgm:pt>
    <dgm:pt modelId="{43BC9A33-E4E2-4DEF-B31E-6BC5E02D2F53}" type="parTrans" cxnId="{922C62F1-D2DD-4467-A6B1-B36E56791C95}">
      <dgm:prSet/>
      <dgm:spPr/>
      <dgm:t>
        <a:bodyPr/>
        <a:lstStyle/>
        <a:p>
          <a:endParaRPr lang="en-US"/>
        </a:p>
      </dgm:t>
    </dgm:pt>
    <dgm:pt modelId="{BCF1C266-D89E-4974-8D58-5135F597D141}" type="sibTrans" cxnId="{922C62F1-D2DD-4467-A6B1-B36E56791C95}">
      <dgm:prSet/>
      <dgm:spPr/>
      <dgm:t>
        <a:bodyPr/>
        <a:lstStyle/>
        <a:p>
          <a:endParaRPr lang="en-US"/>
        </a:p>
      </dgm:t>
    </dgm:pt>
    <dgm:pt modelId="{35C5804E-3C94-4BBE-92DF-D780F9BCAC38}" type="pres">
      <dgm:prSet presAssocID="{E162F166-148B-4F1E-8570-FCB83CE2B82F}" presName="Name0" presStyleCnt="0">
        <dgm:presLayoutVars>
          <dgm:dir/>
          <dgm:animLvl val="lvl"/>
          <dgm:resizeHandles val="exact"/>
        </dgm:presLayoutVars>
      </dgm:prSet>
      <dgm:spPr/>
    </dgm:pt>
    <dgm:pt modelId="{A9BC6CA7-F165-4570-8FA8-FDACFDD28E53}" type="pres">
      <dgm:prSet presAssocID="{DBE775AC-E7B7-420F-90E3-C45F33A536E9}" presName="composite" presStyleCnt="0"/>
      <dgm:spPr/>
    </dgm:pt>
    <dgm:pt modelId="{5AF55496-87A0-476E-B9B4-F8F3D60C8EC7}" type="pres">
      <dgm:prSet presAssocID="{DBE775AC-E7B7-420F-90E3-C45F33A536E9}" presName="parTx" presStyleLbl="alignNode1" presStyleIdx="0" presStyleCnt="2">
        <dgm:presLayoutVars>
          <dgm:chMax val="0"/>
          <dgm:chPref val="0"/>
          <dgm:bulletEnabled val="1"/>
        </dgm:presLayoutVars>
      </dgm:prSet>
      <dgm:spPr/>
    </dgm:pt>
    <dgm:pt modelId="{2CE535F6-61F1-46EE-A542-753D2F1A9DAE}" type="pres">
      <dgm:prSet presAssocID="{DBE775AC-E7B7-420F-90E3-C45F33A536E9}" presName="desTx" presStyleLbl="alignAccFollowNode1" presStyleIdx="0" presStyleCnt="2">
        <dgm:presLayoutVars>
          <dgm:bulletEnabled val="1"/>
        </dgm:presLayoutVars>
      </dgm:prSet>
      <dgm:spPr/>
    </dgm:pt>
    <dgm:pt modelId="{48C79BDE-3079-452A-BCDB-F30DBD0AF404}" type="pres">
      <dgm:prSet presAssocID="{84434599-9403-4AF7-B004-98E73855ED78}" presName="space" presStyleCnt="0"/>
      <dgm:spPr/>
    </dgm:pt>
    <dgm:pt modelId="{49E2B915-BF06-4124-A9DE-3BB911154B40}" type="pres">
      <dgm:prSet presAssocID="{3F596A0C-7EFD-48C8-B68D-BB84A4053024}" presName="composite" presStyleCnt="0"/>
      <dgm:spPr/>
    </dgm:pt>
    <dgm:pt modelId="{28F70884-84EB-44F7-93AE-41DE167CEC38}" type="pres">
      <dgm:prSet presAssocID="{3F596A0C-7EFD-48C8-B68D-BB84A4053024}" presName="parTx" presStyleLbl="alignNode1" presStyleIdx="1" presStyleCnt="2">
        <dgm:presLayoutVars>
          <dgm:chMax val="0"/>
          <dgm:chPref val="0"/>
          <dgm:bulletEnabled val="1"/>
        </dgm:presLayoutVars>
      </dgm:prSet>
      <dgm:spPr/>
    </dgm:pt>
    <dgm:pt modelId="{BAD586D5-554A-4637-88BC-8418151DC52C}" type="pres">
      <dgm:prSet presAssocID="{3F596A0C-7EFD-48C8-B68D-BB84A4053024}" presName="desTx" presStyleLbl="alignAccFollowNode1" presStyleIdx="1" presStyleCnt="2">
        <dgm:presLayoutVars>
          <dgm:bulletEnabled val="1"/>
        </dgm:presLayoutVars>
      </dgm:prSet>
      <dgm:spPr/>
    </dgm:pt>
  </dgm:ptLst>
  <dgm:cxnLst>
    <dgm:cxn modelId="{A8574B04-7331-41F7-B2F1-F75608D6082F}" srcId="{3F596A0C-7EFD-48C8-B68D-BB84A4053024}" destId="{DD56F4FE-0098-497C-98EA-D955333901F4}" srcOrd="1" destOrd="0" parTransId="{0B6B01F2-66FA-418B-B768-CE6041C0A0CC}" sibTransId="{1115354F-E702-4B64-A8C0-2D992D471A49}"/>
    <dgm:cxn modelId="{ECFDBB1C-A6E6-4D4E-805A-B0B1B0AAD77E}" type="presOf" srcId="{DBE775AC-E7B7-420F-90E3-C45F33A536E9}" destId="{5AF55496-87A0-476E-B9B4-F8F3D60C8EC7}" srcOrd="0" destOrd="0" presId="urn:microsoft.com/office/officeart/2005/8/layout/hList1"/>
    <dgm:cxn modelId="{8E6EEE1C-D738-461F-9C7D-C65F3DCA8999}" srcId="{3F596A0C-7EFD-48C8-B68D-BB84A4053024}" destId="{E9B2E404-3778-4E48-B304-C26A2E7499F6}" srcOrd="0" destOrd="0" parTransId="{B8954ED4-495F-467A-8E77-BC17ABD8021F}" sibTransId="{E27EACE7-8A68-4DF7-8C85-6DCF4BBA7678}"/>
    <dgm:cxn modelId="{A911561E-195E-44CA-B2DC-825D1C85EB72}" srcId="{DBE775AC-E7B7-420F-90E3-C45F33A536E9}" destId="{59D50AA0-7D8F-4436-9E15-D04023C5EFB2}" srcOrd="2" destOrd="0" parTransId="{3A0332A9-E39A-44E3-BE2C-D19666C2D0AC}" sibTransId="{81500884-3F52-4923-B5C7-BEC3F216CC26}"/>
    <dgm:cxn modelId="{0FD0FE2C-95F3-4D9E-8279-C455F6843747}" type="presOf" srcId="{35A2FBEE-41B5-4154-9CCE-3A49C77DA0EC}" destId="{BAD586D5-554A-4637-88BC-8418151DC52C}" srcOrd="0" destOrd="2" presId="urn:microsoft.com/office/officeart/2005/8/layout/hList1"/>
    <dgm:cxn modelId="{2A85644E-0977-422C-ACDC-8B2D33933DA7}" type="presOf" srcId="{DD56F4FE-0098-497C-98EA-D955333901F4}" destId="{BAD586D5-554A-4637-88BC-8418151DC52C}" srcOrd="0" destOrd="1" presId="urn:microsoft.com/office/officeart/2005/8/layout/hList1"/>
    <dgm:cxn modelId="{0E071F59-7912-4BDB-BD43-826DBE5D3D5F}" srcId="{DBE775AC-E7B7-420F-90E3-C45F33A536E9}" destId="{732C9752-DC28-4AD3-8675-6EAFA38D5B45}" srcOrd="3" destOrd="0" parTransId="{B18FF126-5029-4DD2-9695-2F4938464FCA}" sibTransId="{5139CAA8-2CEA-46B6-8DB6-5CA41BDAD157}"/>
    <dgm:cxn modelId="{E601067E-8FC1-40A2-B855-36552F31F131}" type="presOf" srcId="{E9B2E404-3778-4E48-B304-C26A2E7499F6}" destId="{BAD586D5-554A-4637-88BC-8418151DC52C}" srcOrd="0" destOrd="0" presId="urn:microsoft.com/office/officeart/2005/8/layout/hList1"/>
    <dgm:cxn modelId="{7C458D8A-DB32-4835-B11A-8D82F1A2B2EF}" type="presOf" srcId="{732C9752-DC28-4AD3-8675-6EAFA38D5B45}" destId="{2CE535F6-61F1-46EE-A542-753D2F1A9DAE}" srcOrd="0" destOrd="3" presId="urn:microsoft.com/office/officeart/2005/8/layout/hList1"/>
    <dgm:cxn modelId="{F1EE198D-BB64-437F-9819-F12891DF068B}" srcId="{E162F166-148B-4F1E-8570-FCB83CE2B82F}" destId="{DBE775AC-E7B7-420F-90E3-C45F33A536E9}" srcOrd="0" destOrd="0" parTransId="{0668D421-BBA2-45E1-8984-709BBDCCF314}" sibTransId="{84434599-9403-4AF7-B004-98E73855ED78}"/>
    <dgm:cxn modelId="{C393B79C-3326-4701-833C-298389BEF70F}" type="presOf" srcId="{59D50AA0-7D8F-4436-9E15-D04023C5EFB2}" destId="{2CE535F6-61F1-46EE-A542-753D2F1A9DAE}" srcOrd="0" destOrd="2" presId="urn:microsoft.com/office/officeart/2005/8/layout/hList1"/>
    <dgm:cxn modelId="{961CA7A1-5FC7-41A8-9EAE-3CDD4532DFBC}" type="presOf" srcId="{ADAB01BF-4FAF-409C-81E3-3C0A0BF8693C}" destId="{2CE535F6-61F1-46EE-A542-753D2F1A9DAE}" srcOrd="0" destOrd="0" presId="urn:microsoft.com/office/officeart/2005/8/layout/hList1"/>
    <dgm:cxn modelId="{5AD372AA-B447-4A54-A2E3-A0D95250C2C6}" srcId="{DBE775AC-E7B7-420F-90E3-C45F33A536E9}" destId="{ADAB01BF-4FAF-409C-81E3-3C0A0BF8693C}" srcOrd="0" destOrd="0" parTransId="{2EE9B4B9-E11A-408B-BBB1-26850A5E4F79}" sibTransId="{F9175E13-4B1A-4691-BF97-C375CA1FCA9B}"/>
    <dgm:cxn modelId="{245B8AC0-3630-4886-B155-48A334C76A2F}" type="presOf" srcId="{F5F5750B-FB4D-44D2-8CBA-80757C561795}" destId="{2CE535F6-61F1-46EE-A542-753D2F1A9DAE}" srcOrd="0" destOrd="1" presId="urn:microsoft.com/office/officeart/2005/8/layout/hList1"/>
    <dgm:cxn modelId="{73DEC2C1-D458-434E-8CF9-70806121D556}" type="presOf" srcId="{3F596A0C-7EFD-48C8-B68D-BB84A4053024}" destId="{28F70884-84EB-44F7-93AE-41DE167CEC38}" srcOrd="0" destOrd="0" presId="urn:microsoft.com/office/officeart/2005/8/layout/hList1"/>
    <dgm:cxn modelId="{CA43DBC4-C5E5-4E7A-B5AB-24E4D9E2A2B7}" srcId="{DBE775AC-E7B7-420F-90E3-C45F33A536E9}" destId="{F5F5750B-FB4D-44D2-8CBA-80757C561795}" srcOrd="1" destOrd="0" parTransId="{B4330FEE-B039-4B6D-9DFF-6755634A4F23}" sibTransId="{1FCF75AE-D562-424D-B665-35211E1AC683}"/>
    <dgm:cxn modelId="{2F5DF7E4-C3A1-4D57-B6D4-EC06AD0D3107}" type="presOf" srcId="{E162F166-148B-4F1E-8570-FCB83CE2B82F}" destId="{35C5804E-3C94-4BBE-92DF-D780F9BCAC38}" srcOrd="0" destOrd="0" presId="urn:microsoft.com/office/officeart/2005/8/layout/hList1"/>
    <dgm:cxn modelId="{31F139F1-DFB6-4CD9-A4D9-119E779AA3AE}" srcId="{E162F166-148B-4F1E-8570-FCB83CE2B82F}" destId="{3F596A0C-7EFD-48C8-B68D-BB84A4053024}" srcOrd="1" destOrd="0" parTransId="{285DA033-064C-48AA-B23F-B19177E1A702}" sibTransId="{2C2C83D4-3E44-404B-831D-41B7CCE49D42}"/>
    <dgm:cxn modelId="{922C62F1-D2DD-4467-A6B1-B36E56791C95}" srcId="{3F596A0C-7EFD-48C8-B68D-BB84A4053024}" destId="{35A2FBEE-41B5-4154-9CCE-3A49C77DA0EC}" srcOrd="2" destOrd="0" parTransId="{43BC9A33-E4E2-4DEF-B31E-6BC5E02D2F53}" sibTransId="{BCF1C266-D89E-4974-8D58-5135F597D141}"/>
    <dgm:cxn modelId="{8F88A6E8-B8C6-4A1D-A444-E36029B04406}" type="presParOf" srcId="{35C5804E-3C94-4BBE-92DF-D780F9BCAC38}" destId="{A9BC6CA7-F165-4570-8FA8-FDACFDD28E53}" srcOrd="0" destOrd="0" presId="urn:microsoft.com/office/officeart/2005/8/layout/hList1"/>
    <dgm:cxn modelId="{76118601-3E6D-450F-8803-CA84C8D6712B}" type="presParOf" srcId="{A9BC6CA7-F165-4570-8FA8-FDACFDD28E53}" destId="{5AF55496-87A0-476E-B9B4-F8F3D60C8EC7}" srcOrd="0" destOrd="0" presId="urn:microsoft.com/office/officeart/2005/8/layout/hList1"/>
    <dgm:cxn modelId="{2DD7D732-F736-4862-A31E-8163DBD58992}" type="presParOf" srcId="{A9BC6CA7-F165-4570-8FA8-FDACFDD28E53}" destId="{2CE535F6-61F1-46EE-A542-753D2F1A9DAE}" srcOrd="1" destOrd="0" presId="urn:microsoft.com/office/officeart/2005/8/layout/hList1"/>
    <dgm:cxn modelId="{6A01E568-4EEF-425D-BBEB-EB20D97A3AF3}" type="presParOf" srcId="{35C5804E-3C94-4BBE-92DF-D780F9BCAC38}" destId="{48C79BDE-3079-452A-BCDB-F30DBD0AF404}" srcOrd="1" destOrd="0" presId="urn:microsoft.com/office/officeart/2005/8/layout/hList1"/>
    <dgm:cxn modelId="{938239B6-9ED1-404F-A09D-4F93B12B16B2}" type="presParOf" srcId="{35C5804E-3C94-4BBE-92DF-D780F9BCAC38}" destId="{49E2B915-BF06-4124-A9DE-3BB911154B40}" srcOrd="2" destOrd="0" presId="urn:microsoft.com/office/officeart/2005/8/layout/hList1"/>
    <dgm:cxn modelId="{CA712C4D-A62F-4041-AF55-E0FDC86217E0}" type="presParOf" srcId="{49E2B915-BF06-4124-A9DE-3BB911154B40}" destId="{28F70884-84EB-44F7-93AE-41DE167CEC38}" srcOrd="0" destOrd="0" presId="urn:microsoft.com/office/officeart/2005/8/layout/hList1"/>
    <dgm:cxn modelId="{D0CD8427-CBAE-4B71-8E12-66DC61487EE0}" type="presParOf" srcId="{49E2B915-BF06-4124-A9DE-3BB911154B40}" destId="{BAD586D5-554A-4637-88BC-8418151DC52C}"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ABB4A1-831E-4718-BCCF-00E5490C2688}">
      <dsp:nvSpPr>
        <dsp:cNvPr id="0" name=""/>
        <dsp:cNvSpPr/>
      </dsp:nvSpPr>
      <dsp:spPr>
        <a:xfrm>
          <a:off x="5922" y="1220788"/>
          <a:ext cx="1459356" cy="1751227"/>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152" tIns="0" rIns="144152" bIns="330200" numCol="1" spcCol="1270" anchor="t" anchorCtr="0">
          <a:noAutofit/>
        </a:bodyPr>
        <a:lstStyle/>
        <a:p>
          <a:pPr marL="0" lvl="0" indent="0" algn="l" defTabSz="711200">
            <a:lnSpc>
              <a:spcPct val="90000"/>
            </a:lnSpc>
            <a:spcBef>
              <a:spcPct val="0"/>
            </a:spcBef>
            <a:spcAft>
              <a:spcPct val="35000"/>
            </a:spcAft>
            <a:buNone/>
          </a:pPr>
          <a:r>
            <a:rPr lang="en-US" sz="1600" kern="1200"/>
            <a:t>Maximize insight into a dataset</a:t>
          </a:r>
        </a:p>
      </dsp:txBody>
      <dsp:txXfrm>
        <a:off x="5922" y="1921279"/>
        <a:ext cx="1459356" cy="1050736"/>
      </dsp:txXfrm>
    </dsp:sp>
    <dsp:sp modelId="{A6021CF5-FD52-4C21-A066-2484EF87BF2D}">
      <dsp:nvSpPr>
        <dsp:cNvPr id="0" name=""/>
        <dsp:cNvSpPr/>
      </dsp:nvSpPr>
      <dsp:spPr>
        <a:xfrm>
          <a:off x="5922" y="1220788"/>
          <a:ext cx="1459356" cy="700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44152" tIns="165100" rIns="144152" bIns="165100" numCol="1" spcCol="1270" anchor="ctr" anchorCtr="0">
          <a:noAutofit/>
        </a:bodyPr>
        <a:lstStyle/>
        <a:p>
          <a:pPr marL="0" lvl="0" indent="0" algn="l" defTabSz="1155700">
            <a:lnSpc>
              <a:spcPct val="90000"/>
            </a:lnSpc>
            <a:spcBef>
              <a:spcPct val="0"/>
            </a:spcBef>
            <a:spcAft>
              <a:spcPct val="35000"/>
            </a:spcAft>
            <a:buNone/>
          </a:pPr>
          <a:r>
            <a:rPr lang="en-US" sz="2600" kern="1200"/>
            <a:t>01</a:t>
          </a:r>
        </a:p>
      </dsp:txBody>
      <dsp:txXfrm>
        <a:off x="5922" y="1220788"/>
        <a:ext cx="1459356" cy="700490"/>
      </dsp:txXfrm>
    </dsp:sp>
    <dsp:sp modelId="{A3A8D0DF-CC8B-46C5-B94A-E3FFDE6C96B1}">
      <dsp:nvSpPr>
        <dsp:cNvPr id="0" name=""/>
        <dsp:cNvSpPr/>
      </dsp:nvSpPr>
      <dsp:spPr>
        <a:xfrm>
          <a:off x="1582027" y="1220788"/>
          <a:ext cx="1459356" cy="1751227"/>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152" tIns="0" rIns="144152" bIns="330200" numCol="1" spcCol="1270" anchor="t" anchorCtr="0">
          <a:noAutofit/>
        </a:bodyPr>
        <a:lstStyle/>
        <a:p>
          <a:pPr marL="0" lvl="0" indent="0" algn="l" defTabSz="711200">
            <a:lnSpc>
              <a:spcPct val="90000"/>
            </a:lnSpc>
            <a:spcBef>
              <a:spcPct val="0"/>
            </a:spcBef>
            <a:spcAft>
              <a:spcPct val="35000"/>
            </a:spcAft>
            <a:buNone/>
          </a:pPr>
          <a:r>
            <a:rPr lang="en-US" sz="1600" kern="1200"/>
            <a:t>Uncover underlying structure</a:t>
          </a:r>
        </a:p>
      </dsp:txBody>
      <dsp:txXfrm>
        <a:off x="1582027" y="1921279"/>
        <a:ext cx="1459356" cy="1050736"/>
      </dsp:txXfrm>
    </dsp:sp>
    <dsp:sp modelId="{2DF7B9FD-156A-4166-A461-ED727A6688FC}">
      <dsp:nvSpPr>
        <dsp:cNvPr id="0" name=""/>
        <dsp:cNvSpPr/>
      </dsp:nvSpPr>
      <dsp:spPr>
        <a:xfrm>
          <a:off x="1582027" y="1220788"/>
          <a:ext cx="1459356" cy="700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44152" tIns="165100" rIns="144152" bIns="165100" numCol="1" spcCol="1270" anchor="ctr" anchorCtr="0">
          <a:noAutofit/>
        </a:bodyPr>
        <a:lstStyle/>
        <a:p>
          <a:pPr marL="0" lvl="0" indent="0" algn="l" defTabSz="1155700">
            <a:lnSpc>
              <a:spcPct val="90000"/>
            </a:lnSpc>
            <a:spcBef>
              <a:spcPct val="0"/>
            </a:spcBef>
            <a:spcAft>
              <a:spcPct val="35000"/>
            </a:spcAft>
            <a:buNone/>
          </a:pPr>
          <a:r>
            <a:rPr lang="en-US" sz="2600" kern="1200"/>
            <a:t>02</a:t>
          </a:r>
        </a:p>
      </dsp:txBody>
      <dsp:txXfrm>
        <a:off x="1582027" y="1220788"/>
        <a:ext cx="1459356" cy="700490"/>
      </dsp:txXfrm>
    </dsp:sp>
    <dsp:sp modelId="{6A9683BB-C4A0-4AB2-BE46-7C4792CCB295}">
      <dsp:nvSpPr>
        <dsp:cNvPr id="0" name=""/>
        <dsp:cNvSpPr/>
      </dsp:nvSpPr>
      <dsp:spPr>
        <a:xfrm>
          <a:off x="3158131" y="1220788"/>
          <a:ext cx="1459356" cy="1751227"/>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152" tIns="0" rIns="144152" bIns="330200" numCol="1" spcCol="1270" anchor="t" anchorCtr="0">
          <a:noAutofit/>
        </a:bodyPr>
        <a:lstStyle/>
        <a:p>
          <a:pPr marL="0" lvl="0" indent="0" algn="l" defTabSz="711200">
            <a:lnSpc>
              <a:spcPct val="90000"/>
            </a:lnSpc>
            <a:spcBef>
              <a:spcPct val="0"/>
            </a:spcBef>
            <a:spcAft>
              <a:spcPct val="35000"/>
            </a:spcAft>
            <a:buNone/>
          </a:pPr>
          <a:r>
            <a:rPr lang="en-US" sz="1600" kern="1200"/>
            <a:t>Extract important variables</a:t>
          </a:r>
        </a:p>
      </dsp:txBody>
      <dsp:txXfrm>
        <a:off x="3158131" y="1921279"/>
        <a:ext cx="1459356" cy="1050736"/>
      </dsp:txXfrm>
    </dsp:sp>
    <dsp:sp modelId="{3A618046-4B77-40AB-A3F4-6B050B81154F}">
      <dsp:nvSpPr>
        <dsp:cNvPr id="0" name=""/>
        <dsp:cNvSpPr/>
      </dsp:nvSpPr>
      <dsp:spPr>
        <a:xfrm>
          <a:off x="3158131" y="1220788"/>
          <a:ext cx="1459356" cy="700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44152" tIns="165100" rIns="144152" bIns="165100" numCol="1" spcCol="1270" anchor="ctr" anchorCtr="0">
          <a:noAutofit/>
        </a:bodyPr>
        <a:lstStyle/>
        <a:p>
          <a:pPr marL="0" lvl="0" indent="0" algn="l" defTabSz="1155700">
            <a:lnSpc>
              <a:spcPct val="90000"/>
            </a:lnSpc>
            <a:spcBef>
              <a:spcPct val="0"/>
            </a:spcBef>
            <a:spcAft>
              <a:spcPct val="35000"/>
            </a:spcAft>
            <a:buNone/>
          </a:pPr>
          <a:r>
            <a:rPr lang="en-US" sz="2600" kern="1200"/>
            <a:t>03</a:t>
          </a:r>
        </a:p>
      </dsp:txBody>
      <dsp:txXfrm>
        <a:off x="3158131" y="1220788"/>
        <a:ext cx="1459356" cy="700490"/>
      </dsp:txXfrm>
    </dsp:sp>
    <dsp:sp modelId="{A7C8E9EA-E5DD-43F7-88EE-558D5BE1AE89}">
      <dsp:nvSpPr>
        <dsp:cNvPr id="0" name=""/>
        <dsp:cNvSpPr/>
      </dsp:nvSpPr>
      <dsp:spPr>
        <a:xfrm>
          <a:off x="4734236" y="1220788"/>
          <a:ext cx="1459356" cy="1751227"/>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152" tIns="0" rIns="144152" bIns="330200" numCol="1" spcCol="1270" anchor="t" anchorCtr="0">
          <a:noAutofit/>
        </a:bodyPr>
        <a:lstStyle/>
        <a:p>
          <a:pPr marL="0" lvl="0" indent="0" algn="l" defTabSz="711200">
            <a:lnSpc>
              <a:spcPct val="90000"/>
            </a:lnSpc>
            <a:spcBef>
              <a:spcPct val="0"/>
            </a:spcBef>
            <a:spcAft>
              <a:spcPct val="35000"/>
            </a:spcAft>
            <a:buNone/>
          </a:pPr>
          <a:r>
            <a:rPr lang="en-US" sz="1600" kern="1200"/>
            <a:t>Detect outliers and anomalies</a:t>
          </a:r>
        </a:p>
      </dsp:txBody>
      <dsp:txXfrm>
        <a:off x="4734236" y="1921279"/>
        <a:ext cx="1459356" cy="1050736"/>
      </dsp:txXfrm>
    </dsp:sp>
    <dsp:sp modelId="{309C060F-7B19-4B23-A535-B355176D831F}">
      <dsp:nvSpPr>
        <dsp:cNvPr id="0" name=""/>
        <dsp:cNvSpPr/>
      </dsp:nvSpPr>
      <dsp:spPr>
        <a:xfrm>
          <a:off x="4734236" y="1220788"/>
          <a:ext cx="1459356" cy="700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44152" tIns="165100" rIns="144152" bIns="165100" numCol="1" spcCol="1270" anchor="ctr" anchorCtr="0">
          <a:noAutofit/>
        </a:bodyPr>
        <a:lstStyle/>
        <a:p>
          <a:pPr marL="0" lvl="0" indent="0" algn="l" defTabSz="1155700">
            <a:lnSpc>
              <a:spcPct val="90000"/>
            </a:lnSpc>
            <a:spcBef>
              <a:spcPct val="0"/>
            </a:spcBef>
            <a:spcAft>
              <a:spcPct val="35000"/>
            </a:spcAft>
            <a:buNone/>
          </a:pPr>
          <a:r>
            <a:rPr lang="en-US" sz="2600" kern="1200"/>
            <a:t>04</a:t>
          </a:r>
        </a:p>
      </dsp:txBody>
      <dsp:txXfrm>
        <a:off x="4734236" y="1220788"/>
        <a:ext cx="1459356" cy="700490"/>
      </dsp:txXfrm>
    </dsp:sp>
    <dsp:sp modelId="{1B4839EE-5B6E-4D85-A2FA-9C6592D546D1}">
      <dsp:nvSpPr>
        <dsp:cNvPr id="0" name=""/>
        <dsp:cNvSpPr/>
      </dsp:nvSpPr>
      <dsp:spPr>
        <a:xfrm>
          <a:off x="6310341" y="1220788"/>
          <a:ext cx="1459356" cy="1751227"/>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152" tIns="0" rIns="144152" bIns="330200" numCol="1" spcCol="1270" anchor="t" anchorCtr="0">
          <a:noAutofit/>
        </a:bodyPr>
        <a:lstStyle/>
        <a:p>
          <a:pPr marL="0" lvl="0" indent="0" algn="l" defTabSz="711200">
            <a:lnSpc>
              <a:spcPct val="90000"/>
            </a:lnSpc>
            <a:spcBef>
              <a:spcPct val="0"/>
            </a:spcBef>
            <a:spcAft>
              <a:spcPct val="35000"/>
            </a:spcAft>
            <a:buNone/>
          </a:pPr>
          <a:r>
            <a:rPr lang="en-US" sz="1600" kern="1200"/>
            <a:t>Test underlying assumptions</a:t>
          </a:r>
        </a:p>
      </dsp:txBody>
      <dsp:txXfrm>
        <a:off x="6310341" y="1921279"/>
        <a:ext cx="1459356" cy="1050736"/>
      </dsp:txXfrm>
    </dsp:sp>
    <dsp:sp modelId="{0A02390B-A9F6-4B37-A72D-EF38CD091DB4}">
      <dsp:nvSpPr>
        <dsp:cNvPr id="0" name=""/>
        <dsp:cNvSpPr/>
      </dsp:nvSpPr>
      <dsp:spPr>
        <a:xfrm>
          <a:off x="6310341" y="1220788"/>
          <a:ext cx="1459356" cy="700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44152" tIns="165100" rIns="144152" bIns="165100" numCol="1" spcCol="1270" anchor="ctr" anchorCtr="0">
          <a:noAutofit/>
        </a:bodyPr>
        <a:lstStyle/>
        <a:p>
          <a:pPr marL="0" lvl="0" indent="0" algn="l" defTabSz="1155700">
            <a:lnSpc>
              <a:spcPct val="90000"/>
            </a:lnSpc>
            <a:spcBef>
              <a:spcPct val="0"/>
            </a:spcBef>
            <a:spcAft>
              <a:spcPct val="35000"/>
            </a:spcAft>
            <a:buNone/>
          </a:pPr>
          <a:r>
            <a:rPr lang="en-US" sz="2600" kern="1200"/>
            <a:t>05</a:t>
          </a:r>
        </a:p>
      </dsp:txBody>
      <dsp:txXfrm>
        <a:off x="6310341" y="1220788"/>
        <a:ext cx="1459356" cy="700490"/>
      </dsp:txXfrm>
    </dsp:sp>
    <dsp:sp modelId="{DC405963-D577-451B-B03F-A25D0E0B5CED}">
      <dsp:nvSpPr>
        <dsp:cNvPr id="0" name=""/>
        <dsp:cNvSpPr/>
      </dsp:nvSpPr>
      <dsp:spPr>
        <a:xfrm>
          <a:off x="7886445" y="1220788"/>
          <a:ext cx="1459356" cy="1751227"/>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152" tIns="0" rIns="144152" bIns="330200" numCol="1" spcCol="1270" anchor="t" anchorCtr="0">
          <a:noAutofit/>
        </a:bodyPr>
        <a:lstStyle/>
        <a:p>
          <a:pPr marL="0" lvl="0" indent="0" algn="l" defTabSz="711200">
            <a:lnSpc>
              <a:spcPct val="90000"/>
            </a:lnSpc>
            <a:spcBef>
              <a:spcPct val="0"/>
            </a:spcBef>
            <a:spcAft>
              <a:spcPct val="35000"/>
            </a:spcAft>
            <a:buNone/>
          </a:pPr>
          <a:r>
            <a:rPr lang="en-US" sz="1600" kern="1200"/>
            <a:t>Develop valid models</a:t>
          </a:r>
        </a:p>
      </dsp:txBody>
      <dsp:txXfrm>
        <a:off x="7886445" y="1921279"/>
        <a:ext cx="1459356" cy="1050736"/>
      </dsp:txXfrm>
    </dsp:sp>
    <dsp:sp modelId="{95B488CA-915B-422B-995E-95B3E470C3E7}">
      <dsp:nvSpPr>
        <dsp:cNvPr id="0" name=""/>
        <dsp:cNvSpPr/>
      </dsp:nvSpPr>
      <dsp:spPr>
        <a:xfrm>
          <a:off x="7886445" y="1220788"/>
          <a:ext cx="1459356" cy="700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44152" tIns="165100" rIns="144152" bIns="165100" numCol="1" spcCol="1270" anchor="ctr" anchorCtr="0">
          <a:noAutofit/>
        </a:bodyPr>
        <a:lstStyle/>
        <a:p>
          <a:pPr marL="0" lvl="0" indent="0" algn="l" defTabSz="1155700">
            <a:lnSpc>
              <a:spcPct val="90000"/>
            </a:lnSpc>
            <a:spcBef>
              <a:spcPct val="0"/>
            </a:spcBef>
            <a:spcAft>
              <a:spcPct val="35000"/>
            </a:spcAft>
            <a:buNone/>
          </a:pPr>
          <a:r>
            <a:rPr lang="en-US" sz="2600" kern="1200"/>
            <a:t>06</a:t>
          </a:r>
        </a:p>
      </dsp:txBody>
      <dsp:txXfrm>
        <a:off x="7886445" y="1220788"/>
        <a:ext cx="1459356" cy="700490"/>
      </dsp:txXfrm>
    </dsp:sp>
    <dsp:sp modelId="{EABC307E-1543-47EE-BA04-362623228A3E}">
      <dsp:nvSpPr>
        <dsp:cNvPr id="0" name=""/>
        <dsp:cNvSpPr/>
      </dsp:nvSpPr>
      <dsp:spPr>
        <a:xfrm>
          <a:off x="9462550" y="1220788"/>
          <a:ext cx="1459356" cy="1751227"/>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152" tIns="0" rIns="144152" bIns="330200" numCol="1" spcCol="1270" anchor="t" anchorCtr="0">
          <a:noAutofit/>
        </a:bodyPr>
        <a:lstStyle/>
        <a:p>
          <a:pPr marL="0" lvl="0" indent="0" algn="l" defTabSz="711200">
            <a:lnSpc>
              <a:spcPct val="90000"/>
            </a:lnSpc>
            <a:spcBef>
              <a:spcPct val="0"/>
            </a:spcBef>
            <a:spcAft>
              <a:spcPct val="35000"/>
            </a:spcAft>
            <a:buNone/>
          </a:pPr>
          <a:r>
            <a:rPr lang="en-US" sz="1600" kern="1200"/>
            <a:t>Determine optimal factor settings (Xs)</a:t>
          </a:r>
        </a:p>
      </dsp:txBody>
      <dsp:txXfrm>
        <a:off x="9462550" y="1921279"/>
        <a:ext cx="1459356" cy="1050736"/>
      </dsp:txXfrm>
    </dsp:sp>
    <dsp:sp modelId="{DCCB3C2A-8E98-481B-9304-73581AC20FED}">
      <dsp:nvSpPr>
        <dsp:cNvPr id="0" name=""/>
        <dsp:cNvSpPr/>
      </dsp:nvSpPr>
      <dsp:spPr>
        <a:xfrm>
          <a:off x="9462550" y="1220788"/>
          <a:ext cx="1459356" cy="700490"/>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44152" tIns="165100" rIns="144152" bIns="165100" numCol="1" spcCol="1270" anchor="ctr" anchorCtr="0">
          <a:noAutofit/>
        </a:bodyPr>
        <a:lstStyle/>
        <a:p>
          <a:pPr marL="0" lvl="0" indent="0" algn="l" defTabSz="1155700">
            <a:lnSpc>
              <a:spcPct val="90000"/>
            </a:lnSpc>
            <a:spcBef>
              <a:spcPct val="0"/>
            </a:spcBef>
            <a:spcAft>
              <a:spcPct val="35000"/>
            </a:spcAft>
            <a:buNone/>
          </a:pPr>
          <a:r>
            <a:rPr lang="en-US" sz="2600" kern="1200"/>
            <a:t>07</a:t>
          </a:r>
        </a:p>
      </dsp:txBody>
      <dsp:txXfrm>
        <a:off x="9462550" y="1220788"/>
        <a:ext cx="1459356" cy="7004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49502B-6253-42E3-861F-4FF019778199}">
      <dsp:nvSpPr>
        <dsp:cNvPr id="0" name=""/>
        <dsp:cNvSpPr/>
      </dsp:nvSpPr>
      <dsp:spPr>
        <a:xfrm>
          <a:off x="455297" y="0"/>
          <a:ext cx="473788" cy="3902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5C8BAB-41AA-4C4F-BB66-DC51BCDF6E26}">
      <dsp:nvSpPr>
        <dsp:cNvPr id="0" name=""/>
        <dsp:cNvSpPr/>
      </dsp:nvSpPr>
      <dsp:spPr>
        <a:xfrm>
          <a:off x="15351" y="538562"/>
          <a:ext cx="1353680" cy="2552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Generate good research questions</a:t>
          </a:r>
          <a:endParaRPr lang="es-MX" sz="1400" kern="1200"/>
        </a:p>
      </dsp:txBody>
      <dsp:txXfrm>
        <a:off x="15351" y="538562"/>
        <a:ext cx="1353680" cy="2552388"/>
      </dsp:txXfrm>
    </dsp:sp>
    <dsp:sp modelId="{D732BD85-FC1D-4C00-93A9-DE877F2E35EF}">
      <dsp:nvSpPr>
        <dsp:cNvPr id="0" name=""/>
        <dsp:cNvSpPr/>
      </dsp:nvSpPr>
      <dsp:spPr>
        <a:xfrm>
          <a:off x="15351" y="3159948"/>
          <a:ext cx="1353680" cy="1032856"/>
        </a:xfrm>
        <a:prstGeom prst="rect">
          <a:avLst/>
        </a:prstGeom>
        <a:noFill/>
        <a:ln>
          <a:noFill/>
        </a:ln>
        <a:effectLst/>
      </dsp:spPr>
      <dsp:style>
        <a:lnRef idx="0">
          <a:scrgbClr r="0" g="0" b="0"/>
        </a:lnRef>
        <a:fillRef idx="0">
          <a:scrgbClr r="0" g="0" b="0"/>
        </a:fillRef>
        <a:effectRef idx="0">
          <a:scrgbClr r="0" g="0" b="0"/>
        </a:effectRef>
        <a:fontRef idx="minor"/>
      </dsp:style>
    </dsp:sp>
    <dsp:sp modelId="{1497AC92-A0E7-4D95-A8AD-95555B2C4FC3}">
      <dsp:nvSpPr>
        <dsp:cNvPr id="0" name=""/>
        <dsp:cNvSpPr/>
      </dsp:nvSpPr>
      <dsp:spPr>
        <a:xfrm>
          <a:off x="2045871" y="0"/>
          <a:ext cx="473788" cy="3902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9FE869F-5AD6-4C94-AE01-A7C6538D9C22}">
      <dsp:nvSpPr>
        <dsp:cNvPr id="0" name=""/>
        <dsp:cNvSpPr/>
      </dsp:nvSpPr>
      <dsp:spPr>
        <a:xfrm>
          <a:off x="1605925" y="538562"/>
          <a:ext cx="1353680" cy="2552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Data restructuring: You may need to make new variables from the existing ones.</a:t>
          </a:r>
          <a:endParaRPr lang="es-MX" sz="1400" kern="1200"/>
        </a:p>
      </dsp:txBody>
      <dsp:txXfrm>
        <a:off x="1605925" y="538562"/>
        <a:ext cx="1353680" cy="2552388"/>
      </dsp:txXfrm>
    </dsp:sp>
    <dsp:sp modelId="{ACB2784E-74B1-4790-9951-C68C49AB03B4}">
      <dsp:nvSpPr>
        <dsp:cNvPr id="0" name=""/>
        <dsp:cNvSpPr/>
      </dsp:nvSpPr>
      <dsp:spPr>
        <a:xfrm>
          <a:off x="1595299" y="1852144"/>
          <a:ext cx="1353680" cy="1032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t>Instead of using two variables, obtaining rates or percentages of them</a:t>
          </a:r>
          <a:endParaRPr lang="es-MX" sz="1100" kern="1200" dirty="0"/>
        </a:p>
        <a:p>
          <a:pPr marL="0" lvl="0" indent="0" algn="ctr" defTabSz="488950">
            <a:lnSpc>
              <a:spcPct val="100000"/>
            </a:lnSpc>
            <a:spcBef>
              <a:spcPct val="0"/>
            </a:spcBef>
            <a:spcAft>
              <a:spcPct val="35000"/>
            </a:spcAft>
            <a:buNone/>
          </a:pPr>
          <a:r>
            <a:rPr lang="en-US" sz="1100" kern="1200"/>
            <a:t>Creating dummy variables for categorical variables</a:t>
          </a:r>
          <a:endParaRPr lang="es-MX" sz="1100" kern="1200"/>
        </a:p>
      </dsp:txBody>
      <dsp:txXfrm>
        <a:off x="1595299" y="1852144"/>
        <a:ext cx="1353680" cy="1032856"/>
      </dsp:txXfrm>
    </dsp:sp>
    <dsp:sp modelId="{8661B4F4-88DC-4652-A810-70D70D9A50CD}">
      <dsp:nvSpPr>
        <dsp:cNvPr id="0" name=""/>
        <dsp:cNvSpPr/>
      </dsp:nvSpPr>
      <dsp:spPr>
        <a:xfrm>
          <a:off x="3636446" y="0"/>
          <a:ext cx="473788" cy="39021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94B161-1651-4BF6-8EE4-F905139B9649}">
      <dsp:nvSpPr>
        <dsp:cNvPr id="0" name=""/>
        <dsp:cNvSpPr/>
      </dsp:nvSpPr>
      <dsp:spPr>
        <a:xfrm>
          <a:off x="3196499" y="538562"/>
          <a:ext cx="1353680" cy="2552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Based on the research questions, use appropriate graphical tools and obtain descriptive statistics. Try to understand the data structure, relationships, anomalies, unexpected behaviors.</a:t>
          </a:r>
          <a:endParaRPr lang="es-MX" sz="1400" kern="1200"/>
        </a:p>
      </dsp:txBody>
      <dsp:txXfrm>
        <a:off x="3196499" y="538562"/>
        <a:ext cx="1353680" cy="2552388"/>
      </dsp:txXfrm>
    </dsp:sp>
    <dsp:sp modelId="{32310259-3CC7-4885-88CC-65182669AA2B}">
      <dsp:nvSpPr>
        <dsp:cNvPr id="0" name=""/>
        <dsp:cNvSpPr/>
      </dsp:nvSpPr>
      <dsp:spPr>
        <a:xfrm>
          <a:off x="3196499" y="3159948"/>
          <a:ext cx="1353680" cy="1032856"/>
        </a:xfrm>
        <a:prstGeom prst="rect">
          <a:avLst/>
        </a:prstGeom>
        <a:noFill/>
        <a:ln>
          <a:noFill/>
        </a:ln>
        <a:effectLst/>
      </dsp:spPr>
      <dsp:style>
        <a:lnRef idx="0">
          <a:scrgbClr r="0" g="0" b="0"/>
        </a:lnRef>
        <a:fillRef idx="0">
          <a:scrgbClr r="0" g="0" b="0"/>
        </a:fillRef>
        <a:effectRef idx="0">
          <a:scrgbClr r="0" g="0" b="0"/>
        </a:effectRef>
        <a:fontRef idx="minor"/>
      </dsp:style>
    </dsp:sp>
    <dsp:sp modelId="{B8E6B999-326F-43C3-9A1F-1016A2EEFBB4}">
      <dsp:nvSpPr>
        <dsp:cNvPr id="0" name=""/>
        <dsp:cNvSpPr/>
      </dsp:nvSpPr>
      <dsp:spPr>
        <a:xfrm>
          <a:off x="5227020" y="0"/>
          <a:ext cx="473788" cy="39021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398D41-3EDE-4FAE-98F9-C4DB3388941E}">
      <dsp:nvSpPr>
        <dsp:cNvPr id="0" name=""/>
        <dsp:cNvSpPr/>
      </dsp:nvSpPr>
      <dsp:spPr>
        <a:xfrm>
          <a:off x="4787074" y="538562"/>
          <a:ext cx="1353680" cy="2552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Try to identify confounding variables, interaction relations and multicollinearity, if any.</a:t>
          </a:r>
          <a:endParaRPr lang="es-MX" sz="1400" kern="1200"/>
        </a:p>
      </dsp:txBody>
      <dsp:txXfrm>
        <a:off x="4787074" y="538562"/>
        <a:ext cx="1353680" cy="2552388"/>
      </dsp:txXfrm>
    </dsp:sp>
    <dsp:sp modelId="{FBC4A749-BF33-460D-8F08-3BEC7E71A43D}">
      <dsp:nvSpPr>
        <dsp:cNvPr id="0" name=""/>
        <dsp:cNvSpPr/>
      </dsp:nvSpPr>
      <dsp:spPr>
        <a:xfrm>
          <a:off x="4787074" y="3159948"/>
          <a:ext cx="1353680" cy="1032856"/>
        </a:xfrm>
        <a:prstGeom prst="rect">
          <a:avLst/>
        </a:prstGeom>
        <a:noFill/>
        <a:ln>
          <a:noFill/>
        </a:ln>
        <a:effectLst/>
      </dsp:spPr>
      <dsp:style>
        <a:lnRef idx="0">
          <a:scrgbClr r="0" g="0" b="0"/>
        </a:lnRef>
        <a:fillRef idx="0">
          <a:scrgbClr r="0" g="0" b="0"/>
        </a:fillRef>
        <a:effectRef idx="0">
          <a:scrgbClr r="0" g="0" b="0"/>
        </a:effectRef>
        <a:fontRef idx="minor"/>
      </dsp:style>
    </dsp:sp>
    <dsp:sp modelId="{D021D966-0188-474D-ABAA-84BF0C9E4C5A}">
      <dsp:nvSpPr>
        <dsp:cNvPr id="0" name=""/>
        <dsp:cNvSpPr/>
      </dsp:nvSpPr>
      <dsp:spPr>
        <a:xfrm>
          <a:off x="6817594" y="0"/>
          <a:ext cx="473788" cy="39021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8D4B18-F0B3-411B-9AFB-0011DE688974}">
      <dsp:nvSpPr>
        <dsp:cNvPr id="0" name=""/>
        <dsp:cNvSpPr/>
      </dsp:nvSpPr>
      <dsp:spPr>
        <a:xfrm>
          <a:off x="6377648" y="538562"/>
          <a:ext cx="1353680" cy="2552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Handle missing observations</a:t>
          </a:r>
          <a:endParaRPr lang="es-MX" sz="1400" kern="1200"/>
        </a:p>
      </dsp:txBody>
      <dsp:txXfrm>
        <a:off x="6377648" y="538562"/>
        <a:ext cx="1353680" cy="2552388"/>
      </dsp:txXfrm>
    </dsp:sp>
    <dsp:sp modelId="{22A7DA1E-58F8-4C07-8D83-20FE4EA894F2}">
      <dsp:nvSpPr>
        <dsp:cNvPr id="0" name=""/>
        <dsp:cNvSpPr/>
      </dsp:nvSpPr>
      <dsp:spPr>
        <a:xfrm>
          <a:off x="6377648" y="3159948"/>
          <a:ext cx="1353680" cy="1032856"/>
        </a:xfrm>
        <a:prstGeom prst="rect">
          <a:avLst/>
        </a:prstGeom>
        <a:noFill/>
        <a:ln>
          <a:noFill/>
        </a:ln>
        <a:effectLst/>
      </dsp:spPr>
      <dsp:style>
        <a:lnRef idx="0">
          <a:scrgbClr r="0" g="0" b="0"/>
        </a:lnRef>
        <a:fillRef idx="0">
          <a:scrgbClr r="0" g="0" b="0"/>
        </a:fillRef>
        <a:effectRef idx="0">
          <a:scrgbClr r="0" g="0" b="0"/>
        </a:effectRef>
        <a:fontRef idx="minor"/>
      </dsp:style>
    </dsp:sp>
    <dsp:sp modelId="{22BBD6A5-CEEA-4F31-A2A7-E3411B701F98}">
      <dsp:nvSpPr>
        <dsp:cNvPr id="0" name=""/>
        <dsp:cNvSpPr/>
      </dsp:nvSpPr>
      <dsp:spPr>
        <a:xfrm>
          <a:off x="8408169" y="0"/>
          <a:ext cx="473788" cy="39021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3B554A-0D65-4CF1-8979-48D209830AEE}">
      <dsp:nvSpPr>
        <dsp:cNvPr id="0" name=""/>
        <dsp:cNvSpPr/>
      </dsp:nvSpPr>
      <dsp:spPr>
        <a:xfrm>
          <a:off x="7968223" y="538562"/>
          <a:ext cx="1353680" cy="2552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Decide on the need of transformation (on response and/or explanatory variables).</a:t>
          </a:r>
          <a:endParaRPr lang="es-MX" sz="1400" kern="1200"/>
        </a:p>
      </dsp:txBody>
      <dsp:txXfrm>
        <a:off x="7968223" y="538562"/>
        <a:ext cx="1353680" cy="2552388"/>
      </dsp:txXfrm>
    </dsp:sp>
    <dsp:sp modelId="{A421FD65-2645-45DF-88FB-2548A9A940B9}">
      <dsp:nvSpPr>
        <dsp:cNvPr id="0" name=""/>
        <dsp:cNvSpPr/>
      </dsp:nvSpPr>
      <dsp:spPr>
        <a:xfrm>
          <a:off x="7968223" y="3159948"/>
          <a:ext cx="1353680" cy="1032856"/>
        </a:xfrm>
        <a:prstGeom prst="rect">
          <a:avLst/>
        </a:prstGeom>
        <a:noFill/>
        <a:ln>
          <a:noFill/>
        </a:ln>
        <a:effectLst/>
      </dsp:spPr>
      <dsp:style>
        <a:lnRef idx="0">
          <a:scrgbClr r="0" g="0" b="0"/>
        </a:lnRef>
        <a:fillRef idx="0">
          <a:scrgbClr r="0" g="0" b="0"/>
        </a:fillRef>
        <a:effectRef idx="0">
          <a:scrgbClr r="0" g="0" b="0"/>
        </a:effectRef>
        <a:fontRef idx="minor"/>
      </dsp:style>
    </dsp:sp>
    <dsp:sp modelId="{4E03EC62-8BB6-4374-882B-F2DF9D21AD3D}">
      <dsp:nvSpPr>
        <dsp:cNvPr id="0" name=""/>
        <dsp:cNvSpPr/>
      </dsp:nvSpPr>
      <dsp:spPr>
        <a:xfrm>
          <a:off x="9998743" y="0"/>
          <a:ext cx="473788" cy="390217"/>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F7AD6F-3C9D-42A4-AED7-1139057B80B5}">
      <dsp:nvSpPr>
        <dsp:cNvPr id="0" name=""/>
        <dsp:cNvSpPr/>
      </dsp:nvSpPr>
      <dsp:spPr>
        <a:xfrm>
          <a:off x="9558797" y="538562"/>
          <a:ext cx="1353680" cy="25523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b="1"/>
          </a:pPr>
          <a:r>
            <a:rPr lang="en-US" sz="1400" kern="1200"/>
            <a:t>Decide on the hypothesis based on your research questions</a:t>
          </a:r>
          <a:endParaRPr lang="es-MX" sz="1400" kern="1200"/>
        </a:p>
      </dsp:txBody>
      <dsp:txXfrm>
        <a:off x="9558797" y="538562"/>
        <a:ext cx="1353680" cy="2552388"/>
      </dsp:txXfrm>
    </dsp:sp>
    <dsp:sp modelId="{408FCD1B-CBF4-4D8F-BFCE-0B93F6FCBE1C}">
      <dsp:nvSpPr>
        <dsp:cNvPr id="0" name=""/>
        <dsp:cNvSpPr/>
      </dsp:nvSpPr>
      <dsp:spPr>
        <a:xfrm>
          <a:off x="9558797" y="3159948"/>
          <a:ext cx="1353680" cy="1032856"/>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D93591-0375-4139-BAF9-361FE3AD7D75}">
      <dsp:nvSpPr>
        <dsp:cNvPr id="0" name=""/>
        <dsp:cNvSpPr/>
      </dsp:nvSpPr>
      <dsp:spPr>
        <a:xfrm>
          <a:off x="2250914" y="296402"/>
          <a:ext cx="2196000" cy="2196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F1F543-7C66-4874-B70F-AF41CA8D673F}">
      <dsp:nvSpPr>
        <dsp:cNvPr id="0" name=""/>
        <dsp:cNvSpPr/>
      </dsp:nvSpPr>
      <dsp:spPr>
        <a:xfrm>
          <a:off x="2718914" y="764402"/>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F0CFA9-8F43-488B-B5C7-1643FBA7C213}">
      <dsp:nvSpPr>
        <dsp:cNvPr id="0" name=""/>
        <dsp:cNvSpPr/>
      </dsp:nvSpPr>
      <dsp:spPr>
        <a:xfrm>
          <a:off x="154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Confirmatory Data Analysis: Verify the hypothesis by statistical analysis</a:t>
          </a:r>
        </a:p>
      </dsp:txBody>
      <dsp:txXfrm>
        <a:off x="1548914" y="3176402"/>
        <a:ext cx="3600000" cy="720000"/>
      </dsp:txXfrm>
    </dsp:sp>
    <dsp:sp modelId="{387B307C-F67F-4CFD-8479-36826D48E7F7}">
      <dsp:nvSpPr>
        <dsp:cNvPr id="0" name=""/>
        <dsp:cNvSpPr/>
      </dsp:nvSpPr>
      <dsp:spPr>
        <a:xfrm>
          <a:off x="6480914" y="296402"/>
          <a:ext cx="2196000" cy="21960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E97AC5-2F81-40C5-8FCE-8961FBCEC47D}">
      <dsp:nvSpPr>
        <dsp:cNvPr id="0" name=""/>
        <dsp:cNvSpPr/>
      </dsp:nvSpPr>
      <dsp:spPr>
        <a:xfrm>
          <a:off x="6948914" y="764402"/>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90E80A-1CA3-4BE4-9DFE-C731F3E7A443}">
      <dsp:nvSpPr>
        <dsp:cNvPr id="0" name=""/>
        <dsp:cNvSpPr/>
      </dsp:nvSpPr>
      <dsp:spPr>
        <a:xfrm>
          <a:off x="577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US" sz="1700" kern="1200"/>
            <a:t>Get conclusions and present your results nicely.</a:t>
          </a:r>
        </a:p>
      </dsp:txBody>
      <dsp:txXfrm>
        <a:off x="5778914" y="3176402"/>
        <a:ext cx="360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C5919E-D07D-422D-8400-C022CD5246EB}">
      <dsp:nvSpPr>
        <dsp:cNvPr id="0" name=""/>
        <dsp:cNvSpPr/>
      </dsp:nvSpPr>
      <dsp:spPr>
        <a:xfrm>
          <a:off x="0" y="373802"/>
          <a:ext cx="10927829" cy="16632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458216" rIns="848121"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a:t>Mean – the average value</a:t>
          </a:r>
        </a:p>
        <a:p>
          <a:pPr marL="228600" lvl="1" indent="-228600" algn="l" defTabSz="977900">
            <a:lnSpc>
              <a:spcPct val="90000"/>
            </a:lnSpc>
            <a:spcBef>
              <a:spcPct val="0"/>
            </a:spcBef>
            <a:spcAft>
              <a:spcPct val="15000"/>
            </a:spcAft>
            <a:buChar char="•"/>
          </a:pPr>
          <a:r>
            <a:rPr lang="en-US" sz="2200" kern="1200"/>
            <a:t>Median – the middle value</a:t>
          </a:r>
        </a:p>
        <a:p>
          <a:pPr marL="228600" lvl="1" indent="-228600" algn="l" defTabSz="977900">
            <a:lnSpc>
              <a:spcPct val="90000"/>
            </a:lnSpc>
            <a:spcBef>
              <a:spcPct val="0"/>
            </a:spcBef>
            <a:spcAft>
              <a:spcPct val="15000"/>
            </a:spcAft>
            <a:buChar char="•"/>
          </a:pPr>
          <a:r>
            <a:rPr lang="en-US" sz="2200" kern="1200"/>
            <a:t>Mode – the most frequent value</a:t>
          </a:r>
        </a:p>
      </dsp:txBody>
      <dsp:txXfrm>
        <a:off x="0" y="373802"/>
        <a:ext cx="10927829" cy="1663200"/>
      </dsp:txXfrm>
    </dsp:sp>
    <dsp:sp modelId="{6C99C29C-4470-40CC-9BAF-7727FE2332F6}">
      <dsp:nvSpPr>
        <dsp:cNvPr id="0" name=""/>
        <dsp:cNvSpPr/>
      </dsp:nvSpPr>
      <dsp:spPr>
        <a:xfrm>
          <a:off x="546391" y="49082"/>
          <a:ext cx="7649480" cy="64944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977900">
            <a:lnSpc>
              <a:spcPct val="90000"/>
            </a:lnSpc>
            <a:spcBef>
              <a:spcPct val="0"/>
            </a:spcBef>
            <a:spcAft>
              <a:spcPct val="35000"/>
            </a:spcAft>
            <a:buNone/>
          </a:pPr>
          <a:r>
            <a:rPr lang="en-US" sz="2200" kern="1200"/>
            <a:t>Indices of central tendency:</a:t>
          </a:r>
        </a:p>
      </dsp:txBody>
      <dsp:txXfrm>
        <a:off x="578094" y="80785"/>
        <a:ext cx="7586074" cy="586034"/>
      </dsp:txXfrm>
    </dsp:sp>
    <dsp:sp modelId="{556E7521-9FB0-414E-89D0-5A2C948A527A}">
      <dsp:nvSpPr>
        <dsp:cNvPr id="0" name=""/>
        <dsp:cNvSpPr/>
      </dsp:nvSpPr>
      <dsp:spPr>
        <a:xfrm>
          <a:off x="0" y="2480522"/>
          <a:ext cx="10927829" cy="1663200"/>
        </a:xfrm>
        <a:prstGeom prst="rect">
          <a:avLst/>
        </a:prstGeom>
        <a:solidFill>
          <a:schemeClr val="dk1">
            <a:alpha val="90000"/>
            <a:tint val="40000"/>
            <a:hueOff val="0"/>
            <a:satOff val="0"/>
            <a:lumOff val="0"/>
            <a:alphaOff val="0"/>
          </a:schemeClr>
        </a:solidFill>
        <a:ln w="12700" cap="flat" cmpd="sng" algn="ctr">
          <a:solidFill>
            <a:schemeClr val="dk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8121" tIns="458216" rIns="848121"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a:t>Variance – the spread around the mean</a:t>
          </a:r>
        </a:p>
        <a:p>
          <a:pPr marL="228600" lvl="1" indent="-228600" algn="l" defTabSz="977900">
            <a:lnSpc>
              <a:spcPct val="90000"/>
            </a:lnSpc>
            <a:spcBef>
              <a:spcPct val="0"/>
            </a:spcBef>
            <a:spcAft>
              <a:spcPct val="15000"/>
            </a:spcAft>
            <a:buChar char="•"/>
          </a:pPr>
          <a:r>
            <a:rPr lang="en-US" sz="2200" kern="1200"/>
            <a:t>Standard deviation </a:t>
          </a:r>
        </a:p>
        <a:p>
          <a:pPr marL="228600" lvl="1" indent="-228600" algn="l" defTabSz="977900">
            <a:lnSpc>
              <a:spcPct val="90000"/>
            </a:lnSpc>
            <a:spcBef>
              <a:spcPct val="0"/>
            </a:spcBef>
            <a:spcAft>
              <a:spcPct val="15000"/>
            </a:spcAft>
            <a:buChar char="•"/>
          </a:pPr>
          <a:r>
            <a:rPr lang="en-US" sz="2200" kern="1200"/>
            <a:t>Standard error of the mean (estimate)</a:t>
          </a:r>
        </a:p>
      </dsp:txBody>
      <dsp:txXfrm>
        <a:off x="0" y="2480522"/>
        <a:ext cx="10927829" cy="1663200"/>
      </dsp:txXfrm>
    </dsp:sp>
    <dsp:sp modelId="{4A40BEBF-966B-4D23-8252-AFEA42675A10}">
      <dsp:nvSpPr>
        <dsp:cNvPr id="0" name=""/>
        <dsp:cNvSpPr/>
      </dsp:nvSpPr>
      <dsp:spPr>
        <a:xfrm>
          <a:off x="546391" y="2155802"/>
          <a:ext cx="7649480" cy="649440"/>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9132" tIns="0" rIns="289132" bIns="0" numCol="1" spcCol="1270" anchor="ctr" anchorCtr="0">
          <a:noAutofit/>
        </a:bodyPr>
        <a:lstStyle/>
        <a:p>
          <a:pPr marL="0" lvl="0" indent="0" algn="l" defTabSz="977900">
            <a:lnSpc>
              <a:spcPct val="90000"/>
            </a:lnSpc>
            <a:spcBef>
              <a:spcPct val="0"/>
            </a:spcBef>
            <a:spcAft>
              <a:spcPct val="35000"/>
            </a:spcAft>
            <a:buNone/>
          </a:pPr>
          <a:r>
            <a:rPr lang="en-US" sz="2200" kern="1200"/>
            <a:t>Indices of Variability:</a:t>
          </a:r>
        </a:p>
      </dsp:txBody>
      <dsp:txXfrm>
        <a:off x="578094" y="2187505"/>
        <a:ext cx="7586074" cy="5860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E5D915-219E-4281-ABFB-CDBAECA2A418}">
      <dsp:nvSpPr>
        <dsp:cNvPr id="0" name=""/>
        <dsp:cNvSpPr/>
      </dsp:nvSpPr>
      <dsp:spPr>
        <a:xfrm>
          <a:off x="718664"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196C37-157E-4804-A450-12156F906E3D}">
      <dsp:nvSpPr>
        <dsp:cNvPr id="0" name=""/>
        <dsp:cNvSpPr/>
      </dsp:nvSpPr>
      <dsp:spPr>
        <a:xfrm>
          <a:off x="1135476" y="870714"/>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1819C6-70AC-4DB2-A5B7-31B87150F6C2}">
      <dsp:nvSpPr>
        <dsp:cNvPr id="0" name=""/>
        <dsp:cNvSpPr/>
      </dsp:nvSpPr>
      <dsp:spPr>
        <a:xfrm>
          <a:off x="93445"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If you find a mistake, fix it.</a:t>
          </a:r>
        </a:p>
      </dsp:txBody>
      <dsp:txXfrm>
        <a:off x="93445" y="3018902"/>
        <a:ext cx="3206250" cy="720000"/>
      </dsp:txXfrm>
    </dsp:sp>
    <dsp:sp modelId="{32E53F50-9FB8-4678-B6B4-CF95D43106D3}">
      <dsp:nvSpPr>
        <dsp:cNvPr id="0" name=""/>
        <dsp:cNvSpPr/>
      </dsp:nvSpPr>
      <dsp:spPr>
        <a:xfrm>
          <a:off x="4486008"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B49D1A-7116-4A7C-9011-DDEA16D7C55D}">
      <dsp:nvSpPr>
        <dsp:cNvPr id="0" name=""/>
        <dsp:cNvSpPr/>
      </dsp:nvSpPr>
      <dsp:spPr>
        <a:xfrm>
          <a:off x="4902820" y="870714"/>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363A2F-16F1-4C14-A752-F6ADBB07C25A}">
      <dsp:nvSpPr>
        <dsp:cNvPr id="0" name=""/>
        <dsp:cNvSpPr/>
      </dsp:nvSpPr>
      <dsp:spPr>
        <a:xfrm>
          <a:off x="3860789"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If you find an outlier, trim it or delete it.</a:t>
          </a:r>
        </a:p>
      </dsp:txBody>
      <dsp:txXfrm>
        <a:off x="3860789" y="3018902"/>
        <a:ext cx="3206250" cy="720000"/>
      </dsp:txXfrm>
    </dsp:sp>
    <dsp:sp modelId="{54D611DD-864A-4A63-AC7B-1DCCEEA75681}">
      <dsp:nvSpPr>
        <dsp:cNvPr id="0" name=""/>
        <dsp:cNvSpPr/>
      </dsp:nvSpPr>
      <dsp:spPr>
        <a:xfrm>
          <a:off x="8253352" y="453902"/>
          <a:ext cx="1955812" cy="1955812"/>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A33201-2831-4033-B7D4-734C2FB75D6D}">
      <dsp:nvSpPr>
        <dsp:cNvPr id="0" name=""/>
        <dsp:cNvSpPr/>
      </dsp:nvSpPr>
      <dsp:spPr>
        <a:xfrm>
          <a:off x="8670164" y="870714"/>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E2D5C8-7409-47C6-AB04-0169B5729E87}">
      <dsp:nvSpPr>
        <dsp:cNvPr id="0" name=""/>
        <dsp:cNvSpPr/>
      </dsp:nvSpPr>
      <dsp:spPr>
        <a:xfrm>
          <a:off x="7628133" y="30189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If your distributions are askew, transform the data.</a:t>
          </a:r>
        </a:p>
      </dsp:txBody>
      <dsp:txXfrm>
        <a:off x="7628133" y="3018902"/>
        <a:ext cx="3206250" cy="7200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5D47AE-6848-4DA7-BFCD-BF81C25F7164}">
      <dsp:nvSpPr>
        <dsp:cNvPr id="0" name=""/>
        <dsp:cNvSpPr/>
      </dsp:nvSpPr>
      <dsp:spPr>
        <a:xfrm>
          <a:off x="1953914" y="5292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FBFCED-5813-4BB7-B159-FFF005D58D96}">
      <dsp:nvSpPr>
        <dsp:cNvPr id="0" name=""/>
        <dsp:cNvSpPr/>
      </dsp:nvSpPr>
      <dsp:spPr>
        <a:xfrm>
          <a:off x="765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It is very important to pay attention to the scale that you are using when you are plotting. </a:t>
          </a:r>
        </a:p>
      </dsp:txBody>
      <dsp:txXfrm>
        <a:off x="765914" y="2943510"/>
        <a:ext cx="4320000" cy="720000"/>
      </dsp:txXfrm>
    </dsp:sp>
    <dsp:sp modelId="{2FF5B547-359A-46FA-AB23-7A3DD42964AA}">
      <dsp:nvSpPr>
        <dsp:cNvPr id="0" name=""/>
        <dsp:cNvSpPr/>
      </dsp:nvSpPr>
      <dsp:spPr>
        <a:xfrm>
          <a:off x="7029914" y="5292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873A524-4378-445B-9A0F-C0019967890C}">
      <dsp:nvSpPr>
        <dsp:cNvPr id="0" name=""/>
        <dsp:cNvSpPr/>
      </dsp:nvSpPr>
      <dsp:spPr>
        <a:xfrm>
          <a:off x="5841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a:t>Compare the following graphs created from identical data</a:t>
          </a:r>
        </a:p>
      </dsp:txBody>
      <dsp:txXfrm>
        <a:off x="5841914" y="2943510"/>
        <a:ext cx="4320000" cy="72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0670F8-FB0A-4D3B-9681-39A6A3AA8C3F}">
      <dsp:nvSpPr>
        <dsp:cNvPr id="0" name=""/>
        <dsp:cNvSpPr/>
      </dsp:nvSpPr>
      <dsp:spPr>
        <a:xfrm>
          <a:off x="853" y="21822"/>
          <a:ext cx="3457633" cy="414916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537" tIns="0" rIns="341537" bIns="330200" numCol="1" spcCol="1270" anchor="t" anchorCtr="0">
          <a:noAutofit/>
        </a:bodyPr>
        <a:lstStyle/>
        <a:p>
          <a:pPr marL="0" lvl="0" indent="0" algn="l" defTabSz="1111250">
            <a:lnSpc>
              <a:spcPct val="90000"/>
            </a:lnSpc>
            <a:spcBef>
              <a:spcPct val="0"/>
            </a:spcBef>
            <a:spcAft>
              <a:spcPct val="35000"/>
            </a:spcAft>
            <a:buNone/>
          </a:pPr>
          <a:r>
            <a:rPr lang="en-US" sz="2500" kern="1200"/>
            <a:t>Examine all your variables thoroughly and carefully before you begin analysis</a:t>
          </a:r>
        </a:p>
      </dsp:txBody>
      <dsp:txXfrm>
        <a:off x="853" y="1681486"/>
        <a:ext cx="3457633" cy="2489496"/>
      </dsp:txXfrm>
    </dsp:sp>
    <dsp:sp modelId="{A348A8FC-23E5-47D3-9559-21EB3857D391}">
      <dsp:nvSpPr>
        <dsp:cNvPr id="0" name=""/>
        <dsp:cNvSpPr/>
      </dsp:nvSpPr>
      <dsp:spPr>
        <a:xfrm>
          <a:off x="853" y="21822"/>
          <a:ext cx="3457633" cy="165966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1537" tIns="165100" rIns="341537"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53" y="21822"/>
        <a:ext cx="3457633" cy="1659664"/>
      </dsp:txXfrm>
    </dsp:sp>
    <dsp:sp modelId="{C6644BCA-99C1-472A-8F83-CD858F4205C3}">
      <dsp:nvSpPr>
        <dsp:cNvPr id="0" name=""/>
        <dsp:cNvSpPr/>
      </dsp:nvSpPr>
      <dsp:spPr>
        <a:xfrm>
          <a:off x="3735097" y="21822"/>
          <a:ext cx="3457633" cy="4149160"/>
        </a:xfrm>
        <a:prstGeom prst="rect">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537" tIns="0" rIns="341537" bIns="330200" numCol="1" spcCol="1270" anchor="t" anchorCtr="0">
          <a:noAutofit/>
        </a:bodyPr>
        <a:lstStyle/>
        <a:p>
          <a:pPr marL="0" lvl="0" indent="0" algn="l" defTabSz="1111250">
            <a:lnSpc>
              <a:spcPct val="90000"/>
            </a:lnSpc>
            <a:spcBef>
              <a:spcPct val="0"/>
            </a:spcBef>
            <a:spcAft>
              <a:spcPct val="35000"/>
            </a:spcAft>
            <a:buNone/>
          </a:pPr>
          <a:r>
            <a:rPr lang="en-US" sz="2500" kern="1200"/>
            <a:t>Use visual displays whenever possible</a:t>
          </a:r>
        </a:p>
      </dsp:txBody>
      <dsp:txXfrm>
        <a:off x="3735097" y="1681486"/>
        <a:ext cx="3457633" cy="2489496"/>
      </dsp:txXfrm>
    </dsp:sp>
    <dsp:sp modelId="{6788E3CF-3E73-4DB5-990D-70346F9F9BB3}">
      <dsp:nvSpPr>
        <dsp:cNvPr id="0" name=""/>
        <dsp:cNvSpPr/>
      </dsp:nvSpPr>
      <dsp:spPr>
        <a:xfrm>
          <a:off x="3735097" y="21822"/>
          <a:ext cx="3457633" cy="165966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1537" tIns="165100" rIns="341537"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735097" y="21822"/>
        <a:ext cx="3457633" cy="1659664"/>
      </dsp:txXfrm>
    </dsp:sp>
    <dsp:sp modelId="{3AA1827E-91DC-4A21-93AE-90DDB6C563FA}">
      <dsp:nvSpPr>
        <dsp:cNvPr id="0" name=""/>
        <dsp:cNvSpPr/>
      </dsp:nvSpPr>
      <dsp:spPr>
        <a:xfrm>
          <a:off x="7469341" y="21822"/>
          <a:ext cx="3457633" cy="4149160"/>
        </a:xfrm>
        <a:prstGeom prst="rect">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1537" tIns="0" rIns="341537" bIns="330200" numCol="1" spcCol="1270" anchor="t" anchorCtr="0">
          <a:noAutofit/>
        </a:bodyPr>
        <a:lstStyle/>
        <a:p>
          <a:pPr marL="0" lvl="0" indent="0" algn="l" defTabSz="1111250">
            <a:lnSpc>
              <a:spcPct val="90000"/>
            </a:lnSpc>
            <a:spcBef>
              <a:spcPct val="0"/>
            </a:spcBef>
            <a:spcAft>
              <a:spcPct val="35000"/>
            </a:spcAft>
            <a:buNone/>
          </a:pPr>
          <a:r>
            <a:rPr lang="en-US" sz="2500" kern="1200"/>
            <a:t>Transform each variable as necessary to deal with mistakes, outliers, and distributions</a:t>
          </a:r>
        </a:p>
      </dsp:txBody>
      <dsp:txXfrm>
        <a:off x="7469341" y="1681486"/>
        <a:ext cx="3457633" cy="2489496"/>
      </dsp:txXfrm>
    </dsp:sp>
    <dsp:sp modelId="{AE0A6D78-EC71-40D6-926A-18E8E8AF50A7}">
      <dsp:nvSpPr>
        <dsp:cNvPr id="0" name=""/>
        <dsp:cNvSpPr/>
      </dsp:nvSpPr>
      <dsp:spPr>
        <a:xfrm>
          <a:off x="7469341" y="21822"/>
          <a:ext cx="3457633" cy="165966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41537" tIns="165100" rIns="341537"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469341" y="21822"/>
        <a:ext cx="3457633" cy="165966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E421F8-415C-44C1-838B-C1BA6BE5C2BA}">
      <dsp:nvSpPr>
        <dsp:cNvPr id="0" name=""/>
        <dsp:cNvSpPr/>
      </dsp:nvSpPr>
      <dsp:spPr>
        <a:xfrm>
          <a:off x="3038" y="323716"/>
          <a:ext cx="2962790" cy="664244"/>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t>Incomplete data comes from</a:t>
          </a:r>
          <a:endParaRPr lang="es-MX" sz="1800" kern="1200"/>
        </a:p>
      </dsp:txBody>
      <dsp:txXfrm>
        <a:off x="3038" y="323716"/>
        <a:ext cx="2962790" cy="664244"/>
      </dsp:txXfrm>
    </dsp:sp>
    <dsp:sp modelId="{21490CF0-8C71-4F43-8312-29011C93D237}">
      <dsp:nvSpPr>
        <dsp:cNvPr id="0" name=""/>
        <dsp:cNvSpPr/>
      </dsp:nvSpPr>
      <dsp:spPr>
        <a:xfrm>
          <a:off x="3038" y="987961"/>
          <a:ext cx="2962790" cy="2371680"/>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a:t>n/a data value when collected</a:t>
          </a:r>
          <a:endParaRPr lang="es-MX" sz="1800" kern="1200"/>
        </a:p>
        <a:p>
          <a:pPr marL="171450" lvl="1" indent="-171450" algn="l" defTabSz="800100">
            <a:lnSpc>
              <a:spcPct val="90000"/>
            </a:lnSpc>
            <a:spcBef>
              <a:spcPct val="0"/>
            </a:spcBef>
            <a:spcAft>
              <a:spcPct val="15000"/>
            </a:spcAft>
            <a:buChar char="•"/>
          </a:pPr>
          <a:r>
            <a:rPr lang="en-US" sz="1800" kern="1200"/>
            <a:t>different consideration between the time when the data was collected and when it is analyzed.</a:t>
          </a:r>
          <a:endParaRPr lang="es-MX" sz="1800" kern="1200"/>
        </a:p>
        <a:p>
          <a:pPr marL="171450" lvl="1" indent="-171450" algn="l" defTabSz="800100">
            <a:lnSpc>
              <a:spcPct val="90000"/>
            </a:lnSpc>
            <a:spcBef>
              <a:spcPct val="0"/>
            </a:spcBef>
            <a:spcAft>
              <a:spcPct val="15000"/>
            </a:spcAft>
            <a:buChar char="•"/>
          </a:pPr>
          <a:r>
            <a:rPr lang="en-US" sz="1800" kern="1200"/>
            <a:t>human/hardware/software problems</a:t>
          </a:r>
          <a:endParaRPr lang="es-MX" sz="1800" kern="1200"/>
        </a:p>
      </dsp:txBody>
      <dsp:txXfrm>
        <a:off x="3038" y="987961"/>
        <a:ext cx="2962790" cy="2371680"/>
      </dsp:txXfrm>
    </dsp:sp>
    <dsp:sp modelId="{4252200F-B3EA-4688-8F1E-7BFDC149C4D7}">
      <dsp:nvSpPr>
        <dsp:cNvPr id="0" name=""/>
        <dsp:cNvSpPr/>
      </dsp:nvSpPr>
      <dsp:spPr>
        <a:xfrm>
          <a:off x="3380620" y="323716"/>
          <a:ext cx="2962790" cy="664244"/>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t>Noisy data comes from the process of data</a:t>
          </a:r>
          <a:endParaRPr lang="es-MX" sz="1800" kern="1200"/>
        </a:p>
      </dsp:txBody>
      <dsp:txXfrm>
        <a:off x="3380620" y="323716"/>
        <a:ext cx="2962790" cy="664244"/>
      </dsp:txXfrm>
    </dsp:sp>
    <dsp:sp modelId="{BF759CC6-6C1E-42DD-A75F-71AB1174E530}">
      <dsp:nvSpPr>
        <dsp:cNvPr id="0" name=""/>
        <dsp:cNvSpPr/>
      </dsp:nvSpPr>
      <dsp:spPr>
        <a:xfrm>
          <a:off x="3380620" y="987961"/>
          <a:ext cx="2962790" cy="2371680"/>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a:t>collection</a:t>
          </a:r>
          <a:endParaRPr lang="es-MX" sz="1800" kern="1200"/>
        </a:p>
        <a:p>
          <a:pPr marL="171450" lvl="1" indent="-171450" algn="l" defTabSz="800100">
            <a:lnSpc>
              <a:spcPct val="90000"/>
            </a:lnSpc>
            <a:spcBef>
              <a:spcPct val="0"/>
            </a:spcBef>
            <a:spcAft>
              <a:spcPct val="15000"/>
            </a:spcAft>
            <a:buChar char="•"/>
          </a:pPr>
          <a:r>
            <a:rPr lang="en-US" sz="1800" kern="1200"/>
            <a:t>entry</a:t>
          </a:r>
          <a:endParaRPr lang="es-MX" sz="1800" kern="1200"/>
        </a:p>
        <a:p>
          <a:pPr marL="171450" lvl="1" indent="-171450" algn="l" defTabSz="800100">
            <a:lnSpc>
              <a:spcPct val="90000"/>
            </a:lnSpc>
            <a:spcBef>
              <a:spcPct val="0"/>
            </a:spcBef>
            <a:spcAft>
              <a:spcPct val="15000"/>
            </a:spcAft>
            <a:buChar char="•"/>
          </a:pPr>
          <a:r>
            <a:rPr lang="en-US" sz="1800" kern="1200"/>
            <a:t>transmission</a:t>
          </a:r>
          <a:endParaRPr lang="es-MX" sz="1800" kern="1200"/>
        </a:p>
      </dsp:txBody>
      <dsp:txXfrm>
        <a:off x="3380620" y="987961"/>
        <a:ext cx="2962790" cy="2371680"/>
      </dsp:txXfrm>
    </dsp:sp>
    <dsp:sp modelId="{1F0CC375-EA38-4CA5-8BD9-7A5A9677C1F1}">
      <dsp:nvSpPr>
        <dsp:cNvPr id="0" name=""/>
        <dsp:cNvSpPr/>
      </dsp:nvSpPr>
      <dsp:spPr>
        <a:xfrm>
          <a:off x="6758201" y="323716"/>
          <a:ext cx="2962790" cy="664244"/>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a:t>Inconsistent data comes from</a:t>
          </a:r>
          <a:endParaRPr lang="es-MX" sz="1800" kern="1200"/>
        </a:p>
      </dsp:txBody>
      <dsp:txXfrm>
        <a:off x="6758201" y="323716"/>
        <a:ext cx="2962790" cy="664244"/>
      </dsp:txXfrm>
    </dsp:sp>
    <dsp:sp modelId="{DE4F8272-7FFE-4149-A276-F8AC9F10BA62}">
      <dsp:nvSpPr>
        <dsp:cNvPr id="0" name=""/>
        <dsp:cNvSpPr/>
      </dsp:nvSpPr>
      <dsp:spPr>
        <a:xfrm>
          <a:off x="6758201" y="987961"/>
          <a:ext cx="2962790" cy="2371680"/>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a:t>Different data sources</a:t>
          </a:r>
          <a:endParaRPr lang="es-MX" sz="1800" kern="1200"/>
        </a:p>
        <a:p>
          <a:pPr marL="171450" lvl="1" indent="-171450" algn="l" defTabSz="800100">
            <a:lnSpc>
              <a:spcPct val="90000"/>
            </a:lnSpc>
            <a:spcBef>
              <a:spcPct val="0"/>
            </a:spcBef>
            <a:spcAft>
              <a:spcPct val="15000"/>
            </a:spcAft>
            <a:buChar char="•"/>
          </a:pPr>
          <a:r>
            <a:rPr lang="en-US" sz="1800" kern="1200"/>
            <a:t>Functional dependency violation</a:t>
          </a:r>
          <a:endParaRPr lang="es-MX" sz="1800" kern="1200"/>
        </a:p>
      </dsp:txBody>
      <dsp:txXfrm>
        <a:off x="6758201" y="987961"/>
        <a:ext cx="2962790" cy="237168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F55496-87A0-476E-B9B4-F8F3D60C8EC7}">
      <dsp:nvSpPr>
        <dsp:cNvPr id="0" name=""/>
        <dsp:cNvSpPr/>
      </dsp:nvSpPr>
      <dsp:spPr>
        <a:xfrm>
          <a:off x="53" y="55089"/>
          <a:ext cx="5106412" cy="720000"/>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a:t>Purpose:</a:t>
          </a:r>
        </a:p>
      </dsp:txBody>
      <dsp:txXfrm>
        <a:off x="53" y="55089"/>
        <a:ext cx="5106412" cy="720000"/>
      </dsp:txXfrm>
    </dsp:sp>
    <dsp:sp modelId="{2CE535F6-61F1-46EE-A542-753D2F1A9DAE}">
      <dsp:nvSpPr>
        <dsp:cNvPr id="0" name=""/>
        <dsp:cNvSpPr/>
      </dsp:nvSpPr>
      <dsp:spPr>
        <a:xfrm>
          <a:off x="53" y="775089"/>
          <a:ext cx="5106412" cy="3362625"/>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a:t>Avoid curse of dimensionality</a:t>
          </a:r>
        </a:p>
        <a:p>
          <a:pPr marL="228600" lvl="1" indent="-228600" algn="l" defTabSz="1111250">
            <a:lnSpc>
              <a:spcPct val="90000"/>
            </a:lnSpc>
            <a:spcBef>
              <a:spcPct val="0"/>
            </a:spcBef>
            <a:spcAft>
              <a:spcPct val="15000"/>
            </a:spcAft>
            <a:buChar char="•"/>
          </a:pPr>
          <a:r>
            <a:rPr lang="en-US" sz="2500" kern="1200"/>
            <a:t>Reduce amount of time and memory required by data mining algorithms</a:t>
          </a:r>
        </a:p>
        <a:p>
          <a:pPr marL="228600" lvl="1" indent="-228600" algn="l" defTabSz="1111250">
            <a:lnSpc>
              <a:spcPct val="90000"/>
            </a:lnSpc>
            <a:spcBef>
              <a:spcPct val="0"/>
            </a:spcBef>
            <a:spcAft>
              <a:spcPct val="15000"/>
            </a:spcAft>
            <a:buChar char="•"/>
          </a:pPr>
          <a:r>
            <a:rPr lang="en-US" sz="2500" kern="1200"/>
            <a:t>Allow data to be more easily visualized</a:t>
          </a:r>
        </a:p>
        <a:p>
          <a:pPr marL="228600" lvl="1" indent="-228600" algn="l" defTabSz="1111250">
            <a:lnSpc>
              <a:spcPct val="90000"/>
            </a:lnSpc>
            <a:spcBef>
              <a:spcPct val="0"/>
            </a:spcBef>
            <a:spcAft>
              <a:spcPct val="15000"/>
            </a:spcAft>
            <a:buChar char="•"/>
          </a:pPr>
          <a:r>
            <a:rPr lang="en-US" sz="2500" kern="1200"/>
            <a:t>May help to eliminate irrelevant features or reduce noise</a:t>
          </a:r>
        </a:p>
      </dsp:txBody>
      <dsp:txXfrm>
        <a:off x="53" y="775089"/>
        <a:ext cx="5106412" cy="3362625"/>
      </dsp:txXfrm>
    </dsp:sp>
    <dsp:sp modelId="{28F70884-84EB-44F7-93AE-41DE167CEC38}">
      <dsp:nvSpPr>
        <dsp:cNvPr id="0" name=""/>
        <dsp:cNvSpPr/>
      </dsp:nvSpPr>
      <dsp:spPr>
        <a:xfrm>
          <a:off x="5821363" y="55089"/>
          <a:ext cx="5106412" cy="720000"/>
        </a:xfrm>
        <a:prstGeom prst="rect">
          <a:avLst/>
        </a:prstGeom>
        <a:solidFill>
          <a:schemeClr val="dk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a:t>Techniques</a:t>
          </a:r>
        </a:p>
      </dsp:txBody>
      <dsp:txXfrm>
        <a:off x="5821363" y="55089"/>
        <a:ext cx="5106412" cy="720000"/>
      </dsp:txXfrm>
    </dsp:sp>
    <dsp:sp modelId="{BAD586D5-554A-4637-88BC-8418151DC52C}">
      <dsp:nvSpPr>
        <dsp:cNvPr id="0" name=""/>
        <dsp:cNvSpPr/>
      </dsp:nvSpPr>
      <dsp:spPr>
        <a:xfrm>
          <a:off x="5821363" y="775089"/>
          <a:ext cx="5106412" cy="3362625"/>
        </a:xfrm>
        <a:prstGeom prst="rect">
          <a:avLst/>
        </a:prstGeom>
        <a:solidFill>
          <a:schemeClr val="dk2">
            <a:alpha val="90000"/>
            <a:tint val="40000"/>
            <a:hueOff val="0"/>
            <a:satOff val="0"/>
            <a:lumOff val="0"/>
            <a:alphaOff val="0"/>
          </a:schemeClr>
        </a:solidFill>
        <a:ln w="1270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a:t>Principle Component Analysis</a:t>
          </a:r>
        </a:p>
        <a:p>
          <a:pPr marL="228600" lvl="1" indent="-228600" algn="l" defTabSz="1111250">
            <a:lnSpc>
              <a:spcPct val="90000"/>
            </a:lnSpc>
            <a:spcBef>
              <a:spcPct val="0"/>
            </a:spcBef>
            <a:spcAft>
              <a:spcPct val="15000"/>
            </a:spcAft>
            <a:buChar char="•"/>
          </a:pPr>
          <a:r>
            <a:rPr lang="en-US" sz="2500" kern="1200"/>
            <a:t>Singular Value Decomposition</a:t>
          </a:r>
        </a:p>
        <a:p>
          <a:pPr marL="228600" lvl="1" indent="-228600" algn="l" defTabSz="1111250">
            <a:lnSpc>
              <a:spcPct val="90000"/>
            </a:lnSpc>
            <a:spcBef>
              <a:spcPct val="0"/>
            </a:spcBef>
            <a:spcAft>
              <a:spcPct val="15000"/>
            </a:spcAft>
            <a:buChar char="•"/>
          </a:pPr>
          <a:r>
            <a:rPr lang="en-US" sz="2500" kern="1200"/>
            <a:t>Others: supervised and non-linear techniques</a:t>
          </a:r>
        </a:p>
      </dsp:txBody>
      <dsp:txXfrm>
        <a:off x="5821363" y="775089"/>
        <a:ext cx="5106412" cy="3362625"/>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5BA5BD-7080-4234-83D0-5BBA0FF87378}" type="datetimeFigureOut">
              <a:rPr lang="es-MX" smtClean="0"/>
              <a:t>24/06/2024</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79DAD-62A0-469A-B7DF-3E0F0DC8A495}" type="slidenum">
              <a:rPr lang="es-MX" smtClean="0"/>
              <a:t>‹Nº›</a:t>
            </a:fld>
            <a:endParaRPr lang="es-MX"/>
          </a:p>
        </p:txBody>
      </p:sp>
    </p:spTree>
    <p:extLst>
      <p:ext uri="{BB962C8B-B14F-4D97-AF65-F5344CB8AC3E}">
        <p14:creationId xmlns:p14="http://schemas.microsoft.com/office/powerpoint/2010/main" val="1917841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2D079DAD-62A0-469A-B7DF-3E0F0DC8A495}" type="slidenum">
              <a:rPr lang="es-MX" smtClean="0"/>
              <a:t>1</a:t>
            </a:fld>
            <a:endParaRPr lang="es-MX"/>
          </a:p>
        </p:txBody>
      </p:sp>
    </p:spTree>
    <p:extLst>
      <p:ext uri="{BB962C8B-B14F-4D97-AF65-F5344CB8AC3E}">
        <p14:creationId xmlns:p14="http://schemas.microsoft.com/office/powerpoint/2010/main" val="3255025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lnSpc>
                <a:spcPct val="80000"/>
              </a:lnSpc>
            </a:pPr>
            <a:r>
              <a:rPr lang="es-ES" altLang="es-MX" sz="1200" dirty="0"/>
              <a:t>Media aritmética: </a:t>
            </a:r>
          </a:p>
          <a:p>
            <a:pPr algn="just">
              <a:lnSpc>
                <a:spcPct val="80000"/>
              </a:lnSpc>
            </a:pPr>
            <a:r>
              <a:rPr lang="es-ES" altLang="es-MX" sz="1200" dirty="0"/>
              <a:t>· Moda: valor(es) de la variable que más se repite(n).</a:t>
            </a:r>
          </a:p>
          <a:p>
            <a:pPr algn="just">
              <a:lnSpc>
                <a:spcPct val="80000"/>
              </a:lnSpc>
            </a:pPr>
            <a:r>
              <a:rPr lang="es-ES" altLang="es-MX" sz="1200" dirty="0"/>
              <a:t>· Mediana: es que deja el mismo número de observaciones a su derecha que a su izquierda.</a:t>
            </a:r>
          </a:p>
          <a:p>
            <a:pPr algn="just">
              <a:lnSpc>
                <a:spcPct val="80000"/>
              </a:lnSpc>
            </a:pPr>
            <a:r>
              <a:rPr lang="es-ES" altLang="es-MX" sz="1200" dirty="0"/>
              <a:t>· Cuantiles: valores que dividen a la distribución, una vez ordenada ésta de menor a mayor, en intervalos de igual frecuencia. Los más usuales son los cuartiles, C1, C2 y C3, que dividen a la distribución en cuatro intervalos, cada uno de ellos con el 25% de las observaciones; los deciles, D1, D2, ….D9, que dividen la distribución en diez partes iguales, y los percentiles, P1, P2, … P99, que la dividen en cien partes iguales. </a:t>
            </a:r>
          </a:p>
          <a:p>
            <a:pPr algn="just">
              <a:lnSpc>
                <a:spcPct val="80000"/>
              </a:lnSpc>
            </a:pPr>
            <a:r>
              <a:rPr lang="es-ES" altLang="es-MX" sz="1200" dirty="0"/>
              <a:t>· Media truncada: es la media de la variable eliminando el 5% de las colas inferior y superior de la distribución, de esta forma se eliminan valores extremos y es por tanto un estadístico robusto.</a:t>
            </a:r>
          </a:p>
          <a:p>
            <a:pPr algn="just">
              <a:lnSpc>
                <a:spcPct val="80000"/>
              </a:lnSpc>
            </a:pPr>
            <a:r>
              <a:rPr lang="es-ES" altLang="es-MX" sz="1200" dirty="0"/>
              <a:t>· M-estimadores: son estadísticos robustos pues se definen ponderando cada valor de la distribución en función de su distancia al centro de la misma. Las observaciones centrales se ponderan por el máximo valor (la unidad) disminuyendo los coeficientes de ponderación a medida que las observaciones se alejan del centro. Existen distintas formas de ponderar lo cual clasifica a los M-estimadores en: </a:t>
            </a:r>
            <a:r>
              <a:rPr lang="es-ES" altLang="es-MX" sz="1200" dirty="0" err="1"/>
              <a:t>Humbert</a:t>
            </a:r>
            <a:r>
              <a:rPr lang="es-ES" altLang="es-MX" sz="1200" dirty="0"/>
              <a:t> (pondera con valor uno los valores situados a menos de 1´339 de la mediana), Tukey (pondera con cero los valores situados a 4´385 de la mediana), Andrews (pondera con cero los situados a 4´2066 de la mediana), etc. </a:t>
            </a:r>
          </a:p>
          <a:p>
            <a:pPr algn="just">
              <a:lnSpc>
                <a:spcPct val="80000"/>
              </a:lnSpc>
            </a:pPr>
            <a:endParaRPr lang="es-ES" altLang="es-MX" sz="1200" dirty="0"/>
          </a:p>
          <a:p>
            <a:pPr algn="just">
              <a:lnSpc>
                <a:spcPct val="80000"/>
              </a:lnSpc>
            </a:pPr>
            <a:r>
              <a:rPr lang="es-ES" altLang="es-MX" sz="1200" dirty="0"/>
              <a:t>De todas las medidas de posición, sólo la moda y los cuantiles (de los cuales la mediana es un caso particular) podrían calcularse para atributos en escala ordinal, y únicamente la moda si la escala fuera nominal.</a:t>
            </a:r>
          </a:p>
          <a:p>
            <a:endParaRPr lang="es-MX" dirty="0"/>
          </a:p>
        </p:txBody>
      </p:sp>
      <p:sp>
        <p:nvSpPr>
          <p:cNvPr id="4" name="Marcador de número de diapositiva 3"/>
          <p:cNvSpPr>
            <a:spLocks noGrp="1"/>
          </p:cNvSpPr>
          <p:nvPr>
            <p:ph type="sldNum" sz="quarter" idx="5"/>
          </p:nvPr>
        </p:nvSpPr>
        <p:spPr/>
        <p:txBody>
          <a:bodyPr/>
          <a:lstStyle/>
          <a:p>
            <a:fld id="{2D079DAD-62A0-469A-B7DF-3E0F0DC8A495}" type="slidenum">
              <a:rPr lang="es-MX" smtClean="0"/>
              <a:t>4</a:t>
            </a:fld>
            <a:endParaRPr lang="es-MX"/>
          </a:p>
        </p:txBody>
      </p:sp>
    </p:spTree>
    <p:extLst>
      <p:ext uri="{BB962C8B-B14F-4D97-AF65-F5344CB8AC3E}">
        <p14:creationId xmlns:p14="http://schemas.microsoft.com/office/powerpoint/2010/main" val="3055439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2D079DAD-62A0-469A-B7DF-3E0F0DC8A495}" type="slidenum">
              <a:rPr lang="es-MX" smtClean="0"/>
              <a:t>19</a:t>
            </a:fld>
            <a:endParaRPr lang="es-MX"/>
          </a:p>
        </p:txBody>
      </p:sp>
    </p:spTree>
    <p:extLst>
      <p:ext uri="{BB962C8B-B14F-4D97-AF65-F5344CB8AC3E}">
        <p14:creationId xmlns:p14="http://schemas.microsoft.com/office/powerpoint/2010/main" val="28756935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err="1"/>
              <a:t>Before</a:t>
            </a:r>
            <a:r>
              <a:rPr lang="es-MX" dirty="0"/>
              <a:t>-mean = </a:t>
            </a:r>
            <a:r>
              <a:rPr lang="es-MX" dirty="0" err="1"/>
              <a:t>before</a:t>
            </a:r>
            <a:r>
              <a:rPr lang="es-MX" dirty="0"/>
              <a:t> - mean: 3 – 3 = 0</a:t>
            </a:r>
          </a:p>
          <a:p>
            <a:r>
              <a:rPr lang="es-MX" dirty="0" err="1"/>
              <a:t>During</a:t>
            </a:r>
            <a:r>
              <a:rPr lang="es-MX" dirty="0"/>
              <a:t>-mean = </a:t>
            </a:r>
            <a:r>
              <a:rPr lang="es-MX" dirty="0" err="1"/>
              <a:t>during</a:t>
            </a:r>
            <a:r>
              <a:rPr lang="es-MX" dirty="0"/>
              <a:t> – mean: 2 – 5 = -3</a:t>
            </a:r>
          </a:p>
        </p:txBody>
      </p:sp>
      <p:sp>
        <p:nvSpPr>
          <p:cNvPr id="4" name="Marcador de número de diapositiva 3"/>
          <p:cNvSpPr>
            <a:spLocks noGrp="1"/>
          </p:cNvSpPr>
          <p:nvPr>
            <p:ph type="sldNum" sz="quarter" idx="5"/>
          </p:nvPr>
        </p:nvSpPr>
        <p:spPr/>
        <p:txBody>
          <a:bodyPr/>
          <a:lstStyle/>
          <a:p>
            <a:fld id="{2D079DAD-62A0-469A-B7DF-3E0F0DC8A495}" type="slidenum">
              <a:rPr lang="es-MX" smtClean="0"/>
              <a:t>20</a:t>
            </a:fld>
            <a:endParaRPr lang="es-MX"/>
          </a:p>
        </p:txBody>
      </p:sp>
    </p:spTree>
    <p:extLst>
      <p:ext uri="{BB962C8B-B14F-4D97-AF65-F5344CB8AC3E}">
        <p14:creationId xmlns:p14="http://schemas.microsoft.com/office/powerpoint/2010/main" val="2907823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Hacer este ejemplo: https://www.mathsisfun.com/data/standard-deviation-formulas.html</a:t>
            </a:r>
          </a:p>
        </p:txBody>
      </p:sp>
      <p:sp>
        <p:nvSpPr>
          <p:cNvPr id="4" name="Marcador de número de diapositiva 3"/>
          <p:cNvSpPr>
            <a:spLocks noGrp="1"/>
          </p:cNvSpPr>
          <p:nvPr>
            <p:ph type="sldNum" sz="quarter" idx="5"/>
          </p:nvPr>
        </p:nvSpPr>
        <p:spPr/>
        <p:txBody>
          <a:bodyPr/>
          <a:lstStyle/>
          <a:p>
            <a:fld id="{2D079DAD-62A0-469A-B7DF-3E0F0DC8A495}" type="slidenum">
              <a:rPr lang="es-MX" smtClean="0"/>
              <a:t>25</a:t>
            </a:fld>
            <a:endParaRPr lang="es-MX"/>
          </a:p>
        </p:txBody>
      </p:sp>
    </p:spTree>
    <p:extLst>
      <p:ext uri="{BB962C8B-B14F-4D97-AF65-F5344CB8AC3E}">
        <p14:creationId xmlns:p14="http://schemas.microsoft.com/office/powerpoint/2010/main" val="3897924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Sigma: desviación </a:t>
            </a:r>
            <a:r>
              <a:rPr lang="es-MX" dirty="0" err="1"/>
              <a:t>estandar</a:t>
            </a:r>
            <a:endParaRPr lang="es-MX" dirty="0"/>
          </a:p>
        </p:txBody>
      </p:sp>
      <p:sp>
        <p:nvSpPr>
          <p:cNvPr id="4" name="Marcador de número de diapositiva 3"/>
          <p:cNvSpPr>
            <a:spLocks noGrp="1"/>
          </p:cNvSpPr>
          <p:nvPr>
            <p:ph type="sldNum" sz="quarter" idx="5"/>
          </p:nvPr>
        </p:nvSpPr>
        <p:spPr/>
        <p:txBody>
          <a:bodyPr/>
          <a:lstStyle/>
          <a:p>
            <a:fld id="{2D079DAD-62A0-469A-B7DF-3E0F0DC8A495}" type="slidenum">
              <a:rPr lang="es-MX" smtClean="0"/>
              <a:t>28</a:t>
            </a:fld>
            <a:endParaRPr lang="es-MX"/>
          </a:p>
        </p:txBody>
      </p:sp>
    </p:spTree>
    <p:extLst>
      <p:ext uri="{BB962C8B-B14F-4D97-AF65-F5344CB8AC3E}">
        <p14:creationId xmlns:p14="http://schemas.microsoft.com/office/powerpoint/2010/main" val="3876507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412A9D6-54BC-4C31-8335-A2136CE3FD50}"/>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BBA773-359F-4028-8330-6369E907DCE3}"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3874" name="Rectangle 2">
            <a:extLst>
              <a:ext uri="{FF2B5EF4-FFF2-40B4-BE49-F238E27FC236}">
                <a16:creationId xmlns:a16="http://schemas.microsoft.com/office/drawing/2014/main" id="{9171BEF0-2DF4-4A3E-B422-BD33813914FE}"/>
              </a:ext>
            </a:extLst>
          </p:cNvPr>
          <p:cNvSpPr>
            <a:spLocks noGrp="1" noRot="1" noChangeAspect="1" noChangeArrowheads="1" noTextEdit="1"/>
          </p:cNvSpPr>
          <p:nvPr>
            <p:ph type="sldImg"/>
          </p:nvPr>
        </p:nvSpPr>
        <p:spPr>
          <a:ln/>
        </p:spPr>
      </p:sp>
      <p:sp>
        <p:nvSpPr>
          <p:cNvPr id="463875" name="Rectangle 3">
            <a:extLst>
              <a:ext uri="{FF2B5EF4-FFF2-40B4-BE49-F238E27FC236}">
                <a16:creationId xmlns:a16="http://schemas.microsoft.com/office/drawing/2014/main" id="{3C72DFE8-75FD-4D06-90A8-286FD7D69E6A}"/>
              </a:ext>
            </a:extLst>
          </p:cNvPr>
          <p:cNvSpPr>
            <a:spLocks noGrp="1" noChangeArrowheads="1"/>
          </p:cNvSpPr>
          <p:nvPr>
            <p:ph type="body" idx="1"/>
          </p:nvPr>
        </p:nvSpPr>
        <p:spPr>
          <a:xfrm>
            <a:off x="933450" y="4403725"/>
            <a:ext cx="5130800" cy="4171950"/>
          </a:xfrm>
        </p:spPr>
        <p:txBody>
          <a:bodyPr/>
          <a:lstStyle/>
          <a:p>
            <a:endParaRPr lang="es-MX" altLang="es-MX"/>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97DB591-C418-4327-97AD-D3EF63EF654E}"/>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FB73E32-79BE-4801-AFC3-5E726AA94D8B}"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7458" name="Rectangle 2">
            <a:extLst>
              <a:ext uri="{FF2B5EF4-FFF2-40B4-BE49-F238E27FC236}">
                <a16:creationId xmlns:a16="http://schemas.microsoft.com/office/drawing/2014/main" id="{3E9387D8-2C0D-485E-A64B-2ED19201E2A1}"/>
              </a:ext>
            </a:extLst>
          </p:cNvPr>
          <p:cNvSpPr>
            <a:spLocks noGrp="1" noRot="1" noChangeAspect="1" noChangeArrowheads="1" noTextEdit="1"/>
          </p:cNvSpPr>
          <p:nvPr>
            <p:ph type="sldImg"/>
          </p:nvPr>
        </p:nvSpPr>
        <p:spPr>
          <a:xfrm>
            <a:off x="412750" y="695325"/>
            <a:ext cx="6176963" cy="3475038"/>
          </a:xfrm>
          <a:ln/>
        </p:spPr>
      </p:sp>
      <p:sp>
        <p:nvSpPr>
          <p:cNvPr id="787459" name="Rectangle 3">
            <a:extLst>
              <a:ext uri="{FF2B5EF4-FFF2-40B4-BE49-F238E27FC236}">
                <a16:creationId xmlns:a16="http://schemas.microsoft.com/office/drawing/2014/main" id="{5942734F-03FA-40B1-B1FE-8FDF7308D95B}"/>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6711147-885E-41B1-83B4-97E63BA0DC43}"/>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9F0A0E-30BE-4384-8FDA-5379E4C0AEEC}"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4626" name="Rectangle 2">
            <a:extLst>
              <a:ext uri="{FF2B5EF4-FFF2-40B4-BE49-F238E27FC236}">
                <a16:creationId xmlns:a16="http://schemas.microsoft.com/office/drawing/2014/main" id="{F8EB6ADA-CD06-4E38-9478-D9C812AAB89D}"/>
              </a:ext>
            </a:extLst>
          </p:cNvPr>
          <p:cNvSpPr>
            <a:spLocks noGrp="1" noRot="1" noChangeAspect="1" noChangeArrowheads="1" noTextEdit="1"/>
          </p:cNvSpPr>
          <p:nvPr>
            <p:ph type="sldImg"/>
          </p:nvPr>
        </p:nvSpPr>
        <p:spPr>
          <a:xfrm>
            <a:off x="412750" y="695325"/>
            <a:ext cx="6176963" cy="3475038"/>
          </a:xfrm>
          <a:ln/>
        </p:spPr>
      </p:sp>
      <p:sp>
        <p:nvSpPr>
          <p:cNvPr id="794627" name="Rectangle 3">
            <a:extLst>
              <a:ext uri="{FF2B5EF4-FFF2-40B4-BE49-F238E27FC236}">
                <a16:creationId xmlns:a16="http://schemas.microsoft.com/office/drawing/2014/main" id="{8C913E07-2EF8-4D89-8618-598E2338955D}"/>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0D8A911-6698-4DE7-90F4-8BCB39E85FCD}"/>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969B29-93DC-4CC3-B465-49C1CE48B23B}"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6674" name="Rectangle 2">
            <a:extLst>
              <a:ext uri="{FF2B5EF4-FFF2-40B4-BE49-F238E27FC236}">
                <a16:creationId xmlns:a16="http://schemas.microsoft.com/office/drawing/2014/main" id="{C8011575-6EF0-447B-8A59-88D699868949}"/>
              </a:ext>
            </a:extLst>
          </p:cNvPr>
          <p:cNvSpPr>
            <a:spLocks noGrp="1" noRot="1" noChangeAspect="1" noChangeArrowheads="1" noTextEdit="1"/>
          </p:cNvSpPr>
          <p:nvPr>
            <p:ph type="sldImg"/>
          </p:nvPr>
        </p:nvSpPr>
        <p:spPr>
          <a:xfrm>
            <a:off x="412750" y="695325"/>
            <a:ext cx="6176963" cy="3475038"/>
          </a:xfrm>
          <a:ln/>
        </p:spPr>
      </p:sp>
      <p:sp>
        <p:nvSpPr>
          <p:cNvPr id="796675" name="Rectangle 3">
            <a:extLst>
              <a:ext uri="{FF2B5EF4-FFF2-40B4-BE49-F238E27FC236}">
                <a16:creationId xmlns:a16="http://schemas.microsoft.com/office/drawing/2014/main" id="{7970F480-E349-42D4-9FE1-30F6649D77AE}"/>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75B3133-E0D0-42AC-944B-3BDC48EA152C}"/>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5AEC01-18F4-403B-84C6-3D0F937C62E6}"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0770" name="Rectangle 2">
            <a:extLst>
              <a:ext uri="{FF2B5EF4-FFF2-40B4-BE49-F238E27FC236}">
                <a16:creationId xmlns:a16="http://schemas.microsoft.com/office/drawing/2014/main" id="{C1C11A7C-36F7-40FA-B8FA-67262F50FCF3}"/>
              </a:ext>
            </a:extLst>
          </p:cNvPr>
          <p:cNvSpPr>
            <a:spLocks noGrp="1" noRot="1" noChangeAspect="1" noChangeArrowheads="1" noTextEdit="1"/>
          </p:cNvSpPr>
          <p:nvPr>
            <p:ph type="sldImg"/>
          </p:nvPr>
        </p:nvSpPr>
        <p:spPr>
          <a:xfrm>
            <a:off x="412750" y="695325"/>
            <a:ext cx="6176963" cy="3475038"/>
          </a:xfrm>
          <a:ln/>
        </p:spPr>
      </p:sp>
      <p:sp>
        <p:nvSpPr>
          <p:cNvPr id="800771" name="Rectangle 3">
            <a:extLst>
              <a:ext uri="{FF2B5EF4-FFF2-40B4-BE49-F238E27FC236}">
                <a16:creationId xmlns:a16="http://schemas.microsoft.com/office/drawing/2014/main" id="{99F8F6A1-69B0-4DF0-9C70-0E08B0AE6D04}"/>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9310ABA-3C12-4A7F-929F-E7E5CED457D0}"/>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C64B55-3707-4041-A776-24D43261B7E2}"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2818" name="Rectangle 2">
            <a:extLst>
              <a:ext uri="{FF2B5EF4-FFF2-40B4-BE49-F238E27FC236}">
                <a16:creationId xmlns:a16="http://schemas.microsoft.com/office/drawing/2014/main" id="{F5501F3B-6912-4E92-AC7E-033544810140}"/>
              </a:ext>
            </a:extLst>
          </p:cNvPr>
          <p:cNvSpPr>
            <a:spLocks noGrp="1" noRot="1" noChangeAspect="1" noChangeArrowheads="1" noTextEdit="1"/>
          </p:cNvSpPr>
          <p:nvPr>
            <p:ph type="sldImg"/>
          </p:nvPr>
        </p:nvSpPr>
        <p:spPr>
          <a:xfrm>
            <a:off x="412750" y="695325"/>
            <a:ext cx="6176963" cy="3475038"/>
          </a:xfrm>
          <a:ln/>
        </p:spPr>
      </p:sp>
      <p:sp>
        <p:nvSpPr>
          <p:cNvPr id="802819" name="Rectangle 3">
            <a:extLst>
              <a:ext uri="{FF2B5EF4-FFF2-40B4-BE49-F238E27FC236}">
                <a16:creationId xmlns:a16="http://schemas.microsoft.com/office/drawing/2014/main" id="{FAC45913-3045-4BA5-8DCB-3D29771EC9D6}"/>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8450517-09A8-4D93-9A1C-9D61F5FC555E}"/>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F85B695-5B27-41B6-A39B-42DEC3862445}"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4866" name="Rectangle 2">
            <a:extLst>
              <a:ext uri="{FF2B5EF4-FFF2-40B4-BE49-F238E27FC236}">
                <a16:creationId xmlns:a16="http://schemas.microsoft.com/office/drawing/2014/main" id="{93942BFA-3BB3-464A-8D81-AF2051A1B541}"/>
              </a:ext>
            </a:extLst>
          </p:cNvPr>
          <p:cNvSpPr>
            <a:spLocks noGrp="1" noRot="1" noChangeAspect="1" noChangeArrowheads="1" noTextEdit="1"/>
          </p:cNvSpPr>
          <p:nvPr>
            <p:ph type="sldImg"/>
          </p:nvPr>
        </p:nvSpPr>
        <p:spPr>
          <a:xfrm>
            <a:off x="412750" y="695325"/>
            <a:ext cx="6176963" cy="3475038"/>
          </a:xfrm>
          <a:ln/>
        </p:spPr>
      </p:sp>
      <p:sp>
        <p:nvSpPr>
          <p:cNvPr id="804867" name="Rectangle 3">
            <a:extLst>
              <a:ext uri="{FF2B5EF4-FFF2-40B4-BE49-F238E27FC236}">
                <a16:creationId xmlns:a16="http://schemas.microsoft.com/office/drawing/2014/main" id="{D7D0A4D0-52BE-485B-8394-3563A10A2A93}"/>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7720F2F-7FF7-444D-8EB4-C739D2BC55BF}"/>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55EE6A5-8CED-4F78-AEA7-52D805197B93}"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6914" name="Rectangle 2">
            <a:extLst>
              <a:ext uri="{FF2B5EF4-FFF2-40B4-BE49-F238E27FC236}">
                <a16:creationId xmlns:a16="http://schemas.microsoft.com/office/drawing/2014/main" id="{27C05117-B536-46A5-9E01-4E9323F81371}"/>
              </a:ext>
            </a:extLst>
          </p:cNvPr>
          <p:cNvSpPr>
            <a:spLocks noGrp="1" noRot="1" noChangeAspect="1" noChangeArrowheads="1" noTextEdit="1"/>
          </p:cNvSpPr>
          <p:nvPr>
            <p:ph type="sldImg"/>
          </p:nvPr>
        </p:nvSpPr>
        <p:spPr>
          <a:xfrm>
            <a:off x="412750" y="695325"/>
            <a:ext cx="6176963" cy="3475038"/>
          </a:xfrm>
          <a:ln/>
        </p:spPr>
      </p:sp>
      <p:sp>
        <p:nvSpPr>
          <p:cNvPr id="806915" name="Rectangle 3">
            <a:extLst>
              <a:ext uri="{FF2B5EF4-FFF2-40B4-BE49-F238E27FC236}">
                <a16:creationId xmlns:a16="http://schemas.microsoft.com/office/drawing/2014/main" id="{8E9269AF-9B00-4128-BCA9-0E05005DA3C0}"/>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3CA2B24-4054-41C4-8EBE-0C5D25E4B43C}"/>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F2AD566-2579-44F2-9C35-836DE98C7A3B}"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8962" name="Rectangle 2">
            <a:extLst>
              <a:ext uri="{FF2B5EF4-FFF2-40B4-BE49-F238E27FC236}">
                <a16:creationId xmlns:a16="http://schemas.microsoft.com/office/drawing/2014/main" id="{1CE111B9-45F0-46B6-8C0D-588DF90812A0}"/>
              </a:ext>
            </a:extLst>
          </p:cNvPr>
          <p:cNvSpPr>
            <a:spLocks noGrp="1" noRot="1" noChangeAspect="1" noChangeArrowheads="1" noTextEdit="1"/>
          </p:cNvSpPr>
          <p:nvPr>
            <p:ph type="sldImg"/>
          </p:nvPr>
        </p:nvSpPr>
        <p:spPr>
          <a:xfrm>
            <a:off x="412750" y="695325"/>
            <a:ext cx="6176963" cy="3475038"/>
          </a:xfrm>
          <a:ln/>
        </p:spPr>
      </p:sp>
      <p:sp>
        <p:nvSpPr>
          <p:cNvPr id="808963" name="Rectangle 3">
            <a:extLst>
              <a:ext uri="{FF2B5EF4-FFF2-40B4-BE49-F238E27FC236}">
                <a16:creationId xmlns:a16="http://schemas.microsoft.com/office/drawing/2014/main" id="{B8A3DC86-8831-4C79-8C3F-1ED7EC400278}"/>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B7D46AB-A24C-4F8B-8D5D-DDECCDDE6BCE}"/>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4C3CA85-BFEA-4B03-8572-A0C46025B715}"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1010" name="Rectangle 2">
            <a:extLst>
              <a:ext uri="{FF2B5EF4-FFF2-40B4-BE49-F238E27FC236}">
                <a16:creationId xmlns:a16="http://schemas.microsoft.com/office/drawing/2014/main" id="{DB7F8C69-5CEE-42F4-A01C-D1B33F63AD2A}"/>
              </a:ext>
            </a:extLst>
          </p:cNvPr>
          <p:cNvSpPr>
            <a:spLocks noGrp="1" noRot="1" noChangeAspect="1" noChangeArrowheads="1" noTextEdit="1"/>
          </p:cNvSpPr>
          <p:nvPr>
            <p:ph type="sldImg"/>
          </p:nvPr>
        </p:nvSpPr>
        <p:spPr>
          <a:xfrm>
            <a:off x="412750" y="695325"/>
            <a:ext cx="6176963" cy="3475038"/>
          </a:xfrm>
          <a:ln/>
        </p:spPr>
      </p:sp>
      <p:sp>
        <p:nvSpPr>
          <p:cNvPr id="811011" name="Rectangle 3">
            <a:extLst>
              <a:ext uri="{FF2B5EF4-FFF2-40B4-BE49-F238E27FC236}">
                <a16:creationId xmlns:a16="http://schemas.microsoft.com/office/drawing/2014/main" id="{E2CCF90D-275D-49CB-AEE3-F608E798B642}"/>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44CAA73-5AE6-4112-A940-7A2C5A303EF4}"/>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1A9FA87-90C8-4F60-A679-783400AC4623}"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3058" name="Rectangle 2">
            <a:extLst>
              <a:ext uri="{FF2B5EF4-FFF2-40B4-BE49-F238E27FC236}">
                <a16:creationId xmlns:a16="http://schemas.microsoft.com/office/drawing/2014/main" id="{C39B2DDE-89D4-458C-85BF-FD07FC37AC99}"/>
              </a:ext>
            </a:extLst>
          </p:cNvPr>
          <p:cNvSpPr>
            <a:spLocks noGrp="1" noRot="1" noChangeAspect="1" noChangeArrowheads="1" noTextEdit="1"/>
          </p:cNvSpPr>
          <p:nvPr>
            <p:ph type="sldImg"/>
          </p:nvPr>
        </p:nvSpPr>
        <p:spPr>
          <a:xfrm>
            <a:off x="412750" y="695325"/>
            <a:ext cx="6176963" cy="3475038"/>
          </a:xfrm>
          <a:ln/>
        </p:spPr>
      </p:sp>
      <p:sp>
        <p:nvSpPr>
          <p:cNvPr id="813059" name="Rectangle 3">
            <a:extLst>
              <a:ext uri="{FF2B5EF4-FFF2-40B4-BE49-F238E27FC236}">
                <a16:creationId xmlns:a16="http://schemas.microsoft.com/office/drawing/2014/main" id="{B96D2FC4-CE82-4D8B-B459-EF5689A4A9F1}"/>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55F39AE-00E5-4509-AE2E-A7AFE4E2DCD2}"/>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007DC2B-8C6D-4A27-80AF-A3158D278998}"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5106" name="Rectangle 2">
            <a:extLst>
              <a:ext uri="{FF2B5EF4-FFF2-40B4-BE49-F238E27FC236}">
                <a16:creationId xmlns:a16="http://schemas.microsoft.com/office/drawing/2014/main" id="{F4221BE0-BDB9-4C8E-8537-CFF7C8F98F90}"/>
              </a:ext>
            </a:extLst>
          </p:cNvPr>
          <p:cNvSpPr>
            <a:spLocks noGrp="1" noRot="1" noChangeAspect="1" noChangeArrowheads="1" noTextEdit="1"/>
          </p:cNvSpPr>
          <p:nvPr>
            <p:ph type="sldImg"/>
          </p:nvPr>
        </p:nvSpPr>
        <p:spPr>
          <a:xfrm>
            <a:off x="412750" y="695325"/>
            <a:ext cx="6176963" cy="3475038"/>
          </a:xfrm>
          <a:ln/>
        </p:spPr>
      </p:sp>
      <p:sp>
        <p:nvSpPr>
          <p:cNvPr id="815107" name="Rectangle 3">
            <a:extLst>
              <a:ext uri="{FF2B5EF4-FFF2-40B4-BE49-F238E27FC236}">
                <a16:creationId xmlns:a16="http://schemas.microsoft.com/office/drawing/2014/main" id="{0B5420E8-6EF9-4900-8EBE-DE466AC62380}"/>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1CCF35C-5573-4AC8-98F5-D0B45DD2770D}"/>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77CBAF9-706C-46BD-BA8E-5723E0903C83}"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7154" name="Rectangle 2">
            <a:extLst>
              <a:ext uri="{FF2B5EF4-FFF2-40B4-BE49-F238E27FC236}">
                <a16:creationId xmlns:a16="http://schemas.microsoft.com/office/drawing/2014/main" id="{F09C63DF-4051-4953-9F0A-EFBEE358AEDA}"/>
              </a:ext>
            </a:extLst>
          </p:cNvPr>
          <p:cNvSpPr>
            <a:spLocks noGrp="1" noRot="1" noChangeAspect="1" noChangeArrowheads="1" noTextEdit="1"/>
          </p:cNvSpPr>
          <p:nvPr>
            <p:ph type="sldImg"/>
          </p:nvPr>
        </p:nvSpPr>
        <p:spPr>
          <a:xfrm>
            <a:off x="412750" y="695325"/>
            <a:ext cx="6176963" cy="3475038"/>
          </a:xfrm>
          <a:ln/>
        </p:spPr>
      </p:sp>
      <p:sp>
        <p:nvSpPr>
          <p:cNvPr id="817155" name="Rectangle 3">
            <a:extLst>
              <a:ext uri="{FF2B5EF4-FFF2-40B4-BE49-F238E27FC236}">
                <a16:creationId xmlns:a16="http://schemas.microsoft.com/office/drawing/2014/main" id="{164EA403-837A-405B-8B48-7D281FEF1EDA}"/>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8FCBDAD-600A-412B-9920-CB1133C05546}"/>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B1EAB87-692E-412A-B528-D5518FEEF4DD}"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9202" name="Rectangle 2">
            <a:extLst>
              <a:ext uri="{FF2B5EF4-FFF2-40B4-BE49-F238E27FC236}">
                <a16:creationId xmlns:a16="http://schemas.microsoft.com/office/drawing/2014/main" id="{352F7B08-280D-4936-B15F-E96FF5FC807E}"/>
              </a:ext>
            </a:extLst>
          </p:cNvPr>
          <p:cNvSpPr>
            <a:spLocks noGrp="1" noRot="1" noChangeAspect="1" noChangeArrowheads="1" noTextEdit="1"/>
          </p:cNvSpPr>
          <p:nvPr>
            <p:ph type="sldImg"/>
          </p:nvPr>
        </p:nvSpPr>
        <p:spPr>
          <a:xfrm>
            <a:off x="412750" y="695325"/>
            <a:ext cx="6176963" cy="3475038"/>
          </a:xfrm>
          <a:ln/>
        </p:spPr>
      </p:sp>
      <p:sp>
        <p:nvSpPr>
          <p:cNvPr id="819203" name="Rectangle 3">
            <a:extLst>
              <a:ext uri="{FF2B5EF4-FFF2-40B4-BE49-F238E27FC236}">
                <a16:creationId xmlns:a16="http://schemas.microsoft.com/office/drawing/2014/main" id="{7A994FB3-6F9E-4610-88E7-1C2AE56CBD71}"/>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2303FB5-8B13-4E11-B742-2DD0748ADB5E}"/>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CFC3BFE-C61D-459B-8E6D-7CCC89CBD303}"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1250" name="Rectangle 2">
            <a:extLst>
              <a:ext uri="{FF2B5EF4-FFF2-40B4-BE49-F238E27FC236}">
                <a16:creationId xmlns:a16="http://schemas.microsoft.com/office/drawing/2014/main" id="{90C2FDB0-DA36-4B63-B405-EB422D47732A}"/>
              </a:ext>
            </a:extLst>
          </p:cNvPr>
          <p:cNvSpPr>
            <a:spLocks noGrp="1" noRot="1" noChangeAspect="1" noChangeArrowheads="1" noTextEdit="1"/>
          </p:cNvSpPr>
          <p:nvPr>
            <p:ph type="sldImg"/>
          </p:nvPr>
        </p:nvSpPr>
        <p:spPr>
          <a:xfrm>
            <a:off x="412750" y="695325"/>
            <a:ext cx="6176963" cy="3475038"/>
          </a:xfrm>
          <a:ln/>
        </p:spPr>
      </p:sp>
      <p:sp>
        <p:nvSpPr>
          <p:cNvPr id="821251" name="Rectangle 3">
            <a:extLst>
              <a:ext uri="{FF2B5EF4-FFF2-40B4-BE49-F238E27FC236}">
                <a16:creationId xmlns:a16="http://schemas.microsoft.com/office/drawing/2014/main" id="{2E4CAC2B-7A36-420F-BB58-34EEA8F968CB}"/>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D10737C-F011-4A1C-95AE-073037C00D74}"/>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5874507-F5B0-45B1-93DE-A54EF58FEFA0}"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4322" name="Rectangle 2">
            <a:extLst>
              <a:ext uri="{FF2B5EF4-FFF2-40B4-BE49-F238E27FC236}">
                <a16:creationId xmlns:a16="http://schemas.microsoft.com/office/drawing/2014/main" id="{E4CF1222-F1E9-49C6-98D8-43343C1396E9}"/>
              </a:ext>
            </a:extLst>
          </p:cNvPr>
          <p:cNvSpPr>
            <a:spLocks noGrp="1" noRot="1" noChangeAspect="1" noChangeArrowheads="1" noTextEdit="1"/>
          </p:cNvSpPr>
          <p:nvPr>
            <p:ph type="sldImg"/>
          </p:nvPr>
        </p:nvSpPr>
        <p:spPr>
          <a:xfrm>
            <a:off x="412750" y="695325"/>
            <a:ext cx="6176963" cy="3475038"/>
          </a:xfrm>
          <a:ln/>
        </p:spPr>
      </p:sp>
      <p:sp>
        <p:nvSpPr>
          <p:cNvPr id="824323" name="Rectangle 3">
            <a:extLst>
              <a:ext uri="{FF2B5EF4-FFF2-40B4-BE49-F238E27FC236}">
                <a16:creationId xmlns:a16="http://schemas.microsoft.com/office/drawing/2014/main" id="{359D6CAA-F3F7-447B-8912-99DFD3F7131D}"/>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F5D13C3-D5CF-4643-9DE5-DF70E0863C3F}"/>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646C88-BCDF-460A-9F02-14D7DD34818E}"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8418" name="Rectangle 2">
            <a:extLst>
              <a:ext uri="{FF2B5EF4-FFF2-40B4-BE49-F238E27FC236}">
                <a16:creationId xmlns:a16="http://schemas.microsoft.com/office/drawing/2014/main" id="{85BF5BF6-4A21-4E1F-B0CD-5F27075091A4}"/>
              </a:ext>
            </a:extLst>
          </p:cNvPr>
          <p:cNvSpPr>
            <a:spLocks noGrp="1" noRot="1" noChangeAspect="1" noChangeArrowheads="1" noTextEdit="1"/>
          </p:cNvSpPr>
          <p:nvPr>
            <p:ph type="sldImg"/>
          </p:nvPr>
        </p:nvSpPr>
        <p:spPr>
          <a:xfrm>
            <a:off x="412750" y="695325"/>
            <a:ext cx="6176963" cy="3475038"/>
          </a:xfrm>
          <a:ln/>
        </p:spPr>
      </p:sp>
      <p:sp>
        <p:nvSpPr>
          <p:cNvPr id="828419" name="Rectangle 3">
            <a:extLst>
              <a:ext uri="{FF2B5EF4-FFF2-40B4-BE49-F238E27FC236}">
                <a16:creationId xmlns:a16="http://schemas.microsoft.com/office/drawing/2014/main" id="{C37197DE-1E36-4AA4-82BE-91ED400BFB0F}"/>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C468B50-DCE0-48EB-9E27-B3EC4CDF94B4}"/>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F18EC5-98F6-492E-8F01-D0E3E8C3896A}"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4434" name="Rectangle 2">
            <a:extLst>
              <a:ext uri="{FF2B5EF4-FFF2-40B4-BE49-F238E27FC236}">
                <a16:creationId xmlns:a16="http://schemas.microsoft.com/office/drawing/2014/main" id="{DFB67E58-3C2B-4764-A4BA-2D7264AC79CD}"/>
              </a:ext>
            </a:extLst>
          </p:cNvPr>
          <p:cNvSpPr>
            <a:spLocks noGrp="1" noRot="1" noChangeAspect="1" noChangeArrowheads="1" noTextEdit="1"/>
          </p:cNvSpPr>
          <p:nvPr>
            <p:ph type="sldImg"/>
          </p:nvPr>
        </p:nvSpPr>
        <p:spPr>
          <a:xfrm>
            <a:off x="412750" y="695325"/>
            <a:ext cx="6176963" cy="3475038"/>
          </a:xfrm>
          <a:ln/>
        </p:spPr>
      </p:sp>
      <p:sp>
        <p:nvSpPr>
          <p:cNvPr id="914435" name="Rectangle 3">
            <a:extLst>
              <a:ext uri="{FF2B5EF4-FFF2-40B4-BE49-F238E27FC236}">
                <a16:creationId xmlns:a16="http://schemas.microsoft.com/office/drawing/2014/main" id="{6425D7E3-D0B5-484B-AAB6-9840E77141A2}"/>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E4B9147-2BA7-490A-AB7E-EF783E728087}"/>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C8E2AF6-F1CA-40F4-9656-D7CABAA866FC}"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3282" name="Rectangle 2">
            <a:extLst>
              <a:ext uri="{FF2B5EF4-FFF2-40B4-BE49-F238E27FC236}">
                <a16:creationId xmlns:a16="http://schemas.microsoft.com/office/drawing/2014/main" id="{D9A52F1A-B7CC-4674-BD81-55A00A4F7F8D}"/>
              </a:ext>
            </a:extLst>
          </p:cNvPr>
          <p:cNvSpPr>
            <a:spLocks noGrp="1" noRot="1" noChangeAspect="1" noChangeArrowheads="1" noTextEdit="1"/>
          </p:cNvSpPr>
          <p:nvPr>
            <p:ph type="sldImg"/>
          </p:nvPr>
        </p:nvSpPr>
        <p:spPr>
          <a:xfrm>
            <a:off x="412750" y="695325"/>
            <a:ext cx="6176963" cy="3475038"/>
          </a:xfrm>
          <a:ln/>
        </p:spPr>
      </p:sp>
      <p:sp>
        <p:nvSpPr>
          <p:cNvPr id="993283" name="Rectangle 3">
            <a:extLst>
              <a:ext uri="{FF2B5EF4-FFF2-40B4-BE49-F238E27FC236}">
                <a16:creationId xmlns:a16="http://schemas.microsoft.com/office/drawing/2014/main" id="{D6EAB2D4-8693-4223-BCA5-9A2F1911B44B}"/>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213B345-B4E9-4697-B559-2937485EB646}"/>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3521DF4-B527-45CA-8E13-09753E9406CF}"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1474" name="Rectangle 2">
            <a:extLst>
              <a:ext uri="{FF2B5EF4-FFF2-40B4-BE49-F238E27FC236}">
                <a16:creationId xmlns:a16="http://schemas.microsoft.com/office/drawing/2014/main" id="{BF23640C-8DED-43C2-BCBC-8B527F913CA2}"/>
              </a:ext>
            </a:extLst>
          </p:cNvPr>
          <p:cNvSpPr>
            <a:spLocks noGrp="1" noRot="1" noChangeAspect="1" noChangeArrowheads="1" noTextEdit="1"/>
          </p:cNvSpPr>
          <p:nvPr>
            <p:ph type="sldImg"/>
          </p:nvPr>
        </p:nvSpPr>
        <p:spPr>
          <a:xfrm>
            <a:off x="412750" y="695325"/>
            <a:ext cx="6176963" cy="3475038"/>
          </a:xfrm>
          <a:ln/>
        </p:spPr>
      </p:sp>
      <p:sp>
        <p:nvSpPr>
          <p:cNvPr id="1001475" name="Rectangle 3">
            <a:extLst>
              <a:ext uri="{FF2B5EF4-FFF2-40B4-BE49-F238E27FC236}">
                <a16:creationId xmlns:a16="http://schemas.microsoft.com/office/drawing/2014/main" id="{28F9AAFA-0879-4AD2-9B51-75326C4165A0}"/>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ADD36E5-2730-46A7-8A4E-10BD8B7BCFFE}"/>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71C94F-1F85-4717-BB69-6BC3A49313ED}"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6482" name="Rectangle 2">
            <a:extLst>
              <a:ext uri="{FF2B5EF4-FFF2-40B4-BE49-F238E27FC236}">
                <a16:creationId xmlns:a16="http://schemas.microsoft.com/office/drawing/2014/main" id="{F068B2A6-4C53-40DA-A345-603ADB80267D}"/>
              </a:ext>
            </a:extLst>
          </p:cNvPr>
          <p:cNvSpPr>
            <a:spLocks noGrp="1" noRot="1" noChangeAspect="1" noChangeArrowheads="1" noTextEdit="1"/>
          </p:cNvSpPr>
          <p:nvPr>
            <p:ph type="sldImg"/>
          </p:nvPr>
        </p:nvSpPr>
        <p:spPr>
          <a:xfrm>
            <a:off x="412750" y="695325"/>
            <a:ext cx="6176963" cy="3475038"/>
          </a:xfrm>
          <a:ln/>
        </p:spPr>
      </p:sp>
      <p:sp>
        <p:nvSpPr>
          <p:cNvPr id="916483" name="Rectangle 3">
            <a:extLst>
              <a:ext uri="{FF2B5EF4-FFF2-40B4-BE49-F238E27FC236}">
                <a16:creationId xmlns:a16="http://schemas.microsoft.com/office/drawing/2014/main" id="{DBD3B1F1-4B97-4D47-9801-7AC8A7033B3B}"/>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C8BE8D9-AA96-4EF3-97E1-E33351877B9C}"/>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C7C5D2-6E38-4D89-94E9-69BAFDBB4652}"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8530" name="Rectangle 2">
            <a:extLst>
              <a:ext uri="{FF2B5EF4-FFF2-40B4-BE49-F238E27FC236}">
                <a16:creationId xmlns:a16="http://schemas.microsoft.com/office/drawing/2014/main" id="{CA3AC739-F855-4497-AE05-C84145F76D21}"/>
              </a:ext>
            </a:extLst>
          </p:cNvPr>
          <p:cNvSpPr>
            <a:spLocks noGrp="1" noRot="1" noChangeAspect="1" noChangeArrowheads="1" noTextEdit="1"/>
          </p:cNvSpPr>
          <p:nvPr>
            <p:ph type="sldImg"/>
          </p:nvPr>
        </p:nvSpPr>
        <p:spPr>
          <a:xfrm>
            <a:off x="412750" y="695325"/>
            <a:ext cx="6176963" cy="3475038"/>
          </a:xfrm>
          <a:ln/>
        </p:spPr>
      </p:sp>
      <p:sp>
        <p:nvSpPr>
          <p:cNvPr id="918531" name="Rectangle 3">
            <a:extLst>
              <a:ext uri="{FF2B5EF4-FFF2-40B4-BE49-F238E27FC236}">
                <a16:creationId xmlns:a16="http://schemas.microsoft.com/office/drawing/2014/main" id="{E45D896E-18DA-4F57-8AB4-B7B2CFDF41DD}"/>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69370DC-AECB-43B4-8E1F-0285CA1D3D16}"/>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14A58C-28CC-4FAC-BDC0-4F5DBB69C421}"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112</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0578" name="Rectangle 2">
            <a:extLst>
              <a:ext uri="{FF2B5EF4-FFF2-40B4-BE49-F238E27FC236}">
                <a16:creationId xmlns:a16="http://schemas.microsoft.com/office/drawing/2014/main" id="{69B6B942-883A-45D1-A29C-4DFCE3B09246}"/>
              </a:ext>
            </a:extLst>
          </p:cNvPr>
          <p:cNvSpPr>
            <a:spLocks noGrp="1" noRot="1" noChangeAspect="1" noChangeArrowheads="1" noTextEdit="1"/>
          </p:cNvSpPr>
          <p:nvPr>
            <p:ph type="sldImg"/>
          </p:nvPr>
        </p:nvSpPr>
        <p:spPr>
          <a:xfrm>
            <a:off x="412750" y="695325"/>
            <a:ext cx="6176963" cy="3475038"/>
          </a:xfrm>
          <a:ln/>
        </p:spPr>
      </p:sp>
      <p:sp>
        <p:nvSpPr>
          <p:cNvPr id="920579" name="Rectangle 3">
            <a:extLst>
              <a:ext uri="{FF2B5EF4-FFF2-40B4-BE49-F238E27FC236}">
                <a16:creationId xmlns:a16="http://schemas.microsoft.com/office/drawing/2014/main" id="{5701EC71-76C8-46F8-9C76-EA8001D45DE5}"/>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F145FA8-EDF4-4BDE-9A78-317AEAE3D4D0}"/>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59098C-CFE7-4671-B188-B0A04DD8097A}"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2626" name="Rectangle 2">
            <a:extLst>
              <a:ext uri="{FF2B5EF4-FFF2-40B4-BE49-F238E27FC236}">
                <a16:creationId xmlns:a16="http://schemas.microsoft.com/office/drawing/2014/main" id="{18320F6A-7F83-4494-A804-5491D9527D7D}"/>
              </a:ext>
            </a:extLst>
          </p:cNvPr>
          <p:cNvSpPr>
            <a:spLocks noGrp="1" noRot="1" noChangeAspect="1" noChangeArrowheads="1" noTextEdit="1"/>
          </p:cNvSpPr>
          <p:nvPr>
            <p:ph type="sldImg"/>
          </p:nvPr>
        </p:nvSpPr>
        <p:spPr>
          <a:xfrm>
            <a:off x="412750" y="695325"/>
            <a:ext cx="6176963" cy="3475038"/>
          </a:xfrm>
          <a:ln/>
        </p:spPr>
      </p:sp>
      <p:sp>
        <p:nvSpPr>
          <p:cNvPr id="922627" name="Rectangle 3">
            <a:extLst>
              <a:ext uri="{FF2B5EF4-FFF2-40B4-BE49-F238E27FC236}">
                <a16:creationId xmlns:a16="http://schemas.microsoft.com/office/drawing/2014/main" id="{2E726646-7FE5-45AF-9A3D-2511268D7FF6}"/>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96A5270-0AB7-4C72-8A89-312DD68667CD}"/>
              </a:ext>
            </a:extLst>
          </p:cNvPr>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1112A4F-68BF-4FBC-8FCA-85D9290A2728}" type="slidenum">
              <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en-US" alt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4674" name="Rectangle 2">
            <a:extLst>
              <a:ext uri="{FF2B5EF4-FFF2-40B4-BE49-F238E27FC236}">
                <a16:creationId xmlns:a16="http://schemas.microsoft.com/office/drawing/2014/main" id="{DCBCB85D-CF06-4CA9-8F89-AA462C1F0EA5}"/>
              </a:ext>
            </a:extLst>
          </p:cNvPr>
          <p:cNvSpPr>
            <a:spLocks noGrp="1" noRot="1" noChangeAspect="1" noChangeArrowheads="1" noTextEdit="1"/>
          </p:cNvSpPr>
          <p:nvPr>
            <p:ph type="sldImg"/>
          </p:nvPr>
        </p:nvSpPr>
        <p:spPr>
          <a:xfrm>
            <a:off x="412750" y="695325"/>
            <a:ext cx="6176963" cy="3475038"/>
          </a:xfrm>
          <a:ln/>
        </p:spPr>
      </p:sp>
      <p:sp>
        <p:nvSpPr>
          <p:cNvPr id="924675" name="Rectangle 3">
            <a:extLst>
              <a:ext uri="{FF2B5EF4-FFF2-40B4-BE49-F238E27FC236}">
                <a16:creationId xmlns:a16="http://schemas.microsoft.com/office/drawing/2014/main" id="{A8945A2E-627B-4E05-A41A-7E21C4274C15}"/>
              </a:ext>
            </a:extLst>
          </p:cNvPr>
          <p:cNvSpPr>
            <a:spLocks noGrp="1" noChangeArrowheads="1"/>
          </p:cNvSpPr>
          <p:nvPr>
            <p:ph type="body" idx="1"/>
          </p:nvPr>
        </p:nvSpPr>
        <p:spPr>
          <a:xfrm>
            <a:off x="931863" y="4402138"/>
            <a:ext cx="5133975" cy="4173537"/>
          </a:xfrm>
        </p:spPr>
        <p:txBody>
          <a:bodyPr lIns="91394" tIns="45696" rIns="91394" bIns="45696"/>
          <a:lstStyle/>
          <a:p>
            <a:endParaRPr lang="es-MX" altLang="es-MX"/>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¿Qué elementos consideran los estudiantes que incidieron en la supervivencia en el </a:t>
            </a:r>
            <a:r>
              <a:rPr lang="es-MX" dirty="0" err="1"/>
              <a:t>titanic</a:t>
            </a:r>
            <a:r>
              <a:rPr lang="es-MX" dirty="0"/>
              <a:t>?</a:t>
            </a:r>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D97376-D8C0-4629-8121-E8697B6104C4}"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59996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¿Qué elementos consideran los estudiantes que incidieron en la supervivencia en el </a:t>
            </a:r>
            <a:r>
              <a:rPr lang="es-MX" dirty="0" err="1"/>
              <a:t>titanic</a:t>
            </a:r>
            <a:r>
              <a:rPr lang="es-MX" dirty="0"/>
              <a:t>?</a:t>
            </a:r>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D97376-D8C0-4629-8121-E8697B6104C4}"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119</a:t>
            </a:fld>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736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B5952E-3648-4D60-ABE3-B52DFDE3980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D5786C8B-CA26-47E0-B94D-E4E497B4DA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70A6E5C8-305C-4295-BC93-81D338FC063E}"/>
              </a:ext>
            </a:extLst>
          </p:cNvPr>
          <p:cNvSpPr>
            <a:spLocks noGrp="1"/>
          </p:cNvSpPr>
          <p:nvPr>
            <p:ph type="dt" sz="half" idx="10"/>
          </p:nvPr>
        </p:nvSpPr>
        <p:spPr/>
        <p:txBody>
          <a:bodyPr/>
          <a:lstStyle/>
          <a:p>
            <a:fld id="{CDB0EA7E-DC41-4A62-9388-03659E503108}" type="datetimeFigureOut">
              <a:rPr lang="es-MX" smtClean="0"/>
              <a:t>24/06/2024</a:t>
            </a:fld>
            <a:endParaRPr lang="es-MX"/>
          </a:p>
        </p:txBody>
      </p:sp>
      <p:sp>
        <p:nvSpPr>
          <p:cNvPr id="5" name="Marcador de pie de página 4">
            <a:extLst>
              <a:ext uri="{FF2B5EF4-FFF2-40B4-BE49-F238E27FC236}">
                <a16:creationId xmlns:a16="http://schemas.microsoft.com/office/drawing/2014/main" id="{8ACA969A-0362-499A-AE85-B7BB24AAE63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A6591FB-F23D-4510-8DDC-E7E184CD622A}"/>
              </a:ext>
            </a:extLst>
          </p:cNvPr>
          <p:cNvSpPr>
            <a:spLocks noGrp="1"/>
          </p:cNvSpPr>
          <p:nvPr>
            <p:ph type="sldNum" sz="quarter" idx="12"/>
          </p:nvPr>
        </p:nvSpPr>
        <p:spPr/>
        <p:txBody>
          <a:bodyPr/>
          <a:lstStyle/>
          <a:p>
            <a:fld id="{64DE2535-ED24-428D-964B-FA17294D97CB}" type="slidenum">
              <a:rPr lang="es-MX" smtClean="0"/>
              <a:t>‹Nº›</a:t>
            </a:fld>
            <a:endParaRPr lang="es-MX"/>
          </a:p>
        </p:txBody>
      </p:sp>
    </p:spTree>
    <p:extLst>
      <p:ext uri="{BB962C8B-B14F-4D97-AF65-F5344CB8AC3E}">
        <p14:creationId xmlns:p14="http://schemas.microsoft.com/office/powerpoint/2010/main" val="2940828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51F74F-7E76-495A-8225-9715FA8095E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CA2992C1-EAB5-4332-B8D1-BC9A56FCB4B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486CAB3-51A0-48EB-84E9-0D940F2B69D3}"/>
              </a:ext>
            </a:extLst>
          </p:cNvPr>
          <p:cNvSpPr>
            <a:spLocks noGrp="1"/>
          </p:cNvSpPr>
          <p:nvPr>
            <p:ph type="dt" sz="half" idx="10"/>
          </p:nvPr>
        </p:nvSpPr>
        <p:spPr/>
        <p:txBody>
          <a:bodyPr/>
          <a:lstStyle/>
          <a:p>
            <a:fld id="{CDB0EA7E-DC41-4A62-9388-03659E503108}" type="datetimeFigureOut">
              <a:rPr lang="es-MX" smtClean="0"/>
              <a:t>24/06/2024</a:t>
            </a:fld>
            <a:endParaRPr lang="es-MX"/>
          </a:p>
        </p:txBody>
      </p:sp>
      <p:sp>
        <p:nvSpPr>
          <p:cNvPr id="5" name="Marcador de pie de página 4">
            <a:extLst>
              <a:ext uri="{FF2B5EF4-FFF2-40B4-BE49-F238E27FC236}">
                <a16:creationId xmlns:a16="http://schemas.microsoft.com/office/drawing/2014/main" id="{FD3DE6DB-8B1B-4A0D-AD14-32E1DA7887B9}"/>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9033DB2-BB71-4D6F-BE98-41E269DFE0AA}"/>
              </a:ext>
            </a:extLst>
          </p:cNvPr>
          <p:cNvSpPr>
            <a:spLocks noGrp="1"/>
          </p:cNvSpPr>
          <p:nvPr>
            <p:ph type="sldNum" sz="quarter" idx="12"/>
          </p:nvPr>
        </p:nvSpPr>
        <p:spPr/>
        <p:txBody>
          <a:bodyPr/>
          <a:lstStyle/>
          <a:p>
            <a:fld id="{64DE2535-ED24-428D-964B-FA17294D97CB}" type="slidenum">
              <a:rPr lang="es-MX" smtClean="0"/>
              <a:t>‹Nº›</a:t>
            </a:fld>
            <a:endParaRPr lang="es-MX"/>
          </a:p>
        </p:txBody>
      </p:sp>
    </p:spTree>
    <p:extLst>
      <p:ext uri="{BB962C8B-B14F-4D97-AF65-F5344CB8AC3E}">
        <p14:creationId xmlns:p14="http://schemas.microsoft.com/office/powerpoint/2010/main" val="1064363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9162C9-C638-438A-A642-5AC8C90D158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C074686-D983-473D-8EC1-064DB3095F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BDE0219-3188-4C9B-B758-11D1D076F465}"/>
              </a:ext>
            </a:extLst>
          </p:cNvPr>
          <p:cNvSpPr>
            <a:spLocks noGrp="1"/>
          </p:cNvSpPr>
          <p:nvPr>
            <p:ph type="dt" sz="half" idx="10"/>
          </p:nvPr>
        </p:nvSpPr>
        <p:spPr/>
        <p:txBody>
          <a:bodyPr/>
          <a:lstStyle/>
          <a:p>
            <a:fld id="{CDB0EA7E-DC41-4A62-9388-03659E503108}" type="datetimeFigureOut">
              <a:rPr lang="es-MX" smtClean="0"/>
              <a:t>24/06/2024</a:t>
            </a:fld>
            <a:endParaRPr lang="es-MX"/>
          </a:p>
        </p:txBody>
      </p:sp>
      <p:sp>
        <p:nvSpPr>
          <p:cNvPr id="5" name="Marcador de pie de página 4">
            <a:extLst>
              <a:ext uri="{FF2B5EF4-FFF2-40B4-BE49-F238E27FC236}">
                <a16:creationId xmlns:a16="http://schemas.microsoft.com/office/drawing/2014/main" id="{F85F42DD-3A1D-4CEB-8558-0EC139E1029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504EEFA-7CD5-480D-9FD1-9B3AA94A9639}"/>
              </a:ext>
            </a:extLst>
          </p:cNvPr>
          <p:cNvSpPr>
            <a:spLocks noGrp="1"/>
          </p:cNvSpPr>
          <p:nvPr>
            <p:ph type="sldNum" sz="quarter" idx="12"/>
          </p:nvPr>
        </p:nvSpPr>
        <p:spPr/>
        <p:txBody>
          <a:bodyPr/>
          <a:lstStyle/>
          <a:p>
            <a:fld id="{64DE2535-ED24-428D-964B-FA17294D97CB}" type="slidenum">
              <a:rPr lang="es-MX" smtClean="0"/>
              <a:t>‹Nº›</a:t>
            </a:fld>
            <a:endParaRPr lang="es-MX"/>
          </a:p>
        </p:txBody>
      </p:sp>
    </p:spTree>
    <p:extLst>
      <p:ext uri="{BB962C8B-B14F-4D97-AF65-F5344CB8AC3E}">
        <p14:creationId xmlns:p14="http://schemas.microsoft.com/office/powerpoint/2010/main" val="2963730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6E1D80-AAC3-4DE9-B267-1FA2433BE1B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948CA72-9CB0-42CC-B68F-BB0F0FD547FB}"/>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84B65B3D-19F5-4F46-B9E9-56D87C4793A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0A1E863C-BD62-4422-92AC-DC9AD47F6512}"/>
              </a:ext>
            </a:extLst>
          </p:cNvPr>
          <p:cNvSpPr>
            <a:spLocks noGrp="1"/>
          </p:cNvSpPr>
          <p:nvPr>
            <p:ph type="dt" sz="half" idx="10"/>
          </p:nvPr>
        </p:nvSpPr>
        <p:spPr/>
        <p:txBody>
          <a:bodyPr/>
          <a:lstStyle/>
          <a:p>
            <a:fld id="{CDB0EA7E-DC41-4A62-9388-03659E503108}" type="datetimeFigureOut">
              <a:rPr lang="es-MX" smtClean="0"/>
              <a:t>24/06/2024</a:t>
            </a:fld>
            <a:endParaRPr lang="es-MX"/>
          </a:p>
        </p:txBody>
      </p:sp>
      <p:sp>
        <p:nvSpPr>
          <p:cNvPr id="6" name="Marcador de pie de página 5">
            <a:extLst>
              <a:ext uri="{FF2B5EF4-FFF2-40B4-BE49-F238E27FC236}">
                <a16:creationId xmlns:a16="http://schemas.microsoft.com/office/drawing/2014/main" id="{C2AEC2D9-4346-47F5-BA2E-E62B5BAF6FD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6CEAC99-F048-4C33-A4AC-C62C31843162}"/>
              </a:ext>
            </a:extLst>
          </p:cNvPr>
          <p:cNvSpPr>
            <a:spLocks noGrp="1"/>
          </p:cNvSpPr>
          <p:nvPr>
            <p:ph type="sldNum" sz="quarter" idx="12"/>
          </p:nvPr>
        </p:nvSpPr>
        <p:spPr/>
        <p:txBody>
          <a:bodyPr/>
          <a:lstStyle/>
          <a:p>
            <a:fld id="{64DE2535-ED24-428D-964B-FA17294D97CB}" type="slidenum">
              <a:rPr lang="es-MX" smtClean="0"/>
              <a:t>‹Nº›</a:t>
            </a:fld>
            <a:endParaRPr lang="es-MX"/>
          </a:p>
        </p:txBody>
      </p:sp>
    </p:spTree>
    <p:extLst>
      <p:ext uri="{BB962C8B-B14F-4D97-AF65-F5344CB8AC3E}">
        <p14:creationId xmlns:p14="http://schemas.microsoft.com/office/powerpoint/2010/main" val="670658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BA606F-5F6C-4726-9309-D252FCD6B22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C5DB5519-A5D4-49B1-AB00-C75DC5A83E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266267A-256E-4B70-8B33-2603154C9C9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5BFC591F-CEC5-488B-8778-9B8C19918C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354E8A1-BFB5-4911-81C0-F8AA1C5E0DCB}"/>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EEF2B68A-693C-4FD4-BD7C-754A226912EB}"/>
              </a:ext>
            </a:extLst>
          </p:cNvPr>
          <p:cNvSpPr>
            <a:spLocks noGrp="1"/>
          </p:cNvSpPr>
          <p:nvPr>
            <p:ph type="dt" sz="half" idx="10"/>
          </p:nvPr>
        </p:nvSpPr>
        <p:spPr/>
        <p:txBody>
          <a:bodyPr/>
          <a:lstStyle/>
          <a:p>
            <a:fld id="{CDB0EA7E-DC41-4A62-9388-03659E503108}" type="datetimeFigureOut">
              <a:rPr lang="es-MX" smtClean="0"/>
              <a:t>24/06/2024</a:t>
            </a:fld>
            <a:endParaRPr lang="es-MX"/>
          </a:p>
        </p:txBody>
      </p:sp>
      <p:sp>
        <p:nvSpPr>
          <p:cNvPr id="8" name="Marcador de pie de página 7">
            <a:extLst>
              <a:ext uri="{FF2B5EF4-FFF2-40B4-BE49-F238E27FC236}">
                <a16:creationId xmlns:a16="http://schemas.microsoft.com/office/drawing/2014/main" id="{53ECEB82-0083-4F93-9F45-C60F4B04347B}"/>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B7A7522E-9683-4F6E-9045-ADF44A333EA5}"/>
              </a:ext>
            </a:extLst>
          </p:cNvPr>
          <p:cNvSpPr>
            <a:spLocks noGrp="1"/>
          </p:cNvSpPr>
          <p:nvPr>
            <p:ph type="sldNum" sz="quarter" idx="12"/>
          </p:nvPr>
        </p:nvSpPr>
        <p:spPr/>
        <p:txBody>
          <a:bodyPr/>
          <a:lstStyle/>
          <a:p>
            <a:fld id="{64DE2535-ED24-428D-964B-FA17294D97CB}" type="slidenum">
              <a:rPr lang="es-MX" smtClean="0"/>
              <a:t>‹Nº›</a:t>
            </a:fld>
            <a:endParaRPr lang="es-MX"/>
          </a:p>
        </p:txBody>
      </p:sp>
    </p:spTree>
    <p:extLst>
      <p:ext uri="{BB962C8B-B14F-4D97-AF65-F5344CB8AC3E}">
        <p14:creationId xmlns:p14="http://schemas.microsoft.com/office/powerpoint/2010/main" val="611990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2BACCE-2D63-4DED-AE60-2528B7CB5D5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0641B5A8-E49A-4B91-8120-FFCA8F65B5E9}"/>
              </a:ext>
            </a:extLst>
          </p:cNvPr>
          <p:cNvSpPr>
            <a:spLocks noGrp="1"/>
          </p:cNvSpPr>
          <p:nvPr>
            <p:ph type="dt" sz="half" idx="10"/>
          </p:nvPr>
        </p:nvSpPr>
        <p:spPr/>
        <p:txBody>
          <a:bodyPr/>
          <a:lstStyle/>
          <a:p>
            <a:fld id="{CDB0EA7E-DC41-4A62-9388-03659E503108}" type="datetimeFigureOut">
              <a:rPr lang="es-MX" smtClean="0"/>
              <a:t>24/06/2024</a:t>
            </a:fld>
            <a:endParaRPr lang="es-MX"/>
          </a:p>
        </p:txBody>
      </p:sp>
      <p:sp>
        <p:nvSpPr>
          <p:cNvPr id="4" name="Marcador de pie de página 3">
            <a:extLst>
              <a:ext uri="{FF2B5EF4-FFF2-40B4-BE49-F238E27FC236}">
                <a16:creationId xmlns:a16="http://schemas.microsoft.com/office/drawing/2014/main" id="{A46B64D1-8174-486F-9966-FB36F526379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3D68160-59AD-4DD1-9226-A4D8EE06B8B3}"/>
              </a:ext>
            </a:extLst>
          </p:cNvPr>
          <p:cNvSpPr>
            <a:spLocks noGrp="1"/>
          </p:cNvSpPr>
          <p:nvPr>
            <p:ph type="sldNum" sz="quarter" idx="12"/>
          </p:nvPr>
        </p:nvSpPr>
        <p:spPr/>
        <p:txBody>
          <a:bodyPr/>
          <a:lstStyle/>
          <a:p>
            <a:fld id="{64DE2535-ED24-428D-964B-FA17294D97CB}" type="slidenum">
              <a:rPr lang="es-MX" smtClean="0"/>
              <a:t>‹Nº›</a:t>
            </a:fld>
            <a:endParaRPr lang="es-MX"/>
          </a:p>
        </p:txBody>
      </p:sp>
    </p:spTree>
    <p:extLst>
      <p:ext uri="{BB962C8B-B14F-4D97-AF65-F5344CB8AC3E}">
        <p14:creationId xmlns:p14="http://schemas.microsoft.com/office/powerpoint/2010/main" val="2571061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6973D39-2062-46BD-ADD3-6F9FC57E7A2B}"/>
              </a:ext>
            </a:extLst>
          </p:cNvPr>
          <p:cNvSpPr>
            <a:spLocks noGrp="1"/>
          </p:cNvSpPr>
          <p:nvPr>
            <p:ph type="dt" sz="half" idx="10"/>
          </p:nvPr>
        </p:nvSpPr>
        <p:spPr/>
        <p:txBody>
          <a:bodyPr/>
          <a:lstStyle/>
          <a:p>
            <a:fld id="{CDB0EA7E-DC41-4A62-9388-03659E503108}" type="datetimeFigureOut">
              <a:rPr lang="es-MX" smtClean="0"/>
              <a:t>24/06/2024</a:t>
            </a:fld>
            <a:endParaRPr lang="es-MX"/>
          </a:p>
        </p:txBody>
      </p:sp>
      <p:sp>
        <p:nvSpPr>
          <p:cNvPr id="3" name="Marcador de pie de página 2">
            <a:extLst>
              <a:ext uri="{FF2B5EF4-FFF2-40B4-BE49-F238E27FC236}">
                <a16:creationId xmlns:a16="http://schemas.microsoft.com/office/drawing/2014/main" id="{B3BD17A0-A17D-4F1B-B445-DE8B25C6908B}"/>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9FBA079-41C1-4883-9AF8-B292E8C5708C}"/>
              </a:ext>
            </a:extLst>
          </p:cNvPr>
          <p:cNvSpPr>
            <a:spLocks noGrp="1"/>
          </p:cNvSpPr>
          <p:nvPr>
            <p:ph type="sldNum" sz="quarter" idx="12"/>
          </p:nvPr>
        </p:nvSpPr>
        <p:spPr/>
        <p:txBody>
          <a:bodyPr/>
          <a:lstStyle/>
          <a:p>
            <a:fld id="{64DE2535-ED24-428D-964B-FA17294D97CB}" type="slidenum">
              <a:rPr lang="es-MX" smtClean="0"/>
              <a:t>‹Nº›</a:t>
            </a:fld>
            <a:endParaRPr lang="es-MX"/>
          </a:p>
        </p:txBody>
      </p:sp>
    </p:spTree>
    <p:extLst>
      <p:ext uri="{BB962C8B-B14F-4D97-AF65-F5344CB8AC3E}">
        <p14:creationId xmlns:p14="http://schemas.microsoft.com/office/powerpoint/2010/main" val="2073627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91BA0D-10D8-4D1C-8411-D2DE8EFD240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F6CA0EE1-5747-4B87-B8A4-BF19673800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5740AB19-E7DC-4BAE-A8D9-85E800D268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A2ED066-3DB3-48CE-8F48-CE2911A3D42E}"/>
              </a:ext>
            </a:extLst>
          </p:cNvPr>
          <p:cNvSpPr>
            <a:spLocks noGrp="1"/>
          </p:cNvSpPr>
          <p:nvPr>
            <p:ph type="dt" sz="half" idx="10"/>
          </p:nvPr>
        </p:nvSpPr>
        <p:spPr/>
        <p:txBody>
          <a:bodyPr/>
          <a:lstStyle/>
          <a:p>
            <a:fld id="{CDB0EA7E-DC41-4A62-9388-03659E503108}" type="datetimeFigureOut">
              <a:rPr lang="es-MX" smtClean="0"/>
              <a:t>24/06/2024</a:t>
            </a:fld>
            <a:endParaRPr lang="es-MX"/>
          </a:p>
        </p:txBody>
      </p:sp>
      <p:sp>
        <p:nvSpPr>
          <p:cNvPr id="6" name="Marcador de pie de página 5">
            <a:extLst>
              <a:ext uri="{FF2B5EF4-FFF2-40B4-BE49-F238E27FC236}">
                <a16:creationId xmlns:a16="http://schemas.microsoft.com/office/drawing/2014/main" id="{8E3B4F2F-6BE4-498F-A3C5-2F1924A2D9E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807452F-BB1A-4077-8260-9513E3D4B164}"/>
              </a:ext>
            </a:extLst>
          </p:cNvPr>
          <p:cNvSpPr>
            <a:spLocks noGrp="1"/>
          </p:cNvSpPr>
          <p:nvPr>
            <p:ph type="sldNum" sz="quarter" idx="12"/>
          </p:nvPr>
        </p:nvSpPr>
        <p:spPr/>
        <p:txBody>
          <a:bodyPr/>
          <a:lstStyle/>
          <a:p>
            <a:fld id="{64DE2535-ED24-428D-964B-FA17294D97CB}" type="slidenum">
              <a:rPr lang="es-MX" smtClean="0"/>
              <a:t>‹Nº›</a:t>
            </a:fld>
            <a:endParaRPr lang="es-MX"/>
          </a:p>
        </p:txBody>
      </p:sp>
    </p:spTree>
    <p:extLst>
      <p:ext uri="{BB962C8B-B14F-4D97-AF65-F5344CB8AC3E}">
        <p14:creationId xmlns:p14="http://schemas.microsoft.com/office/powerpoint/2010/main" val="766413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82944B-89A4-4951-B49E-0F550EB1FDF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F913E4F2-B8AE-4317-8166-48F30E1CE5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A868F468-98A4-43A1-AA59-4D2FCA0AA4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2CDEAD6-5319-4D51-B30B-1B7B258DFF04}"/>
              </a:ext>
            </a:extLst>
          </p:cNvPr>
          <p:cNvSpPr>
            <a:spLocks noGrp="1"/>
          </p:cNvSpPr>
          <p:nvPr>
            <p:ph type="dt" sz="half" idx="10"/>
          </p:nvPr>
        </p:nvSpPr>
        <p:spPr/>
        <p:txBody>
          <a:bodyPr/>
          <a:lstStyle/>
          <a:p>
            <a:fld id="{CDB0EA7E-DC41-4A62-9388-03659E503108}" type="datetimeFigureOut">
              <a:rPr lang="es-MX" smtClean="0"/>
              <a:t>24/06/2024</a:t>
            </a:fld>
            <a:endParaRPr lang="es-MX"/>
          </a:p>
        </p:txBody>
      </p:sp>
      <p:sp>
        <p:nvSpPr>
          <p:cNvPr id="6" name="Marcador de pie de página 5">
            <a:extLst>
              <a:ext uri="{FF2B5EF4-FFF2-40B4-BE49-F238E27FC236}">
                <a16:creationId xmlns:a16="http://schemas.microsoft.com/office/drawing/2014/main" id="{B13E6218-3595-49A2-BBA7-21D2F2CB8A7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46ADA792-C872-41A5-A894-F7B6F0F0C6FF}"/>
              </a:ext>
            </a:extLst>
          </p:cNvPr>
          <p:cNvSpPr>
            <a:spLocks noGrp="1"/>
          </p:cNvSpPr>
          <p:nvPr>
            <p:ph type="sldNum" sz="quarter" idx="12"/>
          </p:nvPr>
        </p:nvSpPr>
        <p:spPr/>
        <p:txBody>
          <a:bodyPr/>
          <a:lstStyle/>
          <a:p>
            <a:fld id="{64DE2535-ED24-428D-964B-FA17294D97CB}" type="slidenum">
              <a:rPr lang="es-MX" smtClean="0"/>
              <a:t>‹Nº›</a:t>
            </a:fld>
            <a:endParaRPr lang="es-MX"/>
          </a:p>
        </p:txBody>
      </p:sp>
    </p:spTree>
    <p:extLst>
      <p:ext uri="{BB962C8B-B14F-4D97-AF65-F5344CB8AC3E}">
        <p14:creationId xmlns:p14="http://schemas.microsoft.com/office/powerpoint/2010/main" val="19343555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48FCD6-6BC9-4E96-A384-0C66BC8CDD7D}"/>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C08CCDD-B8B8-463D-A4BD-853488F47CA4}"/>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C802484-112B-4D1D-8356-645446EC1237}"/>
              </a:ext>
            </a:extLst>
          </p:cNvPr>
          <p:cNvSpPr>
            <a:spLocks noGrp="1"/>
          </p:cNvSpPr>
          <p:nvPr>
            <p:ph type="dt" sz="half" idx="10"/>
          </p:nvPr>
        </p:nvSpPr>
        <p:spPr/>
        <p:txBody>
          <a:bodyPr/>
          <a:lstStyle/>
          <a:p>
            <a:fld id="{CDB0EA7E-DC41-4A62-9388-03659E503108}" type="datetimeFigureOut">
              <a:rPr lang="es-MX" smtClean="0"/>
              <a:t>24/06/2024</a:t>
            </a:fld>
            <a:endParaRPr lang="es-MX"/>
          </a:p>
        </p:txBody>
      </p:sp>
      <p:sp>
        <p:nvSpPr>
          <p:cNvPr id="5" name="Marcador de pie de página 4">
            <a:extLst>
              <a:ext uri="{FF2B5EF4-FFF2-40B4-BE49-F238E27FC236}">
                <a16:creationId xmlns:a16="http://schemas.microsoft.com/office/drawing/2014/main" id="{71C7112A-6E7A-49A6-BB93-6C5D842AA3B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52E48B6F-9042-4383-A8C3-FB8889E4E646}"/>
              </a:ext>
            </a:extLst>
          </p:cNvPr>
          <p:cNvSpPr>
            <a:spLocks noGrp="1"/>
          </p:cNvSpPr>
          <p:nvPr>
            <p:ph type="sldNum" sz="quarter" idx="12"/>
          </p:nvPr>
        </p:nvSpPr>
        <p:spPr/>
        <p:txBody>
          <a:bodyPr/>
          <a:lstStyle/>
          <a:p>
            <a:fld id="{64DE2535-ED24-428D-964B-FA17294D97CB}" type="slidenum">
              <a:rPr lang="es-MX" smtClean="0"/>
              <a:t>‹Nº›</a:t>
            </a:fld>
            <a:endParaRPr lang="es-MX"/>
          </a:p>
        </p:txBody>
      </p:sp>
    </p:spTree>
    <p:extLst>
      <p:ext uri="{BB962C8B-B14F-4D97-AF65-F5344CB8AC3E}">
        <p14:creationId xmlns:p14="http://schemas.microsoft.com/office/powerpoint/2010/main" val="40976250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5892194-E0DF-46E1-8830-857E543509E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C9AB868-A4C7-4FF6-B10A-07DE49E547D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D0FDD21-CA86-488F-8C2D-55DB7072375C}"/>
              </a:ext>
            </a:extLst>
          </p:cNvPr>
          <p:cNvSpPr>
            <a:spLocks noGrp="1"/>
          </p:cNvSpPr>
          <p:nvPr>
            <p:ph type="dt" sz="half" idx="10"/>
          </p:nvPr>
        </p:nvSpPr>
        <p:spPr/>
        <p:txBody>
          <a:bodyPr/>
          <a:lstStyle/>
          <a:p>
            <a:fld id="{CDB0EA7E-DC41-4A62-9388-03659E503108}" type="datetimeFigureOut">
              <a:rPr lang="es-MX" smtClean="0"/>
              <a:t>24/06/2024</a:t>
            </a:fld>
            <a:endParaRPr lang="es-MX"/>
          </a:p>
        </p:txBody>
      </p:sp>
      <p:sp>
        <p:nvSpPr>
          <p:cNvPr id="5" name="Marcador de pie de página 4">
            <a:extLst>
              <a:ext uri="{FF2B5EF4-FFF2-40B4-BE49-F238E27FC236}">
                <a16:creationId xmlns:a16="http://schemas.microsoft.com/office/drawing/2014/main" id="{325FF66C-BFC0-46F4-8304-7586102FBCA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7C900B8-7B88-4492-866C-CC27D93DA796}"/>
              </a:ext>
            </a:extLst>
          </p:cNvPr>
          <p:cNvSpPr>
            <a:spLocks noGrp="1"/>
          </p:cNvSpPr>
          <p:nvPr>
            <p:ph type="sldNum" sz="quarter" idx="12"/>
          </p:nvPr>
        </p:nvSpPr>
        <p:spPr/>
        <p:txBody>
          <a:bodyPr/>
          <a:lstStyle/>
          <a:p>
            <a:fld id="{64DE2535-ED24-428D-964B-FA17294D97CB}" type="slidenum">
              <a:rPr lang="es-MX" smtClean="0"/>
              <a:t>‹Nº›</a:t>
            </a:fld>
            <a:endParaRPr lang="es-MX"/>
          </a:p>
        </p:txBody>
      </p:sp>
    </p:spTree>
    <p:extLst>
      <p:ext uri="{BB962C8B-B14F-4D97-AF65-F5344CB8AC3E}">
        <p14:creationId xmlns:p14="http://schemas.microsoft.com/office/powerpoint/2010/main" val="33437728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ítulo, texto y 2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618DA1-55C1-4CBB-9F5E-532A757FE900}"/>
              </a:ext>
            </a:extLst>
          </p:cNvPr>
          <p:cNvSpPr>
            <a:spLocks noGrp="1"/>
          </p:cNvSpPr>
          <p:nvPr>
            <p:ph type="title"/>
          </p:nvPr>
        </p:nvSpPr>
        <p:spPr>
          <a:xfrm>
            <a:off x="607485" y="273050"/>
            <a:ext cx="10968567" cy="1143000"/>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ECA03488-F8BA-4CE1-926B-D52E9871BD72}"/>
              </a:ext>
            </a:extLst>
          </p:cNvPr>
          <p:cNvSpPr>
            <a:spLocks noGrp="1"/>
          </p:cNvSpPr>
          <p:nvPr>
            <p:ph type="body" sz="half" idx="1"/>
          </p:nvPr>
        </p:nvSpPr>
        <p:spPr>
          <a:xfrm>
            <a:off x="607484" y="1598613"/>
            <a:ext cx="5382683" cy="44973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5DA2E306-3383-44D5-BDD9-F50CFE3C40AB}"/>
              </a:ext>
            </a:extLst>
          </p:cNvPr>
          <p:cNvSpPr>
            <a:spLocks noGrp="1"/>
          </p:cNvSpPr>
          <p:nvPr>
            <p:ph sz="quarter" idx="2"/>
          </p:nvPr>
        </p:nvSpPr>
        <p:spPr>
          <a:xfrm>
            <a:off x="6193367" y="1598613"/>
            <a:ext cx="5382684" cy="21717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contenido 4">
            <a:extLst>
              <a:ext uri="{FF2B5EF4-FFF2-40B4-BE49-F238E27FC236}">
                <a16:creationId xmlns:a16="http://schemas.microsoft.com/office/drawing/2014/main" id="{99FF35D7-39AB-48D0-BE7C-64B7EBCA98E4}"/>
              </a:ext>
            </a:extLst>
          </p:cNvPr>
          <p:cNvSpPr>
            <a:spLocks noGrp="1"/>
          </p:cNvSpPr>
          <p:nvPr>
            <p:ph sz="quarter" idx="3"/>
          </p:nvPr>
        </p:nvSpPr>
        <p:spPr>
          <a:xfrm>
            <a:off x="6193367" y="3922714"/>
            <a:ext cx="5382684" cy="21732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fecha 5">
            <a:extLst>
              <a:ext uri="{FF2B5EF4-FFF2-40B4-BE49-F238E27FC236}">
                <a16:creationId xmlns:a16="http://schemas.microsoft.com/office/drawing/2014/main" id="{1E03C161-03D8-4A04-831C-7F6497E39404}"/>
              </a:ext>
            </a:extLst>
          </p:cNvPr>
          <p:cNvSpPr>
            <a:spLocks noGrp="1"/>
          </p:cNvSpPr>
          <p:nvPr>
            <p:ph type="dt" sz="half" idx="10"/>
          </p:nvPr>
        </p:nvSpPr>
        <p:spPr>
          <a:xfrm>
            <a:off x="607485" y="6242051"/>
            <a:ext cx="2840567" cy="474663"/>
          </a:xfrm>
        </p:spPr>
        <p:txBody>
          <a:bodyPr/>
          <a:lstStyle>
            <a:lvl1pPr>
              <a:defRPr/>
            </a:lvl1pPr>
          </a:lstStyle>
          <a:p>
            <a:endParaRPr lang="en-US" altLang="es-MX"/>
          </a:p>
        </p:txBody>
      </p:sp>
      <p:sp>
        <p:nvSpPr>
          <p:cNvPr id="7" name="Marcador de pie de página 6">
            <a:extLst>
              <a:ext uri="{FF2B5EF4-FFF2-40B4-BE49-F238E27FC236}">
                <a16:creationId xmlns:a16="http://schemas.microsoft.com/office/drawing/2014/main" id="{769A7886-86A4-4C2F-9C16-E9AC96131402}"/>
              </a:ext>
            </a:extLst>
          </p:cNvPr>
          <p:cNvSpPr>
            <a:spLocks noGrp="1"/>
          </p:cNvSpPr>
          <p:nvPr>
            <p:ph type="ftr" sz="quarter" idx="11"/>
          </p:nvPr>
        </p:nvSpPr>
        <p:spPr>
          <a:xfrm>
            <a:off x="4165600" y="6242051"/>
            <a:ext cx="3860800" cy="474663"/>
          </a:xfrm>
        </p:spPr>
        <p:txBody>
          <a:bodyPr/>
          <a:lstStyle>
            <a:lvl1pPr>
              <a:defRPr/>
            </a:lvl1pPr>
          </a:lstStyle>
          <a:p>
            <a:endParaRPr lang="en-US" altLang="es-MX"/>
          </a:p>
        </p:txBody>
      </p:sp>
      <p:sp>
        <p:nvSpPr>
          <p:cNvPr id="8" name="Marcador de número de diapositiva 7">
            <a:extLst>
              <a:ext uri="{FF2B5EF4-FFF2-40B4-BE49-F238E27FC236}">
                <a16:creationId xmlns:a16="http://schemas.microsoft.com/office/drawing/2014/main" id="{1D30420B-6775-4A27-98AF-FD91923BD8AE}"/>
              </a:ext>
            </a:extLst>
          </p:cNvPr>
          <p:cNvSpPr>
            <a:spLocks noGrp="1"/>
          </p:cNvSpPr>
          <p:nvPr>
            <p:ph type="sldNum" sz="quarter" idx="12"/>
          </p:nvPr>
        </p:nvSpPr>
        <p:spPr>
          <a:xfrm>
            <a:off x="8737601" y="6242051"/>
            <a:ext cx="2840567" cy="474663"/>
          </a:xfrm>
        </p:spPr>
        <p:txBody>
          <a:bodyPr/>
          <a:lstStyle>
            <a:lvl1pPr>
              <a:defRPr/>
            </a:lvl1pPr>
          </a:lstStyle>
          <a:p>
            <a:fld id="{C926A833-F0BA-476C-9BDE-5EA6E6FD3E15}" type="slidenum">
              <a:rPr lang="en-US" altLang="es-MX"/>
              <a:pPr/>
              <a:t>‹Nº›</a:t>
            </a:fld>
            <a:endParaRPr lang="en-US" altLang="es-MX"/>
          </a:p>
        </p:txBody>
      </p:sp>
    </p:spTree>
    <p:extLst>
      <p:ext uri="{BB962C8B-B14F-4D97-AF65-F5344CB8AC3E}">
        <p14:creationId xmlns:p14="http://schemas.microsoft.com/office/powerpoint/2010/main" val="2702074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E5E4A0-725C-432B-ABC6-5B3E4EBEE728}"/>
              </a:ext>
            </a:extLst>
          </p:cNvPr>
          <p:cNvSpPr>
            <a:spLocks noGrp="1"/>
          </p:cNvSpPr>
          <p:nvPr>
            <p:ph type="title"/>
          </p:nvPr>
        </p:nvSpPr>
        <p:spPr>
          <a:xfrm>
            <a:off x="607485" y="273050"/>
            <a:ext cx="10968567" cy="1143000"/>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C8886A6-FB71-49D4-A757-58A8AA30C681}"/>
              </a:ext>
            </a:extLst>
          </p:cNvPr>
          <p:cNvSpPr>
            <a:spLocks noGrp="1"/>
          </p:cNvSpPr>
          <p:nvPr>
            <p:ph type="body" sz="half" idx="1"/>
          </p:nvPr>
        </p:nvSpPr>
        <p:spPr>
          <a:xfrm>
            <a:off x="607484" y="1598613"/>
            <a:ext cx="5382683" cy="44973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08D46B8B-0ED0-4422-817F-8DB5CCC8734D}"/>
              </a:ext>
            </a:extLst>
          </p:cNvPr>
          <p:cNvSpPr>
            <a:spLocks noGrp="1"/>
          </p:cNvSpPr>
          <p:nvPr>
            <p:ph sz="half" idx="2"/>
          </p:nvPr>
        </p:nvSpPr>
        <p:spPr>
          <a:xfrm>
            <a:off x="6193367" y="1598613"/>
            <a:ext cx="5382684" cy="44973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7D2E0F42-B440-4922-AC0E-7952896047CE}"/>
              </a:ext>
            </a:extLst>
          </p:cNvPr>
          <p:cNvSpPr>
            <a:spLocks noGrp="1"/>
          </p:cNvSpPr>
          <p:nvPr>
            <p:ph type="dt" sz="half" idx="10"/>
          </p:nvPr>
        </p:nvSpPr>
        <p:spPr>
          <a:xfrm>
            <a:off x="607485" y="6242051"/>
            <a:ext cx="2840567" cy="474663"/>
          </a:xfrm>
        </p:spPr>
        <p:txBody>
          <a:bodyPr/>
          <a:lstStyle>
            <a:lvl1pPr>
              <a:defRPr/>
            </a:lvl1pPr>
          </a:lstStyle>
          <a:p>
            <a:endParaRPr lang="en-US" altLang="es-MX"/>
          </a:p>
        </p:txBody>
      </p:sp>
      <p:sp>
        <p:nvSpPr>
          <p:cNvPr id="6" name="Marcador de pie de página 5">
            <a:extLst>
              <a:ext uri="{FF2B5EF4-FFF2-40B4-BE49-F238E27FC236}">
                <a16:creationId xmlns:a16="http://schemas.microsoft.com/office/drawing/2014/main" id="{EEE00B62-4C5D-4557-B1EC-90055EFD7194}"/>
              </a:ext>
            </a:extLst>
          </p:cNvPr>
          <p:cNvSpPr>
            <a:spLocks noGrp="1"/>
          </p:cNvSpPr>
          <p:nvPr>
            <p:ph type="ftr" sz="quarter" idx="11"/>
          </p:nvPr>
        </p:nvSpPr>
        <p:spPr>
          <a:xfrm>
            <a:off x="4165600" y="6242051"/>
            <a:ext cx="3860800" cy="474663"/>
          </a:xfrm>
        </p:spPr>
        <p:txBody>
          <a:bodyPr/>
          <a:lstStyle>
            <a:lvl1pPr>
              <a:defRPr/>
            </a:lvl1pPr>
          </a:lstStyle>
          <a:p>
            <a:endParaRPr lang="en-US" altLang="es-MX"/>
          </a:p>
        </p:txBody>
      </p:sp>
      <p:sp>
        <p:nvSpPr>
          <p:cNvPr id="7" name="Marcador de número de diapositiva 6">
            <a:extLst>
              <a:ext uri="{FF2B5EF4-FFF2-40B4-BE49-F238E27FC236}">
                <a16:creationId xmlns:a16="http://schemas.microsoft.com/office/drawing/2014/main" id="{34D02CBF-7536-47E5-AF6C-873BB1B904D8}"/>
              </a:ext>
            </a:extLst>
          </p:cNvPr>
          <p:cNvSpPr>
            <a:spLocks noGrp="1"/>
          </p:cNvSpPr>
          <p:nvPr>
            <p:ph type="sldNum" sz="quarter" idx="12"/>
          </p:nvPr>
        </p:nvSpPr>
        <p:spPr>
          <a:xfrm>
            <a:off x="8737601" y="6242051"/>
            <a:ext cx="2840567" cy="474663"/>
          </a:xfrm>
        </p:spPr>
        <p:txBody>
          <a:bodyPr/>
          <a:lstStyle>
            <a:lvl1pPr>
              <a:defRPr/>
            </a:lvl1pPr>
          </a:lstStyle>
          <a:p>
            <a:fld id="{F6FFB243-CBFF-4569-8A10-413AB026EF97}" type="slidenum">
              <a:rPr lang="en-US" altLang="es-MX"/>
              <a:pPr/>
              <a:t>‹Nº›</a:t>
            </a:fld>
            <a:endParaRPr lang="en-US" altLang="es-MX"/>
          </a:p>
        </p:txBody>
      </p:sp>
    </p:spTree>
    <p:extLst>
      <p:ext uri="{BB962C8B-B14F-4D97-AF65-F5344CB8AC3E}">
        <p14:creationId xmlns:p14="http://schemas.microsoft.com/office/powerpoint/2010/main" val="3894825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cSld name="Título y 4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F12972-DD37-45F9-BB98-D9E191FD684F}"/>
              </a:ext>
            </a:extLst>
          </p:cNvPr>
          <p:cNvSpPr>
            <a:spLocks noGrp="1"/>
          </p:cNvSpPr>
          <p:nvPr>
            <p:ph type="title" sz="quarter"/>
          </p:nvPr>
        </p:nvSpPr>
        <p:spPr>
          <a:xfrm>
            <a:off x="607485" y="273050"/>
            <a:ext cx="10968567" cy="1143000"/>
          </a:xfrm>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48E165A-2BF4-4D01-894C-558A71D441B0}"/>
              </a:ext>
            </a:extLst>
          </p:cNvPr>
          <p:cNvSpPr>
            <a:spLocks noGrp="1"/>
          </p:cNvSpPr>
          <p:nvPr>
            <p:ph sz="quarter" idx="1"/>
          </p:nvPr>
        </p:nvSpPr>
        <p:spPr>
          <a:xfrm>
            <a:off x="607484" y="1598613"/>
            <a:ext cx="5382683" cy="21717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984154AD-44BD-4985-8FA8-B747D3B5B259}"/>
              </a:ext>
            </a:extLst>
          </p:cNvPr>
          <p:cNvSpPr>
            <a:spLocks noGrp="1"/>
          </p:cNvSpPr>
          <p:nvPr>
            <p:ph sz="quarter" idx="2"/>
          </p:nvPr>
        </p:nvSpPr>
        <p:spPr>
          <a:xfrm>
            <a:off x="6193367" y="1598613"/>
            <a:ext cx="5382684" cy="21717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contenido 4">
            <a:extLst>
              <a:ext uri="{FF2B5EF4-FFF2-40B4-BE49-F238E27FC236}">
                <a16:creationId xmlns:a16="http://schemas.microsoft.com/office/drawing/2014/main" id="{253B8971-2556-4994-866A-24D31742630D}"/>
              </a:ext>
            </a:extLst>
          </p:cNvPr>
          <p:cNvSpPr>
            <a:spLocks noGrp="1"/>
          </p:cNvSpPr>
          <p:nvPr>
            <p:ph sz="quarter" idx="3"/>
          </p:nvPr>
        </p:nvSpPr>
        <p:spPr>
          <a:xfrm>
            <a:off x="607484" y="3922714"/>
            <a:ext cx="5382683" cy="21732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contenido 5">
            <a:extLst>
              <a:ext uri="{FF2B5EF4-FFF2-40B4-BE49-F238E27FC236}">
                <a16:creationId xmlns:a16="http://schemas.microsoft.com/office/drawing/2014/main" id="{23725E7E-43C2-4F86-ACD4-A5C6FB022320}"/>
              </a:ext>
            </a:extLst>
          </p:cNvPr>
          <p:cNvSpPr>
            <a:spLocks noGrp="1"/>
          </p:cNvSpPr>
          <p:nvPr>
            <p:ph sz="quarter" idx="4"/>
          </p:nvPr>
        </p:nvSpPr>
        <p:spPr>
          <a:xfrm>
            <a:off x="6193367" y="3922714"/>
            <a:ext cx="5382684" cy="21732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543F41CC-70A9-452A-8AFB-B8AD9C6D4D19}"/>
              </a:ext>
            </a:extLst>
          </p:cNvPr>
          <p:cNvSpPr>
            <a:spLocks noGrp="1"/>
          </p:cNvSpPr>
          <p:nvPr>
            <p:ph type="dt" sz="half" idx="10"/>
          </p:nvPr>
        </p:nvSpPr>
        <p:spPr>
          <a:xfrm>
            <a:off x="607485" y="6242051"/>
            <a:ext cx="2840567" cy="474663"/>
          </a:xfrm>
        </p:spPr>
        <p:txBody>
          <a:bodyPr/>
          <a:lstStyle>
            <a:lvl1pPr>
              <a:defRPr/>
            </a:lvl1pPr>
          </a:lstStyle>
          <a:p>
            <a:endParaRPr lang="en-US" altLang="es-MX"/>
          </a:p>
        </p:txBody>
      </p:sp>
      <p:sp>
        <p:nvSpPr>
          <p:cNvPr id="8" name="Marcador de pie de página 7">
            <a:extLst>
              <a:ext uri="{FF2B5EF4-FFF2-40B4-BE49-F238E27FC236}">
                <a16:creationId xmlns:a16="http://schemas.microsoft.com/office/drawing/2014/main" id="{079F90B5-20EB-43FD-9634-4DC4F13732AB}"/>
              </a:ext>
            </a:extLst>
          </p:cNvPr>
          <p:cNvSpPr>
            <a:spLocks noGrp="1"/>
          </p:cNvSpPr>
          <p:nvPr>
            <p:ph type="ftr" sz="quarter" idx="11"/>
          </p:nvPr>
        </p:nvSpPr>
        <p:spPr>
          <a:xfrm>
            <a:off x="4165600" y="6242051"/>
            <a:ext cx="3860800" cy="474663"/>
          </a:xfrm>
        </p:spPr>
        <p:txBody>
          <a:bodyPr/>
          <a:lstStyle>
            <a:lvl1pPr>
              <a:defRPr/>
            </a:lvl1pPr>
          </a:lstStyle>
          <a:p>
            <a:endParaRPr lang="en-US" altLang="es-MX"/>
          </a:p>
        </p:txBody>
      </p:sp>
      <p:sp>
        <p:nvSpPr>
          <p:cNvPr id="9" name="Marcador de número de diapositiva 8">
            <a:extLst>
              <a:ext uri="{FF2B5EF4-FFF2-40B4-BE49-F238E27FC236}">
                <a16:creationId xmlns:a16="http://schemas.microsoft.com/office/drawing/2014/main" id="{1C24F644-34D0-4622-B8D0-3D349EA0314F}"/>
              </a:ext>
            </a:extLst>
          </p:cNvPr>
          <p:cNvSpPr>
            <a:spLocks noGrp="1"/>
          </p:cNvSpPr>
          <p:nvPr>
            <p:ph type="sldNum" sz="quarter" idx="12"/>
          </p:nvPr>
        </p:nvSpPr>
        <p:spPr>
          <a:xfrm>
            <a:off x="8737601" y="6242051"/>
            <a:ext cx="2840567" cy="474663"/>
          </a:xfrm>
        </p:spPr>
        <p:txBody>
          <a:bodyPr/>
          <a:lstStyle>
            <a:lvl1pPr>
              <a:defRPr/>
            </a:lvl1pPr>
          </a:lstStyle>
          <a:p>
            <a:fld id="{230892B5-4135-4B97-AFCF-495162D14FC3}" type="slidenum">
              <a:rPr lang="en-US" altLang="es-MX"/>
              <a:pPr/>
              <a:t>‹Nº›</a:t>
            </a:fld>
            <a:endParaRPr lang="en-US" altLang="es-MX"/>
          </a:p>
        </p:txBody>
      </p:sp>
    </p:spTree>
    <p:extLst>
      <p:ext uri="{BB962C8B-B14F-4D97-AF65-F5344CB8AC3E}">
        <p14:creationId xmlns:p14="http://schemas.microsoft.com/office/powerpoint/2010/main" val="33049662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AndTwoObj">
  <p:cSld name="Título, 1 objeto y 2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8DCA4D-ACC3-43DB-B4E4-571E5414E2DF}"/>
              </a:ext>
            </a:extLst>
          </p:cNvPr>
          <p:cNvSpPr>
            <a:spLocks noGrp="1"/>
          </p:cNvSpPr>
          <p:nvPr>
            <p:ph type="title"/>
          </p:nvPr>
        </p:nvSpPr>
        <p:spPr>
          <a:xfrm>
            <a:off x="607485" y="273050"/>
            <a:ext cx="10968567" cy="1143000"/>
          </a:xfrm>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0A163C-98FB-466D-9DAB-F6FF96BD844B}"/>
              </a:ext>
            </a:extLst>
          </p:cNvPr>
          <p:cNvSpPr>
            <a:spLocks noGrp="1"/>
          </p:cNvSpPr>
          <p:nvPr>
            <p:ph sz="half" idx="1"/>
          </p:nvPr>
        </p:nvSpPr>
        <p:spPr>
          <a:xfrm>
            <a:off x="607484" y="1598613"/>
            <a:ext cx="5382683" cy="44973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2ACB0082-EAE4-4407-A7FA-731644D7323A}"/>
              </a:ext>
            </a:extLst>
          </p:cNvPr>
          <p:cNvSpPr>
            <a:spLocks noGrp="1"/>
          </p:cNvSpPr>
          <p:nvPr>
            <p:ph sz="quarter" idx="2"/>
          </p:nvPr>
        </p:nvSpPr>
        <p:spPr>
          <a:xfrm>
            <a:off x="6193367" y="1598613"/>
            <a:ext cx="5382684" cy="21717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contenido 4">
            <a:extLst>
              <a:ext uri="{FF2B5EF4-FFF2-40B4-BE49-F238E27FC236}">
                <a16:creationId xmlns:a16="http://schemas.microsoft.com/office/drawing/2014/main" id="{1702F311-3CA3-47BD-8EE5-0141F6ABB7FF}"/>
              </a:ext>
            </a:extLst>
          </p:cNvPr>
          <p:cNvSpPr>
            <a:spLocks noGrp="1"/>
          </p:cNvSpPr>
          <p:nvPr>
            <p:ph sz="quarter" idx="3"/>
          </p:nvPr>
        </p:nvSpPr>
        <p:spPr>
          <a:xfrm>
            <a:off x="6193367" y="3922714"/>
            <a:ext cx="5382684" cy="217328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fecha 5">
            <a:extLst>
              <a:ext uri="{FF2B5EF4-FFF2-40B4-BE49-F238E27FC236}">
                <a16:creationId xmlns:a16="http://schemas.microsoft.com/office/drawing/2014/main" id="{53BA948B-7B9A-4EED-9D48-176DD09F1819}"/>
              </a:ext>
            </a:extLst>
          </p:cNvPr>
          <p:cNvSpPr>
            <a:spLocks noGrp="1"/>
          </p:cNvSpPr>
          <p:nvPr>
            <p:ph type="dt" sz="half" idx="10"/>
          </p:nvPr>
        </p:nvSpPr>
        <p:spPr>
          <a:xfrm>
            <a:off x="607485" y="6242051"/>
            <a:ext cx="2840567" cy="474663"/>
          </a:xfrm>
        </p:spPr>
        <p:txBody>
          <a:bodyPr/>
          <a:lstStyle>
            <a:lvl1pPr>
              <a:defRPr/>
            </a:lvl1pPr>
          </a:lstStyle>
          <a:p>
            <a:endParaRPr lang="en-US" altLang="es-MX"/>
          </a:p>
        </p:txBody>
      </p:sp>
      <p:sp>
        <p:nvSpPr>
          <p:cNvPr id="7" name="Marcador de pie de página 6">
            <a:extLst>
              <a:ext uri="{FF2B5EF4-FFF2-40B4-BE49-F238E27FC236}">
                <a16:creationId xmlns:a16="http://schemas.microsoft.com/office/drawing/2014/main" id="{A86A726F-C168-405B-8455-BDB6DE4F30AE}"/>
              </a:ext>
            </a:extLst>
          </p:cNvPr>
          <p:cNvSpPr>
            <a:spLocks noGrp="1"/>
          </p:cNvSpPr>
          <p:nvPr>
            <p:ph type="ftr" sz="quarter" idx="11"/>
          </p:nvPr>
        </p:nvSpPr>
        <p:spPr>
          <a:xfrm>
            <a:off x="4165600" y="6242051"/>
            <a:ext cx="3860800" cy="474663"/>
          </a:xfrm>
        </p:spPr>
        <p:txBody>
          <a:bodyPr/>
          <a:lstStyle>
            <a:lvl1pPr>
              <a:defRPr/>
            </a:lvl1pPr>
          </a:lstStyle>
          <a:p>
            <a:endParaRPr lang="en-US" altLang="es-MX"/>
          </a:p>
        </p:txBody>
      </p:sp>
      <p:sp>
        <p:nvSpPr>
          <p:cNvPr id="8" name="Marcador de número de diapositiva 7">
            <a:extLst>
              <a:ext uri="{FF2B5EF4-FFF2-40B4-BE49-F238E27FC236}">
                <a16:creationId xmlns:a16="http://schemas.microsoft.com/office/drawing/2014/main" id="{DC301759-6CC6-4717-8BC1-1FB7261F7856}"/>
              </a:ext>
            </a:extLst>
          </p:cNvPr>
          <p:cNvSpPr>
            <a:spLocks noGrp="1"/>
          </p:cNvSpPr>
          <p:nvPr>
            <p:ph type="sldNum" sz="quarter" idx="12"/>
          </p:nvPr>
        </p:nvSpPr>
        <p:spPr>
          <a:xfrm>
            <a:off x="8737601" y="6242051"/>
            <a:ext cx="2840567" cy="474663"/>
          </a:xfrm>
        </p:spPr>
        <p:txBody>
          <a:bodyPr/>
          <a:lstStyle>
            <a:lvl1pPr>
              <a:defRPr/>
            </a:lvl1pPr>
          </a:lstStyle>
          <a:p>
            <a:fld id="{76323E54-32B0-4CC9-9BCD-5DF7AAFC4626}" type="slidenum">
              <a:rPr lang="en-US" altLang="es-MX"/>
              <a:pPr/>
              <a:t>‹Nº›</a:t>
            </a:fld>
            <a:endParaRPr lang="en-US" altLang="es-MX"/>
          </a:p>
        </p:txBody>
      </p:sp>
    </p:spTree>
    <p:extLst>
      <p:ext uri="{BB962C8B-B14F-4D97-AF65-F5344CB8AC3E}">
        <p14:creationId xmlns:p14="http://schemas.microsoft.com/office/powerpoint/2010/main" val="4183824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64C70E-1EDE-4E79-9667-C6F0A1556CF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FB9B80F6-66D5-4E65-B96D-D1DF6FC4EE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7FDA0A1A-C22B-401E-8996-2755C3EF5355}"/>
              </a:ext>
            </a:extLst>
          </p:cNvPr>
          <p:cNvSpPr>
            <a:spLocks noGrp="1"/>
          </p:cNvSpPr>
          <p:nvPr>
            <p:ph type="dt" sz="half" idx="10"/>
          </p:nvPr>
        </p:nvSpPr>
        <p:spPr/>
        <p:txBody>
          <a:bodyPr/>
          <a:lstStyle/>
          <a:p>
            <a:fld id="{B5BAE49D-55DF-434D-8384-11F97889BFBE}" type="datetime1">
              <a:rPr lang="es-MX" smtClean="0"/>
              <a:t>24/06/2024</a:t>
            </a:fld>
            <a:endParaRPr lang="es-MX"/>
          </a:p>
        </p:txBody>
      </p:sp>
      <p:sp>
        <p:nvSpPr>
          <p:cNvPr id="5" name="Marcador de pie de página 4">
            <a:extLst>
              <a:ext uri="{FF2B5EF4-FFF2-40B4-BE49-F238E27FC236}">
                <a16:creationId xmlns:a16="http://schemas.microsoft.com/office/drawing/2014/main" id="{24EF73FD-D795-48E2-B862-D2839DDF245A}"/>
              </a:ext>
            </a:extLst>
          </p:cNvPr>
          <p:cNvSpPr>
            <a:spLocks noGrp="1"/>
          </p:cNvSpPr>
          <p:nvPr>
            <p:ph type="ftr" sz="quarter" idx="11"/>
          </p:nvPr>
        </p:nvSpPr>
        <p:spPr/>
        <p:txBody>
          <a:bodyPr/>
          <a:lstStyle/>
          <a:p>
            <a:r>
              <a:rPr lang="es-MX"/>
              <a:t>CS590D</a:t>
            </a:r>
          </a:p>
        </p:txBody>
      </p:sp>
      <p:sp>
        <p:nvSpPr>
          <p:cNvPr id="6" name="Marcador de número de diapositiva 5">
            <a:extLst>
              <a:ext uri="{FF2B5EF4-FFF2-40B4-BE49-F238E27FC236}">
                <a16:creationId xmlns:a16="http://schemas.microsoft.com/office/drawing/2014/main" id="{2684BD95-E108-48B4-A65D-A9E8B54EDE08}"/>
              </a:ext>
            </a:extLst>
          </p:cNvPr>
          <p:cNvSpPr>
            <a:spLocks noGrp="1"/>
          </p:cNvSpPr>
          <p:nvPr>
            <p:ph type="sldNum" sz="quarter" idx="12"/>
          </p:nvPr>
        </p:nvSpPr>
        <p:spPr/>
        <p:txBody>
          <a:bodyPr/>
          <a:lstStyle/>
          <a:p>
            <a:fld id="{4576F8B6-E255-437C-9369-D703609F9272}" type="slidenum">
              <a:rPr lang="es-MX" smtClean="0"/>
              <a:t>‹Nº›</a:t>
            </a:fld>
            <a:endParaRPr lang="es-MX"/>
          </a:p>
        </p:txBody>
      </p:sp>
    </p:spTree>
    <p:extLst>
      <p:ext uri="{BB962C8B-B14F-4D97-AF65-F5344CB8AC3E}">
        <p14:creationId xmlns:p14="http://schemas.microsoft.com/office/powerpoint/2010/main" val="12239092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536F78-0895-429C-A3E9-761FA3AAF44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5325E74-F934-4FCB-BAEA-67CABE43467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534AA21-0E1D-43DE-8557-7021FCE3D6D5}"/>
              </a:ext>
            </a:extLst>
          </p:cNvPr>
          <p:cNvSpPr>
            <a:spLocks noGrp="1"/>
          </p:cNvSpPr>
          <p:nvPr>
            <p:ph type="dt" sz="half" idx="10"/>
          </p:nvPr>
        </p:nvSpPr>
        <p:spPr/>
        <p:txBody>
          <a:bodyPr/>
          <a:lstStyle/>
          <a:p>
            <a:fld id="{3333C6E6-0B5B-4544-980F-10B296284027}" type="datetime1">
              <a:rPr lang="es-MX" smtClean="0"/>
              <a:t>24/06/2024</a:t>
            </a:fld>
            <a:endParaRPr lang="es-MX"/>
          </a:p>
        </p:txBody>
      </p:sp>
      <p:sp>
        <p:nvSpPr>
          <p:cNvPr id="5" name="Marcador de pie de página 4">
            <a:extLst>
              <a:ext uri="{FF2B5EF4-FFF2-40B4-BE49-F238E27FC236}">
                <a16:creationId xmlns:a16="http://schemas.microsoft.com/office/drawing/2014/main" id="{EAB2FA95-B55C-4AB8-AA57-464E0133EF5A}"/>
              </a:ext>
            </a:extLst>
          </p:cNvPr>
          <p:cNvSpPr>
            <a:spLocks noGrp="1"/>
          </p:cNvSpPr>
          <p:nvPr>
            <p:ph type="ftr" sz="quarter" idx="11"/>
          </p:nvPr>
        </p:nvSpPr>
        <p:spPr/>
        <p:txBody>
          <a:bodyPr/>
          <a:lstStyle/>
          <a:p>
            <a:r>
              <a:rPr lang="es-MX"/>
              <a:t>CS590D</a:t>
            </a:r>
          </a:p>
        </p:txBody>
      </p:sp>
      <p:sp>
        <p:nvSpPr>
          <p:cNvPr id="6" name="Marcador de número de diapositiva 5">
            <a:extLst>
              <a:ext uri="{FF2B5EF4-FFF2-40B4-BE49-F238E27FC236}">
                <a16:creationId xmlns:a16="http://schemas.microsoft.com/office/drawing/2014/main" id="{B9C562E2-EA00-4E51-92B4-E65A56C94224}"/>
              </a:ext>
            </a:extLst>
          </p:cNvPr>
          <p:cNvSpPr>
            <a:spLocks noGrp="1"/>
          </p:cNvSpPr>
          <p:nvPr>
            <p:ph type="sldNum" sz="quarter" idx="12"/>
          </p:nvPr>
        </p:nvSpPr>
        <p:spPr/>
        <p:txBody>
          <a:bodyPr/>
          <a:lstStyle/>
          <a:p>
            <a:fld id="{4576F8B6-E255-437C-9369-D703609F9272}" type="slidenum">
              <a:rPr lang="es-MX" smtClean="0"/>
              <a:t>‹Nº›</a:t>
            </a:fld>
            <a:endParaRPr lang="es-MX"/>
          </a:p>
        </p:txBody>
      </p:sp>
    </p:spTree>
    <p:extLst>
      <p:ext uri="{BB962C8B-B14F-4D97-AF65-F5344CB8AC3E}">
        <p14:creationId xmlns:p14="http://schemas.microsoft.com/office/powerpoint/2010/main" val="3655893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110E0B-C3C2-4532-8329-2CADED86666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8BD5F5C-C121-42CF-8B13-27F75EDCD0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413A28F-88B0-4CC1-854F-69AD95E5AF89}"/>
              </a:ext>
            </a:extLst>
          </p:cNvPr>
          <p:cNvSpPr>
            <a:spLocks noGrp="1"/>
          </p:cNvSpPr>
          <p:nvPr>
            <p:ph type="dt" sz="half" idx="10"/>
          </p:nvPr>
        </p:nvSpPr>
        <p:spPr/>
        <p:txBody>
          <a:bodyPr/>
          <a:lstStyle/>
          <a:p>
            <a:fld id="{2B0B4E2B-C704-46BB-8C46-9E0877710D3A}" type="datetime1">
              <a:rPr lang="es-MX" smtClean="0"/>
              <a:t>24/06/2024</a:t>
            </a:fld>
            <a:endParaRPr lang="es-MX"/>
          </a:p>
        </p:txBody>
      </p:sp>
      <p:sp>
        <p:nvSpPr>
          <p:cNvPr id="5" name="Marcador de pie de página 4">
            <a:extLst>
              <a:ext uri="{FF2B5EF4-FFF2-40B4-BE49-F238E27FC236}">
                <a16:creationId xmlns:a16="http://schemas.microsoft.com/office/drawing/2014/main" id="{D9B38D1A-DC3B-4F33-91A3-582EE1CFC6CC}"/>
              </a:ext>
            </a:extLst>
          </p:cNvPr>
          <p:cNvSpPr>
            <a:spLocks noGrp="1"/>
          </p:cNvSpPr>
          <p:nvPr>
            <p:ph type="ftr" sz="quarter" idx="11"/>
          </p:nvPr>
        </p:nvSpPr>
        <p:spPr/>
        <p:txBody>
          <a:bodyPr/>
          <a:lstStyle/>
          <a:p>
            <a:r>
              <a:rPr lang="es-MX"/>
              <a:t>CS590D</a:t>
            </a:r>
          </a:p>
        </p:txBody>
      </p:sp>
      <p:sp>
        <p:nvSpPr>
          <p:cNvPr id="6" name="Marcador de número de diapositiva 5">
            <a:extLst>
              <a:ext uri="{FF2B5EF4-FFF2-40B4-BE49-F238E27FC236}">
                <a16:creationId xmlns:a16="http://schemas.microsoft.com/office/drawing/2014/main" id="{FD8915D4-95C3-4DDC-8F48-42B97C1E18F7}"/>
              </a:ext>
            </a:extLst>
          </p:cNvPr>
          <p:cNvSpPr>
            <a:spLocks noGrp="1"/>
          </p:cNvSpPr>
          <p:nvPr>
            <p:ph type="sldNum" sz="quarter" idx="12"/>
          </p:nvPr>
        </p:nvSpPr>
        <p:spPr/>
        <p:txBody>
          <a:bodyPr/>
          <a:lstStyle/>
          <a:p>
            <a:fld id="{4576F8B6-E255-437C-9369-D703609F9272}" type="slidenum">
              <a:rPr lang="es-MX" smtClean="0"/>
              <a:t>‹Nº›</a:t>
            </a:fld>
            <a:endParaRPr lang="es-MX"/>
          </a:p>
        </p:txBody>
      </p:sp>
    </p:spTree>
    <p:extLst>
      <p:ext uri="{BB962C8B-B14F-4D97-AF65-F5344CB8AC3E}">
        <p14:creationId xmlns:p14="http://schemas.microsoft.com/office/powerpoint/2010/main" val="12625470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C231F8-D9CF-425F-9B31-5B1A6445D9E1}"/>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9DCA68D-6E2F-400C-AECD-660B770CD4C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979E5F3D-E31D-4A31-AF9E-CC9D05E81F7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EB806603-CFB9-4C50-B3E1-2116C203F1D1}"/>
              </a:ext>
            </a:extLst>
          </p:cNvPr>
          <p:cNvSpPr>
            <a:spLocks noGrp="1"/>
          </p:cNvSpPr>
          <p:nvPr>
            <p:ph type="dt" sz="half" idx="10"/>
          </p:nvPr>
        </p:nvSpPr>
        <p:spPr/>
        <p:txBody>
          <a:bodyPr/>
          <a:lstStyle/>
          <a:p>
            <a:fld id="{064EF1FA-C3CD-4573-B3D4-6C07E97C3826}" type="datetime1">
              <a:rPr lang="es-MX" smtClean="0"/>
              <a:t>24/06/2024</a:t>
            </a:fld>
            <a:endParaRPr lang="es-MX"/>
          </a:p>
        </p:txBody>
      </p:sp>
      <p:sp>
        <p:nvSpPr>
          <p:cNvPr id="6" name="Marcador de pie de página 5">
            <a:extLst>
              <a:ext uri="{FF2B5EF4-FFF2-40B4-BE49-F238E27FC236}">
                <a16:creationId xmlns:a16="http://schemas.microsoft.com/office/drawing/2014/main" id="{FA31558D-99B6-429B-AFD2-28D5FC65E659}"/>
              </a:ext>
            </a:extLst>
          </p:cNvPr>
          <p:cNvSpPr>
            <a:spLocks noGrp="1"/>
          </p:cNvSpPr>
          <p:nvPr>
            <p:ph type="ftr" sz="quarter" idx="11"/>
          </p:nvPr>
        </p:nvSpPr>
        <p:spPr/>
        <p:txBody>
          <a:bodyPr/>
          <a:lstStyle/>
          <a:p>
            <a:r>
              <a:rPr lang="es-MX"/>
              <a:t>CS590D</a:t>
            </a:r>
          </a:p>
        </p:txBody>
      </p:sp>
      <p:sp>
        <p:nvSpPr>
          <p:cNvPr id="7" name="Marcador de número de diapositiva 6">
            <a:extLst>
              <a:ext uri="{FF2B5EF4-FFF2-40B4-BE49-F238E27FC236}">
                <a16:creationId xmlns:a16="http://schemas.microsoft.com/office/drawing/2014/main" id="{588E5AB9-F46C-4863-903A-99FC49422E60}"/>
              </a:ext>
            </a:extLst>
          </p:cNvPr>
          <p:cNvSpPr>
            <a:spLocks noGrp="1"/>
          </p:cNvSpPr>
          <p:nvPr>
            <p:ph type="sldNum" sz="quarter" idx="12"/>
          </p:nvPr>
        </p:nvSpPr>
        <p:spPr/>
        <p:txBody>
          <a:bodyPr/>
          <a:lstStyle/>
          <a:p>
            <a:fld id="{4576F8B6-E255-437C-9369-D703609F9272}" type="slidenum">
              <a:rPr lang="es-MX" smtClean="0"/>
              <a:t>‹Nº›</a:t>
            </a:fld>
            <a:endParaRPr lang="es-MX"/>
          </a:p>
        </p:txBody>
      </p:sp>
    </p:spTree>
    <p:extLst>
      <p:ext uri="{BB962C8B-B14F-4D97-AF65-F5344CB8AC3E}">
        <p14:creationId xmlns:p14="http://schemas.microsoft.com/office/powerpoint/2010/main" val="19686431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21BB1E-AE62-41CD-8B1D-C05CE5DD3E6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4DF35D8-F8CB-4F73-8E70-02CA63A7A9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4600988-50DC-4594-83E5-8E2B19B4946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E806B92A-E7CB-49EE-8C11-2EBDB66656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451F96A-3C82-4109-AB6E-C5267D4E9B4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659CFAD8-DED3-478A-A315-0CA05D0DA67E}"/>
              </a:ext>
            </a:extLst>
          </p:cNvPr>
          <p:cNvSpPr>
            <a:spLocks noGrp="1"/>
          </p:cNvSpPr>
          <p:nvPr>
            <p:ph type="dt" sz="half" idx="10"/>
          </p:nvPr>
        </p:nvSpPr>
        <p:spPr/>
        <p:txBody>
          <a:bodyPr/>
          <a:lstStyle/>
          <a:p>
            <a:fld id="{6E253A78-3133-4E8E-A577-5ECE9C4E8CFE}" type="datetime1">
              <a:rPr lang="es-MX" smtClean="0"/>
              <a:t>24/06/2024</a:t>
            </a:fld>
            <a:endParaRPr lang="es-MX"/>
          </a:p>
        </p:txBody>
      </p:sp>
      <p:sp>
        <p:nvSpPr>
          <p:cNvPr id="8" name="Marcador de pie de página 7">
            <a:extLst>
              <a:ext uri="{FF2B5EF4-FFF2-40B4-BE49-F238E27FC236}">
                <a16:creationId xmlns:a16="http://schemas.microsoft.com/office/drawing/2014/main" id="{348B3DF2-DE04-4B86-9437-0D288D177B6B}"/>
              </a:ext>
            </a:extLst>
          </p:cNvPr>
          <p:cNvSpPr>
            <a:spLocks noGrp="1"/>
          </p:cNvSpPr>
          <p:nvPr>
            <p:ph type="ftr" sz="quarter" idx="11"/>
          </p:nvPr>
        </p:nvSpPr>
        <p:spPr/>
        <p:txBody>
          <a:bodyPr/>
          <a:lstStyle/>
          <a:p>
            <a:r>
              <a:rPr lang="es-MX"/>
              <a:t>CS590D</a:t>
            </a:r>
          </a:p>
        </p:txBody>
      </p:sp>
      <p:sp>
        <p:nvSpPr>
          <p:cNvPr id="9" name="Marcador de número de diapositiva 8">
            <a:extLst>
              <a:ext uri="{FF2B5EF4-FFF2-40B4-BE49-F238E27FC236}">
                <a16:creationId xmlns:a16="http://schemas.microsoft.com/office/drawing/2014/main" id="{9D3E76DF-A04C-4199-B366-B6807E35A8C8}"/>
              </a:ext>
            </a:extLst>
          </p:cNvPr>
          <p:cNvSpPr>
            <a:spLocks noGrp="1"/>
          </p:cNvSpPr>
          <p:nvPr>
            <p:ph type="sldNum" sz="quarter" idx="12"/>
          </p:nvPr>
        </p:nvSpPr>
        <p:spPr/>
        <p:txBody>
          <a:bodyPr/>
          <a:lstStyle/>
          <a:p>
            <a:fld id="{4576F8B6-E255-437C-9369-D703609F9272}" type="slidenum">
              <a:rPr lang="es-MX" smtClean="0"/>
              <a:t>‹Nº›</a:t>
            </a:fld>
            <a:endParaRPr lang="es-MX"/>
          </a:p>
        </p:txBody>
      </p:sp>
    </p:spTree>
    <p:extLst>
      <p:ext uri="{BB962C8B-B14F-4D97-AF65-F5344CB8AC3E}">
        <p14:creationId xmlns:p14="http://schemas.microsoft.com/office/powerpoint/2010/main" val="14274029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F07977-97C4-4A35-A1AB-8C9D2AD6D15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CFA57388-5E77-4299-B290-0FBE04CD1895}"/>
              </a:ext>
            </a:extLst>
          </p:cNvPr>
          <p:cNvSpPr>
            <a:spLocks noGrp="1"/>
          </p:cNvSpPr>
          <p:nvPr>
            <p:ph type="dt" sz="half" idx="10"/>
          </p:nvPr>
        </p:nvSpPr>
        <p:spPr/>
        <p:txBody>
          <a:bodyPr/>
          <a:lstStyle/>
          <a:p>
            <a:fld id="{73946D9B-C5E2-4CF2-88E4-CD568AF29531}" type="datetime1">
              <a:rPr lang="es-MX" smtClean="0"/>
              <a:t>24/06/2024</a:t>
            </a:fld>
            <a:endParaRPr lang="es-MX"/>
          </a:p>
        </p:txBody>
      </p:sp>
      <p:sp>
        <p:nvSpPr>
          <p:cNvPr id="4" name="Marcador de pie de página 3">
            <a:extLst>
              <a:ext uri="{FF2B5EF4-FFF2-40B4-BE49-F238E27FC236}">
                <a16:creationId xmlns:a16="http://schemas.microsoft.com/office/drawing/2014/main" id="{1422E1DA-E745-4244-A0CB-D5522A592958}"/>
              </a:ext>
            </a:extLst>
          </p:cNvPr>
          <p:cNvSpPr>
            <a:spLocks noGrp="1"/>
          </p:cNvSpPr>
          <p:nvPr>
            <p:ph type="ftr" sz="quarter" idx="11"/>
          </p:nvPr>
        </p:nvSpPr>
        <p:spPr/>
        <p:txBody>
          <a:bodyPr/>
          <a:lstStyle/>
          <a:p>
            <a:r>
              <a:rPr lang="es-MX"/>
              <a:t>CS590D</a:t>
            </a:r>
          </a:p>
        </p:txBody>
      </p:sp>
      <p:sp>
        <p:nvSpPr>
          <p:cNvPr id="5" name="Marcador de número de diapositiva 4">
            <a:extLst>
              <a:ext uri="{FF2B5EF4-FFF2-40B4-BE49-F238E27FC236}">
                <a16:creationId xmlns:a16="http://schemas.microsoft.com/office/drawing/2014/main" id="{637A9150-FD83-4260-96B0-7A52C3ABEF54}"/>
              </a:ext>
            </a:extLst>
          </p:cNvPr>
          <p:cNvSpPr>
            <a:spLocks noGrp="1"/>
          </p:cNvSpPr>
          <p:nvPr>
            <p:ph type="sldNum" sz="quarter" idx="12"/>
          </p:nvPr>
        </p:nvSpPr>
        <p:spPr/>
        <p:txBody>
          <a:bodyPr/>
          <a:lstStyle/>
          <a:p>
            <a:fld id="{4576F8B6-E255-437C-9369-D703609F9272}" type="slidenum">
              <a:rPr lang="es-MX" smtClean="0"/>
              <a:t>‹Nº›</a:t>
            </a:fld>
            <a:endParaRPr lang="es-MX"/>
          </a:p>
        </p:txBody>
      </p:sp>
    </p:spTree>
    <p:extLst>
      <p:ext uri="{BB962C8B-B14F-4D97-AF65-F5344CB8AC3E}">
        <p14:creationId xmlns:p14="http://schemas.microsoft.com/office/powerpoint/2010/main" val="8709857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AC84AE1-BBC9-4F55-AF4D-04850647286E}"/>
              </a:ext>
            </a:extLst>
          </p:cNvPr>
          <p:cNvSpPr>
            <a:spLocks noGrp="1"/>
          </p:cNvSpPr>
          <p:nvPr>
            <p:ph type="dt" sz="half" idx="10"/>
          </p:nvPr>
        </p:nvSpPr>
        <p:spPr/>
        <p:txBody>
          <a:bodyPr/>
          <a:lstStyle/>
          <a:p>
            <a:fld id="{AF40634E-3765-476E-9931-33EC5549E66C}" type="datetime1">
              <a:rPr lang="es-MX" smtClean="0"/>
              <a:t>24/06/2024</a:t>
            </a:fld>
            <a:endParaRPr lang="es-MX"/>
          </a:p>
        </p:txBody>
      </p:sp>
      <p:sp>
        <p:nvSpPr>
          <p:cNvPr id="3" name="Marcador de pie de página 2">
            <a:extLst>
              <a:ext uri="{FF2B5EF4-FFF2-40B4-BE49-F238E27FC236}">
                <a16:creationId xmlns:a16="http://schemas.microsoft.com/office/drawing/2014/main" id="{E4257EE3-41FD-4CC1-8A22-CCB8579BD67A}"/>
              </a:ext>
            </a:extLst>
          </p:cNvPr>
          <p:cNvSpPr>
            <a:spLocks noGrp="1"/>
          </p:cNvSpPr>
          <p:nvPr>
            <p:ph type="ftr" sz="quarter" idx="11"/>
          </p:nvPr>
        </p:nvSpPr>
        <p:spPr/>
        <p:txBody>
          <a:bodyPr/>
          <a:lstStyle/>
          <a:p>
            <a:r>
              <a:rPr lang="es-MX"/>
              <a:t>CS590D</a:t>
            </a:r>
          </a:p>
        </p:txBody>
      </p:sp>
      <p:sp>
        <p:nvSpPr>
          <p:cNvPr id="4" name="Marcador de número de diapositiva 3">
            <a:extLst>
              <a:ext uri="{FF2B5EF4-FFF2-40B4-BE49-F238E27FC236}">
                <a16:creationId xmlns:a16="http://schemas.microsoft.com/office/drawing/2014/main" id="{203A4B31-E930-4F28-8E8C-42F634D123F2}"/>
              </a:ext>
            </a:extLst>
          </p:cNvPr>
          <p:cNvSpPr>
            <a:spLocks noGrp="1"/>
          </p:cNvSpPr>
          <p:nvPr>
            <p:ph type="sldNum" sz="quarter" idx="12"/>
          </p:nvPr>
        </p:nvSpPr>
        <p:spPr/>
        <p:txBody>
          <a:bodyPr/>
          <a:lstStyle/>
          <a:p>
            <a:fld id="{4576F8B6-E255-437C-9369-D703609F9272}" type="slidenum">
              <a:rPr lang="es-MX" smtClean="0"/>
              <a:t>‹Nº›</a:t>
            </a:fld>
            <a:endParaRPr lang="es-MX"/>
          </a:p>
        </p:txBody>
      </p:sp>
    </p:spTree>
    <p:extLst>
      <p:ext uri="{BB962C8B-B14F-4D97-AF65-F5344CB8AC3E}">
        <p14:creationId xmlns:p14="http://schemas.microsoft.com/office/powerpoint/2010/main" val="19799750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7936C3-FD3B-487C-A4C9-D35C1E67F3E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E6B74334-5668-47E5-A68F-E525F000EF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63976C7C-28DB-4634-8B53-68D47B2B7F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904D302-CFEE-4742-9A0C-0FE183752AFF}"/>
              </a:ext>
            </a:extLst>
          </p:cNvPr>
          <p:cNvSpPr>
            <a:spLocks noGrp="1"/>
          </p:cNvSpPr>
          <p:nvPr>
            <p:ph type="dt" sz="half" idx="10"/>
          </p:nvPr>
        </p:nvSpPr>
        <p:spPr/>
        <p:txBody>
          <a:bodyPr/>
          <a:lstStyle/>
          <a:p>
            <a:fld id="{9ABBC540-DE56-45CE-B01F-49895FFFEB0C}" type="datetime1">
              <a:rPr lang="es-MX" smtClean="0"/>
              <a:t>24/06/2024</a:t>
            </a:fld>
            <a:endParaRPr lang="es-MX"/>
          </a:p>
        </p:txBody>
      </p:sp>
      <p:sp>
        <p:nvSpPr>
          <p:cNvPr id="6" name="Marcador de pie de página 5">
            <a:extLst>
              <a:ext uri="{FF2B5EF4-FFF2-40B4-BE49-F238E27FC236}">
                <a16:creationId xmlns:a16="http://schemas.microsoft.com/office/drawing/2014/main" id="{4F79988D-1249-4138-B4C0-DE9B4B3BA652}"/>
              </a:ext>
            </a:extLst>
          </p:cNvPr>
          <p:cNvSpPr>
            <a:spLocks noGrp="1"/>
          </p:cNvSpPr>
          <p:nvPr>
            <p:ph type="ftr" sz="quarter" idx="11"/>
          </p:nvPr>
        </p:nvSpPr>
        <p:spPr/>
        <p:txBody>
          <a:bodyPr/>
          <a:lstStyle/>
          <a:p>
            <a:r>
              <a:rPr lang="es-MX"/>
              <a:t>CS590D</a:t>
            </a:r>
          </a:p>
        </p:txBody>
      </p:sp>
      <p:sp>
        <p:nvSpPr>
          <p:cNvPr id="7" name="Marcador de número de diapositiva 6">
            <a:extLst>
              <a:ext uri="{FF2B5EF4-FFF2-40B4-BE49-F238E27FC236}">
                <a16:creationId xmlns:a16="http://schemas.microsoft.com/office/drawing/2014/main" id="{0D1A7D54-9138-4352-8A4D-9F78475C3A83}"/>
              </a:ext>
            </a:extLst>
          </p:cNvPr>
          <p:cNvSpPr>
            <a:spLocks noGrp="1"/>
          </p:cNvSpPr>
          <p:nvPr>
            <p:ph type="sldNum" sz="quarter" idx="12"/>
          </p:nvPr>
        </p:nvSpPr>
        <p:spPr/>
        <p:txBody>
          <a:bodyPr/>
          <a:lstStyle/>
          <a:p>
            <a:fld id="{4576F8B6-E255-437C-9369-D703609F9272}" type="slidenum">
              <a:rPr lang="es-MX" smtClean="0"/>
              <a:t>‹Nº›</a:t>
            </a:fld>
            <a:endParaRPr lang="es-MX"/>
          </a:p>
        </p:txBody>
      </p:sp>
    </p:spTree>
    <p:extLst>
      <p:ext uri="{BB962C8B-B14F-4D97-AF65-F5344CB8AC3E}">
        <p14:creationId xmlns:p14="http://schemas.microsoft.com/office/powerpoint/2010/main" val="31481658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D3BBC7-8739-401B-8471-E9192D9A018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720FDCF2-BDF3-44E3-970C-70F1C21E33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47DCD62D-6B51-4E9F-9563-F1C73E8393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4F216C8-4B74-42E5-A7C8-5F6B3986CFC3}"/>
              </a:ext>
            </a:extLst>
          </p:cNvPr>
          <p:cNvSpPr>
            <a:spLocks noGrp="1"/>
          </p:cNvSpPr>
          <p:nvPr>
            <p:ph type="dt" sz="half" idx="10"/>
          </p:nvPr>
        </p:nvSpPr>
        <p:spPr/>
        <p:txBody>
          <a:bodyPr/>
          <a:lstStyle/>
          <a:p>
            <a:fld id="{FF99939E-474F-47F8-8E20-FEC63892EC8C}" type="datetime1">
              <a:rPr lang="es-MX" smtClean="0"/>
              <a:t>24/06/2024</a:t>
            </a:fld>
            <a:endParaRPr lang="es-MX"/>
          </a:p>
        </p:txBody>
      </p:sp>
      <p:sp>
        <p:nvSpPr>
          <p:cNvPr id="6" name="Marcador de pie de página 5">
            <a:extLst>
              <a:ext uri="{FF2B5EF4-FFF2-40B4-BE49-F238E27FC236}">
                <a16:creationId xmlns:a16="http://schemas.microsoft.com/office/drawing/2014/main" id="{1669E17E-BB0D-4318-85F1-ECD88B6FCC46}"/>
              </a:ext>
            </a:extLst>
          </p:cNvPr>
          <p:cNvSpPr>
            <a:spLocks noGrp="1"/>
          </p:cNvSpPr>
          <p:nvPr>
            <p:ph type="ftr" sz="quarter" idx="11"/>
          </p:nvPr>
        </p:nvSpPr>
        <p:spPr/>
        <p:txBody>
          <a:bodyPr/>
          <a:lstStyle/>
          <a:p>
            <a:r>
              <a:rPr lang="es-MX"/>
              <a:t>CS590D</a:t>
            </a:r>
          </a:p>
        </p:txBody>
      </p:sp>
      <p:sp>
        <p:nvSpPr>
          <p:cNvPr id="7" name="Marcador de número de diapositiva 6">
            <a:extLst>
              <a:ext uri="{FF2B5EF4-FFF2-40B4-BE49-F238E27FC236}">
                <a16:creationId xmlns:a16="http://schemas.microsoft.com/office/drawing/2014/main" id="{BDA928EE-DD47-4D6D-9A8C-05431553C064}"/>
              </a:ext>
            </a:extLst>
          </p:cNvPr>
          <p:cNvSpPr>
            <a:spLocks noGrp="1"/>
          </p:cNvSpPr>
          <p:nvPr>
            <p:ph type="sldNum" sz="quarter" idx="12"/>
          </p:nvPr>
        </p:nvSpPr>
        <p:spPr/>
        <p:txBody>
          <a:bodyPr/>
          <a:lstStyle/>
          <a:p>
            <a:fld id="{4576F8B6-E255-437C-9369-D703609F9272}" type="slidenum">
              <a:rPr lang="es-MX" smtClean="0"/>
              <a:t>‹Nº›</a:t>
            </a:fld>
            <a:endParaRPr lang="es-MX"/>
          </a:p>
        </p:txBody>
      </p:sp>
    </p:spTree>
    <p:extLst>
      <p:ext uri="{BB962C8B-B14F-4D97-AF65-F5344CB8AC3E}">
        <p14:creationId xmlns:p14="http://schemas.microsoft.com/office/powerpoint/2010/main" val="17039658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999553-08D5-498E-9066-DD655E7ADD1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F8B8883-C8B6-44FF-9A11-06C89C8B54E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0306DF47-205A-4CF3-B2ED-0AD19C51A277}"/>
              </a:ext>
            </a:extLst>
          </p:cNvPr>
          <p:cNvSpPr>
            <a:spLocks noGrp="1"/>
          </p:cNvSpPr>
          <p:nvPr>
            <p:ph type="dt" sz="half" idx="10"/>
          </p:nvPr>
        </p:nvSpPr>
        <p:spPr/>
        <p:txBody>
          <a:bodyPr/>
          <a:lstStyle/>
          <a:p>
            <a:fld id="{9251A1C9-3887-4F2F-BB50-7F06C2F67372}" type="datetime1">
              <a:rPr lang="es-MX" smtClean="0"/>
              <a:t>24/06/2024</a:t>
            </a:fld>
            <a:endParaRPr lang="es-MX"/>
          </a:p>
        </p:txBody>
      </p:sp>
      <p:sp>
        <p:nvSpPr>
          <p:cNvPr id="5" name="Marcador de pie de página 4">
            <a:extLst>
              <a:ext uri="{FF2B5EF4-FFF2-40B4-BE49-F238E27FC236}">
                <a16:creationId xmlns:a16="http://schemas.microsoft.com/office/drawing/2014/main" id="{DD69CBA9-0E2E-4ABB-BA78-AD36A0E8190A}"/>
              </a:ext>
            </a:extLst>
          </p:cNvPr>
          <p:cNvSpPr>
            <a:spLocks noGrp="1"/>
          </p:cNvSpPr>
          <p:nvPr>
            <p:ph type="ftr" sz="quarter" idx="11"/>
          </p:nvPr>
        </p:nvSpPr>
        <p:spPr/>
        <p:txBody>
          <a:bodyPr/>
          <a:lstStyle/>
          <a:p>
            <a:r>
              <a:rPr lang="es-MX"/>
              <a:t>CS590D</a:t>
            </a:r>
          </a:p>
        </p:txBody>
      </p:sp>
      <p:sp>
        <p:nvSpPr>
          <p:cNvPr id="6" name="Marcador de número de diapositiva 5">
            <a:extLst>
              <a:ext uri="{FF2B5EF4-FFF2-40B4-BE49-F238E27FC236}">
                <a16:creationId xmlns:a16="http://schemas.microsoft.com/office/drawing/2014/main" id="{ABB9226C-2EC2-4391-9DB3-960A8A4E5767}"/>
              </a:ext>
            </a:extLst>
          </p:cNvPr>
          <p:cNvSpPr>
            <a:spLocks noGrp="1"/>
          </p:cNvSpPr>
          <p:nvPr>
            <p:ph type="sldNum" sz="quarter" idx="12"/>
          </p:nvPr>
        </p:nvSpPr>
        <p:spPr/>
        <p:txBody>
          <a:bodyPr/>
          <a:lstStyle/>
          <a:p>
            <a:fld id="{4576F8B6-E255-437C-9369-D703609F9272}" type="slidenum">
              <a:rPr lang="es-MX" smtClean="0"/>
              <a:t>‹Nº›</a:t>
            </a:fld>
            <a:endParaRPr lang="es-MX"/>
          </a:p>
        </p:txBody>
      </p:sp>
    </p:spTree>
    <p:extLst>
      <p:ext uri="{BB962C8B-B14F-4D97-AF65-F5344CB8AC3E}">
        <p14:creationId xmlns:p14="http://schemas.microsoft.com/office/powerpoint/2010/main" val="37891680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1280BB6-1B4C-4480-8B49-01A3839D4767}"/>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30F322D0-542D-4A30-B8DF-ECAC0B5E29A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FBB4240B-5E42-4265-877C-BEC9501AA6FE}"/>
              </a:ext>
            </a:extLst>
          </p:cNvPr>
          <p:cNvSpPr>
            <a:spLocks noGrp="1"/>
          </p:cNvSpPr>
          <p:nvPr>
            <p:ph type="dt" sz="half" idx="10"/>
          </p:nvPr>
        </p:nvSpPr>
        <p:spPr/>
        <p:txBody>
          <a:bodyPr/>
          <a:lstStyle/>
          <a:p>
            <a:fld id="{0544AF91-4297-4B27-BFCE-5B9A55C1F3F0}" type="datetime1">
              <a:rPr lang="es-MX" smtClean="0"/>
              <a:t>24/06/2024</a:t>
            </a:fld>
            <a:endParaRPr lang="es-MX"/>
          </a:p>
        </p:txBody>
      </p:sp>
      <p:sp>
        <p:nvSpPr>
          <p:cNvPr id="5" name="Marcador de pie de página 4">
            <a:extLst>
              <a:ext uri="{FF2B5EF4-FFF2-40B4-BE49-F238E27FC236}">
                <a16:creationId xmlns:a16="http://schemas.microsoft.com/office/drawing/2014/main" id="{DFB748E0-6FBF-4163-AFBC-6B6CB8A59526}"/>
              </a:ext>
            </a:extLst>
          </p:cNvPr>
          <p:cNvSpPr>
            <a:spLocks noGrp="1"/>
          </p:cNvSpPr>
          <p:nvPr>
            <p:ph type="ftr" sz="quarter" idx="11"/>
          </p:nvPr>
        </p:nvSpPr>
        <p:spPr/>
        <p:txBody>
          <a:bodyPr/>
          <a:lstStyle/>
          <a:p>
            <a:r>
              <a:rPr lang="es-MX"/>
              <a:t>CS590D</a:t>
            </a:r>
          </a:p>
        </p:txBody>
      </p:sp>
      <p:sp>
        <p:nvSpPr>
          <p:cNvPr id="6" name="Marcador de número de diapositiva 5">
            <a:extLst>
              <a:ext uri="{FF2B5EF4-FFF2-40B4-BE49-F238E27FC236}">
                <a16:creationId xmlns:a16="http://schemas.microsoft.com/office/drawing/2014/main" id="{C4BD4F9C-FEC6-4E55-A4C5-1A76E2C98D20}"/>
              </a:ext>
            </a:extLst>
          </p:cNvPr>
          <p:cNvSpPr>
            <a:spLocks noGrp="1"/>
          </p:cNvSpPr>
          <p:nvPr>
            <p:ph type="sldNum" sz="quarter" idx="12"/>
          </p:nvPr>
        </p:nvSpPr>
        <p:spPr/>
        <p:txBody>
          <a:bodyPr/>
          <a:lstStyle/>
          <a:p>
            <a:fld id="{4576F8B6-E255-437C-9369-D703609F9272}" type="slidenum">
              <a:rPr lang="es-MX" smtClean="0"/>
              <a:t>‹Nº›</a:t>
            </a:fld>
            <a:endParaRPr lang="es-MX"/>
          </a:p>
        </p:txBody>
      </p:sp>
    </p:spTree>
    <p:extLst>
      <p:ext uri="{BB962C8B-B14F-4D97-AF65-F5344CB8AC3E}">
        <p14:creationId xmlns:p14="http://schemas.microsoft.com/office/powerpoint/2010/main" val="5535022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505995-4380-4EF6-9CFB-E3F5F3F15783}"/>
              </a:ext>
            </a:extLst>
          </p:cNvPr>
          <p:cNvSpPr>
            <a:spLocks noGrp="1"/>
          </p:cNvSpPr>
          <p:nvPr>
            <p:ph type="title"/>
          </p:nvPr>
        </p:nvSpPr>
        <p:spPr>
          <a:xfrm>
            <a:off x="1930400" y="274638"/>
            <a:ext cx="9652000" cy="1143000"/>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F75A58-13B4-4DEC-A69D-78B132321984}"/>
              </a:ext>
            </a:extLst>
          </p:cNvPr>
          <p:cNvSpPr>
            <a:spLocks noGrp="1"/>
          </p:cNvSpPr>
          <p:nvPr>
            <p:ph type="body" sz="half" idx="1"/>
          </p:nvPr>
        </p:nvSpPr>
        <p:spPr>
          <a:xfrm>
            <a:off x="609600" y="1600201"/>
            <a:ext cx="5384800" cy="452596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2B6C0BA0-2903-49E8-9548-48CC553A79B4}"/>
              </a:ext>
            </a:extLst>
          </p:cNvPr>
          <p:cNvSpPr>
            <a:spLocks noGrp="1"/>
          </p:cNvSpPr>
          <p:nvPr>
            <p:ph sz="half" idx="2"/>
          </p:nvPr>
        </p:nvSpPr>
        <p:spPr>
          <a:xfrm>
            <a:off x="6197600" y="1600201"/>
            <a:ext cx="5384800" cy="452596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61EDFBCC-99A5-4293-8A47-9B8ED06391E2}"/>
              </a:ext>
            </a:extLst>
          </p:cNvPr>
          <p:cNvSpPr>
            <a:spLocks noGrp="1"/>
          </p:cNvSpPr>
          <p:nvPr>
            <p:ph type="dt" sz="half" idx="10"/>
          </p:nvPr>
        </p:nvSpPr>
        <p:spPr>
          <a:xfrm>
            <a:off x="609600" y="6245225"/>
            <a:ext cx="2844800" cy="476250"/>
          </a:xfrm>
        </p:spPr>
        <p:txBody>
          <a:bodyPr/>
          <a:lstStyle>
            <a:lvl1pPr>
              <a:defRPr/>
            </a:lvl1pPr>
          </a:lstStyle>
          <a:p>
            <a:fld id="{2352C8FE-D80B-4DF7-9F2F-609814E26218}" type="datetime1">
              <a:rPr lang="es-MX" altLang="es-MX" smtClean="0"/>
              <a:t>24/06/2024</a:t>
            </a:fld>
            <a:endParaRPr lang="en-US" altLang="es-MX"/>
          </a:p>
        </p:txBody>
      </p:sp>
      <p:sp>
        <p:nvSpPr>
          <p:cNvPr id="6" name="Marcador de pie de página 5">
            <a:extLst>
              <a:ext uri="{FF2B5EF4-FFF2-40B4-BE49-F238E27FC236}">
                <a16:creationId xmlns:a16="http://schemas.microsoft.com/office/drawing/2014/main" id="{2694EFD2-685B-4E98-978C-9879318D701B}"/>
              </a:ext>
            </a:extLst>
          </p:cNvPr>
          <p:cNvSpPr>
            <a:spLocks noGrp="1"/>
          </p:cNvSpPr>
          <p:nvPr>
            <p:ph type="ftr" sz="quarter" idx="11"/>
          </p:nvPr>
        </p:nvSpPr>
        <p:spPr>
          <a:xfrm>
            <a:off x="4165600" y="6245225"/>
            <a:ext cx="3860800" cy="476250"/>
          </a:xfrm>
        </p:spPr>
        <p:txBody>
          <a:bodyPr/>
          <a:lstStyle>
            <a:lvl1pPr>
              <a:defRPr/>
            </a:lvl1pPr>
          </a:lstStyle>
          <a:p>
            <a:r>
              <a:rPr lang="en-US" altLang="es-MX"/>
              <a:t>CS590D</a:t>
            </a:r>
          </a:p>
        </p:txBody>
      </p:sp>
      <p:sp>
        <p:nvSpPr>
          <p:cNvPr id="7" name="Marcador de número de diapositiva 6">
            <a:extLst>
              <a:ext uri="{FF2B5EF4-FFF2-40B4-BE49-F238E27FC236}">
                <a16:creationId xmlns:a16="http://schemas.microsoft.com/office/drawing/2014/main" id="{D6FCAD7A-8EDC-4DCD-A509-D442F9DB01E1}"/>
              </a:ext>
            </a:extLst>
          </p:cNvPr>
          <p:cNvSpPr>
            <a:spLocks noGrp="1"/>
          </p:cNvSpPr>
          <p:nvPr>
            <p:ph type="sldNum" sz="quarter" idx="12"/>
          </p:nvPr>
        </p:nvSpPr>
        <p:spPr>
          <a:xfrm>
            <a:off x="8737600" y="6245225"/>
            <a:ext cx="2844800" cy="476250"/>
          </a:xfrm>
        </p:spPr>
        <p:txBody>
          <a:bodyPr/>
          <a:lstStyle>
            <a:lvl1pPr>
              <a:defRPr/>
            </a:lvl1pPr>
          </a:lstStyle>
          <a:p>
            <a:fld id="{AA723D9C-373B-458B-8477-5862649AE694}" type="slidenum">
              <a:rPr lang="en-US" altLang="es-MX"/>
              <a:pPr/>
              <a:t>‹Nº›</a:t>
            </a:fld>
            <a:endParaRPr lang="en-US" altLang="es-MX"/>
          </a:p>
        </p:txBody>
      </p:sp>
    </p:spTree>
    <p:extLst>
      <p:ext uri="{BB962C8B-B14F-4D97-AF65-F5344CB8AC3E}">
        <p14:creationId xmlns:p14="http://schemas.microsoft.com/office/powerpoint/2010/main" val="3815893298"/>
      </p:ext>
    </p:extLst>
  </p:cSld>
  <p:clrMapOvr>
    <a:masterClrMapping/>
  </p:clrMapOvr>
  <p:transition spd="med">
    <p:wipe dir="d"/>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xOverObj">
  <p:cSld name="Título y texto encima de l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79D890-2F20-476B-B965-CFC7482B1EBD}"/>
              </a:ext>
            </a:extLst>
          </p:cNvPr>
          <p:cNvSpPr>
            <a:spLocks noGrp="1"/>
          </p:cNvSpPr>
          <p:nvPr>
            <p:ph type="title"/>
          </p:nvPr>
        </p:nvSpPr>
        <p:spPr>
          <a:xfrm>
            <a:off x="1930400" y="274638"/>
            <a:ext cx="9652000" cy="1143000"/>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38A3D6C-E6DD-47C8-A6EA-A0CCE9E164B9}"/>
              </a:ext>
            </a:extLst>
          </p:cNvPr>
          <p:cNvSpPr>
            <a:spLocks noGrp="1"/>
          </p:cNvSpPr>
          <p:nvPr>
            <p:ph type="body" sz="half" idx="1"/>
          </p:nvPr>
        </p:nvSpPr>
        <p:spPr>
          <a:xfrm>
            <a:off x="609600" y="1600200"/>
            <a:ext cx="10972800" cy="21859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0059BAA-C38A-46A1-BB77-03EBC3369F03}"/>
              </a:ext>
            </a:extLst>
          </p:cNvPr>
          <p:cNvSpPr>
            <a:spLocks noGrp="1"/>
          </p:cNvSpPr>
          <p:nvPr>
            <p:ph sz="half" idx="2"/>
          </p:nvPr>
        </p:nvSpPr>
        <p:spPr>
          <a:xfrm>
            <a:off x="609600" y="3938589"/>
            <a:ext cx="10972800" cy="2187575"/>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07E75D71-AD82-4209-B19C-C007F092A5FB}"/>
              </a:ext>
            </a:extLst>
          </p:cNvPr>
          <p:cNvSpPr>
            <a:spLocks noGrp="1"/>
          </p:cNvSpPr>
          <p:nvPr>
            <p:ph type="dt" sz="half" idx="10"/>
          </p:nvPr>
        </p:nvSpPr>
        <p:spPr>
          <a:xfrm>
            <a:off x="609600" y="6245225"/>
            <a:ext cx="2844800" cy="476250"/>
          </a:xfrm>
        </p:spPr>
        <p:txBody>
          <a:bodyPr/>
          <a:lstStyle>
            <a:lvl1pPr>
              <a:defRPr/>
            </a:lvl1pPr>
          </a:lstStyle>
          <a:p>
            <a:fld id="{0FD4812B-A83A-411C-8730-576C215BC247}" type="datetime1">
              <a:rPr lang="es-MX" altLang="es-MX" smtClean="0"/>
              <a:t>24/06/2024</a:t>
            </a:fld>
            <a:endParaRPr lang="en-US" altLang="es-MX"/>
          </a:p>
        </p:txBody>
      </p:sp>
      <p:sp>
        <p:nvSpPr>
          <p:cNvPr id="6" name="Marcador de pie de página 5">
            <a:extLst>
              <a:ext uri="{FF2B5EF4-FFF2-40B4-BE49-F238E27FC236}">
                <a16:creationId xmlns:a16="http://schemas.microsoft.com/office/drawing/2014/main" id="{CAE5B371-AB8E-4568-A91D-6AFA853C5005}"/>
              </a:ext>
            </a:extLst>
          </p:cNvPr>
          <p:cNvSpPr>
            <a:spLocks noGrp="1"/>
          </p:cNvSpPr>
          <p:nvPr>
            <p:ph type="ftr" sz="quarter" idx="11"/>
          </p:nvPr>
        </p:nvSpPr>
        <p:spPr>
          <a:xfrm>
            <a:off x="4165600" y="6245225"/>
            <a:ext cx="3860800" cy="476250"/>
          </a:xfrm>
        </p:spPr>
        <p:txBody>
          <a:bodyPr/>
          <a:lstStyle>
            <a:lvl1pPr>
              <a:defRPr/>
            </a:lvl1pPr>
          </a:lstStyle>
          <a:p>
            <a:r>
              <a:rPr lang="en-US" altLang="es-MX"/>
              <a:t>CS590D</a:t>
            </a:r>
          </a:p>
        </p:txBody>
      </p:sp>
      <p:sp>
        <p:nvSpPr>
          <p:cNvPr id="7" name="Marcador de número de diapositiva 6">
            <a:extLst>
              <a:ext uri="{FF2B5EF4-FFF2-40B4-BE49-F238E27FC236}">
                <a16:creationId xmlns:a16="http://schemas.microsoft.com/office/drawing/2014/main" id="{234852DE-7477-4A68-8376-C7031233887B}"/>
              </a:ext>
            </a:extLst>
          </p:cNvPr>
          <p:cNvSpPr>
            <a:spLocks noGrp="1"/>
          </p:cNvSpPr>
          <p:nvPr>
            <p:ph type="sldNum" sz="quarter" idx="12"/>
          </p:nvPr>
        </p:nvSpPr>
        <p:spPr>
          <a:xfrm>
            <a:off x="8737600" y="6245225"/>
            <a:ext cx="2844800" cy="476250"/>
          </a:xfrm>
        </p:spPr>
        <p:txBody>
          <a:bodyPr/>
          <a:lstStyle>
            <a:lvl1pPr>
              <a:defRPr/>
            </a:lvl1pPr>
          </a:lstStyle>
          <a:p>
            <a:fld id="{12ADC8F0-6D65-4EF7-B8B2-BCBE08475311}" type="slidenum">
              <a:rPr lang="en-US" altLang="es-MX"/>
              <a:pPr/>
              <a:t>‹Nº›</a:t>
            </a:fld>
            <a:endParaRPr lang="en-US" altLang="es-MX"/>
          </a:p>
        </p:txBody>
      </p:sp>
    </p:spTree>
    <p:extLst>
      <p:ext uri="{BB962C8B-B14F-4D97-AF65-F5344CB8AC3E}">
        <p14:creationId xmlns:p14="http://schemas.microsoft.com/office/powerpoint/2010/main" val="1966809850"/>
      </p:ext>
    </p:extLst>
  </p:cSld>
  <p:clrMapOvr>
    <a:masterClrMapping/>
  </p:clrMapOvr>
  <p:transition spd="med">
    <p:wipe di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2CB96F6-B707-49A3-B5B0-9273A67892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49AE418-3F80-485E-88D0-0C02B7D0B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0E3E6A5-890F-4B63-B781-F04CA0C038F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B0EA7E-DC41-4A62-9388-03659E503108}" type="datetimeFigureOut">
              <a:rPr lang="es-MX" smtClean="0"/>
              <a:t>24/06/2024</a:t>
            </a:fld>
            <a:endParaRPr lang="es-MX"/>
          </a:p>
        </p:txBody>
      </p:sp>
      <p:sp>
        <p:nvSpPr>
          <p:cNvPr id="5" name="Marcador de pie de página 4">
            <a:extLst>
              <a:ext uri="{FF2B5EF4-FFF2-40B4-BE49-F238E27FC236}">
                <a16:creationId xmlns:a16="http://schemas.microsoft.com/office/drawing/2014/main" id="{D74BF51A-00A8-4EFF-97E4-8792A031BC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76712487-8677-463C-B241-BDE852A1C2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DE2535-ED24-428D-964B-FA17294D97CB}" type="slidenum">
              <a:rPr lang="es-MX" smtClean="0"/>
              <a:t>‹Nº›</a:t>
            </a:fld>
            <a:endParaRPr lang="es-MX"/>
          </a:p>
        </p:txBody>
      </p:sp>
    </p:spTree>
    <p:extLst>
      <p:ext uri="{BB962C8B-B14F-4D97-AF65-F5344CB8AC3E}">
        <p14:creationId xmlns:p14="http://schemas.microsoft.com/office/powerpoint/2010/main" val="27586407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9103F5C-3485-40D7-8207-D013B2390E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9CB631E3-19C2-4A4D-9A25-B9F1249851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571236B-50AC-4649-930F-31A77D5E29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04DC3-ACD9-4895-8335-859A75F7432A}" type="datetime1">
              <a:rPr lang="es-MX" smtClean="0"/>
              <a:t>24/06/2024</a:t>
            </a:fld>
            <a:endParaRPr lang="es-MX"/>
          </a:p>
        </p:txBody>
      </p:sp>
      <p:sp>
        <p:nvSpPr>
          <p:cNvPr id="5" name="Marcador de pie de página 4">
            <a:extLst>
              <a:ext uri="{FF2B5EF4-FFF2-40B4-BE49-F238E27FC236}">
                <a16:creationId xmlns:a16="http://schemas.microsoft.com/office/drawing/2014/main" id="{3D112A64-9E65-48EF-878D-2AD53497C9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MX"/>
              <a:t>CS590D</a:t>
            </a:r>
          </a:p>
        </p:txBody>
      </p:sp>
      <p:sp>
        <p:nvSpPr>
          <p:cNvPr id="6" name="Marcador de número de diapositiva 5">
            <a:extLst>
              <a:ext uri="{FF2B5EF4-FFF2-40B4-BE49-F238E27FC236}">
                <a16:creationId xmlns:a16="http://schemas.microsoft.com/office/drawing/2014/main" id="{7D51D403-ED11-43C5-9925-9C81A7F9FE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76F8B6-E255-437C-9369-D703609F9272}" type="slidenum">
              <a:rPr lang="es-MX" smtClean="0"/>
              <a:t>‹Nº›</a:t>
            </a:fld>
            <a:endParaRPr lang="es-MX"/>
          </a:p>
        </p:txBody>
      </p:sp>
    </p:spTree>
    <p:extLst>
      <p:ext uri="{BB962C8B-B14F-4D97-AF65-F5344CB8AC3E}">
        <p14:creationId xmlns:p14="http://schemas.microsoft.com/office/powerpoint/2010/main" val="107834299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azaro.bustio@ibero.mx"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3.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slideLayout" Target="../slideLayouts/slideLayout2.xml"/><Relationship Id="rId4" Type="http://schemas.openxmlformats.org/officeDocument/2006/relationships/image" Target="../media/image26.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3.emf"/><Relationship Id="rId7" Type="http://schemas.openxmlformats.org/officeDocument/2006/relationships/image" Target="../media/image35.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34.emf"/><Relationship Id="rId4" Type="http://schemas.openxmlformats.org/officeDocument/2006/relationships/oleObject" Target="../embeddings/oleObject2.bin"/></Relationships>
</file>

<file path=ppt/slides/_rels/slide36.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oleObject" Target="../embeddings/oleObject6.bin"/></Relationships>
</file>

<file path=ppt/slides/_rels/slide38.xml.rels><?xml version="1.0" encoding="UTF-8" standalone="yes"?>
<Relationships xmlns="http://schemas.openxmlformats.org/package/2006/relationships"><Relationship Id="rId3" Type="http://schemas.openxmlformats.org/officeDocument/2006/relationships/image" Target="../media/image37.emf"/><Relationship Id="rId7" Type="http://schemas.openxmlformats.org/officeDocument/2006/relationships/image" Target="../media/image40.wmf"/><Relationship Id="rId2" Type="http://schemas.openxmlformats.org/officeDocument/2006/relationships/oleObject" Target="../embeddings/oleObject7.bin"/><Relationship Id="rId1" Type="http://schemas.openxmlformats.org/officeDocument/2006/relationships/slideLayout" Target="../slideLayouts/slideLayout2.xml"/><Relationship Id="rId6" Type="http://schemas.openxmlformats.org/officeDocument/2006/relationships/image" Target="../media/image39.wmf"/><Relationship Id="rId5" Type="http://schemas.openxmlformats.org/officeDocument/2006/relationships/image" Target="../media/image38.emf"/><Relationship Id="rId4" Type="http://schemas.openxmlformats.org/officeDocument/2006/relationships/oleObject" Target="../embeddings/oleObject8.bin"/></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47.xml.rels><?xml version="1.0" encoding="UTF-8" standalone="yes"?>
<Relationships xmlns="http://schemas.openxmlformats.org/package/2006/relationships"><Relationship Id="rId2" Type="http://schemas.openxmlformats.org/officeDocument/2006/relationships/image" Target="../media/image51.jfif"/><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8.xml"/><Relationship Id="rId1" Type="http://schemas.openxmlformats.org/officeDocument/2006/relationships/slideLayout" Target="../slideLayouts/slideLayout17.xml"/><Relationship Id="rId4" Type="http://schemas.openxmlformats.org/officeDocument/2006/relationships/image" Target="../media/image52.wmf"/></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4.xml"/><Relationship Id="rId1" Type="http://schemas.openxmlformats.org/officeDocument/2006/relationships/slideLayout" Target="../slideLayouts/slideLayout17.xml"/><Relationship Id="rId4" Type="http://schemas.openxmlformats.org/officeDocument/2006/relationships/image" Target="../media/image52.w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15.xml"/><Relationship Id="rId1" Type="http://schemas.openxmlformats.org/officeDocument/2006/relationships/slideLayout" Target="../slideLayouts/slideLayout17.xml"/><Relationship Id="rId4" Type="http://schemas.openxmlformats.org/officeDocument/2006/relationships/image" Target="../media/image53.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54.emf"/></Relationships>
</file>

<file path=ppt/slides/_rels/slide6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image" Target="../media/image55.w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8.xml"/><Relationship Id="rId1" Type="http://schemas.openxmlformats.org/officeDocument/2006/relationships/slideLayout" Target="../slideLayouts/slideLayout17.xml"/><Relationship Id="rId6" Type="http://schemas.openxmlformats.org/officeDocument/2006/relationships/image" Target="../media/image57.wmf"/><Relationship Id="rId5" Type="http://schemas.openxmlformats.org/officeDocument/2006/relationships/oleObject" Target="../embeddings/oleObject15.bin"/><Relationship Id="rId4" Type="http://schemas.openxmlformats.org/officeDocument/2006/relationships/image" Target="../media/image56.w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19.xml"/><Relationship Id="rId1" Type="http://schemas.openxmlformats.org/officeDocument/2006/relationships/slideLayout" Target="../slideLayouts/slideLayout17.xml"/><Relationship Id="rId4" Type="http://schemas.openxmlformats.org/officeDocument/2006/relationships/image" Target="../media/image58.wmf"/></Relationships>
</file>

<file path=ppt/slides/_rels/slide7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21.xml"/><Relationship Id="rId1" Type="http://schemas.openxmlformats.org/officeDocument/2006/relationships/slideLayout" Target="../slideLayouts/slideLayout17.xml"/><Relationship Id="rId4" Type="http://schemas.openxmlformats.org/officeDocument/2006/relationships/image" Target="../media/image60.wmf"/></Relationships>
</file>

<file path=ppt/slides/_rels/slide74.xml.rels><?xml version="1.0" encoding="UTF-8" standalone="yes"?>
<Relationships xmlns="http://schemas.openxmlformats.org/package/2006/relationships"><Relationship Id="rId2" Type="http://schemas.openxmlformats.org/officeDocument/2006/relationships/image" Target="../media/image61.gif"/><Relationship Id="rId1" Type="http://schemas.openxmlformats.org/officeDocument/2006/relationships/slideLayout" Target="../slideLayouts/slideLayout1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7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7.xml"/></Relationships>
</file>

<file path=ppt/slides/_rels/slide7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65.wmf"/><Relationship Id="rId7" Type="http://schemas.openxmlformats.org/officeDocument/2006/relationships/image" Target="../media/image67.wmf"/><Relationship Id="rId2" Type="http://schemas.openxmlformats.org/officeDocument/2006/relationships/oleObject" Target="../embeddings/oleObject18.bin"/><Relationship Id="rId1" Type="http://schemas.openxmlformats.org/officeDocument/2006/relationships/slideLayout" Target="../slideLayouts/slideLayout17.xml"/><Relationship Id="rId6" Type="http://schemas.openxmlformats.org/officeDocument/2006/relationships/oleObject" Target="../embeddings/oleObject20.bin"/><Relationship Id="rId5" Type="http://schemas.openxmlformats.org/officeDocument/2006/relationships/image" Target="../media/image66.wmf"/><Relationship Id="rId4" Type="http://schemas.openxmlformats.org/officeDocument/2006/relationships/oleObject" Target="../embeddings/oleObject19.bin"/><Relationship Id="rId9" Type="http://schemas.openxmlformats.org/officeDocument/2006/relationships/image" Target="../media/image68.wmf"/></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4.xml"/><Relationship Id="rId1" Type="http://schemas.openxmlformats.org/officeDocument/2006/relationships/slideLayout" Target="../slideLayouts/slideLayout17.xml"/><Relationship Id="rId4" Type="http://schemas.openxmlformats.org/officeDocument/2006/relationships/image" Target="../media/image7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4.xml.rels><?xml version="1.0" encoding="UTF-8" standalone="yes"?>
<Relationships xmlns="http://schemas.openxmlformats.org/package/2006/relationships"><Relationship Id="rId3" Type="http://schemas.openxmlformats.org/officeDocument/2006/relationships/image" Target="../media/image73.wmf"/><Relationship Id="rId7" Type="http://schemas.openxmlformats.org/officeDocument/2006/relationships/image" Target="../media/image77.wmf"/><Relationship Id="rId2" Type="http://schemas.openxmlformats.org/officeDocument/2006/relationships/image" Target="../media/image72.wmf"/><Relationship Id="rId1" Type="http://schemas.openxmlformats.org/officeDocument/2006/relationships/slideLayout" Target="../slideLayouts/slideLayout17.xml"/><Relationship Id="rId6" Type="http://schemas.openxmlformats.org/officeDocument/2006/relationships/image" Target="../media/image76.wmf"/><Relationship Id="rId5" Type="http://schemas.openxmlformats.org/officeDocument/2006/relationships/image" Target="../media/image75.wmf"/><Relationship Id="rId4" Type="http://schemas.openxmlformats.org/officeDocument/2006/relationships/image" Target="../media/image74.wmf"/></Relationships>
</file>

<file path=ppt/slides/_rels/slide10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11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7.xml"/></Relationships>
</file>

<file path=ppt/slides/_rels/slide11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0.xml"/><Relationship Id="rId1" Type="http://schemas.openxmlformats.org/officeDocument/2006/relationships/slideLayout" Target="../slideLayouts/slideLayout17.xml"/><Relationship Id="rId5" Type="http://schemas.openxmlformats.org/officeDocument/2006/relationships/image" Target="../media/image81.png"/><Relationship Id="rId4" Type="http://schemas.openxmlformats.org/officeDocument/2006/relationships/image" Target="../media/image80.png"/></Relationships>
</file>

<file path=ppt/slides/_rels/slide11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1.xml"/><Relationship Id="rId1" Type="http://schemas.openxmlformats.org/officeDocument/2006/relationships/slideLayout" Target="../slideLayouts/slideLayout17.xml"/><Relationship Id="rId4" Type="http://schemas.openxmlformats.org/officeDocument/2006/relationships/image" Target="../media/image8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8.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4" name="Rectangle 7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5" name="Rectangle 7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76" name="Rectangle 7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Rectangle 7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Freeform: Shape 8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ítulo 1">
            <a:extLst>
              <a:ext uri="{FF2B5EF4-FFF2-40B4-BE49-F238E27FC236}">
                <a16:creationId xmlns:a16="http://schemas.microsoft.com/office/drawing/2014/main" id="{82304D6C-89FE-44C3-A103-D86B038368F1}"/>
              </a:ext>
            </a:extLst>
          </p:cNvPr>
          <p:cNvSpPr>
            <a:spLocks noGrp="1"/>
          </p:cNvSpPr>
          <p:nvPr>
            <p:ph type="ctrTitle"/>
          </p:nvPr>
        </p:nvSpPr>
        <p:spPr>
          <a:xfrm>
            <a:off x="660041" y="2767106"/>
            <a:ext cx="2880828" cy="3071906"/>
          </a:xfrm>
        </p:spPr>
        <p:txBody>
          <a:bodyPr anchor="t">
            <a:normAutofit/>
          </a:bodyPr>
          <a:lstStyle/>
          <a:p>
            <a:pPr algn="l"/>
            <a:r>
              <a:rPr lang="es-MX" sz="4000" dirty="0">
                <a:solidFill>
                  <a:srgbClr val="FFFFFF"/>
                </a:solidFill>
              </a:rPr>
              <a:t>Análisis Exploratorio de Datos</a:t>
            </a:r>
          </a:p>
        </p:txBody>
      </p:sp>
      <p:sp>
        <p:nvSpPr>
          <p:cNvPr id="3" name="Subtítulo 2">
            <a:extLst>
              <a:ext uri="{FF2B5EF4-FFF2-40B4-BE49-F238E27FC236}">
                <a16:creationId xmlns:a16="http://schemas.microsoft.com/office/drawing/2014/main" id="{97D8711E-78BD-4DBD-BE06-25BC1A231318}"/>
              </a:ext>
            </a:extLst>
          </p:cNvPr>
          <p:cNvSpPr>
            <a:spLocks noGrp="1"/>
          </p:cNvSpPr>
          <p:nvPr>
            <p:ph type="subTitle" idx="1"/>
          </p:nvPr>
        </p:nvSpPr>
        <p:spPr>
          <a:xfrm>
            <a:off x="660042" y="806824"/>
            <a:ext cx="2919738" cy="1494117"/>
          </a:xfrm>
        </p:spPr>
        <p:txBody>
          <a:bodyPr anchor="b">
            <a:normAutofit/>
          </a:bodyPr>
          <a:lstStyle/>
          <a:p>
            <a:pPr algn="l"/>
            <a:r>
              <a:rPr lang="es-MX" sz="2000" dirty="0">
                <a:solidFill>
                  <a:srgbClr val="FFFFFF"/>
                </a:solidFill>
              </a:rPr>
              <a:t>Dr. Lázaro Bustio Martínez</a:t>
            </a:r>
          </a:p>
          <a:p>
            <a:pPr algn="l"/>
            <a:r>
              <a:rPr lang="es-MX" sz="2000" dirty="0">
                <a:solidFill>
                  <a:srgbClr val="FFFFFF"/>
                </a:solidFill>
                <a:hlinkClick r:id="rId3"/>
              </a:rPr>
              <a:t>lazaro.bustio@ibero</a:t>
            </a:r>
            <a:r>
              <a:rPr lang="es-MX" sz="2000">
                <a:solidFill>
                  <a:srgbClr val="FFFFFF"/>
                </a:solidFill>
                <a:hlinkClick r:id="rId3"/>
              </a:rPr>
              <a:t>.mx</a:t>
            </a:r>
            <a:endParaRPr lang="es-MX" sz="2000" dirty="0">
              <a:solidFill>
                <a:srgbClr val="FFFFFF"/>
              </a:solidFill>
            </a:endParaRPr>
          </a:p>
        </p:txBody>
      </p:sp>
      <p:pic>
        <p:nvPicPr>
          <p:cNvPr id="7172" name="Picture 4" descr="Basic EDA/Data cleaning in Jupiter Notebook | by Awab Idris | Medium">
            <a:extLst>
              <a:ext uri="{FF2B5EF4-FFF2-40B4-BE49-F238E27FC236}">
                <a16:creationId xmlns:a16="http://schemas.microsoft.com/office/drawing/2014/main" id="{C04F0F06-1635-4F16-AF81-72A2AF70E12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153510" y="467208"/>
            <a:ext cx="5923584" cy="5923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4807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BD23F537-45AE-4026-8279-0A7F2969CD08}"/>
              </a:ext>
            </a:extLst>
          </p:cNvPr>
          <p:cNvSpPr>
            <a:spLocks noGrp="1"/>
          </p:cNvSpPr>
          <p:nvPr>
            <p:ph type="title"/>
          </p:nvPr>
        </p:nvSpPr>
        <p:spPr>
          <a:xfrm>
            <a:off x="826396" y="586855"/>
            <a:ext cx="4230100" cy="3387497"/>
          </a:xfrm>
        </p:spPr>
        <p:txBody>
          <a:bodyPr anchor="b">
            <a:normAutofit/>
          </a:bodyPr>
          <a:lstStyle/>
          <a:p>
            <a:pPr algn="r"/>
            <a:r>
              <a:rPr lang="es-MX" sz="4000">
                <a:solidFill>
                  <a:srgbClr val="FFFFFF"/>
                </a:solidFill>
              </a:rPr>
              <a:t>Agenda</a:t>
            </a:r>
          </a:p>
        </p:txBody>
      </p:sp>
      <p:sp>
        <p:nvSpPr>
          <p:cNvPr id="3" name="Marcador de contenido 2">
            <a:extLst>
              <a:ext uri="{FF2B5EF4-FFF2-40B4-BE49-F238E27FC236}">
                <a16:creationId xmlns:a16="http://schemas.microsoft.com/office/drawing/2014/main" id="{4060C38F-8746-47AB-AB7B-5896529B7352}"/>
              </a:ext>
            </a:extLst>
          </p:cNvPr>
          <p:cNvSpPr>
            <a:spLocks noGrp="1"/>
          </p:cNvSpPr>
          <p:nvPr>
            <p:ph idx="1"/>
          </p:nvPr>
        </p:nvSpPr>
        <p:spPr>
          <a:xfrm>
            <a:off x="6503158" y="649480"/>
            <a:ext cx="4862447" cy="5546047"/>
          </a:xfrm>
        </p:spPr>
        <p:txBody>
          <a:bodyPr anchor="ctr">
            <a:normAutofit/>
          </a:bodyPr>
          <a:lstStyle/>
          <a:p>
            <a:r>
              <a:rPr lang="es-MX" sz="2000" dirty="0"/>
              <a:t>Elementos de la estadística descriptiva</a:t>
            </a:r>
          </a:p>
          <a:p>
            <a:pPr lvl="1"/>
            <a:r>
              <a:rPr lang="es-MX" sz="2000" dirty="0"/>
              <a:t>Análisis exploratorio de datos</a:t>
            </a:r>
          </a:p>
          <a:p>
            <a:r>
              <a:rPr lang="es-MX" sz="2000" dirty="0"/>
              <a:t>Identificar los elementos de estadística descriptiva y aplicarlos a un </a:t>
            </a:r>
            <a:r>
              <a:rPr lang="es-MX" sz="2000" dirty="0" err="1"/>
              <a:t>dataset</a:t>
            </a:r>
            <a:r>
              <a:rPr lang="es-MX" sz="2000" dirty="0"/>
              <a:t> de estudio.</a:t>
            </a:r>
          </a:p>
        </p:txBody>
      </p:sp>
    </p:spTree>
    <p:extLst>
      <p:ext uri="{BB962C8B-B14F-4D97-AF65-F5344CB8AC3E}">
        <p14:creationId xmlns:p14="http://schemas.microsoft.com/office/powerpoint/2010/main" val="7434098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49BC0EF-833D-4486-9A7F-320987E0BAD9}"/>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Introduction</a:t>
            </a:r>
          </a:p>
        </p:txBody>
      </p:sp>
      <p:sp>
        <p:nvSpPr>
          <p:cNvPr id="3" name="Marcador de contenido 2">
            <a:extLst>
              <a:ext uri="{FF2B5EF4-FFF2-40B4-BE49-F238E27FC236}">
                <a16:creationId xmlns:a16="http://schemas.microsoft.com/office/drawing/2014/main" id="{B9AD7083-2273-45E0-BCB9-9C2FDFC90579}"/>
              </a:ext>
            </a:extLst>
          </p:cNvPr>
          <p:cNvSpPr>
            <a:spLocks noGrp="1"/>
          </p:cNvSpPr>
          <p:nvPr>
            <p:ph idx="1"/>
          </p:nvPr>
        </p:nvSpPr>
        <p:spPr>
          <a:xfrm>
            <a:off x="1371599" y="2318197"/>
            <a:ext cx="9724031" cy="3683358"/>
          </a:xfrm>
        </p:spPr>
        <p:txBody>
          <a:bodyPr anchor="ctr">
            <a:normAutofit/>
          </a:bodyPr>
          <a:lstStyle/>
          <a:p>
            <a:pPr algn="just"/>
            <a:r>
              <a:rPr lang="en-US" sz="2000" dirty="0"/>
              <a:t>In all research, and before drawing conclusions about the objectives and hypotheses proposed, it is necessary to carry out a preliminary and exploratory analysis of the data in order to detect errors in the coding of the variables, eliminate inconsistencies, evaluate the magnitude and type of missing data, learn about the basic characteristics of the distribution of the variables (normality, equality of variances, presence of outliers, linearity, etc.) and make progress on the relationships between them. </a:t>
            </a:r>
            <a:endParaRPr lang="es-MX" sz="2000" dirty="0"/>
          </a:p>
        </p:txBody>
      </p:sp>
    </p:spTree>
    <p:extLst>
      <p:ext uri="{BB962C8B-B14F-4D97-AF65-F5344CB8AC3E}">
        <p14:creationId xmlns:p14="http://schemas.microsoft.com/office/powerpoint/2010/main" val="776730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8">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291622E-D3B5-485C-BA88-7D1F5A64C527}"/>
              </a:ext>
            </a:extLst>
          </p:cNvPr>
          <p:cNvSpPr>
            <a:spLocks noGrp="1"/>
          </p:cNvSpPr>
          <p:nvPr>
            <p:ph type="title"/>
          </p:nvPr>
        </p:nvSpPr>
        <p:spPr>
          <a:xfrm>
            <a:off x="1136397" y="502020"/>
            <a:ext cx="5323715" cy="1642970"/>
          </a:xfrm>
        </p:spPr>
        <p:txBody>
          <a:bodyPr anchor="b">
            <a:normAutofit/>
          </a:bodyPr>
          <a:lstStyle/>
          <a:p>
            <a:r>
              <a:rPr lang="es-MX" sz="4000"/>
              <a:t>Introduction</a:t>
            </a:r>
          </a:p>
        </p:txBody>
      </p:sp>
      <p:sp>
        <p:nvSpPr>
          <p:cNvPr id="3" name="Marcador de contenido 2">
            <a:extLst>
              <a:ext uri="{FF2B5EF4-FFF2-40B4-BE49-F238E27FC236}">
                <a16:creationId xmlns:a16="http://schemas.microsoft.com/office/drawing/2014/main" id="{8907E804-F904-4CD5-955D-99D11DF523D8}"/>
              </a:ext>
            </a:extLst>
          </p:cNvPr>
          <p:cNvSpPr>
            <a:spLocks noGrp="1"/>
          </p:cNvSpPr>
          <p:nvPr>
            <p:ph idx="1"/>
          </p:nvPr>
        </p:nvSpPr>
        <p:spPr>
          <a:xfrm>
            <a:off x="1144923" y="2405894"/>
            <a:ext cx="5315189" cy="3535083"/>
          </a:xfrm>
        </p:spPr>
        <p:txBody>
          <a:bodyPr anchor="t">
            <a:normAutofit/>
          </a:bodyPr>
          <a:lstStyle/>
          <a:p>
            <a:pPr algn="just"/>
            <a:r>
              <a:rPr lang="en-US" sz="2000" dirty="0"/>
              <a:t>Most of these objectives are achieved by performing a descriptive analysis of the variables. Specifically, it is used measures of central tendency and dispersion to describe the characteristics of quantitative variables and tables of frequencies and percentages for qualitative variables.</a:t>
            </a:r>
            <a:endParaRPr lang="es-MX" sz="2000" dirty="0"/>
          </a:p>
        </p:txBody>
      </p:sp>
      <p:sp>
        <p:nvSpPr>
          <p:cNvPr id="20" name="Rectangle 10">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2">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14">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16">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4" name="Group 4">
            <a:extLst>
              <a:ext uri="{FF2B5EF4-FFF2-40B4-BE49-F238E27FC236}">
                <a16:creationId xmlns:a16="http://schemas.microsoft.com/office/drawing/2014/main" id="{AC19A2F4-D5B3-469B-B422-E91FD74DE96A}"/>
              </a:ext>
            </a:extLst>
          </p:cNvPr>
          <p:cNvGraphicFramePr>
            <a:graphicFrameLocks noGrp="1"/>
          </p:cNvGraphicFramePr>
          <p:nvPr>
            <p:extLst>
              <p:ext uri="{D42A27DB-BD31-4B8C-83A1-F6EECF244321}">
                <p14:modId xmlns:p14="http://schemas.microsoft.com/office/powerpoint/2010/main" val="1720569326"/>
              </p:ext>
            </p:extLst>
          </p:nvPr>
        </p:nvGraphicFramePr>
        <p:xfrm>
          <a:off x="7075967" y="1811367"/>
          <a:ext cx="4170530" cy="3285743"/>
        </p:xfrm>
        <a:graphic>
          <a:graphicData uri="http://schemas.openxmlformats.org/drawingml/2006/table">
            <a:tbl>
              <a:tblPr/>
              <a:tblGrid>
                <a:gridCol w="1109930">
                  <a:extLst>
                    <a:ext uri="{9D8B030D-6E8A-4147-A177-3AD203B41FA5}">
                      <a16:colId xmlns:a16="http://schemas.microsoft.com/office/drawing/2014/main" val="4256522654"/>
                    </a:ext>
                  </a:extLst>
                </a:gridCol>
                <a:gridCol w="1508175">
                  <a:extLst>
                    <a:ext uri="{9D8B030D-6E8A-4147-A177-3AD203B41FA5}">
                      <a16:colId xmlns:a16="http://schemas.microsoft.com/office/drawing/2014/main" val="3617332689"/>
                    </a:ext>
                  </a:extLst>
                </a:gridCol>
                <a:gridCol w="1552425">
                  <a:extLst>
                    <a:ext uri="{9D8B030D-6E8A-4147-A177-3AD203B41FA5}">
                      <a16:colId xmlns:a16="http://schemas.microsoft.com/office/drawing/2014/main" val="1820423866"/>
                    </a:ext>
                  </a:extLst>
                </a:gridCol>
              </a:tblGrid>
              <a:tr h="500735">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_tradnl" altLang="es-MX" sz="1300" b="0" i="0" u="none" strike="noStrike" cap="none" normalizeH="0" baseline="0">
                          <a:ln>
                            <a:noFill/>
                          </a:ln>
                          <a:solidFill>
                            <a:schemeClr val="tx1"/>
                          </a:solidFill>
                          <a:effectLst/>
                          <a:latin typeface="Arial" panose="020B0604020202020204" pitchFamily="34" charset="0"/>
                        </a:rPr>
                        <a:t>Tipo de variable</a:t>
                      </a:r>
                      <a:endParaRPr kumimoji="0" lang="es-ES" altLang="es-MX" sz="1300" b="0" i="0" u="none" strike="noStrike" cap="none" normalizeH="0" baseline="0">
                        <a:ln>
                          <a:noFill/>
                        </a:ln>
                        <a:solidFill>
                          <a:schemeClr val="tx1"/>
                        </a:solidFill>
                        <a:effectLst/>
                        <a:latin typeface="Arial" panose="020B0604020202020204" pitchFamily="34" charset="0"/>
                      </a:endParaRPr>
                    </a:p>
                  </a:txBody>
                  <a:tcPr marL="80924" marR="80924" marT="42080" marB="42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_tradnl" altLang="es-MX" sz="1300" b="0" i="0" u="none" strike="noStrike" cap="none" normalizeH="0" baseline="0">
                          <a:ln>
                            <a:noFill/>
                          </a:ln>
                          <a:solidFill>
                            <a:schemeClr val="tx1"/>
                          </a:solidFill>
                          <a:effectLst/>
                          <a:latin typeface="Arial" panose="020B0604020202020204" pitchFamily="34" charset="0"/>
                        </a:rPr>
                        <a:t>Índices analíticos</a:t>
                      </a:r>
                      <a:endParaRPr kumimoji="0" lang="es-ES" altLang="es-MX" sz="1300" b="0" i="0" u="none" strike="noStrike" cap="none" normalizeH="0" baseline="0">
                        <a:ln>
                          <a:noFill/>
                        </a:ln>
                        <a:solidFill>
                          <a:schemeClr val="tx1"/>
                        </a:solidFill>
                        <a:effectLst/>
                        <a:latin typeface="Arial" panose="020B0604020202020204" pitchFamily="34" charset="0"/>
                      </a:endParaRPr>
                    </a:p>
                  </a:txBody>
                  <a:tcPr marL="80924" marR="80924" marT="42080" marB="42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_tradnl" altLang="es-MX" sz="1300" b="0" i="0" u="none" strike="noStrike" cap="none" normalizeH="0" baseline="0">
                          <a:ln>
                            <a:noFill/>
                          </a:ln>
                          <a:solidFill>
                            <a:schemeClr val="tx1"/>
                          </a:solidFill>
                          <a:effectLst/>
                          <a:latin typeface="Arial" panose="020B0604020202020204" pitchFamily="34" charset="0"/>
                        </a:rPr>
                        <a:t>Representaciones gráficas</a:t>
                      </a:r>
                      <a:endParaRPr kumimoji="0" lang="es-ES" altLang="es-MX" sz="1300" b="0" i="0" u="none" strike="noStrike" cap="none" normalizeH="0" baseline="0">
                        <a:ln>
                          <a:noFill/>
                        </a:ln>
                        <a:solidFill>
                          <a:schemeClr val="tx1"/>
                        </a:solidFill>
                        <a:effectLst/>
                        <a:latin typeface="Arial" panose="020B0604020202020204" pitchFamily="34" charset="0"/>
                      </a:endParaRPr>
                    </a:p>
                  </a:txBody>
                  <a:tcPr marL="80924" marR="80924" marT="42080" marB="42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24918556"/>
                  </a:ext>
                </a:extLst>
              </a:tr>
              <a:tr h="1690162">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_tradnl" altLang="es-MX" sz="1300" b="0" i="0" u="none" strike="noStrike" cap="none" normalizeH="0" baseline="0">
                          <a:ln>
                            <a:noFill/>
                          </a:ln>
                          <a:solidFill>
                            <a:schemeClr val="tx1"/>
                          </a:solidFill>
                          <a:effectLst/>
                          <a:latin typeface="Arial" panose="020B0604020202020204" pitchFamily="34" charset="0"/>
                        </a:rPr>
                        <a:t>Cuantitativa</a:t>
                      </a:r>
                      <a:endParaRPr kumimoji="0" lang="es-ES" altLang="es-MX" sz="1300" b="0" i="0" u="none" strike="noStrike" cap="none" normalizeH="0" baseline="0">
                        <a:ln>
                          <a:noFill/>
                        </a:ln>
                        <a:solidFill>
                          <a:schemeClr val="tx1"/>
                        </a:solidFill>
                        <a:effectLst/>
                        <a:latin typeface="Arial" panose="020B0604020202020204" pitchFamily="34" charset="0"/>
                      </a:endParaRPr>
                    </a:p>
                  </a:txBody>
                  <a:tcPr marL="80924" marR="80924" marT="42080" marB="42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_tradnl" altLang="es-MX" sz="1300" b="0" i="0" u="none" strike="noStrike" cap="none" normalizeH="0" baseline="0">
                          <a:ln>
                            <a:noFill/>
                          </a:ln>
                          <a:solidFill>
                            <a:schemeClr val="tx1"/>
                          </a:solidFill>
                          <a:effectLst/>
                          <a:latin typeface="Arial" panose="020B0604020202020204" pitchFamily="34" charset="0"/>
                        </a:rPr>
                        <a:t>media, mediana, moda, desviación típica, rango, amplitud intercuartílica, prueba de normalidad</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s-ES" altLang="es-MX" sz="1300" b="0" i="0" u="none" strike="noStrike" cap="none" normalizeH="0" baseline="0">
                        <a:ln>
                          <a:noFill/>
                        </a:ln>
                        <a:solidFill>
                          <a:schemeClr val="tx1"/>
                        </a:solidFill>
                        <a:effectLst/>
                        <a:latin typeface="Arial" panose="020B0604020202020204" pitchFamily="34" charset="0"/>
                      </a:endParaRPr>
                    </a:p>
                  </a:txBody>
                  <a:tcPr marL="80924" marR="80924" marT="42080" marB="42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_tradnl" altLang="es-MX" sz="1300" b="0" i="0" u="none" strike="noStrike" cap="none" normalizeH="0" baseline="0">
                          <a:ln>
                            <a:noFill/>
                          </a:ln>
                          <a:solidFill>
                            <a:schemeClr val="tx1"/>
                          </a:solidFill>
                          <a:effectLst/>
                          <a:latin typeface="Arial" panose="020B0604020202020204" pitchFamily="34" charset="0"/>
                        </a:rPr>
                        <a:t>histograma, gráfico de caja</a:t>
                      </a:r>
                      <a:endParaRPr kumimoji="0" lang="es-ES" altLang="es-MX" sz="1300" b="0" i="0" u="none" strike="noStrike" cap="none" normalizeH="0" baseline="0">
                        <a:ln>
                          <a:noFill/>
                        </a:ln>
                        <a:solidFill>
                          <a:schemeClr val="tx1"/>
                        </a:solidFill>
                        <a:effectLst/>
                        <a:latin typeface="Arial" panose="020B0604020202020204" pitchFamily="34" charset="0"/>
                      </a:endParaRPr>
                    </a:p>
                  </a:txBody>
                  <a:tcPr marL="80924" marR="80924" marT="42080" marB="42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349735950"/>
                  </a:ext>
                </a:extLst>
              </a:tr>
              <a:tr h="1076264">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_tradnl" altLang="es-MX" sz="1300" b="0" i="0" u="none" strike="noStrike" cap="none" normalizeH="0" baseline="0">
                          <a:ln>
                            <a:noFill/>
                          </a:ln>
                          <a:solidFill>
                            <a:schemeClr val="tx1"/>
                          </a:solidFill>
                          <a:effectLst/>
                          <a:latin typeface="Arial" panose="020B0604020202020204" pitchFamily="34" charset="0"/>
                        </a:rPr>
                        <a:t>Cualitativa</a:t>
                      </a:r>
                      <a:endParaRPr kumimoji="0" lang="es-ES" altLang="es-MX" sz="1300" b="0" i="0" u="none" strike="noStrike" cap="none" normalizeH="0" baseline="0">
                        <a:ln>
                          <a:noFill/>
                        </a:ln>
                        <a:solidFill>
                          <a:schemeClr val="tx1"/>
                        </a:solidFill>
                        <a:effectLst/>
                        <a:latin typeface="Arial" panose="020B0604020202020204" pitchFamily="34" charset="0"/>
                      </a:endParaRPr>
                    </a:p>
                  </a:txBody>
                  <a:tcPr marL="80924" marR="80924" marT="42080" marB="42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_tradnl" altLang="es-MX" sz="1300" b="0" i="0" u="none" strike="noStrike" cap="none" normalizeH="0" baseline="0">
                          <a:ln>
                            <a:noFill/>
                          </a:ln>
                          <a:solidFill>
                            <a:schemeClr val="tx1"/>
                          </a:solidFill>
                          <a:effectLst/>
                          <a:latin typeface="Arial" panose="020B0604020202020204" pitchFamily="34" charset="0"/>
                        </a:rPr>
                        <a:t>frecuencias, porcentajes, moda, etc.</a:t>
                      </a:r>
                      <a:endParaRPr kumimoji="0" lang="es-ES" altLang="es-MX" sz="1300" b="0" i="0" u="none" strike="noStrike" cap="none" normalizeH="0" baseline="0">
                        <a:ln>
                          <a:noFill/>
                        </a:ln>
                        <a:solidFill>
                          <a:schemeClr val="tx1"/>
                        </a:solidFill>
                        <a:effectLst/>
                        <a:latin typeface="Arial" panose="020B0604020202020204" pitchFamily="34" charset="0"/>
                      </a:endParaRPr>
                    </a:p>
                  </a:txBody>
                  <a:tcPr marL="80924" marR="80924" marT="42080" marB="42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defRPr sz="2800">
                          <a:solidFill>
                            <a:schemeClr val="tx1"/>
                          </a:solidFill>
                          <a:latin typeface="Arial" panose="020B0604020202020204" pitchFamily="34" charset="0"/>
                        </a:defRPr>
                      </a:lvl1pPr>
                      <a:lvl2pPr>
                        <a:spcBef>
                          <a:spcPct val="20000"/>
                        </a:spcBef>
                        <a:defRPr sz="2400">
                          <a:solidFill>
                            <a:schemeClr val="tx1"/>
                          </a:solidFill>
                          <a:latin typeface="Arial" panose="020B0604020202020204" pitchFamily="34" charset="0"/>
                        </a:defRPr>
                      </a:lvl2pPr>
                      <a:lvl3pPr>
                        <a:spcBef>
                          <a:spcPct val="20000"/>
                        </a:spcBef>
                        <a:defRPr sz="2000">
                          <a:solidFill>
                            <a:schemeClr val="tx1"/>
                          </a:solidFill>
                          <a:latin typeface="Arial" panose="020B0604020202020204" pitchFamily="34" charset="0"/>
                        </a:defRPr>
                      </a:lvl3pPr>
                      <a:lvl4pPr>
                        <a:spcBef>
                          <a:spcPct val="20000"/>
                        </a:spcBef>
                        <a:defRPr>
                          <a:solidFill>
                            <a:schemeClr val="tx1"/>
                          </a:solidFill>
                          <a:latin typeface="Arial" panose="020B0604020202020204" pitchFamily="34" charset="0"/>
                        </a:defRPr>
                      </a:lvl4pPr>
                      <a:lvl5pPr>
                        <a:spcBef>
                          <a:spcPct val="20000"/>
                        </a:spcBef>
                        <a:defRPr>
                          <a:solidFill>
                            <a:schemeClr val="tx1"/>
                          </a:solidFill>
                          <a:latin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s-ES_tradnl" altLang="es-MX" sz="1300" b="0" i="0" u="none" strike="noStrike" cap="none" normalizeH="0" baseline="0">
                          <a:ln>
                            <a:noFill/>
                          </a:ln>
                          <a:solidFill>
                            <a:schemeClr val="tx1"/>
                          </a:solidFill>
                          <a:effectLst/>
                          <a:latin typeface="Arial" panose="020B0604020202020204" pitchFamily="34" charset="0"/>
                        </a:rPr>
                        <a:t>diagrama de barras, diagrama de líneas, diagrama de sectores</a:t>
                      </a:r>
                      <a:endParaRPr kumimoji="0" lang="es-ES" altLang="es-MX" sz="1300" b="0" i="0" u="none" strike="noStrike" cap="none" normalizeH="0" baseline="0">
                        <a:ln>
                          <a:noFill/>
                        </a:ln>
                        <a:solidFill>
                          <a:schemeClr val="tx1"/>
                        </a:solidFill>
                        <a:effectLst/>
                        <a:latin typeface="Arial" panose="020B0604020202020204" pitchFamily="34" charset="0"/>
                      </a:endParaRPr>
                    </a:p>
                  </a:txBody>
                  <a:tcPr marL="80924" marR="80924" marT="42080" marB="4208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33176597"/>
                  </a:ext>
                </a:extLst>
              </a:tr>
            </a:tbl>
          </a:graphicData>
        </a:graphic>
      </p:graphicFrame>
    </p:spTree>
    <p:extLst>
      <p:ext uri="{BB962C8B-B14F-4D97-AF65-F5344CB8AC3E}">
        <p14:creationId xmlns:p14="http://schemas.microsoft.com/office/powerpoint/2010/main" val="1441888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4C6B5652-C661-4C58-B937-F0F490F7F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0B936867-6407-43FB-9DE6-1B0879D0C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ACD0B258-678B-4A8C-894F-848AF24A1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Freeform: Shape 81">
            <a:extLst>
              <a:ext uri="{FF2B5EF4-FFF2-40B4-BE49-F238E27FC236}">
                <a16:creationId xmlns:a16="http://schemas.microsoft.com/office/drawing/2014/main" id="{C8D58395-74AF-401A-AF2F-76B6FCF71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Rectangle 83">
            <a:extLst>
              <a:ext uri="{FF2B5EF4-FFF2-40B4-BE49-F238E27FC236}">
                <a16:creationId xmlns:a16="http://schemas.microsoft.com/office/drawing/2014/main" id="{2F003F3F-F118-41D2-AA3F-74DB0D197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ítulo 7">
            <a:extLst>
              <a:ext uri="{FF2B5EF4-FFF2-40B4-BE49-F238E27FC236}">
                <a16:creationId xmlns:a16="http://schemas.microsoft.com/office/drawing/2014/main" id="{FC899DF3-1C56-4371-A553-CDF831FD5B9B}"/>
              </a:ext>
            </a:extLst>
          </p:cNvPr>
          <p:cNvSpPr>
            <a:spLocks noGrp="1"/>
          </p:cNvSpPr>
          <p:nvPr>
            <p:ph type="title"/>
          </p:nvPr>
        </p:nvSpPr>
        <p:spPr>
          <a:xfrm>
            <a:off x="806825" y="457201"/>
            <a:ext cx="2844800" cy="3588870"/>
          </a:xfrm>
        </p:spPr>
        <p:txBody>
          <a:bodyPr anchor="b">
            <a:normAutofit/>
          </a:bodyPr>
          <a:lstStyle/>
          <a:p>
            <a:pPr algn="r"/>
            <a:r>
              <a:rPr lang="es-MX" sz="4000">
                <a:solidFill>
                  <a:srgbClr val="FFFFFF"/>
                </a:solidFill>
              </a:rPr>
              <a:t>Exploratory Data Analysis 1977</a:t>
            </a:r>
          </a:p>
        </p:txBody>
      </p:sp>
      <p:sp>
        <p:nvSpPr>
          <p:cNvPr id="5123" name="Content Placeholder 4">
            <a:extLst>
              <a:ext uri="{FF2B5EF4-FFF2-40B4-BE49-F238E27FC236}">
                <a16:creationId xmlns:a16="http://schemas.microsoft.com/office/drawing/2014/main" id="{3D6E998A-28D4-4A9D-8A95-CE1E748957C7}"/>
              </a:ext>
            </a:extLst>
          </p:cNvPr>
          <p:cNvSpPr>
            <a:spLocks noGrp="1"/>
          </p:cNvSpPr>
          <p:nvPr>
            <p:ph idx="1"/>
          </p:nvPr>
        </p:nvSpPr>
        <p:spPr>
          <a:xfrm>
            <a:off x="4649245" y="669363"/>
            <a:ext cx="3290579" cy="5534211"/>
          </a:xfrm>
        </p:spPr>
        <p:txBody>
          <a:bodyPr anchor="ctr">
            <a:normAutofit/>
          </a:bodyPr>
          <a:lstStyle/>
          <a:p>
            <a:r>
              <a:rPr lang="en-US" altLang="en-US" sz="1900"/>
              <a:t> Based on insights developed at Bell Labs in the 60’s.</a:t>
            </a:r>
          </a:p>
          <a:p>
            <a:r>
              <a:rPr lang="en-US" altLang="en-US" sz="1900"/>
              <a:t>Technique for visualizing and summarizing data.</a:t>
            </a:r>
          </a:p>
          <a:p>
            <a:r>
              <a:rPr lang="en-US" altLang="en-US" sz="1900"/>
              <a:t>What can the data tell us? (in contrast to “confirmatory” data analysis)</a:t>
            </a:r>
          </a:p>
          <a:p>
            <a:r>
              <a:rPr lang="en-US" altLang="en-US" sz="1900"/>
              <a:t>Introduced many basic techniques:</a:t>
            </a:r>
          </a:p>
          <a:p>
            <a:pPr lvl="1"/>
            <a:r>
              <a:rPr lang="en-US" altLang="en-US" sz="1900"/>
              <a:t>5-number summary, box plots, stem and leaf diagrams.</a:t>
            </a:r>
          </a:p>
          <a:p>
            <a:r>
              <a:rPr lang="en-US" altLang="en-US" sz="1900"/>
              <a:t>5 number summary:</a:t>
            </a:r>
          </a:p>
          <a:p>
            <a:pPr lvl="1"/>
            <a:r>
              <a:rPr lang="en-US" altLang="en-US" sz="1900"/>
              <a:t>Extremes (min and max)</a:t>
            </a:r>
          </a:p>
          <a:p>
            <a:pPr lvl="1"/>
            <a:r>
              <a:rPr lang="en-US" altLang="en-US" sz="1900"/>
              <a:t>Median and quartiles</a:t>
            </a:r>
          </a:p>
        </p:txBody>
      </p:sp>
      <p:pic>
        <p:nvPicPr>
          <p:cNvPr id="3074" name="Picture 2" descr="John W. Tukey">
            <a:extLst>
              <a:ext uri="{FF2B5EF4-FFF2-40B4-BE49-F238E27FC236}">
                <a16:creationId xmlns:a16="http://schemas.microsoft.com/office/drawing/2014/main" id="{8E70B710-CA87-440C-9DE1-475F02507C0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856303" y="900555"/>
            <a:ext cx="2046698" cy="238125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Exploratory Data Analysis by John W. Tukey">
            <a:extLst>
              <a:ext uri="{FF2B5EF4-FFF2-40B4-BE49-F238E27FC236}">
                <a16:creationId xmlns:a16="http://schemas.microsoft.com/office/drawing/2014/main" id="{9AFC51E5-FE27-4196-8DCF-5EEBECB9360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9065272" y="3589863"/>
            <a:ext cx="1628759" cy="23952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46" name="Title 1">
            <a:extLst>
              <a:ext uri="{FF2B5EF4-FFF2-40B4-BE49-F238E27FC236}">
                <a16:creationId xmlns:a16="http://schemas.microsoft.com/office/drawing/2014/main" id="{D28EF33F-C0E1-402B-AEC9-C23AAC2247F0}"/>
              </a:ext>
            </a:extLst>
          </p:cNvPr>
          <p:cNvSpPr>
            <a:spLocks noGrp="1"/>
          </p:cNvSpPr>
          <p:nvPr>
            <p:ph type="title"/>
          </p:nvPr>
        </p:nvSpPr>
        <p:spPr>
          <a:xfrm>
            <a:off x="1371597" y="348865"/>
            <a:ext cx="10044023" cy="877729"/>
          </a:xfrm>
        </p:spPr>
        <p:txBody>
          <a:bodyPr anchor="ctr">
            <a:normAutofit/>
          </a:bodyPr>
          <a:lstStyle/>
          <a:p>
            <a:pPr eaLnBrk="1" hangingPunct="1"/>
            <a:r>
              <a:rPr lang="en-US" altLang="en-US" sz="4000">
                <a:solidFill>
                  <a:srgbClr val="FFFFFF"/>
                </a:solidFill>
              </a:rPr>
              <a:t>Aim of the EDA</a:t>
            </a:r>
          </a:p>
        </p:txBody>
      </p:sp>
      <p:graphicFrame>
        <p:nvGraphicFramePr>
          <p:cNvPr id="6149" name="Content Placeholder 2">
            <a:extLst>
              <a:ext uri="{FF2B5EF4-FFF2-40B4-BE49-F238E27FC236}">
                <a16:creationId xmlns:a16="http://schemas.microsoft.com/office/drawing/2014/main" id="{07FE9ED8-A018-49D4-A7A3-8DF66DCEAC5D}"/>
              </a:ext>
            </a:extLst>
          </p:cNvPr>
          <p:cNvGraphicFramePr>
            <a:graphicFrameLocks noGrp="1"/>
          </p:cNvGraphicFramePr>
          <p:nvPr>
            <p:ph idx="1"/>
            <p:extLst>
              <p:ext uri="{D42A27DB-BD31-4B8C-83A1-F6EECF244321}">
                <p14:modId xmlns:p14="http://schemas.microsoft.com/office/powerpoint/2010/main" val="68214381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F28456EA-22AD-4BD8-92EA-7FDED1FFA9B4}"/>
              </a:ext>
            </a:extLst>
          </p:cNvPr>
          <p:cNvSpPr>
            <a:spLocks noGrp="1"/>
          </p:cNvSpPr>
          <p:nvPr>
            <p:ph type="title"/>
          </p:nvPr>
        </p:nvSpPr>
        <p:spPr/>
        <p:txBody>
          <a:bodyPr/>
          <a:lstStyle/>
          <a:p>
            <a:pPr eaLnBrk="1" hangingPunct="1"/>
            <a:r>
              <a:rPr lang="en-US" altLang="en-US" dirty="0"/>
              <a:t>Aim of the EDA</a:t>
            </a:r>
          </a:p>
        </p:txBody>
      </p:sp>
      <p:sp>
        <p:nvSpPr>
          <p:cNvPr id="3" name="Content Placeholder 2">
            <a:extLst>
              <a:ext uri="{FF2B5EF4-FFF2-40B4-BE49-F238E27FC236}">
                <a16:creationId xmlns:a16="http://schemas.microsoft.com/office/drawing/2014/main" id="{E79F3EDA-1EDA-4819-8B44-AC9A8A1DC1CA}"/>
              </a:ext>
            </a:extLst>
          </p:cNvPr>
          <p:cNvSpPr>
            <a:spLocks noGrp="1"/>
          </p:cNvSpPr>
          <p:nvPr>
            <p:ph idx="1"/>
          </p:nvPr>
        </p:nvSpPr>
        <p:spPr/>
        <p:txBody>
          <a:bodyPr rtlCol="0">
            <a:normAutofit/>
          </a:bodyPr>
          <a:lstStyle/>
          <a:p>
            <a:pPr eaLnBrk="1" fontAlgn="auto" hangingPunct="1">
              <a:spcAft>
                <a:spcPts val="0"/>
              </a:spcAft>
              <a:defRPr/>
            </a:pPr>
            <a:r>
              <a:rPr lang="en-US" dirty="0"/>
              <a:t>The goal of EDA is to open-mindedly explore data.</a:t>
            </a:r>
          </a:p>
          <a:p>
            <a:pPr lvl="1">
              <a:defRPr/>
            </a:pPr>
            <a:r>
              <a:rPr lang="en-US" dirty="0">
                <a:solidFill>
                  <a:schemeClr val="accent6">
                    <a:lumMod val="75000"/>
                  </a:schemeClr>
                </a:solidFill>
              </a:rPr>
              <a:t>Tukey: </a:t>
            </a:r>
            <a:r>
              <a:rPr lang="en-US" i="1" dirty="0"/>
              <a:t>EDA is detective work… Unless detective finds the clues, judge or jury has nothing to consider. </a:t>
            </a:r>
          </a:p>
          <a:p>
            <a:pPr eaLnBrk="1" fontAlgn="auto" hangingPunct="1">
              <a:spcAft>
                <a:spcPts val="0"/>
              </a:spcAft>
              <a:defRPr/>
            </a:pPr>
            <a:r>
              <a:rPr lang="en-US" dirty="0"/>
              <a:t>Here, judge or jury is a confirmatory data analysis</a:t>
            </a:r>
          </a:p>
          <a:p>
            <a:pPr lvl="1">
              <a:defRPr/>
            </a:pPr>
            <a:r>
              <a:rPr lang="en-US" dirty="0">
                <a:solidFill>
                  <a:schemeClr val="accent6">
                    <a:lumMod val="75000"/>
                  </a:schemeClr>
                </a:solidFill>
              </a:rPr>
              <a:t>Tukey: </a:t>
            </a:r>
            <a:r>
              <a:rPr lang="en-US" i="1" dirty="0"/>
              <a:t>Confirmatory data analysis goes further, assessing the strengths of the evidence.</a:t>
            </a:r>
          </a:p>
          <a:p>
            <a:pPr eaLnBrk="1" fontAlgn="auto" hangingPunct="1">
              <a:spcAft>
                <a:spcPts val="0"/>
              </a:spcAft>
              <a:defRPr/>
            </a:pPr>
            <a:r>
              <a:rPr lang="en-US" dirty="0"/>
              <a:t>With EDA, we can examine data and try to understand the meaning of variables. What are the abbreviations stand for.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96" name="Rectangle 7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7" name="Rectangle 7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8" name="Rectangle 7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9" name="Rectangle 7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94" name="Title 1">
            <a:extLst>
              <a:ext uri="{FF2B5EF4-FFF2-40B4-BE49-F238E27FC236}">
                <a16:creationId xmlns:a16="http://schemas.microsoft.com/office/drawing/2014/main" id="{8EC2AD3C-8EF2-485D-BD60-8537BC89D12C}"/>
              </a:ext>
            </a:extLst>
          </p:cNvPr>
          <p:cNvSpPr>
            <a:spLocks noGrp="1"/>
          </p:cNvSpPr>
          <p:nvPr>
            <p:ph type="title"/>
          </p:nvPr>
        </p:nvSpPr>
        <p:spPr>
          <a:xfrm>
            <a:off x="1371597" y="348865"/>
            <a:ext cx="10044023" cy="877729"/>
          </a:xfrm>
        </p:spPr>
        <p:txBody>
          <a:bodyPr anchor="ctr">
            <a:normAutofit/>
          </a:bodyPr>
          <a:lstStyle/>
          <a:p>
            <a:pPr eaLnBrk="1" hangingPunct="1"/>
            <a:r>
              <a:rPr lang="en-US" altLang="en-US" sz="4000">
                <a:solidFill>
                  <a:srgbClr val="FFFFFF"/>
                </a:solidFill>
              </a:rPr>
              <a:t>Exploratory vs Confirmatory Data Analysis</a:t>
            </a:r>
          </a:p>
        </p:txBody>
      </p:sp>
      <p:graphicFrame>
        <p:nvGraphicFramePr>
          <p:cNvPr id="4" name="Content Placeholder 3">
            <a:extLst>
              <a:ext uri="{FF2B5EF4-FFF2-40B4-BE49-F238E27FC236}">
                <a16:creationId xmlns:a16="http://schemas.microsoft.com/office/drawing/2014/main" id="{117735CC-9184-4D42-8A00-27E1880BC8AD}"/>
              </a:ext>
            </a:extLst>
          </p:cNvPr>
          <p:cNvGraphicFramePr>
            <a:graphicFrameLocks noGrp="1"/>
          </p:cNvGraphicFramePr>
          <p:nvPr>
            <p:ph idx="1"/>
            <p:extLst>
              <p:ext uri="{D42A27DB-BD31-4B8C-83A1-F6EECF244321}">
                <p14:modId xmlns:p14="http://schemas.microsoft.com/office/powerpoint/2010/main" val="2105856239"/>
              </p:ext>
            </p:extLst>
          </p:nvPr>
        </p:nvGraphicFramePr>
        <p:xfrm>
          <a:off x="861140" y="2112579"/>
          <a:ext cx="10493661" cy="4192807"/>
        </p:xfrm>
        <a:graphic>
          <a:graphicData uri="http://schemas.openxmlformats.org/drawingml/2006/table">
            <a:tbl>
              <a:tblPr firstRow="1" bandRow="1">
                <a:tableStyleId>{5C22544A-7EE6-4342-B048-85BDC9FD1C3A}</a:tableStyleId>
              </a:tblPr>
              <a:tblGrid>
                <a:gridCol w="5275380">
                  <a:extLst>
                    <a:ext uri="{9D8B030D-6E8A-4147-A177-3AD203B41FA5}">
                      <a16:colId xmlns:a16="http://schemas.microsoft.com/office/drawing/2014/main" val="864702111"/>
                    </a:ext>
                  </a:extLst>
                </a:gridCol>
                <a:gridCol w="5218281">
                  <a:extLst>
                    <a:ext uri="{9D8B030D-6E8A-4147-A177-3AD203B41FA5}">
                      <a16:colId xmlns:a16="http://schemas.microsoft.com/office/drawing/2014/main" val="3764880150"/>
                    </a:ext>
                  </a:extLst>
                </a:gridCol>
              </a:tblGrid>
              <a:tr h="550577">
                <a:tc>
                  <a:txBody>
                    <a:bodyPr/>
                    <a:lstStyle/>
                    <a:p>
                      <a:pPr algn="ctr"/>
                      <a:r>
                        <a:rPr lang="en-US" sz="2800"/>
                        <a:t>EDA</a:t>
                      </a:r>
                      <a:endParaRPr lang="en-US" sz="2800" dirty="0"/>
                    </a:p>
                  </a:txBody>
                  <a:tcPr marL="90753" marR="90753" marT="45381" marB="45381"/>
                </a:tc>
                <a:tc>
                  <a:txBody>
                    <a:bodyPr/>
                    <a:lstStyle/>
                    <a:p>
                      <a:pPr algn="ctr"/>
                      <a:r>
                        <a:rPr lang="en-US" sz="2800"/>
                        <a:t>CDA</a:t>
                      </a:r>
                      <a:endParaRPr lang="en-US" sz="2800" dirty="0"/>
                    </a:p>
                  </a:txBody>
                  <a:tcPr marL="90753" marR="90753" marT="45381" marB="45381"/>
                </a:tc>
                <a:extLst>
                  <a:ext uri="{0D108BD9-81ED-4DB2-BD59-A6C34878D82A}">
                    <a16:rowId xmlns:a16="http://schemas.microsoft.com/office/drawing/2014/main" val="4068498657"/>
                  </a:ext>
                </a:extLst>
              </a:tr>
              <a:tr h="1821115">
                <a:tc>
                  <a:txBody>
                    <a:bodyPr/>
                    <a:lstStyle/>
                    <a:p>
                      <a:pPr marL="285750" indent="-285750">
                        <a:buFont typeface="Arial" panose="020B0604020202020204" pitchFamily="34" charset="0"/>
                        <a:buChar char="•"/>
                      </a:pPr>
                      <a:r>
                        <a:rPr lang="en-US" sz="2800"/>
                        <a:t>No hypothesis</a:t>
                      </a:r>
                      <a:r>
                        <a:rPr lang="en-US" sz="2800" baseline="0"/>
                        <a:t> at first</a:t>
                      </a:r>
                    </a:p>
                    <a:p>
                      <a:pPr marL="285750" indent="-285750">
                        <a:buFont typeface="Arial" panose="020B0604020202020204" pitchFamily="34" charset="0"/>
                        <a:buChar char="•"/>
                      </a:pPr>
                      <a:r>
                        <a:rPr lang="en-US" sz="2800" baseline="0"/>
                        <a:t>Generate hypothesis</a:t>
                      </a:r>
                    </a:p>
                    <a:p>
                      <a:pPr marL="285750" indent="-285750">
                        <a:buFont typeface="Arial" panose="020B0604020202020204" pitchFamily="34" charset="0"/>
                        <a:buChar char="•"/>
                      </a:pPr>
                      <a:r>
                        <a:rPr lang="en-US" sz="2800" baseline="0"/>
                        <a:t>Uses graphical methods (mostly)</a:t>
                      </a:r>
                      <a:endParaRPr lang="en-US" sz="2800" dirty="0"/>
                    </a:p>
                  </a:txBody>
                  <a:tcPr marL="90753" marR="90753" marT="45381" marB="45381"/>
                </a:tc>
                <a:tc>
                  <a:txBody>
                    <a:bodyPr/>
                    <a:lstStyle/>
                    <a:p>
                      <a:pPr marL="285750" indent="-285750">
                        <a:buFont typeface="Arial" panose="020B0604020202020204" pitchFamily="34" charset="0"/>
                        <a:buChar char="•"/>
                      </a:pPr>
                      <a:r>
                        <a:rPr lang="en-US" sz="2800"/>
                        <a:t>Start with hypothesis</a:t>
                      </a:r>
                    </a:p>
                    <a:p>
                      <a:pPr marL="285750" indent="-285750">
                        <a:buFont typeface="Arial" panose="020B0604020202020204" pitchFamily="34" charset="0"/>
                        <a:buChar char="•"/>
                      </a:pPr>
                      <a:r>
                        <a:rPr lang="en-US" sz="2800"/>
                        <a:t>Test</a:t>
                      </a:r>
                      <a:r>
                        <a:rPr lang="en-US" sz="2800" baseline="0"/>
                        <a:t> the null hypothesis</a:t>
                      </a:r>
                    </a:p>
                    <a:p>
                      <a:pPr marL="285750" indent="-285750">
                        <a:buFont typeface="Arial" panose="020B0604020202020204" pitchFamily="34" charset="0"/>
                        <a:buChar char="•"/>
                      </a:pPr>
                      <a:r>
                        <a:rPr lang="en-US" sz="2800"/>
                        <a:t>Uses statistical models</a:t>
                      </a:r>
                      <a:endParaRPr lang="en-US" sz="2800" dirty="0"/>
                    </a:p>
                  </a:txBody>
                  <a:tcPr marL="90753" marR="90753" marT="45381" marB="45381"/>
                </a:tc>
                <a:extLst>
                  <a:ext uri="{0D108BD9-81ED-4DB2-BD59-A6C34878D82A}">
                    <a16:rowId xmlns:a16="http://schemas.microsoft.com/office/drawing/2014/main" val="1196351176"/>
                  </a:ext>
                </a:extLst>
              </a:tr>
              <a:tr h="1821115">
                <a:tc>
                  <a:txBody>
                    <a:bodyPr/>
                    <a:lstStyle/>
                    <a:p>
                      <a:pPr marL="285750" indent="-285750">
                        <a:buFont typeface="Arial" panose="020B0604020202020204" pitchFamily="34" charset="0"/>
                        <a:buChar char="•"/>
                      </a:pPr>
                      <a:r>
                        <a:rPr lang="en-US" sz="2800"/>
                        <a:t>Descriptive Statistics</a:t>
                      </a:r>
                    </a:p>
                    <a:p>
                      <a:pPr marL="285750" indent="-285750">
                        <a:buFont typeface="Arial" panose="020B0604020202020204" pitchFamily="34" charset="0"/>
                        <a:buChar char="•"/>
                      </a:pPr>
                      <a:r>
                        <a:rPr lang="en-US" sz="2800"/>
                        <a:t>Graphical</a:t>
                      </a:r>
                    </a:p>
                    <a:p>
                      <a:pPr marL="285750" indent="-285750">
                        <a:buFont typeface="Arial" panose="020B0604020202020204" pitchFamily="34" charset="0"/>
                        <a:buChar char="•"/>
                      </a:pPr>
                      <a:r>
                        <a:rPr lang="en-US" sz="2800"/>
                        <a:t>Data driven</a:t>
                      </a:r>
                    </a:p>
                    <a:p>
                      <a:pPr marL="285750" indent="-285750">
                        <a:buFont typeface="Arial" panose="020B0604020202020204" pitchFamily="34" charset="0"/>
                        <a:buChar char="•"/>
                      </a:pPr>
                      <a:endParaRPr lang="en-US" sz="2800" dirty="0"/>
                    </a:p>
                  </a:txBody>
                  <a:tcPr marL="90753" marR="90753" marT="45381" marB="45381"/>
                </a:tc>
                <a:tc>
                  <a:txBody>
                    <a:bodyPr/>
                    <a:lstStyle/>
                    <a:p>
                      <a:pPr marL="457200" indent="-457200">
                        <a:lnSpc>
                          <a:spcPct val="90000"/>
                        </a:lnSpc>
                        <a:buFont typeface="Arial" panose="020B0604020202020204" pitchFamily="34" charset="0"/>
                        <a:buChar char="•"/>
                      </a:pPr>
                      <a:r>
                        <a:rPr lang="en-US" altLang="es-MX" sz="2800"/>
                        <a:t>Inferential Statistics</a:t>
                      </a:r>
                    </a:p>
                    <a:p>
                      <a:pPr marL="457200" indent="-457200">
                        <a:lnSpc>
                          <a:spcPct val="90000"/>
                        </a:lnSpc>
                        <a:buFont typeface="Arial" panose="020B0604020202020204" pitchFamily="34" charset="0"/>
                        <a:buChar char="•"/>
                      </a:pPr>
                      <a:r>
                        <a:rPr lang="en-US" altLang="es-MX" sz="2800"/>
                        <a:t>EDA and theory driven</a:t>
                      </a:r>
                    </a:p>
                    <a:p>
                      <a:pPr marL="285750" indent="-285750">
                        <a:buFont typeface="Arial" panose="020B0604020202020204" pitchFamily="34" charset="0"/>
                        <a:buChar char="•"/>
                      </a:pPr>
                      <a:endParaRPr lang="en-US" sz="2800" dirty="0"/>
                    </a:p>
                  </a:txBody>
                  <a:tcPr marL="90753" marR="90753" marT="45381" marB="45381"/>
                </a:tc>
                <a:extLst>
                  <a:ext uri="{0D108BD9-81ED-4DB2-BD59-A6C34878D82A}">
                    <a16:rowId xmlns:a16="http://schemas.microsoft.com/office/drawing/2014/main" val="31968204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0" name="Rectangle 7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1" name="Rectangle 7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2" name="Rectangle 7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3" name="Rectangle 7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18" name="Title 1">
            <a:extLst>
              <a:ext uri="{FF2B5EF4-FFF2-40B4-BE49-F238E27FC236}">
                <a16:creationId xmlns:a16="http://schemas.microsoft.com/office/drawing/2014/main" id="{650CC05A-1DEC-4709-A826-83FCEFD2F95B}"/>
              </a:ext>
            </a:extLst>
          </p:cNvPr>
          <p:cNvSpPr>
            <a:spLocks noGrp="1"/>
          </p:cNvSpPr>
          <p:nvPr>
            <p:ph type="title"/>
          </p:nvPr>
        </p:nvSpPr>
        <p:spPr>
          <a:xfrm>
            <a:off x="1371597" y="348865"/>
            <a:ext cx="10044023" cy="877729"/>
          </a:xfrm>
        </p:spPr>
        <p:txBody>
          <a:bodyPr anchor="ctr">
            <a:normAutofit/>
          </a:bodyPr>
          <a:lstStyle/>
          <a:p>
            <a:r>
              <a:rPr lang="en-US" altLang="en-US" sz="4000">
                <a:solidFill>
                  <a:srgbClr val="FFFFFF"/>
                </a:solidFill>
              </a:rPr>
              <a:t>Pipleline of EDA</a:t>
            </a:r>
          </a:p>
        </p:txBody>
      </p:sp>
      <p:graphicFrame>
        <p:nvGraphicFramePr>
          <p:cNvPr id="7" name="Marcador de contenido 6">
            <a:extLst>
              <a:ext uri="{FF2B5EF4-FFF2-40B4-BE49-F238E27FC236}">
                <a16:creationId xmlns:a16="http://schemas.microsoft.com/office/drawing/2014/main" id="{38359C6D-0678-4CA2-A62A-1E55D0D4F85C}"/>
              </a:ext>
            </a:extLst>
          </p:cNvPr>
          <p:cNvGraphicFramePr>
            <a:graphicFrameLocks noGrp="1"/>
          </p:cNvGraphicFramePr>
          <p:nvPr>
            <p:ph idx="1"/>
            <p:extLst>
              <p:ext uri="{D42A27DB-BD31-4B8C-83A1-F6EECF244321}">
                <p14:modId xmlns:p14="http://schemas.microsoft.com/office/powerpoint/2010/main" val="562836001"/>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42" name="Title 1">
            <a:extLst>
              <a:ext uri="{FF2B5EF4-FFF2-40B4-BE49-F238E27FC236}">
                <a16:creationId xmlns:a16="http://schemas.microsoft.com/office/drawing/2014/main" id="{DBBFF59B-A6B5-45C2-B862-41942BB3E1B5}"/>
              </a:ext>
            </a:extLst>
          </p:cNvPr>
          <p:cNvSpPr>
            <a:spLocks noGrp="1"/>
          </p:cNvSpPr>
          <p:nvPr>
            <p:ph type="title"/>
          </p:nvPr>
        </p:nvSpPr>
        <p:spPr>
          <a:xfrm>
            <a:off x="1371597" y="348865"/>
            <a:ext cx="10044023" cy="877729"/>
          </a:xfrm>
        </p:spPr>
        <p:txBody>
          <a:bodyPr anchor="ctr">
            <a:normAutofit/>
          </a:bodyPr>
          <a:lstStyle/>
          <a:p>
            <a:pPr eaLnBrk="1" hangingPunct="1"/>
            <a:r>
              <a:rPr lang="en-US" altLang="en-US" sz="4000">
                <a:solidFill>
                  <a:srgbClr val="FFFFFF"/>
                </a:solidFill>
              </a:rPr>
              <a:t>After EDA</a:t>
            </a:r>
          </a:p>
        </p:txBody>
      </p:sp>
      <p:graphicFrame>
        <p:nvGraphicFramePr>
          <p:cNvPr id="10245" name="Content Placeholder 2">
            <a:extLst>
              <a:ext uri="{FF2B5EF4-FFF2-40B4-BE49-F238E27FC236}">
                <a16:creationId xmlns:a16="http://schemas.microsoft.com/office/drawing/2014/main" id="{E30B5B2D-F0AD-495D-9218-BD4111F2F835}"/>
              </a:ext>
            </a:extLst>
          </p:cNvPr>
          <p:cNvGraphicFramePr>
            <a:graphicFrameLocks noGrp="1"/>
          </p:cNvGraphicFramePr>
          <p:nvPr>
            <p:ph idx="1"/>
            <p:extLst>
              <p:ext uri="{D42A27DB-BD31-4B8C-83A1-F6EECF244321}">
                <p14:modId xmlns:p14="http://schemas.microsoft.com/office/powerpoint/2010/main" val="179618410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6" name="Title 1">
            <a:extLst>
              <a:ext uri="{FF2B5EF4-FFF2-40B4-BE49-F238E27FC236}">
                <a16:creationId xmlns:a16="http://schemas.microsoft.com/office/drawing/2014/main" id="{401150D1-A4A3-4DE8-A8AB-42D5E0127DB4}"/>
              </a:ext>
            </a:extLst>
          </p:cNvPr>
          <p:cNvSpPr>
            <a:spLocks noGrp="1"/>
          </p:cNvSpPr>
          <p:nvPr>
            <p:ph type="title"/>
          </p:nvPr>
        </p:nvSpPr>
        <p:spPr>
          <a:xfrm>
            <a:off x="1371599" y="294538"/>
            <a:ext cx="9895951" cy="1033669"/>
          </a:xfrm>
        </p:spPr>
        <p:txBody>
          <a:bodyPr>
            <a:normAutofit/>
          </a:bodyPr>
          <a:lstStyle/>
          <a:p>
            <a:pPr eaLnBrk="1" hangingPunct="1"/>
            <a:r>
              <a:rPr lang="en-US" altLang="en-US" sz="4000">
                <a:solidFill>
                  <a:srgbClr val="FFFFFF"/>
                </a:solidFill>
              </a:rPr>
              <a:t>Classification of EDA*</a:t>
            </a:r>
          </a:p>
        </p:txBody>
      </p:sp>
      <p:sp>
        <p:nvSpPr>
          <p:cNvPr id="3" name="Content Placeholder 2">
            <a:extLst>
              <a:ext uri="{FF2B5EF4-FFF2-40B4-BE49-F238E27FC236}">
                <a16:creationId xmlns:a16="http://schemas.microsoft.com/office/drawing/2014/main" id="{907DF8EB-3181-40BC-81C4-EB4B2113B025}"/>
              </a:ext>
            </a:extLst>
          </p:cNvPr>
          <p:cNvSpPr>
            <a:spLocks noGrp="1"/>
          </p:cNvSpPr>
          <p:nvPr>
            <p:ph idx="1"/>
          </p:nvPr>
        </p:nvSpPr>
        <p:spPr>
          <a:xfrm>
            <a:off x="1371599" y="2318197"/>
            <a:ext cx="9724031" cy="3683358"/>
          </a:xfrm>
        </p:spPr>
        <p:txBody>
          <a:bodyPr rtlCol="0" anchor="ctr">
            <a:normAutofit/>
          </a:bodyPr>
          <a:lstStyle/>
          <a:p>
            <a:pPr eaLnBrk="1" fontAlgn="auto" hangingPunct="1">
              <a:spcAft>
                <a:spcPts val="0"/>
              </a:spcAft>
              <a:defRPr/>
            </a:pPr>
            <a:r>
              <a:rPr lang="en-US" sz="2000"/>
              <a:t>Exploratory data analysis is generally cross-classified in two ways. First, each method is either non-graphical or graphical. And second, each method is either univariate or multivariate (usually just bivariate).</a:t>
            </a:r>
          </a:p>
          <a:p>
            <a:pPr eaLnBrk="1" fontAlgn="auto" hangingPunct="1">
              <a:spcAft>
                <a:spcPts val="0"/>
              </a:spcAft>
              <a:defRPr/>
            </a:pPr>
            <a:r>
              <a:rPr lang="en-US" sz="2000"/>
              <a:t>Non-graphical methods generally involve calculation of summary statistics, while graphical methods obviously summarize the data in a diagrammatic or pictorial way. </a:t>
            </a:r>
          </a:p>
          <a:p>
            <a:pPr eaLnBrk="1" fontAlgn="auto" hangingPunct="1">
              <a:spcAft>
                <a:spcPts val="0"/>
              </a:spcAft>
              <a:defRPr/>
            </a:pPr>
            <a:r>
              <a:rPr lang="en-US" sz="2000"/>
              <a:t>Univariate methods look at one variable (data column) at a time, while multivariate methods look at two or more variables at a time to explore relationships. Usually, our multivariate EDA will be bivariate (looking at exactly two variables), but occasionally it will involve three or more variables. </a:t>
            </a:r>
          </a:p>
          <a:p>
            <a:pPr eaLnBrk="1" fontAlgn="auto" hangingPunct="1">
              <a:spcAft>
                <a:spcPts val="0"/>
              </a:spcAft>
              <a:defRPr/>
            </a:pPr>
            <a:r>
              <a:rPr lang="en-US" sz="2000" i="1"/>
              <a:t>It is almost always a good idea to perform univariate EDA on each of the components of a multivariate EDA before performing the multivariate EDA.</a:t>
            </a:r>
          </a:p>
        </p:txBody>
      </p:sp>
      <p:sp>
        <p:nvSpPr>
          <p:cNvPr id="15" name="TextBox 3">
            <a:extLst>
              <a:ext uri="{FF2B5EF4-FFF2-40B4-BE49-F238E27FC236}">
                <a16:creationId xmlns:a16="http://schemas.microsoft.com/office/drawing/2014/main" id="{9FB121FF-AC8B-486E-AA8C-0AF4F989696F}"/>
              </a:ext>
            </a:extLst>
          </p:cNvPr>
          <p:cNvSpPr txBox="1">
            <a:spLocks noChangeArrowheads="1"/>
          </p:cNvSpPr>
          <p:nvPr/>
        </p:nvSpPr>
        <p:spPr bwMode="auto">
          <a:xfrm>
            <a:off x="593725" y="6176963"/>
            <a:ext cx="10948988" cy="369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1800" i="1" dirty="0">
                <a:solidFill>
                  <a:srgbClr val="0070C0"/>
                </a:solidFill>
              </a:rPr>
              <a:t>*</a:t>
            </a:r>
            <a:r>
              <a:rPr lang="en-US" altLang="en-US" sz="1800" i="1" dirty="0" err="1">
                <a:solidFill>
                  <a:srgbClr val="0070C0"/>
                </a:solidFill>
              </a:rPr>
              <a:t>Seltman</a:t>
            </a:r>
            <a:r>
              <a:rPr lang="en-US" altLang="en-US" sz="1800" i="1" dirty="0">
                <a:solidFill>
                  <a:srgbClr val="0070C0"/>
                </a:solidFill>
              </a:rPr>
              <a:t>, H.J. (2015). Experimental Design and Analysis. http://www.stat.cmu.edu/~hseltman/309/Book/Book.pdf</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5FE52A6-9D8B-4A0A-A911-68015169CDC0}"/>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Types of exploratory data analysis</a:t>
            </a:r>
            <a:endParaRPr lang="es-MX" sz="4000">
              <a:solidFill>
                <a:srgbClr val="FFFFFF"/>
              </a:solidFill>
            </a:endParaRPr>
          </a:p>
        </p:txBody>
      </p:sp>
      <p:sp>
        <p:nvSpPr>
          <p:cNvPr id="3" name="Marcador de contenido 2">
            <a:extLst>
              <a:ext uri="{FF2B5EF4-FFF2-40B4-BE49-F238E27FC236}">
                <a16:creationId xmlns:a16="http://schemas.microsoft.com/office/drawing/2014/main" id="{5EC622BA-72BB-4F98-9F5B-A050CB1AFEF3}"/>
              </a:ext>
            </a:extLst>
          </p:cNvPr>
          <p:cNvSpPr>
            <a:spLocks noGrp="1"/>
          </p:cNvSpPr>
          <p:nvPr>
            <p:ph idx="1"/>
          </p:nvPr>
        </p:nvSpPr>
        <p:spPr>
          <a:xfrm>
            <a:off x="1371599" y="2318197"/>
            <a:ext cx="9724031" cy="3683358"/>
          </a:xfrm>
        </p:spPr>
        <p:txBody>
          <a:bodyPr anchor="ctr">
            <a:normAutofit/>
          </a:bodyPr>
          <a:lstStyle/>
          <a:p>
            <a:r>
              <a:rPr lang="en-US" sz="2000" dirty="0"/>
              <a:t>Other common types of multivariate graphics include:</a:t>
            </a:r>
          </a:p>
          <a:p>
            <a:pPr lvl="1"/>
            <a:r>
              <a:rPr lang="en-US" sz="2000" b="1" dirty="0"/>
              <a:t>Scatter plot</a:t>
            </a:r>
            <a:r>
              <a:rPr lang="en-US" sz="2000" dirty="0"/>
              <a:t>, which is used to plot data points on a horizontal and a vertical axis to show how much one variable is affected by another.</a:t>
            </a:r>
          </a:p>
          <a:p>
            <a:pPr lvl="1"/>
            <a:r>
              <a:rPr lang="en-US" sz="2000" b="1" dirty="0"/>
              <a:t>Multivariate chart</a:t>
            </a:r>
            <a:r>
              <a:rPr lang="en-US" sz="2000" dirty="0"/>
              <a:t>, which is a graphical representation of the relationships between factors and a response.</a:t>
            </a:r>
          </a:p>
          <a:p>
            <a:pPr lvl="1"/>
            <a:r>
              <a:rPr lang="en-US" sz="2000" b="1" dirty="0"/>
              <a:t>Run chart</a:t>
            </a:r>
            <a:r>
              <a:rPr lang="en-US" sz="2000" dirty="0"/>
              <a:t>, which is a line graph of data plotted over time.</a:t>
            </a:r>
          </a:p>
          <a:p>
            <a:pPr lvl="1"/>
            <a:r>
              <a:rPr lang="en-US" sz="2000" b="1" dirty="0"/>
              <a:t>Bubble chart</a:t>
            </a:r>
            <a:r>
              <a:rPr lang="en-US" sz="2000" dirty="0"/>
              <a:t>, which is a data visualization that displays multiple circles (bubbles) in a two-dimensional plot.</a:t>
            </a:r>
          </a:p>
          <a:p>
            <a:pPr lvl="1"/>
            <a:r>
              <a:rPr lang="en-US" sz="2000" b="1" dirty="0"/>
              <a:t>Heat map</a:t>
            </a:r>
            <a:r>
              <a:rPr lang="en-US" sz="2000" dirty="0"/>
              <a:t>, which is a graphical representation of data where values are depicted by color.</a:t>
            </a:r>
            <a:endParaRPr lang="es-MX" sz="2000" dirty="0"/>
          </a:p>
        </p:txBody>
      </p:sp>
    </p:spTree>
    <p:extLst>
      <p:ext uri="{BB962C8B-B14F-4D97-AF65-F5344CB8AC3E}">
        <p14:creationId xmlns:p14="http://schemas.microsoft.com/office/powerpoint/2010/main" val="277908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0" name="Title 1">
            <a:extLst>
              <a:ext uri="{FF2B5EF4-FFF2-40B4-BE49-F238E27FC236}">
                <a16:creationId xmlns:a16="http://schemas.microsoft.com/office/drawing/2014/main" id="{E60516E7-2F47-48B4-A803-344EDC8BB815}"/>
              </a:ext>
            </a:extLst>
          </p:cNvPr>
          <p:cNvSpPr>
            <a:spLocks noGrp="1"/>
          </p:cNvSpPr>
          <p:nvPr>
            <p:ph type="title"/>
          </p:nvPr>
        </p:nvSpPr>
        <p:spPr>
          <a:xfrm>
            <a:off x="1371599" y="294538"/>
            <a:ext cx="9895951" cy="1033669"/>
          </a:xfrm>
        </p:spPr>
        <p:txBody>
          <a:bodyPr>
            <a:normAutofit/>
          </a:bodyPr>
          <a:lstStyle/>
          <a:p>
            <a:r>
              <a:rPr lang="en-US" altLang="en-US" sz="4000">
                <a:solidFill>
                  <a:srgbClr val="FFFFFF"/>
                </a:solidFill>
              </a:rPr>
              <a:t>Example</a:t>
            </a:r>
          </a:p>
        </p:txBody>
      </p:sp>
      <p:sp>
        <p:nvSpPr>
          <p:cNvPr id="3" name="Content Placeholder 2">
            <a:extLst>
              <a:ext uri="{FF2B5EF4-FFF2-40B4-BE49-F238E27FC236}">
                <a16:creationId xmlns:a16="http://schemas.microsoft.com/office/drawing/2014/main" id="{D18D0EED-23F2-4C39-B4E7-45980F9575C3}"/>
              </a:ext>
            </a:extLst>
          </p:cNvPr>
          <p:cNvSpPr>
            <a:spLocks noGrp="1"/>
          </p:cNvSpPr>
          <p:nvPr>
            <p:ph idx="1"/>
          </p:nvPr>
        </p:nvSpPr>
        <p:spPr>
          <a:xfrm>
            <a:off x="1371599" y="2318197"/>
            <a:ext cx="9724031" cy="3683358"/>
          </a:xfrm>
        </p:spPr>
        <p:txBody>
          <a:bodyPr rtlCol="0" anchor="ctr">
            <a:normAutofit/>
          </a:bodyPr>
          <a:lstStyle/>
          <a:p>
            <a:r>
              <a:rPr lang="en-US" sz="1700" dirty="0">
                <a:latin typeface="Arial" panose="020B0604020202020204" pitchFamily="34" charset="0"/>
                <a:cs typeface="Arial" panose="020B0604020202020204" pitchFamily="34" charset="0"/>
              </a:rPr>
              <a:t>Data from the Places Rated Almanac (Boyer and </a:t>
            </a:r>
            <a:r>
              <a:rPr lang="en-US" sz="1700" dirty="0" err="1">
                <a:latin typeface="Arial" panose="020B0604020202020204" pitchFamily="34" charset="0"/>
                <a:cs typeface="Arial" panose="020B0604020202020204" pitchFamily="34" charset="0"/>
              </a:rPr>
              <a:t>Savageau</a:t>
            </a:r>
            <a:r>
              <a:rPr lang="en-US" sz="1700" dirty="0">
                <a:latin typeface="Arial" panose="020B0604020202020204" pitchFamily="34" charset="0"/>
                <a:cs typeface="Arial" panose="020B0604020202020204" pitchFamily="34" charset="0"/>
              </a:rPr>
              <a:t>, 1985) 9 variables from 329 metropolitan areas in the USA:</a:t>
            </a:r>
          </a:p>
          <a:p>
            <a:pPr lvl="1"/>
            <a:r>
              <a:rPr lang="en-US" sz="1700" dirty="0">
                <a:latin typeface="Arial" panose="020B0604020202020204" pitchFamily="34" charset="0"/>
                <a:cs typeface="Arial" panose="020B0604020202020204" pitchFamily="34" charset="0"/>
              </a:rPr>
              <a:t>Climate mildness</a:t>
            </a:r>
          </a:p>
          <a:p>
            <a:pPr lvl="1"/>
            <a:r>
              <a:rPr lang="en-US" sz="1700" dirty="0">
                <a:latin typeface="Arial" panose="020B0604020202020204" pitchFamily="34" charset="0"/>
                <a:cs typeface="Arial" panose="020B0604020202020204" pitchFamily="34" charset="0"/>
              </a:rPr>
              <a:t>Housing cost</a:t>
            </a:r>
          </a:p>
          <a:p>
            <a:pPr lvl="1"/>
            <a:r>
              <a:rPr lang="en-US" sz="1700" dirty="0">
                <a:latin typeface="Arial" panose="020B0604020202020204" pitchFamily="34" charset="0"/>
                <a:cs typeface="Arial" panose="020B0604020202020204" pitchFamily="34" charset="0"/>
              </a:rPr>
              <a:t>Health care and environment </a:t>
            </a:r>
          </a:p>
          <a:p>
            <a:pPr lvl="1"/>
            <a:r>
              <a:rPr lang="en-US" sz="1700" dirty="0">
                <a:latin typeface="Arial" panose="020B0604020202020204" pitchFamily="34" charset="0"/>
                <a:cs typeface="Arial" panose="020B0604020202020204" pitchFamily="34" charset="0"/>
              </a:rPr>
              <a:t>Crime</a:t>
            </a:r>
          </a:p>
          <a:p>
            <a:pPr lvl="1"/>
            <a:r>
              <a:rPr lang="en-US" sz="1700" dirty="0">
                <a:latin typeface="Arial" panose="020B0604020202020204" pitchFamily="34" charset="0"/>
                <a:cs typeface="Arial" panose="020B0604020202020204" pitchFamily="34" charset="0"/>
              </a:rPr>
              <a:t>Transportation supply</a:t>
            </a:r>
          </a:p>
          <a:p>
            <a:pPr lvl="1"/>
            <a:r>
              <a:rPr lang="en-US" sz="1700" dirty="0">
                <a:latin typeface="Arial" panose="020B0604020202020204" pitchFamily="34" charset="0"/>
                <a:cs typeface="Arial" panose="020B0604020202020204" pitchFamily="34" charset="0"/>
              </a:rPr>
              <a:t>Educational opportunities and effort</a:t>
            </a:r>
          </a:p>
          <a:p>
            <a:pPr lvl="1"/>
            <a:r>
              <a:rPr lang="en-US" sz="1700" dirty="0">
                <a:latin typeface="Arial" panose="020B0604020202020204" pitchFamily="34" charset="0"/>
                <a:cs typeface="Arial" panose="020B0604020202020204" pitchFamily="34" charset="0"/>
              </a:rPr>
              <a:t>Arts and culture facilities</a:t>
            </a:r>
          </a:p>
          <a:p>
            <a:pPr lvl="1"/>
            <a:r>
              <a:rPr lang="en-US" sz="1700" dirty="0">
                <a:latin typeface="Arial" panose="020B0604020202020204" pitchFamily="34" charset="0"/>
                <a:cs typeface="Arial" panose="020B0604020202020204" pitchFamily="34" charset="0"/>
              </a:rPr>
              <a:t>Recreational opportunities</a:t>
            </a:r>
          </a:p>
          <a:p>
            <a:pPr lvl="1"/>
            <a:r>
              <a:rPr lang="en-US" sz="1700" dirty="0">
                <a:latin typeface="Arial" panose="020B0604020202020204" pitchFamily="34" charset="0"/>
                <a:cs typeface="Arial" panose="020B0604020202020204" pitchFamily="34" charset="0"/>
              </a:rPr>
              <a:t>Personal economic outlook</a:t>
            </a:r>
          </a:p>
          <a:p>
            <a:pPr lvl="1"/>
            <a:r>
              <a:rPr lang="en-US" sz="1700" dirty="0">
                <a:latin typeface="Arial" panose="020B0604020202020204" pitchFamily="34" charset="0"/>
                <a:cs typeface="Arial" panose="020B0604020202020204" pitchFamily="34" charset="0"/>
              </a:rPr>
              <a:t>+ latitude and longitude of each city</a:t>
            </a:r>
          </a:p>
        </p:txBody>
      </p:sp>
      <p:sp>
        <p:nvSpPr>
          <p:cNvPr id="17" name="TextBox 3">
            <a:extLst>
              <a:ext uri="{FF2B5EF4-FFF2-40B4-BE49-F238E27FC236}">
                <a16:creationId xmlns:a16="http://schemas.microsoft.com/office/drawing/2014/main" id="{A9B03607-F8F8-4433-BFC6-5E6F2A6B61C5}"/>
              </a:ext>
            </a:extLst>
          </p:cNvPr>
          <p:cNvSpPr txBox="1"/>
          <p:nvPr/>
        </p:nvSpPr>
        <p:spPr>
          <a:xfrm>
            <a:off x="6458284" y="3037405"/>
            <a:ext cx="5203825" cy="2554545"/>
          </a:xfrm>
          <a:prstGeom prst="rect">
            <a:avLst/>
          </a:prstGeom>
          <a:noFill/>
          <a:ln>
            <a:solidFill>
              <a:srgbClr val="FF0000"/>
            </a:solidFill>
          </a:ln>
        </p:spPr>
        <p:txBody>
          <a:bodyPr>
            <a:spAutoFit/>
          </a:bodyPr>
          <a:lstStyle/>
          <a:p>
            <a:pPr eaLnBrk="1" fontAlgn="auto" hangingPunct="1">
              <a:spcBef>
                <a:spcPts val="0"/>
              </a:spcBef>
              <a:spcAft>
                <a:spcPts val="0"/>
              </a:spcAft>
              <a:defRPr/>
            </a:pPr>
            <a:r>
              <a:rPr lang="en-US" sz="2000" dirty="0">
                <a:latin typeface="+mn-lt"/>
              </a:rPr>
              <a:t>Questions:</a:t>
            </a:r>
          </a:p>
          <a:p>
            <a:pPr marL="342900" indent="-342900" eaLnBrk="1" fontAlgn="auto" hangingPunct="1">
              <a:spcBef>
                <a:spcPts val="0"/>
              </a:spcBef>
              <a:spcAft>
                <a:spcPts val="0"/>
              </a:spcAft>
              <a:buFont typeface="+mj-lt"/>
              <a:buAutoNum type="arabicPeriod"/>
              <a:defRPr/>
            </a:pPr>
            <a:r>
              <a:rPr lang="en-US" sz="2000" dirty="0">
                <a:latin typeface="+mn-lt"/>
              </a:rPr>
              <a:t>How is climate related to location?</a:t>
            </a:r>
          </a:p>
          <a:p>
            <a:pPr marL="342900" indent="-342900" eaLnBrk="1" fontAlgn="auto" hangingPunct="1">
              <a:spcBef>
                <a:spcPts val="0"/>
              </a:spcBef>
              <a:spcAft>
                <a:spcPts val="0"/>
              </a:spcAft>
              <a:buFont typeface="+mj-lt"/>
              <a:buAutoNum type="arabicPeriod"/>
              <a:defRPr/>
            </a:pPr>
            <a:r>
              <a:rPr lang="en-US" sz="2000" dirty="0">
                <a:latin typeface="+mn-lt"/>
              </a:rPr>
              <a:t>Are there clusters in the data (excluding location)?</a:t>
            </a:r>
          </a:p>
          <a:p>
            <a:pPr marL="342900" indent="-342900" eaLnBrk="1" fontAlgn="auto" hangingPunct="1">
              <a:spcBef>
                <a:spcPts val="0"/>
              </a:spcBef>
              <a:spcAft>
                <a:spcPts val="0"/>
              </a:spcAft>
              <a:buFont typeface="+mj-lt"/>
              <a:buAutoNum type="arabicPeriod"/>
              <a:defRPr/>
            </a:pPr>
            <a:r>
              <a:rPr lang="en-US" sz="2000" dirty="0">
                <a:latin typeface="+mn-lt"/>
              </a:rPr>
              <a:t>Are nearby cities similar?</a:t>
            </a:r>
          </a:p>
          <a:p>
            <a:pPr marL="342900" indent="-342900" eaLnBrk="1" fontAlgn="auto" hangingPunct="1">
              <a:spcBef>
                <a:spcPts val="0"/>
              </a:spcBef>
              <a:spcAft>
                <a:spcPts val="0"/>
              </a:spcAft>
              <a:buFont typeface="+mj-lt"/>
              <a:buAutoNum type="arabicPeriod"/>
              <a:defRPr/>
            </a:pPr>
            <a:r>
              <a:rPr lang="en-US" sz="2000" dirty="0">
                <a:latin typeface="+mn-lt"/>
              </a:rPr>
              <a:t>Any relation between economic outlook and crime?</a:t>
            </a:r>
          </a:p>
          <a:p>
            <a:pPr marL="342900" indent="-342900" eaLnBrk="1" fontAlgn="auto" hangingPunct="1">
              <a:spcBef>
                <a:spcPts val="0"/>
              </a:spcBef>
              <a:spcAft>
                <a:spcPts val="0"/>
              </a:spcAft>
              <a:buFont typeface="+mj-lt"/>
              <a:buAutoNum type="arabicPeriod"/>
              <a:defRPr/>
            </a:pPr>
            <a:r>
              <a:rPr lang="en-US" sz="2000" dirty="0">
                <a:latin typeface="+mn-lt"/>
              </a:rPr>
              <a:t>What else???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0" name="Rectangle 2">
            <a:extLst>
              <a:ext uri="{FF2B5EF4-FFF2-40B4-BE49-F238E27FC236}">
                <a16:creationId xmlns:a16="http://schemas.microsoft.com/office/drawing/2014/main" id="{5A576BAB-A135-4467-B547-B809FA01F6BA}"/>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What is data?</a:t>
            </a:r>
          </a:p>
        </p:txBody>
      </p:sp>
      <p:sp>
        <p:nvSpPr>
          <p:cNvPr id="7171" name="Rectangle 3">
            <a:extLst>
              <a:ext uri="{FF2B5EF4-FFF2-40B4-BE49-F238E27FC236}">
                <a16:creationId xmlns:a16="http://schemas.microsoft.com/office/drawing/2014/main" id="{C099D82B-062E-4452-BF93-1C56726DFDDB}"/>
              </a:ext>
            </a:extLst>
          </p:cNvPr>
          <p:cNvSpPr>
            <a:spLocks noGrp="1" noChangeArrowheads="1"/>
          </p:cNvSpPr>
          <p:nvPr>
            <p:ph idx="1"/>
          </p:nvPr>
        </p:nvSpPr>
        <p:spPr>
          <a:xfrm>
            <a:off x="1371599" y="2318197"/>
            <a:ext cx="9724031" cy="3683358"/>
          </a:xfrm>
        </p:spPr>
        <p:txBody>
          <a:bodyPr anchor="ctr">
            <a:normAutofit/>
          </a:bodyPr>
          <a:lstStyle/>
          <a:p>
            <a:r>
              <a:rPr lang="en-US" altLang="es-MX" sz="2000" dirty="0"/>
              <a:t>Categorical (Qualitative)</a:t>
            </a:r>
          </a:p>
          <a:p>
            <a:pPr lvl="2"/>
            <a:r>
              <a:rPr lang="en-US" altLang="es-MX" dirty="0"/>
              <a:t>Nominal scales – number is just a symbol that identifies a quality </a:t>
            </a:r>
          </a:p>
          <a:p>
            <a:pPr lvl="3"/>
            <a:r>
              <a:rPr lang="en-US" altLang="es-MX" sz="2000" dirty="0"/>
              <a:t>0=male, 1=female</a:t>
            </a:r>
          </a:p>
          <a:p>
            <a:pPr lvl="3"/>
            <a:r>
              <a:rPr lang="en-US" altLang="es-MX" sz="2000" dirty="0"/>
              <a:t>1=green, 2=blue, 3=red, 4=white</a:t>
            </a:r>
          </a:p>
          <a:p>
            <a:pPr lvl="2"/>
            <a:r>
              <a:rPr lang="en-US" altLang="es-MX" dirty="0"/>
              <a:t>Ordinal – rank order </a:t>
            </a:r>
          </a:p>
          <a:p>
            <a:r>
              <a:rPr lang="en-US" altLang="es-MX" sz="2000" dirty="0"/>
              <a:t>Quantitative (continuous and discrete)</a:t>
            </a:r>
          </a:p>
          <a:p>
            <a:pPr lvl="2"/>
            <a:r>
              <a:rPr lang="en-US" altLang="es-MX" dirty="0"/>
              <a:t>Interval – units are of identical size (i.e., Years)</a:t>
            </a:r>
          </a:p>
          <a:p>
            <a:pPr lvl="2"/>
            <a:r>
              <a:rPr lang="en-US" altLang="es-MX" dirty="0"/>
              <a:t>Ratio – distance from an absolute zero (i.e., Age, reaction time)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90" name="Rectangle 2">
            <a:extLst>
              <a:ext uri="{FF2B5EF4-FFF2-40B4-BE49-F238E27FC236}">
                <a16:creationId xmlns:a16="http://schemas.microsoft.com/office/drawing/2014/main" id="{B5B87195-4CF2-48FA-8119-42F62027805B}"/>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What is a measurement?</a:t>
            </a:r>
          </a:p>
        </p:txBody>
      </p:sp>
      <p:sp>
        <p:nvSpPr>
          <p:cNvPr id="12291" name="Rectangle 3">
            <a:extLst>
              <a:ext uri="{FF2B5EF4-FFF2-40B4-BE49-F238E27FC236}">
                <a16:creationId xmlns:a16="http://schemas.microsoft.com/office/drawing/2014/main" id="{F3FD866D-B164-4D66-B434-707E1A0A50AC}"/>
              </a:ext>
            </a:extLst>
          </p:cNvPr>
          <p:cNvSpPr>
            <a:spLocks noGrp="1" noChangeArrowheads="1"/>
          </p:cNvSpPr>
          <p:nvPr>
            <p:ph idx="1"/>
          </p:nvPr>
        </p:nvSpPr>
        <p:spPr>
          <a:xfrm>
            <a:off x="1371599" y="2318197"/>
            <a:ext cx="9724031" cy="3683358"/>
          </a:xfrm>
        </p:spPr>
        <p:txBody>
          <a:bodyPr anchor="ctr">
            <a:normAutofit/>
          </a:bodyPr>
          <a:lstStyle/>
          <a:p>
            <a:r>
              <a:rPr lang="en-US" altLang="es-MX" sz="2000"/>
              <a:t>Every measurement has 2 parts:</a:t>
            </a:r>
          </a:p>
          <a:p>
            <a:pPr lvl="1"/>
            <a:r>
              <a:rPr lang="en-US" altLang="es-MX" sz="2000"/>
              <a:t>The True Score (the actual state of things in the world)</a:t>
            </a:r>
          </a:p>
          <a:p>
            <a:r>
              <a:rPr lang="en-US" altLang="es-MX" sz="2000"/>
              <a:t>and</a:t>
            </a:r>
          </a:p>
          <a:p>
            <a:pPr lvl="1"/>
            <a:r>
              <a:rPr lang="en-US" altLang="es-MX" sz="2000"/>
              <a:t>ERROR! (mistakes, bad measurement, report bias, context effects, etc.)</a:t>
            </a:r>
          </a:p>
          <a:p>
            <a:r>
              <a:rPr lang="en-US" altLang="es-MX" sz="2000"/>
              <a:t>X = T + e</a:t>
            </a:r>
          </a:p>
          <a:p>
            <a:endParaRPr lang="en-US" altLang="es-MX"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2" name="Rectangle 2">
            <a:extLst>
              <a:ext uri="{FF2B5EF4-FFF2-40B4-BE49-F238E27FC236}">
                <a16:creationId xmlns:a16="http://schemas.microsoft.com/office/drawing/2014/main" id="{59BF48C4-8955-427B-98C5-253A30032F54}"/>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Organizing your data in a spreadsheet</a:t>
            </a:r>
          </a:p>
        </p:txBody>
      </p:sp>
      <p:sp>
        <p:nvSpPr>
          <p:cNvPr id="10243" name="Rectangle 3">
            <a:extLst>
              <a:ext uri="{FF2B5EF4-FFF2-40B4-BE49-F238E27FC236}">
                <a16:creationId xmlns:a16="http://schemas.microsoft.com/office/drawing/2014/main" id="{283DB564-06EC-4F86-836C-37534932EF18}"/>
              </a:ext>
            </a:extLst>
          </p:cNvPr>
          <p:cNvSpPr>
            <a:spLocks noGrp="1" noChangeArrowheads="1"/>
          </p:cNvSpPr>
          <p:nvPr>
            <p:ph idx="1"/>
          </p:nvPr>
        </p:nvSpPr>
        <p:spPr>
          <a:xfrm>
            <a:off x="1371599" y="2318197"/>
            <a:ext cx="9724031" cy="3683358"/>
          </a:xfrm>
        </p:spPr>
        <p:txBody>
          <a:bodyPr anchor="t">
            <a:normAutofit/>
          </a:bodyPr>
          <a:lstStyle/>
          <a:p>
            <a:r>
              <a:rPr lang="en-US" altLang="es-MX" sz="2000" dirty="0"/>
              <a:t>Stacked data:</a:t>
            </a:r>
          </a:p>
          <a:p>
            <a:pPr lvl="1"/>
            <a:r>
              <a:rPr lang="en-US" altLang="es-MX" sz="2000" dirty="0"/>
              <a:t>Multiple cases (rows) for each subject</a:t>
            </a:r>
          </a:p>
          <a:p>
            <a:endParaRPr lang="en-US" altLang="es-MX" sz="2000" dirty="0"/>
          </a:p>
          <a:p>
            <a:endParaRPr lang="en-US" altLang="es-MX" sz="2000" dirty="0"/>
          </a:p>
          <a:p>
            <a:endParaRPr lang="en-US" altLang="es-MX" sz="2000" dirty="0"/>
          </a:p>
          <a:p>
            <a:endParaRPr lang="en-US" altLang="es-MX" sz="2000" dirty="0"/>
          </a:p>
          <a:p>
            <a:endParaRPr lang="en-US" altLang="es-MX" sz="2000" dirty="0"/>
          </a:p>
          <a:p>
            <a:r>
              <a:rPr lang="en-US" altLang="es-MX" sz="2000" dirty="0"/>
              <a:t>Unstacked data:</a:t>
            </a:r>
          </a:p>
          <a:p>
            <a:pPr lvl="1"/>
            <a:r>
              <a:rPr lang="en-US" altLang="es-MX" sz="2000" dirty="0"/>
              <a:t>Only one case (row) per subject 		</a:t>
            </a:r>
          </a:p>
        </p:txBody>
      </p:sp>
      <p:graphicFrame>
        <p:nvGraphicFramePr>
          <p:cNvPr id="19" name="Group 225">
            <a:extLst>
              <a:ext uri="{FF2B5EF4-FFF2-40B4-BE49-F238E27FC236}">
                <a16:creationId xmlns:a16="http://schemas.microsoft.com/office/drawing/2014/main" id="{E232AC08-74C1-412A-9B08-8F4E8450DEF2}"/>
              </a:ext>
            </a:extLst>
          </p:cNvPr>
          <p:cNvGraphicFramePr>
            <a:graphicFrameLocks/>
          </p:cNvGraphicFramePr>
          <p:nvPr>
            <p:extLst>
              <p:ext uri="{D42A27DB-BD31-4B8C-83A1-F6EECF244321}">
                <p14:modId xmlns:p14="http://schemas.microsoft.com/office/powerpoint/2010/main" val="2740494412"/>
              </p:ext>
            </p:extLst>
          </p:nvPr>
        </p:nvGraphicFramePr>
        <p:xfrm>
          <a:off x="6920557" y="1917476"/>
          <a:ext cx="2664083" cy="2743200"/>
        </p:xfrm>
        <a:graphic>
          <a:graphicData uri="http://schemas.openxmlformats.org/drawingml/2006/table">
            <a:tbl>
              <a:tblPr/>
              <a:tblGrid>
                <a:gridCol w="962874">
                  <a:extLst>
                    <a:ext uri="{9D8B030D-6E8A-4147-A177-3AD203B41FA5}">
                      <a16:colId xmlns:a16="http://schemas.microsoft.com/office/drawing/2014/main" val="3729066762"/>
                    </a:ext>
                  </a:extLst>
                </a:gridCol>
                <a:gridCol w="1020725">
                  <a:extLst>
                    <a:ext uri="{9D8B030D-6E8A-4147-A177-3AD203B41FA5}">
                      <a16:colId xmlns:a16="http://schemas.microsoft.com/office/drawing/2014/main" val="807743313"/>
                    </a:ext>
                  </a:extLst>
                </a:gridCol>
                <a:gridCol w="680484">
                  <a:extLst>
                    <a:ext uri="{9D8B030D-6E8A-4147-A177-3AD203B41FA5}">
                      <a16:colId xmlns:a16="http://schemas.microsoft.com/office/drawing/2014/main" val="1644944313"/>
                    </a:ext>
                  </a:extLst>
                </a:gridCol>
              </a:tblGrid>
              <a:tr h="217488">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Subject</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condition</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l"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score</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23097977"/>
                  </a:ext>
                </a:extLst>
              </a:tr>
              <a:tr h="217488">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dirty="0">
                          <a:ln>
                            <a:noFill/>
                          </a:ln>
                          <a:solidFill>
                            <a:schemeClr val="tx1"/>
                          </a:solidFill>
                          <a:effectLst/>
                          <a:latin typeface="Courier" charset="0"/>
                        </a:rPr>
                        <a:t>1</a:t>
                      </a:r>
                      <a:endParaRPr kumimoji="0" lang="en-US" altLang="es-MX" sz="12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dirty="0">
                          <a:ln>
                            <a:noFill/>
                          </a:ln>
                          <a:solidFill>
                            <a:schemeClr val="tx1"/>
                          </a:solidFill>
                          <a:effectLst/>
                          <a:latin typeface="Courier" charset="0"/>
                        </a:rPr>
                        <a:t>before</a:t>
                      </a:r>
                      <a:endParaRPr kumimoji="0" lang="en-US" altLang="es-MX" sz="12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dirty="0">
                          <a:ln>
                            <a:noFill/>
                          </a:ln>
                          <a:solidFill>
                            <a:schemeClr val="tx1"/>
                          </a:solidFill>
                          <a:effectLst/>
                          <a:latin typeface="Courier" charset="0"/>
                        </a:rPr>
                        <a:t>3</a:t>
                      </a:r>
                      <a:endParaRPr kumimoji="0" lang="en-US" altLang="es-MX" sz="12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73033504"/>
                  </a:ext>
                </a:extLst>
              </a:tr>
              <a:tr h="215900">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dirty="0">
                          <a:ln>
                            <a:noFill/>
                          </a:ln>
                          <a:solidFill>
                            <a:schemeClr val="tx1"/>
                          </a:solidFill>
                          <a:effectLst/>
                          <a:latin typeface="Courier" charset="0"/>
                        </a:rPr>
                        <a:t>1</a:t>
                      </a:r>
                      <a:endParaRPr kumimoji="0" lang="en-US" altLang="es-MX" sz="12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dirty="0">
                          <a:ln>
                            <a:noFill/>
                          </a:ln>
                          <a:solidFill>
                            <a:schemeClr val="tx1"/>
                          </a:solidFill>
                          <a:effectLst/>
                          <a:latin typeface="Courier" charset="0"/>
                        </a:rPr>
                        <a:t>during</a:t>
                      </a:r>
                      <a:endParaRPr kumimoji="0" lang="en-US" altLang="es-MX" sz="12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dirty="0">
                          <a:ln>
                            <a:noFill/>
                          </a:ln>
                          <a:solidFill>
                            <a:schemeClr val="tx1"/>
                          </a:solidFill>
                          <a:effectLst/>
                          <a:latin typeface="Courier" charset="0"/>
                        </a:rPr>
                        <a:t>2</a:t>
                      </a:r>
                      <a:endParaRPr kumimoji="0" lang="en-US" altLang="es-MX" sz="12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3719756"/>
                  </a:ext>
                </a:extLst>
              </a:tr>
              <a:tr h="217488">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1</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dirty="0">
                          <a:ln>
                            <a:noFill/>
                          </a:ln>
                          <a:solidFill>
                            <a:schemeClr val="tx1"/>
                          </a:solidFill>
                          <a:effectLst/>
                          <a:latin typeface="Courier" charset="0"/>
                        </a:rPr>
                        <a:t>after</a:t>
                      </a:r>
                      <a:endParaRPr kumimoji="0" lang="en-US" altLang="es-MX" sz="12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5</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1997866"/>
                  </a:ext>
                </a:extLst>
              </a:tr>
              <a:tr h="217488">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2</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before</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81502834"/>
                  </a:ext>
                </a:extLst>
              </a:tr>
              <a:tr h="217488">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2</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during</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8</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17403617"/>
                  </a:ext>
                </a:extLst>
              </a:tr>
              <a:tr h="217488">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2</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after</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4</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46106374"/>
                  </a:ext>
                </a:extLst>
              </a:tr>
              <a:tr h="215900">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before</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6901820"/>
                  </a:ext>
                </a:extLst>
              </a:tr>
              <a:tr h="217488">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during</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7</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70075391"/>
                  </a:ext>
                </a:extLst>
              </a:tr>
              <a:tr h="217488">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after</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dirty="0">
                          <a:ln>
                            <a:noFill/>
                          </a:ln>
                          <a:solidFill>
                            <a:schemeClr val="tx1"/>
                          </a:solidFill>
                          <a:effectLst/>
                          <a:latin typeface="Courier" charset="0"/>
                        </a:rPr>
                        <a:t>1</a:t>
                      </a:r>
                      <a:endParaRPr kumimoji="0" lang="en-US" altLang="es-MX" sz="12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72601648"/>
                  </a:ext>
                </a:extLst>
              </a:tr>
            </a:tbl>
          </a:graphicData>
        </a:graphic>
      </p:graphicFrame>
      <p:graphicFrame>
        <p:nvGraphicFramePr>
          <p:cNvPr id="20" name="Group 222">
            <a:extLst>
              <a:ext uri="{FF2B5EF4-FFF2-40B4-BE49-F238E27FC236}">
                <a16:creationId xmlns:a16="http://schemas.microsoft.com/office/drawing/2014/main" id="{0A75A421-929D-42A6-BA5A-34DD41E03488}"/>
              </a:ext>
            </a:extLst>
          </p:cNvPr>
          <p:cNvGraphicFramePr>
            <a:graphicFrameLocks/>
          </p:cNvGraphicFramePr>
          <p:nvPr>
            <p:extLst>
              <p:ext uri="{D42A27DB-BD31-4B8C-83A1-F6EECF244321}">
                <p14:modId xmlns:p14="http://schemas.microsoft.com/office/powerpoint/2010/main" val="2818510717"/>
              </p:ext>
            </p:extLst>
          </p:nvPr>
        </p:nvGraphicFramePr>
        <p:xfrm>
          <a:off x="6913561" y="4845268"/>
          <a:ext cx="3240087" cy="1377952"/>
        </p:xfrm>
        <a:graphic>
          <a:graphicData uri="http://schemas.openxmlformats.org/drawingml/2006/table">
            <a:tbl>
              <a:tblPr/>
              <a:tblGrid>
                <a:gridCol w="932083">
                  <a:extLst>
                    <a:ext uri="{9D8B030D-6E8A-4147-A177-3AD203B41FA5}">
                      <a16:colId xmlns:a16="http://schemas.microsoft.com/office/drawing/2014/main" val="3065703725"/>
                    </a:ext>
                  </a:extLst>
                </a:gridCol>
                <a:gridCol w="776176">
                  <a:extLst>
                    <a:ext uri="{9D8B030D-6E8A-4147-A177-3AD203B41FA5}">
                      <a16:colId xmlns:a16="http://schemas.microsoft.com/office/drawing/2014/main" val="762312089"/>
                    </a:ext>
                  </a:extLst>
                </a:gridCol>
                <a:gridCol w="776177">
                  <a:extLst>
                    <a:ext uri="{9D8B030D-6E8A-4147-A177-3AD203B41FA5}">
                      <a16:colId xmlns:a16="http://schemas.microsoft.com/office/drawing/2014/main" val="296151428"/>
                    </a:ext>
                  </a:extLst>
                </a:gridCol>
                <a:gridCol w="755651">
                  <a:extLst>
                    <a:ext uri="{9D8B030D-6E8A-4147-A177-3AD203B41FA5}">
                      <a16:colId xmlns:a16="http://schemas.microsoft.com/office/drawing/2014/main" val="2108839224"/>
                    </a:ext>
                  </a:extLst>
                </a:gridCol>
              </a:tblGrid>
              <a:tr h="344488">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Subject</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before</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during</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after</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09735690"/>
                  </a:ext>
                </a:extLst>
              </a:tr>
              <a:tr h="344488">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1</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2</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5</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87870556"/>
                  </a:ext>
                </a:extLst>
              </a:tr>
              <a:tr h="344488">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2</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8</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4</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48665698"/>
                  </a:ext>
                </a:extLst>
              </a:tr>
              <a:tr h="344488">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7</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dirty="0">
                          <a:ln>
                            <a:noFill/>
                          </a:ln>
                          <a:solidFill>
                            <a:schemeClr val="tx1"/>
                          </a:solidFill>
                          <a:effectLst/>
                          <a:latin typeface="Courier" charset="0"/>
                        </a:rPr>
                        <a:t>1</a:t>
                      </a:r>
                      <a:endParaRPr kumimoji="0" lang="en-US" altLang="es-MX" sz="12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7027250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62" name="Rectangle 2">
            <a:extLst>
              <a:ext uri="{FF2B5EF4-FFF2-40B4-BE49-F238E27FC236}">
                <a16:creationId xmlns:a16="http://schemas.microsoft.com/office/drawing/2014/main" id="{99896B37-7C82-4372-B593-2DBA5D110505}"/>
              </a:ext>
            </a:extLst>
          </p:cNvPr>
          <p:cNvSpPr>
            <a:spLocks noGrp="1" noChangeArrowheads="1"/>
          </p:cNvSpPr>
          <p:nvPr>
            <p:ph type="title"/>
          </p:nvPr>
        </p:nvSpPr>
        <p:spPr>
          <a:xfrm>
            <a:off x="1371597" y="348865"/>
            <a:ext cx="10044023" cy="877729"/>
          </a:xfrm>
        </p:spPr>
        <p:txBody>
          <a:bodyPr anchor="ctr">
            <a:normAutofit/>
          </a:bodyPr>
          <a:lstStyle/>
          <a:p>
            <a:r>
              <a:rPr lang="en-US" altLang="es-MX" sz="4000">
                <a:solidFill>
                  <a:srgbClr val="FFFFFF"/>
                </a:solidFill>
              </a:rPr>
              <a:t>Variable Summaries</a:t>
            </a:r>
          </a:p>
        </p:txBody>
      </p:sp>
      <p:graphicFrame>
        <p:nvGraphicFramePr>
          <p:cNvPr id="15365" name="Rectangle 3">
            <a:extLst>
              <a:ext uri="{FF2B5EF4-FFF2-40B4-BE49-F238E27FC236}">
                <a16:creationId xmlns:a16="http://schemas.microsoft.com/office/drawing/2014/main" id="{67B380DA-A1BA-4E93-B0B8-D7CFED0F4A63}"/>
              </a:ext>
            </a:extLst>
          </p:cNvPr>
          <p:cNvGraphicFramePr>
            <a:graphicFrameLocks noGrp="1"/>
          </p:cNvGraphicFramePr>
          <p:nvPr>
            <p:ph idx="1"/>
            <p:extLst>
              <p:ext uri="{D42A27DB-BD31-4B8C-83A1-F6EECF244321}">
                <p14:modId xmlns:p14="http://schemas.microsoft.com/office/powerpoint/2010/main" val="229452186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866" name="Rectangle 117">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18" name="Rectangle 186">
            <a:extLst>
              <a:ext uri="{FF2B5EF4-FFF2-40B4-BE49-F238E27FC236}">
                <a16:creationId xmlns:a16="http://schemas.microsoft.com/office/drawing/2014/main" id="{062A333A-E721-41DE-A26F-7AE6F13D8F95}"/>
              </a:ext>
            </a:extLst>
          </p:cNvPr>
          <p:cNvSpPr>
            <a:spLocks noGrp="1" noChangeArrowheads="1"/>
          </p:cNvSpPr>
          <p:nvPr>
            <p:ph type="title"/>
          </p:nvPr>
        </p:nvSpPr>
        <p:spPr>
          <a:xfrm>
            <a:off x="5596501" y="489508"/>
            <a:ext cx="5754896" cy="1667569"/>
          </a:xfrm>
        </p:spPr>
        <p:txBody>
          <a:bodyPr vert="horz" lIns="91440" tIns="45720" rIns="91440" bIns="45720" rtlCol="0" anchor="b">
            <a:normAutofit/>
          </a:bodyPr>
          <a:lstStyle/>
          <a:p>
            <a:r>
              <a:rPr lang="en-US" altLang="es-MX" sz="4000" kern="1200" dirty="0">
                <a:solidFill>
                  <a:schemeClr val="tx1"/>
                </a:solidFill>
                <a:latin typeface="+mj-lt"/>
                <a:ea typeface="+mj-ea"/>
                <a:cs typeface="+mj-cs"/>
              </a:rPr>
              <a:t>The Mean</a:t>
            </a:r>
          </a:p>
        </p:txBody>
      </p:sp>
      <mc:AlternateContent xmlns:mc="http://schemas.openxmlformats.org/markup-compatibility/2006" xmlns:a14="http://schemas.microsoft.com/office/drawing/2010/main">
        <mc:Choice Requires="a14">
          <p:sp>
            <p:nvSpPr>
              <p:cNvPr id="4" name="Marcador de contenido 3">
                <a:extLst>
                  <a:ext uri="{FF2B5EF4-FFF2-40B4-BE49-F238E27FC236}">
                    <a16:creationId xmlns:a16="http://schemas.microsoft.com/office/drawing/2014/main" id="{557191AF-9287-4B36-A8C9-86CF704DD548}"/>
                  </a:ext>
                </a:extLst>
              </p:cNvPr>
              <p:cNvSpPr>
                <a:spLocks noGrp="1"/>
              </p:cNvSpPr>
              <p:nvPr>
                <p:ph sz="half" idx="2"/>
              </p:nvPr>
            </p:nvSpPr>
            <p:spPr>
              <a:xfrm>
                <a:off x="5596502" y="2405894"/>
                <a:ext cx="5754896" cy="3197464"/>
              </a:xfrm>
            </p:spPr>
            <p:txBody>
              <a:bodyPr vert="horz" lIns="91440" tIns="45720" rIns="91440" bIns="45720" rtlCol="0" anchor="t">
                <a:normAutofit/>
              </a:bodyPr>
              <a:lstStyle/>
              <a:p>
                <a:r>
                  <a:rPr lang="en-US" altLang="es-MX" sz="2000" dirty="0"/>
                  <a:t>Mean = sum of all scores divided by number of scores: </a:t>
                </a:r>
              </a:p>
              <a:p>
                <a:pPr marL="0" indent="0">
                  <a:buNone/>
                </a:pPr>
                <a14:m>
                  <m:oMathPara xmlns:m="http://schemas.openxmlformats.org/officeDocument/2006/math">
                    <m:oMathParaPr>
                      <m:jc m:val="centerGroup"/>
                    </m:oMathParaPr>
                    <m:oMath xmlns:m="http://schemas.openxmlformats.org/officeDocument/2006/math">
                      <m:acc>
                        <m:accPr>
                          <m:chr m:val="̅"/>
                          <m:ctrlPr>
                            <a:rPr lang="en-US" altLang="es-MX" sz="2000" b="0" i="1">
                              <a:latin typeface="Cambria Math" panose="02040503050406030204" pitchFamily="18" charset="0"/>
                            </a:rPr>
                          </m:ctrlPr>
                        </m:accPr>
                        <m:e>
                          <m:r>
                            <a:rPr lang="en-US" altLang="es-MX" sz="2000" b="0" i="1">
                              <a:latin typeface="Cambria Math" panose="02040503050406030204" pitchFamily="18" charset="0"/>
                            </a:rPr>
                            <m:t>𝑥</m:t>
                          </m:r>
                        </m:e>
                      </m:acc>
                      <m:r>
                        <a:rPr lang="en-US" altLang="es-MX" sz="2000" b="0" i="1">
                          <a:latin typeface="Cambria Math" panose="02040503050406030204" pitchFamily="18" charset="0"/>
                        </a:rPr>
                        <m:t>=</m:t>
                      </m:r>
                      <m:f>
                        <m:fPr>
                          <m:ctrlPr>
                            <a:rPr lang="en-US" altLang="es-MX" sz="2000" b="0" i="1">
                              <a:latin typeface="Cambria Math" panose="02040503050406030204" pitchFamily="18" charset="0"/>
                            </a:rPr>
                          </m:ctrlPr>
                        </m:fPr>
                        <m:num>
                          <m:r>
                            <a:rPr lang="en-US" altLang="es-MX" sz="2000" b="0" i="1">
                              <a:latin typeface="Cambria Math" panose="02040503050406030204" pitchFamily="18" charset="0"/>
                            </a:rPr>
                            <m:t>1</m:t>
                          </m:r>
                        </m:num>
                        <m:den>
                          <m:r>
                            <a:rPr lang="en-US" altLang="es-MX" sz="2000" b="0" i="1">
                              <a:latin typeface="Cambria Math" panose="02040503050406030204" pitchFamily="18" charset="0"/>
                            </a:rPr>
                            <m:t>𝑛</m:t>
                          </m:r>
                        </m:den>
                      </m:f>
                      <m:nary>
                        <m:naryPr>
                          <m:chr m:val="∑"/>
                          <m:ctrlPr>
                            <a:rPr lang="en-US" altLang="es-MX" sz="2000" i="1">
                              <a:latin typeface="Cambria Math" panose="02040503050406030204" pitchFamily="18" charset="0"/>
                            </a:rPr>
                          </m:ctrlPr>
                        </m:naryPr>
                        <m:sub>
                          <m:r>
                            <m:rPr>
                              <m:brk m:alnAt="23"/>
                            </m:rPr>
                            <a:rPr lang="en-US" altLang="es-MX" sz="2000" i="1">
                              <a:latin typeface="Cambria Math" panose="02040503050406030204" pitchFamily="18" charset="0"/>
                            </a:rPr>
                            <m:t>𝑖</m:t>
                          </m:r>
                          <m:r>
                            <a:rPr lang="en-US" altLang="es-MX" sz="2000" i="1">
                              <a:latin typeface="Cambria Math" panose="02040503050406030204" pitchFamily="18" charset="0"/>
                            </a:rPr>
                            <m:t>=1</m:t>
                          </m:r>
                        </m:sub>
                        <m:sup>
                          <m:r>
                            <a:rPr lang="en-US" altLang="es-MX" sz="2000" i="1">
                              <a:latin typeface="Cambria Math" panose="02040503050406030204" pitchFamily="18" charset="0"/>
                            </a:rPr>
                            <m:t>𝑛</m:t>
                          </m:r>
                        </m:sup>
                        <m:e>
                          <m:sSub>
                            <m:sSubPr>
                              <m:ctrlPr>
                                <a:rPr lang="en-US" altLang="es-MX" sz="2000" i="1">
                                  <a:latin typeface="Cambria Math" panose="02040503050406030204" pitchFamily="18" charset="0"/>
                                </a:rPr>
                              </m:ctrlPr>
                            </m:sSubPr>
                            <m:e>
                              <m:r>
                                <a:rPr lang="en-US" altLang="es-MX" sz="2000" i="1">
                                  <a:latin typeface="Cambria Math" panose="02040503050406030204" pitchFamily="18" charset="0"/>
                                </a:rPr>
                                <m:t>𝑥</m:t>
                              </m:r>
                            </m:e>
                            <m:sub>
                              <m:r>
                                <a:rPr lang="en-US" altLang="es-MX" sz="2000" i="1">
                                  <a:latin typeface="Cambria Math" panose="02040503050406030204" pitchFamily="18" charset="0"/>
                                </a:rPr>
                                <m:t>𝑖</m:t>
                              </m:r>
                            </m:sub>
                          </m:sSub>
                        </m:e>
                      </m:nary>
                    </m:oMath>
                  </m:oMathPara>
                </a14:m>
                <a:endParaRPr lang="en-US" sz="2000" dirty="0"/>
              </a:p>
              <a:p>
                <a:endParaRPr lang="en-US" altLang="es-MX" sz="2000" dirty="0"/>
              </a:p>
              <a:p>
                <a:endParaRPr lang="en-US" sz="2000" dirty="0"/>
              </a:p>
            </p:txBody>
          </p:sp>
        </mc:Choice>
        <mc:Fallback xmlns="">
          <p:sp>
            <p:nvSpPr>
              <p:cNvPr id="4" name="Marcador de contenido 3">
                <a:extLst>
                  <a:ext uri="{FF2B5EF4-FFF2-40B4-BE49-F238E27FC236}">
                    <a16:creationId xmlns:a16="http://schemas.microsoft.com/office/drawing/2014/main" id="{557191AF-9287-4B36-A8C9-86CF704DD548}"/>
                  </a:ext>
                </a:extLst>
              </p:cNvPr>
              <p:cNvSpPr>
                <a:spLocks noGrp="1" noRot="1" noChangeAspect="1" noMove="1" noResize="1" noEditPoints="1" noAdjustHandles="1" noChangeArrowheads="1" noChangeShapeType="1" noTextEdit="1"/>
              </p:cNvSpPr>
              <p:nvPr>
                <p:ph sz="half" idx="2"/>
              </p:nvPr>
            </p:nvSpPr>
            <p:spPr>
              <a:xfrm>
                <a:off x="5596502" y="2405894"/>
                <a:ext cx="5754896" cy="3197464"/>
              </a:xfrm>
              <a:blipFill>
                <a:blip r:embed="rId2"/>
                <a:stretch>
                  <a:fillRect l="-953" t="-2099"/>
                </a:stretch>
              </a:blipFill>
            </p:spPr>
            <p:txBody>
              <a:bodyPr/>
              <a:lstStyle/>
              <a:p>
                <a:r>
                  <a:rPr lang="es-MX">
                    <a:noFill/>
                  </a:rPr>
                  <a:t> </a:t>
                </a:r>
              </a:p>
            </p:txBody>
          </p:sp>
        </mc:Fallback>
      </mc:AlternateContent>
      <p:sp>
        <p:nvSpPr>
          <p:cNvPr id="18867" name="Rectangle 119">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68" name="Rectangle 121">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864" name="Group 432">
            <a:extLst>
              <a:ext uri="{FF2B5EF4-FFF2-40B4-BE49-F238E27FC236}">
                <a16:creationId xmlns:a16="http://schemas.microsoft.com/office/drawing/2014/main" id="{CA3214AF-0314-4C0A-8EBE-6130BBBABEFA}"/>
              </a:ext>
            </a:extLst>
          </p:cNvPr>
          <p:cNvGraphicFramePr>
            <a:graphicFrameLocks noGrp="1"/>
          </p:cNvGraphicFramePr>
          <p:nvPr>
            <p:ph sz="half" idx="1"/>
            <p:extLst>
              <p:ext uri="{D42A27DB-BD31-4B8C-83A1-F6EECF244321}">
                <p14:modId xmlns:p14="http://schemas.microsoft.com/office/powerpoint/2010/main" val="3981942310"/>
              </p:ext>
            </p:extLst>
          </p:nvPr>
        </p:nvGraphicFramePr>
        <p:xfrm>
          <a:off x="1068130" y="1262568"/>
          <a:ext cx="3876167" cy="3901172"/>
        </p:xfrm>
        <a:graphic>
          <a:graphicData uri="http://schemas.openxmlformats.org/drawingml/2006/table">
            <a:tbl>
              <a:tblPr firstRow="1" bandRow="1"/>
              <a:tblGrid>
                <a:gridCol w="1070982">
                  <a:extLst>
                    <a:ext uri="{9D8B030D-6E8A-4147-A177-3AD203B41FA5}">
                      <a16:colId xmlns:a16="http://schemas.microsoft.com/office/drawing/2014/main" val="167153801"/>
                    </a:ext>
                  </a:extLst>
                </a:gridCol>
                <a:gridCol w="965948">
                  <a:extLst>
                    <a:ext uri="{9D8B030D-6E8A-4147-A177-3AD203B41FA5}">
                      <a16:colId xmlns:a16="http://schemas.microsoft.com/office/drawing/2014/main" val="3580931284"/>
                    </a:ext>
                  </a:extLst>
                </a:gridCol>
                <a:gridCol w="965949">
                  <a:extLst>
                    <a:ext uri="{9D8B030D-6E8A-4147-A177-3AD203B41FA5}">
                      <a16:colId xmlns:a16="http://schemas.microsoft.com/office/drawing/2014/main" val="1367659056"/>
                    </a:ext>
                  </a:extLst>
                </a:gridCol>
                <a:gridCol w="873288">
                  <a:extLst>
                    <a:ext uri="{9D8B030D-6E8A-4147-A177-3AD203B41FA5}">
                      <a16:colId xmlns:a16="http://schemas.microsoft.com/office/drawing/2014/main" val="3395377420"/>
                    </a:ext>
                  </a:extLst>
                </a:gridCol>
              </a:tblGrid>
              <a:tr h="354652">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Subject</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before</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during</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after</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99092628"/>
                  </a:ext>
                </a:extLst>
              </a:tr>
              <a:tr h="354652">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1</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3</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2</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7</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80287197"/>
                  </a:ext>
                </a:extLst>
              </a:tr>
              <a:tr h="354652">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2</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3</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8</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4</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28804908"/>
                  </a:ext>
                </a:extLst>
              </a:tr>
              <a:tr h="354652">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3</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3</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7</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3</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31996456"/>
                  </a:ext>
                </a:extLst>
              </a:tr>
              <a:tr h="354652">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4</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3</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2</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6</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55535129"/>
                  </a:ext>
                </a:extLst>
              </a:tr>
              <a:tr h="354652">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5</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3</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8</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4</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45781537"/>
                  </a:ext>
                </a:extLst>
              </a:tr>
              <a:tr h="354652">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6</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3</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1</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6</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49332160"/>
                  </a:ext>
                </a:extLst>
              </a:tr>
              <a:tr h="354652">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7</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3</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9</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3</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24286030"/>
                  </a:ext>
                </a:extLst>
              </a:tr>
              <a:tr h="354652">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8</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3</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3</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6</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85180437"/>
                  </a:ext>
                </a:extLst>
              </a:tr>
              <a:tr h="354652">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9</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3</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9</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4</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09653159"/>
                  </a:ext>
                </a:extLst>
              </a:tr>
              <a:tr h="354652">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1" i="0" u="none" strike="noStrike" cap="none" normalizeH="0" baseline="0">
                          <a:ln>
                            <a:noFill/>
                          </a:ln>
                          <a:solidFill>
                            <a:schemeClr val="tx1"/>
                          </a:solidFill>
                          <a:effectLst/>
                          <a:latin typeface="Courier" charset="0"/>
                        </a:rPr>
                        <a:t>10</a:t>
                      </a:r>
                      <a:endParaRPr kumimoji="0" lang="en-US" altLang="es-MX" sz="1400" b="1"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3</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1</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400" b="0" i="0" u="none" strike="noStrike" cap="none" normalizeH="0" baseline="0">
                          <a:ln>
                            <a:noFill/>
                          </a:ln>
                          <a:solidFill>
                            <a:schemeClr val="tx1"/>
                          </a:solidFill>
                          <a:effectLst/>
                          <a:latin typeface="Courier" charset="0"/>
                        </a:rPr>
                        <a:t>7</a:t>
                      </a:r>
                      <a:endParaRPr kumimoji="0" lang="en-US" altLang="es-MX" sz="1400" b="0" i="0" u="none" strike="noStrike" cap="none" normalizeH="0" baseline="0">
                        <a:ln>
                          <a:noFill/>
                        </a:ln>
                        <a:solidFill>
                          <a:schemeClr val="tx1"/>
                        </a:solidFill>
                        <a:effectLst/>
                        <a:latin typeface="Arial" panose="020B0604020202020204" pitchFamily="34" charset="0"/>
                      </a:endParaRPr>
                    </a:p>
                  </a:txBody>
                  <a:tcPr marL="104309" marR="104309" marT="52155" marB="5215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31812392"/>
                  </a:ext>
                </a:extLst>
              </a:tr>
            </a:tbl>
          </a:graphicData>
        </a:graphic>
      </p:graphicFrame>
      <p:sp>
        <p:nvSpPr>
          <p:cNvPr id="20" name="Text Box 433">
            <a:extLst>
              <a:ext uri="{FF2B5EF4-FFF2-40B4-BE49-F238E27FC236}">
                <a16:creationId xmlns:a16="http://schemas.microsoft.com/office/drawing/2014/main" id="{43C29047-5C88-43F2-ACA6-49B62EEEEDD7}"/>
              </a:ext>
            </a:extLst>
          </p:cNvPr>
          <p:cNvSpPr txBox="1">
            <a:spLocks noChangeArrowheads="1"/>
          </p:cNvSpPr>
          <p:nvPr/>
        </p:nvSpPr>
        <p:spPr bwMode="auto">
          <a:xfrm>
            <a:off x="1494119" y="5163740"/>
            <a:ext cx="3747732"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s-MX" dirty="0"/>
              <a:t>Sum =     30               50            50</a:t>
            </a:r>
          </a:p>
          <a:p>
            <a:r>
              <a:rPr lang="en-US" altLang="es-MX" dirty="0"/>
              <a:t>n =          10               10             10</a:t>
            </a:r>
          </a:p>
          <a:p>
            <a:r>
              <a:rPr lang="en-US" altLang="es-MX" dirty="0"/>
              <a:t>Mean =    3                 5                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Rectangle 2">
            <a:extLst>
              <a:ext uri="{FF2B5EF4-FFF2-40B4-BE49-F238E27FC236}">
                <a16:creationId xmlns:a16="http://schemas.microsoft.com/office/drawing/2014/main" id="{4C80AD7B-D11B-46CC-8558-AE0091840EDA}"/>
              </a:ext>
            </a:extLst>
          </p:cNvPr>
          <p:cNvSpPr>
            <a:spLocks noGrp="1" noChangeArrowheads="1"/>
          </p:cNvSpPr>
          <p:nvPr>
            <p:ph type="title"/>
          </p:nvPr>
        </p:nvSpPr>
        <p:spPr>
          <a:xfrm>
            <a:off x="5596501" y="489508"/>
            <a:ext cx="5754896" cy="1667569"/>
          </a:xfrm>
        </p:spPr>
        <p:txBody>
          <a:bodyPr anchor="b">
            <a:normAutofit/>
          </a:bodyPr>
          <a:lstStyle/>
          <a:p>
            <a:r>
              <a:rPr lang="en-US" altLang="es-MX" sz="3700"/>
              <a:t>The Variance: Sum of the squared deviations divided by number of scores</a:t>
            </a:r>
          </a:p>
        </p:txBody>
      </p:sp>
      <p:pic>
        <p:nvPicPr>
          <p:cNvPr id="70" name="Graphic 69" descr="Estadísticas">
            <a:extLst>
              <a:ext uri="{FF2B5EF4-FFF2-40B4-BE49-F238E27FC236}">
                <a16:creationId xmlns:a16="http://schemas.microsoft.com/office/drawing/2014/main" id="{E694FD9F-151C-4912-95A4-7FC8A4E6DB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8130" y="1275070"/>
            <a:ext cx="3876165" cy="3876165"/>
          </a:xfrm>
          <a:prstGeom prst="rect">
            <a:avLst/>
          </a:prstGeom>
        </p:spPr>
      </p:pic>
      <mc:AlternateContent xmlns:mc="http://schemas.openxmlformats.org/markup-compatibility/2006" xmlns:a14="http://schemas.microsoft.com/office/drawing/2010/main">
        <mc:Choice Requires="a14">
          <p:sp>
            <p:nvSpPr>
              <p:cNvPr id="5" name="Marcador de contenido 4">
                <a:extLst>
                  <a:ext uri="{FF2B5EF4-FFF2-40B4-BE49-F238E27FC236}">
                    <a16:creationId xmlns:a16="http://schemas.microsoft.com/office/drawing/2014/main" id="{97CA54B1-B082-44C4-9E60-AC6F64C472A3}"/>
                  </a:ext>
                </a:extLst>
              </p:cNvPr>
              <p:cNvSpPr>
                <a:spLocks noGrp="1"/>
              </p:cNvSpPr>
              <p:nvPr>
                <p:ph idx="1"/>
              </p:nvPr>
            </p:nvSpPr>
            <p:spPr>
              <a:xfrm>
                <a:off x="5596502" y="2405894"/>
                <a:ext cx="5754896" cy="3197464"/>
              </a:xfrm>
            </p:spPr>
            <p:txBody>
              <a:bodyPr anchor="t">
                <a:normAutofit/>
              </a:bodyPr>
              <a:lstStyle/>
              <a:p>
                <a:r>
                  <a:rPr lang="en-US" altLang="es-MX" sz="2000" dirty="0">
                    <a:sym typeface="Symbol" panose="05050102010706020507" pitchFamily="18" charset="2"/>
                  </a:rPr>
                  <a:t>In probability theory and statistics, variance is the expectation of the squared deviation of a random variable from its mean. Variance is a measure of dispersion, meaning it is a measure of how far a set of numbers is spread out from their average value. </a:t>
                </a:r>
              </a:p>
              <a:p>
                <a:endParaRPr lang="es-MX" altLang="es-MX" sz="2000" dirty="0">
                  <a:sym typeface="Symbol" panose="05050102010706020507" pitchFamily="18" charset="2"/>
                </a:endParaRPr>
              </a:p>
              <a:p>
                <a:pPr marL="0" indent="0">
                  <a:buNone/>
                </a:pPr>
                <a14:m>
                  <m:oMathPara xmlns:m="http://schemas.openxmlformats.org/officeDocument/2006/math">
                    <m:oMathParaPr>
                      <m:jc m:val="centerGroup"/>
                    </m:oMathParaPr>
                    <m:oMath xmlns:m="http://schemas.openxmlformats.org/officeDocument/2006/math">
                      <m:r>
                        <m:rPr>
                          <m:sty m:val="p"/>
                        </m:rPr>
                        <a:rPr lang="es-MX" altLang="es-MX" sz="2000" b="0" i="0" smtClean="0">
                          <a:latin typeface="Cambria Math" panose="02040503050406030204" pitchFamily="18" charset="0"/>
                          <a:sym typeface="Symbol" panose="05050102010706020507" pitchFamily="18" charset="2"/>
                        </a:rPr>
                        <m:t>s</m:t>
                      </m:r>
                      <m:r>
                        <a:rPr lang="es-MX" altLang="es-MX" sz="2000">
                          <a:latin typeface="Cambria Math" panose="02040503050406030204" pitchFamily="18" charset="0"/>
                        </a:rPr>
                        <m:t>=</m:t>
                      </m:r>
                      <m:f>
                        <m:fPr>
                          <m:ctrlPr>
                            <a:rPr lang="es-MX" altLang="es-MX" sz="2000" i="1">
                              <a:latin typeface="Cambria Math" panose="02040503050406030204" pitchFamily="18" charset="0"/>
                            </a:rPr>
                          </m:ctrlPr>
                        </m:fPr>
                        <m:num>
                          <m:r>
                            <a:rPr lang="es-MX" altLang="es-MX" sz="2000">
                              <a:latin typeface="Cambria Math" panose="02040503050406030204" pitchFamily="18" charset="0"/>
                            </a:rPr>
                            <m:t>1</m:t>
                          </m:r>
                        </m:num>
                        <m:den>
                          <m:r>
                            <a:rPr lang="es-MX" altLang="es-MX" sz="2000">
                              <a:latin typeface="Cambria Math" panose="02040503050406030204" pitchFamily="18" charset="0"/>
                            </a:rPr>
                            <m:t>𝑛</m:t>
                          </m:r>
                        </m:den>
                      </m:f>
                      <m:nary>
                        <m:naryPr>
                          <m:chr m:val="∑"/>
                          <m:ctrlPr>
                            <a:rPr lang="es-MX" altLang="es-MX" sz="2000" i="1">
                              <a:latin typeface="Cambria Math" panose="02040503050406030204" pitchFamily="18" charset="0"/>
                            </a:rPr>
                          </m:ctrlPr>
                        </m:naryPr>
                        <m:sub>
                          <m:r>
                            <m:rPr>
                              <m:brk m:alnAt="23"/>
                            </m:rPr>
                            <a:rPr lang="es-MX" altLang="es-MX" sz="2000">
                              <a:latin typeface="Cambria Math" panose="02040503050406030204" pitchFamily="18" charset="0"/>
                            </a:rPr>
                            <m:t>𝑖</m:t>
                          </m:r>
                          <m:r>
                            <a:rPr lang="es-MX" altLang="es-MX" sz="2000">
                              <a:latin typeface="Cambria Math" panose="02040503050406030204" pitchFamily="18" charset="0"/>
                            </a:rPr>
                            <m:t>=1</m:t>
                          </m:r>
                        </m:sub>
                        <m:sup>
                          <m:r>
                            <a:rPr lang="es-MX" altLang="es-MX" sz="2000">
                              <a:latin typeface="Cambria Math" panose="02040503050406030204" pitchFamily="18" charset="0"/>
                            </a:rPr>
                            <m:t>𝑛</m:t>
                          </m:r>
                        </m:sup>
                        <m:e>
                          <m:sSup>
                            <m:sSupPr>
                              <m:ctrlPr>
                                <a:rPr lang="es-MX" altLang="es-MX" sz="2000" i="1">
                                  <a:latin typeface="Cambria Math" panose="02040503050406030204" pitchFamily="18" charset="0"/>
                                </a:rPr>
                              </m:ctrlPr>
                            </m:sSupPr>
                            <m:e>
                              <m:d>
                                <m:dPr>
                                  <m:ctrlPr>
                                    <a:rPr lang="es-MX" altLang="es-MX" sz="2000" i="1">
                                      <a:latin typeface="Cambria Math" panose="02040503050406030204" pitchFamily="18" charset="0"/>
                                    </a:rPr>
                                  </m:ctrlPr>
                                </m:dPr>
                                <m:e>
                                  <m:sSub>
                                    <m:sSubPr>
                                      <m:ctrlPr>
                                        <a:rPr lang="es-MX" altLang="es-MX" sz="2000" i="1">
                                          <a:latin typeface="Cambria Math" panose="02040503050406030204" pitchFamily="18" charset="0"/>
                                        </a:rPr>
                                      </m:ctrlPr>
                                    </m:sSubPr>
                                    <m:e>
                                      <m:r>
                                        <a:rPr lang="es-MX" altLang="es-MX" sz="2000">
                                          <a:latin typeface="Cambria Math" panose="02040503050406030204" pitchFamily="18" charset="0"/>
                                        </a:rPr>
                                        <m:t>𝑥</m:t>
                                      </m:r>
                                    </m:e>
                                    <m:sub>
                                      <m:r>
                                        <a:rPr lang="es-MX" altLang="es-MX" sz="2000">
                                          <a:latin typeface="Cambria Math" panose="02040503050406030204" pitchFamily="18" charset="0"/>
                                        </a:rPr>
                                        <m:t>𝑖</m:t>
                                      </m:r>
                                    </m:sub>
                                  </m:sSub>
                                  <m:r>
                                    <a:rPr lang="es-MX" altLang="es-MX" sz="2000">
                                      <a:latin typeface="Cambria Math" panose="02040503050406030204" pitchFamily="18" charset="0"/>
                                    </a:rPr>
                                    <m:t>−</m:t>
                                  </m:r>
                                  <m:acc>
                                    <m:accPr>
                                      <m:chr m:val="̅"/>
                                      <m:ctrlPr>
                                        <a:rPr lang="en-US" altLang="es-MX" sz="2000" i="1">
                                          <a:latin typeface="Cambria Math" panose="02040503050406030204" pitchFamily="18" charset="0"/>
                                        </a:rPr>
                                      </m:ctrlPr>
                                    </m:accPr>
                                    <m:e>
                                      <m:r>
                                        <a:rPr lang="en-US" altLang="es-MX" sz="2000" i="1">
                                          <a:latin typeface="Cambria Math" panose="02040503050406030204" pitchFamily="18" charset="0"/>
                                        </a:rPr>
                                        <m:t>𝑥</m:t>
                                      </m:r>
                                    </m:e>
                                  </m:acc>
                                </m:e>
                              </m:d>
                            </m:e>
                            <m:sup>
                              <m:r>
                                <a:rPr lang="es-MX" altLang="es-MX" sz="2000">
                                  <a:latin typeface="Cambria Math" panose="02040503050406030204" pitchFamily="18" charset="0"/>
                                </a:rPr>
                                <m:t>2</m:t>
                              </m:r>
                            </m:sup>
                          </m:sSup>
                        </m:e>
                      </m:nary>
                    </m:oMath>
                  </m:oMathPara>
                </a14:m>
                <a:endParaRPr lang="es-MX" sz="2000" dirty="0"/>
              </a:p>
            </p:txBody>
          </p:sp>
        </mc:Choice>
        <mc:Fallback xmlns="">
          <p:sp>
            <p:nvSpPr>
              <p:cNvPr id="5" name="Marcador de contenido 4">
                <a:extLst>
                  <a:ext uri="{FF2B5EF4-FFF2-40B4-BE49-F238E27FC236}">
                    <a16:creationId xmlns:a16="http://schemas.microsoft.com/office/drawing/2014/main" id="{97CA54B1-B082-44C4-9E60-AC6F64C472A3}"/>
                  </a:ext>
                </a:extLst>
              </p:cNvPr>
              <p:cNvSpPr>
                <a:spLocks noGrp="1" noRot="1" noChangeAspect="1" noMove="1" noResize="1" noEditPoints="1" noAdjustHandles="1" noChangeArrowheads="1" noChangeShapeType="1" noTextEdit="1"/>
              </p:cNvSpPr>
              <p:nvPr>
                <p:ph idx="1"/>
              </p:nvPr>
            </p:nvSpPr>
            <p:spPr>
              <a:xfrm>
                <a:off x="5596502" y="2405894"/>
                <a:ext cx="5754896" cy="3197464"/>
              </a:xfrm>
              <a:blipFill>
                <a:blip r:embed="rId5"/>
                <a:stretch>
                  <a:fillRect l="-953" t="-2099" r="-1377"/>
                </a:stretch>
              </a:blipFill>
            </p:spPr>
            <p:txBody>
              <a:bodyPr/>
              <a:lstStyle/>
              <a:p>
                <a:r>
                  <a:rPr lang="es-MX">
                    <a:noFill/>
                  </a:rPr>
                  <a:t> </a:t>
                </a:r>
              </a:p>
            </p:txBody>
          </p:sp>
        </mc:Fallback>
      </mc:AlternateContent>
      <p:sp>
        <p:nvSpPr>
          <p:cNvPr id="75" name="Rectangle 74">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1040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06" name="Rectangle 2">
            <a:extLst>
              <a:ext uri="{FF2B5EF4-FFF2-40B4-BE49-F238E27FC236}">
                <a16:creationId xmlns:a16="http://schemas.microsoft.com/office/drawing/2014/main" id="{4C80AD7B-D11B-46CC-8558-AE0091840EDA}"/>
              </a:ext>
            </a:extLst>
          </p:cNvPr>
          <p:cNvSpPr>
            <a:spLocks noGrp="1" noChangeArrowheads="1"/>
          </p:cNvSpPr>
          <p:nvPr>
            <p:ph type="title"/>
          </p:nvPr>
        </p:nvSpPr>
        <p:spPr>
          <a:xfrm>
            <a:off x="1371599" y="294538"/>
            <a:ext cx="9895951" cy="1033669"/>
          </a:xfrm>
        </p:spPr>
        <p:txBody>
          <a:bodyPr>
            <a:normAutofit/>
          </a:bodyPr>
          <a:lstStyle/>
          <a:p>
            <a:r>
              <a:rPr lang="en-US" altLang="es-MX" sz="3400">
                <a:solidFill>
                  <a:srgbClr val="FFFFFF"/>
                </a:solidFill>
              </a:rPr>
              <a:t>The Variance: Sum of the squared deviations divided by number of scores</a:t>
            </a:r>
          </a:p>
        </p:txBody>
      </p:sp>
      <p:graphicFrame>
        <p:nvGraphicFramePr>
          <p:cNvPr id="44" name="Group 3">
            <a:extLst>
              <a:ext uri="{FF2B5EF4-FFF2-40B4-BE49-F238E27FC236}">
                <a16:creationId xmlns:a16="http://schemas.microsoft.com/office/drawing/2014/main" id="{10EEDA79-8B75-4DC2-B840-BB166FB4E00C}"/>
              </a:ext>
            </a:extLst>
          </p:cNvPr>
          <p:cNvGraphicFramePr>
            <a:graphicFrameLocks/>
          </p:cNvGraphicFramePr>
          <p:nvPr>
            <p:extLst>
              <p:ext uri="{D42A27DB-BD31-4B8C-83A1-F6EECF244321}">
                <p14:modId xmlns:p14="http://schemas.microsoft.com/office/powerpoint/2010/main" val="913415863"/>
              </p:ext>
            </p:extLst>
          </p:nvPr>
        </p:nvGraphicFramePr>
        <p:xfrm>
          <a:off x="1834254" y="2139385"/>
          <a:ext cx="3118903" cy="3017520"/>
        </p:xfrm>
        <a:graphic>
          <a:graphicData uri="http://schemas.openxmlformats.org/drawingml/2006/table">
            <a:tbl>
              <a:tblPr/>
              <a:tblGrid>
                <a:gridCol w="844201">
                  <a:extLst>
                    <a:ext uri="{9D8B030D-6E8A-4147-A177-3AD203B41FA5}">
                      <a16:colId xmlns:a16="http://schemas.microsoft.com/office/drawing/2014/main" val="3970324800"/>
                    </a:ext>
                  </a:extLst>
                </a:gridCol>
                <a:gridCol w="777126">
                  <a:extLst>
                    <a:ext uri="{9D8B030D-6E8A-4147-A177-3AD203B41FA5}">
                      <a16:colId xmlns:a16="http://schemas.microsoft.com/office/drawing/2014/main" val="4007388087"/>
                    </a:ext>
                  </a:extLst>
                </a:gridCol>
                <a:gridCol w="797442">
                  <a:extLst>
                    <a:ext uri="{9D8B030D-6E8A-4147-A177-3AD203B41FA5}">
                      <a16:colId xmlns:a16="http://schemas.microsoft.com/office/drawing/2014/main" val="1151939249"/>
                    </a:ext>
                  </a:extLst>
                </a:gridCol>
                <a:gridCol w="700134">
                  <a:extLst>
                    <a:ext uri="{9D8B030D-6E8A-4147-A177-3AD203B41FA5}">
                      <a16:colId xmlns:a16="http://schemas.microsoft.com/office/drawing/2014/main" val="3059053780"/>
                    </a:ext>
                  </a:extLst>
                </a:gridCol>
              </a:tblGrid>
              <a:tr h="26511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Subject</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before</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dirty="0">
                          <a:ln>
                            <a:noFill/>
                          </a:ln>
                          <a:solidFill>
                            <a:schemeClr val="tx1"/>
                          </a:solidFill>
                          <a:effectLst/>
                          <a:latin typeface="Courier" charset="0"/>
                        </a:rPr>
                        <a:t>during</a:t>
                      </a:r>
                      <a:endParaRPr kumimoji="0" lang="en-US" altLang="es-MX" sz="1200" b="1"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after</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93758111"/>
                  </a:ext>
                </a:extLst>
              </a:tr>
              <a:tr h="263525">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1</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dirty="0">
                          <a:ln>
                            <a:noFill/>
                          </a:ln>
                          <a:solidFill>
                            <a:schemeClr val="tx1"/>
                          </a:solidFill>
                          <a:effectLst/>
                          <a:latin typeface="Courier" charset="0"/>
                        </a:rPr>
                        <a:t>2</a:t>
                      </a:r>
                      <a:endParaRPr kumimoji="0" lang="en-US" altLang="es-MX" sz="12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dirty="0">
                          <a:ln>
                            <a:noFill/>
                          </a:ln>
                          <a:solidFill>
                            <a:schemeClr val="tx1"/>
                          </a:solidFill>
                          <a:effectLst/>
                          <a:latin typeface="Courier" charset="0"/>
                        </a:rPr>
                        <a:t>7</a:t>
                      </a:r>
                      <a:endParaRPr kumimoji="0" lang="en-US" altLang="es-MX" sz="12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40377019"/>
                  </a:ext>
                </a:extLst>
              </a:tr>
              <a:tr h="26511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2</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8</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4</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42083874"/>
                  </a:ext>
                </a:extLst>
              </a:tr>
              <a:tr h="263525">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3</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dirty="0">
                          <a:ln>
                            <a:noFill/>
                          </a:ln>
                          <a:solidFill>
                            <a:schemeClr val="tx1"/>
                          </a:solidFill>
                          <a:effectLst/>
                          <a:latin typeface="Courier" charset="0"/>
                        </a:rPr>
                        <a:t>7</a:t>
                      </a:r>
                      <a:endParaRPr kumimoji="0" lang="en-US" altLang="es-MX" sz="12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49547733"/>
                  </a:ext>
                </a:extLst>
              </a:tr>
              <a:tr h="26511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4</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2</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6</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35868338"/>
                  </a:ext>
                </a:extLst>
              </a:tr>
              <a:tr h="26511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5</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8</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4</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46939465"/>
                  </a:ext>
                </a:extLst>
              </a:tr>
              <a:tr h="26511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6</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1</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6</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27136243"/>
                  </a:ext>
                </a:extLst>
              </a:tr>
              <a:tr h="263525">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7</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9</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12177583"/>
                  </a:ext>
                </a:extLst>
              </a:tr>
              <a:tr h="26511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8</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6</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93804441"/>
                  </a:ext>
                </a:extLst>
              </a:tr>
              <a:tr h="263525">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9</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9</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4</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63398511"/>
                  </a:ext>
                </a:extLst>
              </a:tr>
              <a:tr h="26511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charset="0"/>
                        </a:rPr>
                        <a:t>10</a:t>
                      </a:r>
                      <a:endParaRPr kumimoji="0" lang="en-US" altLang="es-MX" sz="1200" b="1"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3</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a:ln>
                            <a:noFill/>
                          </a:ln>
                          <a:solidFill>
                            <a:schemeClr val="tx1"/>
                          </a:solidFill>
                          <a:effectLst/>
                          <a:latin typeface="Courier" charset="0"/>
                        </a:rPr>
                        <a:t>1</a:t>
                      </a:r>
                      <a:endParaRPr kumimoji="0" lang="en-US" altLang="es-MX" sz="1200" b="0" i="0" u="none" strike="noStrike" cap="none" normalizeH="0" baseline="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0" i="0" u="none" strike="noStrike" cap="none" normalizeH="0" baseline="0" dirty="0">
                          <a:ln>
                            <a:noFill/>
                          </a:ln>
                          <a:solidFill>
                            <a:schemeClr val="tx1"/>
                          </a:solidFill>
                          <a:effectLst/>
                          <a:latin typeface="Courier" charset="0"/>
                        </a:rPr>
                        <a:t>7</a:t>
                      </a:r>
                      <a:endParaRPr kumimoji="0" lang="en-US" altLang="es-MX" sz="1200" b="0" i="0" u="none" strike="noStrike" cap="none" normalizeH="0" baseline="0" dirty="0">
                        <a:ln>
                          <a:noFill/>
                        </a:ln>
                        <a:solidFill>
                          <a:schemeClr val="tx1"/>
                        </a:solidFill>
                        <a:effectLst/>
                        <a:latin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51977841"/>
                  </a:ext>
                </a:extLst>
              </a:tr>
            </a:tbl>
          </a:graphicData>
        </a:graphic>
      </p:graphicFrame>
      <p:sp>
        <p:nvSpPr>
          <p:cNvPr id="45" name="Text Box 65">
            <a:extLst>
              <a:ext uri="{FF2B5EF4-FFF2-40B4-BE49-F238E27FC236}">
                <a16:creationId xmlns:a16="http://schemas.microsoft.com/office/drawing/2014/main" id="{7D306E7A-7C6E-40F2-921C-4245E2A6ABC8}"/>
              </a:ext>
            </a:extLst>
          </p:cNvPr>
          <p:cNvSpPr txBox="1">
            <a:spLocks noChangeArrowheads="1"/>
          </p:cNvSpPr>
          <p:nvPr/>
        </p:nvSpPr>
        <p:spPr bwMode="auto">
          <a:xfrm>
            <a:off x="2073590" y="5131495"/>
            <a:ext cx="3024187"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s-MX" dirty="0"/>
              <a:t>Sum =     30         50          50</a:t>
            </a:r>
          </a:p>
          <a:p>
            <a:pPr>
              <a:spcBef>
                <a:spcPct val="50000"/>
              </a:spcBef>
            </a:pPr>
            <a:r>
              <a:rPr lang="en-US" altLang="es-MX" dirty="0"/>
              <a:t>n =          10         10          10</a:t>
            </a:r>
          </a:p>
          <a:p>
            <a:pPr>
              <a:spcBef>
                <a:spcPct val="50000"/>
              </a:spcBef>
            </a:pPr>
            <a:r>
              <a:rPr lang="en-US" altLang="es-MX" dirty="0"/>
              <a:t>Mean =    3           5            5</a:t>
            </a:r>
          </a:p>
        </p:txBody>
      </p:sp>
      <p:graphicFrame>
        <p:nvGraphicFramePr>
          <p:cNvPr id="46" name="Group 153">
            <a:extLst>
              <a:ext uri="{FF2B5EF4-FFF2-40B4-BE49-F238E27FC236}">
                <a16:creationId xmlns:a16="http://schemas.microsoft.com/office/drawing/2014/main" id="{C5E9C08C-4099-472A-B437-89203E651B9D}"/>
              </a:ext>
            </a:extLst>
          </p:cNvPr>
          <p:cNvGraphicFramePr>
            <a:graphicFrameLocks/>
          </p:cNvGraphicFramePr>
          <p:nvPr>
            <p:extLst>
              <p:ext uri="{D42A27DB-BD31-4B8C-83A1-F6EECF244321}">
                <p14:modId xmlns:p14="http://schemas.microsoft.com/office/powerpoint/2010/main" val="1430002373"/>
              </p:ext>
            </p:extLst>
          </p:nvPr>
        </p:nvGraphicFramePr>
        <p:xfrm>
          <a:off x="5303839" y="2005316"/>
          <a:ext cx="5113337" cy="3200400"/>
        </p:xfrm>
        <a:graphic>
          <a:graphicData uri="http://schemas.openxmlformats.org/drawingml/2006/table">
            <a:tbl>
              <a:tblPr/>
              <a:tblGrid>
                <a:gridCol w="852487">
                  <a:extLst>
                    <a:ext uri="{9D8B030D-6E8A-4147-A177-3AD203B41FA5}">
                      <a16:colId xmlns:a16="http://schemas.microsoft.com/office/drawing/2014/main" val="1362501030"/>
                    </a:ext>
                  </a:extLst>
                </a:gridCol>
                <a:gridCol w="852488">
                  <a:extLst>
                    <a:ext uri="{9D8B030D-6E8A-4147-A177-3AD203B41FA5}">
                      <a16:colId xmlns:a16="http://schemas.microsoft.com/office/drawing/2014/main" val="1911770366"/>
                    </a:ext>
                  </a:extLst>
                </a:gridCol>
                <a:gridCol w="852487">
                  <a:extLst>
                    <a:ext uri="{9D8B030D-6E8A-4147-A177-3AD203B41FA5}">
                      <a16:colId xmlns:a16="http://schemas.microsoft.com/office/drawing/2014/main" val="2533062943"/>
                    </a:ext>
                  </a:extLst>
                </a:gridCol>
                <a:gridCol w="852488">
                  <a:extLst>
                    <a:ext uri="{9D8B030D-6E8A-4147-A177-3AD203B41FA5}">
                      <a16:colId xmlns:a16="http://schemas.microsoft.com/office/drawing/2014/main" val="2154731589"/>
                    </a:ext>
                  </a:extLst>
                </a:gridCol>
                <a:gridCol w="850900">
                  <a:extLst>
                    <a:ext uri="{9D8B030D-6E8A-4147-A177-3AD203B41FA5}">
                      <a16:colId xmlns:a16="http://schemas.microsoft.com/office/drawing/2014/main" val="507570628"/>
                    </a:ext>
                  </a:extLst>
                </a:gridCol>
                <a:gridCol w="852487">
                  <a:extLst>
                    <a:ext uri="{9D8B030D-6E8A-4147-A177-3AD203B41FA5}">
                      <a16:colId xmlns:a16="http://schemas.microsoft.com/office/drawing/2014/main" val="2209606297"/>
                    </a:ext>
                  </a:extLst>
                </a:gridCol>
              </a:tblGrid>
              <a:tr h="200025">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dirty="0">
                          <a:ln>
                            <a:noFill/>
                          </a:ln>
                          <a:solidFill>
                            <a:schemeClr val="tx1"/>
                          </a:solidFill>
                          <a:effectLst/>
                          <a:latin typeface="Courier"/>
                        </a:rPr>
                        <a:t>Before -mean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dirty="0">
                          <a:ln>
                            <a:noFill/>
                          </a:ln>
                          <a:solidFill>
                            <a:schemeClr val="tx1"/>
                          </a:solidFill>
                          <a:effectLst/>
                          <a:latin typeface="Courier"/>
                        </a:rPr>
                        <a:t>Before – mean</a:t>
                      </a:r>
                      <a:r>
                        <a:rPr kumimoji="0" lang="en-US" altLang="es-MX" sz="1200" b="1" i="0" u="none" strike="noStrike" cap="none" normalizeH="0" baseline="30000" dirty="0">
                          <a:ln>
                            <a:noFill/>
                          </a:ln>
                          <a:solidFill>
                            <a:schemeClr val="tx1"/>
                          </a:solidFill>
                          <a:effectLst/>
                          <a:latin typeface="Courier"/>
                        </a:rPr>
                        <a:t>2</a:t>
                      </a:r>
                      <a:endParaRPr kumimoji="0" lang="en-US" altLang="es-MX" sz="1200" b="1" i="0" u="none" strike="noStrike" cap="none" normalizeH="0" baseline="0" dirty="0">
                        <a:ln>
                          <a:noFill/>
                        </a:ln>
                        <a:solidFill>
                          <a:schemeClr val="tx1"/>
                        </a:solidFill>
                        <a:effectLst/>
                        <a:latin typeface="Courier"/>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dirty="0">
                          <a:ln>
                            <a:noFill/>
                          </a:ln>
                          <a:solidFill>
                            <a:schemeClr val="tx1"/>
                          </a:solidFill>
                          <a:effectLst/>
                          <a:latin typeface="Courier"/>
                        </a:rPr>
                        <a:t>During - mean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dirty="0">
                          <a:ln>
                            <a:noFill/>
                          </a:ln>
                          <a:solidFill>
                            <a:schemeClr val="tx1"/>
                          </a:solidFill>
                          <a:effectLst/>
                          <a:latin typeface="Courier"/>
                        </a:rPr>
                        <a:t>During – mean</a:t>
                      </a:r>
                      <a:r>
                        <a:rPr kumimoji="0" lang="en-US" altLang="es-MX" sz="1200" b="1" i="0" u="none" strike="noStrike" cap="none" normalizeH="0" baseline="30000" dirty="0">
                          <a:ln>
                            <a:noFill/>
                          </a:ln>
                          <a:solidFill>
                            <a:schemeClr val="tx1"/>
                          </a:solidFill>
                          <a:effectLst/>
                          <a:latin typeface="Courier"/>
                        </a:rPr>
                        <a:t>2</a:t>
                      </a:r>
                      <a:endParaRPr kumimoji="0" lang="en-US" altLang="es-MX" sz="1200" b="1" i="0" u="none" strike="noStrike" cap="none" normalizeH="0" baseline="0" dirty="0">
                        <a:ln>
                          <a:noFill/>
                        </a:ln>
                        <a:solidFill>
                          <a:schemeClr val="tx1"/>
                        </a:solidFill>
                        <a:effectLst/>
                        <a:latin typeface="Courier"/>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dirty="0">
                          <a:ln>
                            <a:noFill/>
                          </a:ln>
                          <a:solidFill>
                            <a:schemeClr val="tx1"/>
                          </a:solidFill>
                          <a:effectLst/>
                          <a:latin typeface="Courier"/>
                        </a:rPr>
                        <a:t>After - mean</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dirty="0">
                          <a:ln>
                            <a:noFill/>
                          </a:ln>
                          <a:solidFill>
                            <a:schemeClr val="tx1"/>
                          </a:solidFill>
                          <a:effectLst/>
                          <a:latin typeface="Courier"/>
                        </a:rPr>
                        <a:t>After – mean</a:t>
                      </a:r>
                      <a:r>
                        <a:rPr kumimoji="0" lang="en-US" altLang="es-MX" sz="1200" b="1" i="0" u="none" strike="noStrike" cap="none" normalizeH="0" baseline="30000" dirty="0">
                          <a:ln>
                            <a:noFill/>
                          </a:ln>
                          <a:solidFill>
                            <a:schemeClr val="tx1"/>
                          </a:solidFill>
                          <a:effectLst/>
                          <a:latin typeface="Courier"/>
                        </a:rPr>
                        <a:t>2</a:t>
                      </a:r>
                      <a:endParaRPr kumimoji="0" lang="en-US" altLang="es-MX" sz="1200" b="1" i="0" u="none" strike="noStrike" cap="none" normalizeH="0" baseline="0" dirty="0">
                        <a:ln>
                          <a:noFill/>
                        </a:ln>
                        <a:solidFill>
                          <a:schemeClr val="tx1"/>
                        </a:solidFill>
                        <a:effectLst/>
                        <a:latin typeface="Courier"/>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06498474"/>
                  </a:ext>
                </a:extLst>
              </a:tr>
              <a:tr h="27146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dirty="0">
                          <a:ln>
                            <a:noFill/>
                          </a:ln>
                          <a:solidFill>
                            <a:schemeClr val="tx1"/>
                          </a:solidFill>
                          <a:effectLst/>
                          <a:latin typeface="Courier"/>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dirty="0">
                          <a:ln>
                            <a:noFill/>
                          </a:ln>
                          <a:solidFill>
                            <a:schemeClr val="tx1"/>
                          </a:solidFill>
                          <a:effectLst/>
                          <a:latin typeface="Courier"/>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66694858"/>
                  </a:ext>
                </a:extLst>
              </a:tr>
              <a:tr h="269875">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dirty="0">
                          <a:ln>
                            <a:noFill/>
                          </a:ln>
                          <a:solidFill>
                            <a:schemeClr val="tx1"/>
                          </a:solidFill>
                          <a:effectLst/>
                          <a:latin typeface="Courier"/>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13347723"/>
                  </a:ext>
                </a:extLst>
              </a:tr>
              <a:tr h="27146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dirty="0">
                          <a:ln>
                            <a:noFill/>
                          </a:ln>
                          <a:solidFill>
                            <a:schemeClr val="tx1"/>
                          </a:solidFill>
                          <a:effectLst/>
                          <a:latin typeface="Courier"/>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4096922"/>
                  </a:ext>
                </a:extLst>
              </a:tr>
              <a:tr h="27146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dirty="0">
                          <a:ln>
                            <a:noFill/>
                          </a:ln>
                          <a:solidFill>
                            <a:schemeClr val="tx1"/>
                          </a:solidFill>
                          <a:effectLst/>
                          <a:latin typeface="Courier"/>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51706"/>
                  </a:ext>
                </a:extLst>
              </a:tr>
              <a:tr h="27146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9</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dirty="0">
                          <a:ln>
                            <a:noFill/>
                          </a:ln>
                          <a:solidFill>
                            <a:schemeClr val="tx1"/>
                          </a:solidFill>
                          <a:effectLst/>
                          <a:latin typeface="Courier"/>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35837573"/>
                  </a:ext>
                </a:extLst>
              </a:tr>
              <a:tr h="27146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dirty="0">
                          <a:ln>
                            <a:noFill/>
                          </a:ln>
                          <a:solidFill>
                            <a:schemeClr val="tx1"/>
                          </a:solidFill>
                          <a:effectLst/>
                          <a:latin typeface="Courier"/>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43256176"/>
                  </a:ext>
                </a:extLst>
              </a:tr>
              <a:tr h="27146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dirty="0">
                          <a:ln>
                            <a:noFill/>
                          </a:ln>
                          <a:solidFill>
                            <a:schemeClr val="tx1"/>
                          </a:solidFill>
                          <a:effectLst/>
                          <a:latin typeface="Courier"/>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15552358"/>
                  </a:ext>
                </a:extLst>
              </a:tr>
              <a:tr h="269875">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dirty="0">
                          <a:ln>
                            <a:noFill/>
                          </a:ln>
                          <a:solidFill>
                            <a:schemeClr val="tx1"/>
                          </a:solidFill>
                          <a:effectLst/>
                          <a:latin typeface="Courier"/>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67748148"/>
                  </a:ext>
                </a:extLst>
              </a:tr>
              <a:tr h="27146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dirty="0">
                          <a:ln>
                            <a:noFill/>
                          </a:ln>
                          <a:solidFill>
                            <a:schemeClr val="tx1"/>
                          </a:solidFill>
                          <a:effectLst/>
                          <a:latin typeface="Courier"/>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3833568"/>
                  </a:ext>
                </a:extLst>
              </a:tr>
              <a:tr h="271463">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altLang="es-MX" sz="1200" b="1" i="0" u="none" strike="noStrike" cap="none" normalizeH="0" baseline="0">
                          <a:ln>
                            <a:noFill/>
                          </a:ln>
                          <a:solidFill>
                            <a:schemeClr val="tx1"/>
                          </a:solidFill>
                          <a:effectLst/>
                          <a:latin typeface="Courier"/>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16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a:ln>
                            <a:noFill/>
                          </a:ln>
                          <a:solidFill>
                            <a:schemeClr val="tx1"/>
                          </a:solidFill>
                          <a:effectLst/>
                          <a:latin typeface="Courier"/>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200" b="0" i="0" u="none" strike="noStrike" cap="none" normalizeH="0" baseline="0" dirty="0">
                          <a:ln>
                            <a:noFill/>
                          </a:ln>
                          <a:solidFill>
                            <a:schemeClr val="tx1"/>
                          </a:solidFill>
                          <a:effectLst/>
                          <a:latin typeface="Courier"/>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22888912"/>
                  </a:ext>
                </a:extLst>
              </a:tr>
            </a:tbl>
          </a:graphicData>
        </a:graphic>
      </p:graphicFrame>
      <p:sp>
        <p:nvSpPr>
          <p:cNvPr id="47" name="Text Box 152">
            <a:extLst>
              <a:ext uri="{FF2B5EF4-FFF2-40B4-BE49-F238E27FC236}">
                <a16:creationId xmlns:a16="http://schemas.microsoft.com/office/drawing/2014/main" id="{790F4BBF-6A2E-4A11-BF1F-0DF6C4C2A719}"/>
              </a:ext>
            </a:extLst>
          </p:cNvPr>
          <p:cNvSpPr txBox="1">
            <a:spLocks noChangeArrowheads="1"/>
          </p:cNvSpPr>
          <p:nvPr/>
        </p:nvSpPr>
        <p:spPr bwMode="auto">
          <a:xfrm>
            <a:off x="5398554" y="5368592"/>
            <a:ext cx="5113337" cy="119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s-MX" dirty="0"/>
              <a:t>    0	    </a:t>
            </a:r>
            <a:r>
              <a:rPr lang="en-US" altLang="es-MX" b="1" dirty="0">
                <a:solidFill>
                  <a:srgbClr val="FF0066"/>
                </a:solidFill>
              </a:rPr>
              <a:t>0</a:t>
            </a:r>
            <a:r>
              <a:rPr lang="en-US" altLang="es-MX" dirty="0"/>
              <a:t>	  0           </a:t>
            </a:r>
            <a:r>
              <a:rPr lang="en-US" altLang="es-MX" b="1" dirty="0">
                <a:solidFill>
                  <a:srgbClr val="FF0066"/>
                </a:solidFill>
              </a:rPr>
              <a:t>108</a:t>
            </a:r>
            <a:r>
              <a:rPr lang="en-US" altLang="es-MX" b="1" dirty="0"/>
              <a:t> </a:t>
            </a:r>
            <a:r>
              <a:rPr lang="en-US" altLang="es-MX" dirty="0"/>
              <a:t>           0             </a:t>
            </a:r>
            <a:r>
              <a:rPr lang="en-US" altLang="es-MX" b="1" dirty="0">
                <a:solidFill>
                  <a:srgbClr val="FF0066"/>
                </a:solidFill>
              </a:rPr>
              <a:t>22</a:t>
            </a:r>
          </a:p>
          <a:p>
            <a:pPr>
              <a:spcBef>
                <a:spcPct val="50000"/>
              </a:spcBef>
            </a:pPr>
            <a:r>
              <a:rPr lang="en-US" altLang="es-MX" b="1" dirty="0"/>
              <a:t>	   10                         10                             10</a:t>
            </a:r>
          </a:p>
          <a:p>
            <a:pPr>
              <a:spcBef>
                <a:spcPct val="50000"/>
              </a:spcBef>
            </a:pPr>
            <a:r>
              <a:rPr lang="en-US" altLang="es-MX" b="1" dirty="0"/>
              <a:t>VAR =            0                         10.8                          2.2</a:t>
            </a:r>
          </a:p>
        </p:txBody>
      </p:sp>
      <p:sp>
        <p:nvSpPr>
          <p:cNvPr id="48" name="Rectangle 155">
            <a:extLst>
              <a:ext uri="{FF2B5EF4-FFF2-40B4-BE49-F238E27FC236}">
                <a16:creationId xmlns:a16="http://schemas.microsoft.com/office/drawing/2014/main" id="{A2758089-FEF8-4D94-B6A8-6181F36CF33B}"/>
              </a:ext>
            </a:extLst>
          </p:cNvPr>
          <p:cNvSpPr>
            <a:spLocks noChangeArrowheads="1"/>
          </p:cNvSpPr>
          <p:nvPr/>
        </p:nvSpPr>
        <p:spPr bwMode="auto">
          <a:xfrm>
            <a:off x="5303838" y="2005316"/>
            <a:ext cx="863600" cy="320040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49" name="Oval 163">
            <a:extLst>
              <a:ext uri="{FF2B5EF4-FFF2-40B4-BE49-F238E27FC236}">
                <a16:creationId xmlns:a16="http://schemas.microsoft.com/office/drawing/2014/main" id="{B23CDCA6-BCBB-4F44-9814-280E635D1DC2}"/>
              </a:ext>
            </a:extLst>
          </p:cNvPr>
          <p:cNvSpPr>
            <a:spLocks noChangeArrowheads="1"/>
          </p:cNvSpPr>
          <p:nvPr/>
        </p:nvSpPr>
        <p:spPr bwMode="auto">
          <a:xfrm>
            <a:off x="2989742" y="6004263"/>
            <a:ext cx="287338"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50" name="Oval 164">
            <a:extLst>
              <a:ext uri="{FF2B5EF4-FFF2-40B4-BE49-F238E27FC236}">
                <a16:creationId xmlns:a16="http://schemas.microsoft.com/office/drawing/2014/main" id="{7CCBDBF5-5080-494F-BFE2-5AFAC1DFB506}"/>
              </a:ext>
            </a:extLst>
          </p:cNvPr>
          <p:cNvSpPr>
            <a:spLocks noChangeArrowheads="1"/>
          </p:cNvSpPr>
          <p:nvPr/>
        </p:nvSpPr>
        <p:spPr bwMode="auto">
          <a:xfrm>
            <a:off x="3649482" y="5993630"/>
            <a:ext cx="287337"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51" name="Oval 165">
            <a:extLst>
              <a:ext uri="{FF2B5EF4-FFF2-40B4-BE49-F238E27FC236}">
                <a16:creationId xmlns:a16="http://schemas.microsoft.com/office/drawing/2014/main" id="{19494109-4B62-4894-95B5-EA66AF32A77F}"/>
              </a:ext>
            </a:extLst>
          </p:cNvPr>
          <p:cNvSpPr>
            <a:spLocks noChangeArrowheads="1"/>
          </p:cNvSpPr>
          <p:nvPr/>
        </p:nvSpPr>
        <p:spPr bwMode="auto">
          <a:xfrm>
            <a:off x="4426612" y="6004263"/>
            <a:ext cx="287338" cy="287337"/>
          </a:xfrm>
          <a:prstGeom prst="ellipse">
            <a:avLst/>
          </a:prstGeom>
          <a:noFill/>
          <a:ln w="3175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52" name="Rectangle 155">
            <a:extLst>
              <a:ext uri="{FF2B5EF4-FFF2-40B4-BE49-F238E27FC236}">
                <a16:creationId xmlns:a16="http://schemas.microsoft.com/office/drawing/2014/main" id="{E2412BF2-B3DE-4E38-8DFF-A3670EEF916E}"/>
              </a:ext>
            </a:extLst>
          </p:cNvPr>
          <p:cNvSpPr>
            <a:spLocks noChangeArrowheads="1"/>
          </p:cNvSpPr>
          <p:nvPr/>
        </p:nvSpPr>
        <p:spPr bwMode="auto">
          <a:xfrm>
            <a:off x="2647233" y="2139385"/>
            <a:ext cx="787083" cy="301752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53" name="Rectangle 155">
            <a:extLst>
              <a:ext uri="{FF2B5EF4-FFF2-40B4-BE49-F238E27FC236}">
                <a16:creationId xmlns:a16="http://schemas.microsoft.com/office/drawing/2014/main" id="{B28DC7D8-84CE-4258-A235-E7C314419981}"/>
              </a:ext>
            </a:extLst>
          </p:cNvPr>
          <p:cNvSpPr>
            <a:spLocks noChangeArrowheads="1"/>
          </p:cNvSpPr>
          <p:nvPr/>
        </p:nvSpPr>
        <p:spPr bwMode="auto">
          <a:xfrm>
            <a:off x="3458855" y="2132289"/>
            <a:ext cx="787083" cy="3024615"/>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54" name="Rectangle 155">
            <a:extLst>
              <a:ext uri="{FF2B5EF4-FFF2-40B4-BE49-F238E27FC236}">
                <a16:creationId xmlns:a16="http://schemas.microsoft.com/office/drawing/2014/main" id="{3B3958AE-A49C-47A8-A278-498B1ACF12FC}"/>
              </a:ext>
            </a:extLst>
          </p:cNvPr>
          <p:cNvSpPr>
            <a:spLocks noChangeArrowheads="1"/>
          </p:cNvSpPr>
          <p:nvPr/>
        </p:nvSpPr>
        <p:spPr bwMode="auto">
          <a:xfrm>
            <a:off x="4245669" y="2132290"/>
            <a:ext cx="787083" cy="3024614"/>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55" name="Rectangle 155">
            <a:extLst>
              <a:ext uri="{FF2B5EF4-FFF2-40B4-BE49-F238E27FC236}">
                <a16:creationId xmlns:a16="http://schemas.microsoft.com/office/drawing/2014/main" id="{B2DCF157-2D61-4274-87E0-EFC38CC94DCB}"/>
              </a:ext>
            </a:extLst>
          </p:cNvPr>
          <p:cNvSpPr>
            <a:spLocks noChangeArrowheads="1"/>
          </p:cNvSpPr>
          <p:nvPr/>
        </p:nvSpPr>
        <p:spPr bwMode="auto">
          <a:xfrm>
            <a:off x="6157992" y="2008854"/>
            <a:ext cx="863600" cy="320040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56" name="Rectangle 155">
            <a:extLst>
              <a:ext uri="{FF2B5EF4-FFF2-40B4-BE49-F238E27FC236}">
                <a16:creationId xmlns:a16="http://schemas.microsoft.com/office/drawing/2014/main" id="{5BE89080-E520-4D28-BD75-E302A74F8CA6}"/>
              </a:ext>
            </a:extLst>
          </p:cNvPr>
          <p:cNvSpPr>
            <a:spLocks noChangeArrowheads="1"/>
          </p:cNvSpPr>
          <p:nvPr/>
        </p:nvSpPr>
        <p:spPr bwMode="auto">
          <a:xfrm>
            <a:off x="7008592" y="2008854"/>
            <a:ext cx="863600" cy="320040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57" name="Rectangle 155">
            <a:extLst>
              <a:ext uri="{FF2B5EF4-FFF2-40B4-BE49-F238E27FC236}">
                <a16:creationId xmlns:a16="http://schemas.microsoft.com/office/drawing/2014/main" id="{8EE5E67F-121A-4071-B8F9-F3CB45666670}"/>
              </a:ext>
            </a:extLst>
          </p:cNvPr>
          <p:cNvSpPr>
            <a:spLocks noChangeArrowheads="1"/>
          </p:cNvSpPr>
          <p:nvPr/>
        </p:nvSpPr>
        <p:spPr bwMode="auto">
          <a:xfrm>
            <a:off x="7859211" y="2008854"/>
            <a:ext cx="863600" cy="320040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58" name="Rectangle 155">
            <a:extLst>
              <a:ext uri="{FF2B5EF4-FFF2-40B4-BE49-F238E27FC236}">
                <a16:creationId xmlns:a16="http://schemas.microsoft.com/office/drawing/2014/main" id="{FEB78E31-D56F-4204-B0A8-A4D69409F4C1}"/>
              </a:ext>
            </a:extLst>
          </p:cNvPr>
          <p:cNvSpPr>
            <a:spLocks noChangeArrowheads="1"/>
          </p:cNvSpPr>
          <p:nvPr/>
        </p:nvSpPr>
        <p:spPr bwMode="auto">
          <a:xfrm>
            <a:off x="8709820" y="2008854"/>
            <a:ext cx="863600" cy="320040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
        <p:nvSpPr>
          <p:cNvPr id="59" name="Rectangle 155">
            <a:extLst>
              <a:ext uri="{FF2B5EF4-FFF2-40B4-BE49-F238E27FC236}">
                <a16:creationId xmlns:a16="http://schemas.microsoft.com/office/drawing/2014/main" id="{7DCF9191-F88A-4DC6-84FC-7F8096B84166}"/>
              </a:ext>
            </a:extLst>
          </p:cNvPr>
          <p:cNvSpPr>
            <a:spLocks noChangeArrowheads="1"/>
          </p:cNvSpPr>
          <p:nvPr/>
        </p:nvSpPr>
        <p:spPr bwMode="auto">
          <a:xfrm>
            <a:off x="9571056" y="2008854"/>
            <a:ext cx="863600" cy="3200400"/>
          </a:xfrm>
          <a:prstGeom prst="rect">
            <a:avLst/>
          </a:prstGeom>
          <a:noFill/>
          <a:ln w="317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MX"/>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30" name="Rectangle 2">
            <a:extLst>
              <a:ext uri="{FF2B5EF4-FFF2-40B4-BE49-F238E27FC236}">
                <a16:creationId xmlns:a16="http://schemas.microsoft.com/office/drawing/2014/main" id="{2254F854-7F58-4289-8F4D-EB6A5E62BFFF}"/>
              </a:ext>
            </a:extLst>
          </p:cNvPr>
          <p:cNvSpPr>
            <a:spLocks noGrp="1" noChangeArrowheads="1"/>
          </p:cNvSpPr>
          <p:nvPr>
            <p:ph type="title"/>
          </p:nvPr>
        </p:nvSpPr>
        <p:spPr>
          <a:xfrm>
            <a:off x="699713" y="248038"/>
            <a:ext cx="7063721" cy="1159200"/>
          </a:xfrm>
        </p:spPr>
        <p:txBody>
          <a:bodyPr vert="horz" lIns="91440" tIns="45720" rIns="91440" bIns="45720" rtlCol="0" anchor="ctr">
            <a:normAutofit/>
          </a:bodyPr>
          <a:lstStyle/>
          <a:p>
            <a:r>
              <a:rPr lang="en-US" altLang="es-MX" sz="4000" kern="1200">
                <a:solidFill>
                  <a:srgbClr val="FFFFFF"/>
                </a:solidFill>
                <a:latin typeface="+mj-lt"/>
                <a:ea typeface="+mj-ea"/>
                <a:cs typeface="+mj-cs"/>
              </a:rPr>
              <a:t>Variance continued</a:t>
            </a:r>
          </a:p>
        </p:txBody>
      </p:sp>
      <p:pic>
        <p:nvPicPr>
          <p:cNvPr id="22537" name="Picture 9">
            <a:extLst>
              <a:ext uri="{FF2B5EF4-FFF2-40B4-BE49-F238E27FC236}">
                <a16:creationId xmlns:a16="http://schemas.microsoft.com/office/drawing/2014/main" id="{E6D25208-A2D3-4969-A328-E36B8921D65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2890" y="1631938"/>
            <a:ext cx="3820680" cy="3820680"/>
          </a:xfrm>
          <a:prstGeom prst="rect">
            <a:avLst/>
          </a:prstGeom>
          <a:solidFill>
            <a:srgbClr val="FFFFFF"/>
          </a:solidFill>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10">
            <a:extLst>
              <a:ext uri="{FF2B5EF4-FFF2-40B4-BE49-F238E27FC236}">
                <a16:creationId xmlns:a16="http://schemas.microsoft.com/office/drawing/2014/main" id="{3F2E76DB-F398-4921-80F2-19543EE5B4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3114" y="1628776"/>
            <a:ext cx="2808287" cy="38004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 name="Picture 11">
            <a:extLst>
              <a:ext uri="{FF2B5EF4-FFF2-40B4-BE49-F238E27FC236}">
                <a16:creationId xmlns:a16="http://schemas.microsoft.com/office/drawing/2014/main" id="{5B1A1C21-5027-4512-8673-A0CEE88F6E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4425" y="1628775"/>
            <a:ext cx="2592388" cy="3810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 name="Line 12">
            <a:extLst>
              <a:ext uri="{FF2B5EF4-FFF2-40B4-BE49-F238E27FC236}">
                <a16:creationId xmlns:a16="http://schemas.microsoft.com/office/drawing/2014/main" id="{60D2EA18-36BC-45C3-A7EF-47C6BE6A7571}"/>
              </a:ext>
            </a:extLst>
          </p:cNvPr>
          <p:cNvSpPr>
            <a:spLocks noChangeShapeType="1"/>
          </p:cNvSpPr>
          <p:nvPr/>
        </p:nvSpPr>
        <p:spPr bwMode="auto">
          <a:xfrm>
            <a:off x="5126038" y="3429001"/>
            <a:ext cx="0" cy="79216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34" name="Line 13">
            <a:extLst>
              <a:ext uri="{FF2B5EF4-FFF2-40B4-BE49-F238E27FC236}">
                <a16:creationId xmlns:a16="http://schemas.microsoft.com/office/drawing/2014/main" id="{B03B6475-8610-4CBF-A2C5-72C9BC31DCEF}"/>
              </a:ext>
            </a:extLst>
          </p:cNvPr>
          <p:cNvSpPr>
            <a:spLocks noChangeShapeType="1"/>
          </p:cNvSpPr>
          <p:nvPr/>
        </p:nvSpPr>
        <p:spPr bwMode="auto">
          <a:xfrm>
            <a:off x="5332413" y="2636838"/>
            <a:ext cx="0" cy="792162"/>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35" name="Line 14">
            <a:extLst>
              <a:ext uri="{FF2B5EF4-FFF2-40B4-BE49-F238E27FC236}">
                <a16:creationId xmlns:a16="http://schemas.microsoft.com/office/drawing/2014/main" id="{B1824225-C737-40AB-ACA4-A25D1C76460F}"/>
              </a:ext>
            </a:extLst>
          </p:cNvPr>
          <p:cNvSpPr>
            <a:spLocks noChangeShapeType="1"/>
          </p:cNvSpPr>
          <p:nvPr/>
        </p:nvSpPr>
        <p:spPr bwMode="auto">
          <a:xfrm flipH="1">
            <a:off x="5519739" y="2924176"/>
            <a:ext cx="9525"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36" name="Line 15">
            <a:extLst>
              <a:ext uri="{FF2B5EF4-FFF2-40B4-BE49-F238E27FC236}">
                <a16:creationId xmlns:a16="http://schemas.microsoft.com/office/drawing/2014/main" id="{E5797AD3-EC85-4696-A230-5C1444820ABD}"/>
              </a:ext>
            </a:extLst>
          </p:cNvPr>
          <p:cNvSpPr>
            <a:spLocks noChangeShapeType="1"/>
          </p:cNvSpPr>
          <p:nvPr/>
        </p:nvSpPr>
        <p:spPr bwMode="auto">
          <a:xfrm>
            <a:off x="5735638" y="3429001"/>
            <a:ext cx="0" cy="792163"/>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37" name="Line 16">
            <a:extLst>
              <a:ext uri="{FF2B5EF4-FFF2-40B4-BE49-F238E27FC236}">
                <a16:creationId xmlns:a16="http://schemas.microsoft.com/office/drawing/2014/main" id="{E7C14130-4896-4F4F-B8C2-9E214921D37B}"/>
              </a:ext>
            </a:extLst>
          </p:cNvPr>
          <p:cNvSpPr>
            <a:spLocks noChangeShapeType="1"/>
          </p:cNvSpPr>
          <p:nvPr/>
        </p:nvSpPr>
        <p:spPr bwMode="auto">
          <a:xfrm>
            <a:off x="5932488" y="2636838"/>
            <a:ext cx="0" cy="792162"/>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38" name="Line 17">
            <a:extLst>
              <a:ext uri="{FF2B5EF4-FFF2-40B4-BE49-F238E27FC236}">
                <a16:creationId xmlns:a16="http://schemas.microsoft.com/office/drawing/2014/main" id="{924F4AEB-FDD6-4497-858D-EC68EC33AD30}"/>
              </a:ext>
            </a:extLst>
          </p:cNvPr>
          <p:cNvSpPr>
            <a:spLocks noChangeShapeType="1"/>
          </p:cNvSpPr>
          <p:nvPr/>
        </p:nvSpPr>
        <p:spPr bwMode="auto">
          <a:xfrm>
            <a:off x="6143625" y="3429000"/>
            <a:ext cx="0" cy="10795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39" name="Line 19">
            <a:extLst>
              <a:ext uri="{FF2B5EF4-FFF2-40B4-BE49-F238E27FC236}">
                <a16:creationId xmlns:a16="http://schemas.microsoft.com/office/drawing/2014/main" id="{444D87F9-E875-4E53-85FE-2498D01C2805}"/>
              </a:ext>
            </a:extLst>
          </p:cNvPr>
          <p:cNvSpPr>
            <a:spLocks noChangeShapeType="1"/>
          </p:cNvSpPr>
          <p:nvPr/>
        </p:nvSpPr>
        <p:spPr bwMode="auto">
          <a:xfrm>
            <a:off x="6354763" y="2349500"/>
            <a:ext cx="0" cy="10795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40" name="Line 20">
            <a:extLst>
              <a:ext uri="{FF2B5EF4-FFF2-40B4-BE49-F238E27FC236}">
                <a16:creationId xmlns:a16="http://schemas.microsoft.com/office/drawing/2014/main" id="{42B70C5E-BB97-41A8-A47B-7041F66CE209}"/>
              </a:ext>
            </a:extLst>
          </p:cNvPr>
          <p:cNvSpPr>
            <a:spLocks noChangeShapeType="1"/>
          </p:cNvSpPr>
          <p:nvPr/>
        </p:nvSpPr>
        <p:spPr bwMode="auto">
          <a:xfrm>
            <a:off x="6527800" y="3448051"/>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41" name="Line 21">
            <a:extLst>
              <a:ext uri="{FF2B5EF4-FFF2-40B4-BE49-F238E27FC236}">
                <a16:creationId xmlns:a16="http://schemas.microsoft.com/office/drawing/2014/main" id="{4309B8D2-102D-4A8D-BB4D-877F2A5AE3BB}"/>
              </a:ext>
            </a:extLst>
          </p:cNvPr>
          <p:cNvSpPr>
            <a:spLocks noChangeShapeType="1"/>
          </p:cNvSpPr>
          <p:nvPr/>
        </p:nvSpPr>
        <p:spPr bwMode="auto">
          <a:xfrm>
            <a:off x="6743700" y="2349500"/>
            <a:ext cx="0" cy="10795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42" name="Line 22">
            <a:extLst>
              <a:ext uri="{FF2B5EF4-FFF2-40B4-BE49-F238E27FC236}">
                <a16:creationId xmlns:a16="http://schemas.microsoft.com/office/drawing/2014/main" id="{9C59AD47-3B09-4CE6-82F0-7690149AA2E7}"/>
              </a:ext>
            </a:extLst>
          </p:cNvPr>
          <p:cNvSpPr>
            <a:spLocks noChangeShapeType="1"/>
          </p:cNvSpPr>
          <p:nvPr/>
        </p:nvSpPr>
        <p:spPr bwMode="auto">
          <a:xfrm>
            <a:off x="6959600" y="3429000"/>
            <a:ext cx="0" cy="10795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43" name="Line 23">
            <a:extLst>
              <a:ext uri="{FF2B5EF4-FFF2-40B4-BE49-F238E27FC236}">
                <a16:creationId xmlns:a16="http://schemas.microsoft.com/office/drawing/2014/main" id="{66F0125D-5ECB-47B2-86E8-933F82A0198C}"/>
              </a:ext>
            </a:extLst>
          </p:cNvPr>
          <p:cNvSpPr>
            <a:spLocks noChangeShapeType="1"/>
          </p:cNvSpPr>
          <p:nvPr/>
        </p:nvSpPr>
        <p:spPr bwMode="auto">
          <a:xfrm>
            <a:off x="7967663" y="2924176"/>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44" name="Line 24">
            <a:extLst>
              <a:ext uri="{FF2B5EF4-FFF2-40B4-BE49-F238E27FC236}">
                <a16:creationId xmlns:a16="http://schemas.microsoft.com/office/drawing/2014/main" id="{106A81D8-74C7-4E7E-8C83-B22FB6A9EFE0}"/>
              </a:ext>
            </a:extLst>
          </p:cNvPr>
          <p:cNvSpPr>
            <a:spLocks noChangeShapeType="1"/>
          </p:cNvSpPr>
          <p:nvPr/>
        </p:nvSpPr>
        <p:spPr bwMode="auto">
          <a:xfrm>
            <a:off x="8159750" y="3429000"/>
            <a:ext cx="0" cy="2873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45" name="Line 25">
            <a:extLst>
              <a:ext uri="{FF2B5EF4-FFF2-40B4-BE49-F238E27FC236}">
                <a16:creationId xmlns:a16="http://schemas.microsoft.com/office/drawing/2014/main" id="{5CB4910F-7213-4AC3-A621-C135D8FDE170}"/>
              </a:ext>
            </a:extLst>
          </p:cNvPr>
          <p:cNvSpPr>
            <a:spLocks noChangeShapeType="1"/>
          </p:cNvSpPr>
          <p:nvPr/>
        </p:nvSpPr>
        <p:spPr bwMode="auto">
          <a:xfrm>
            <a:off x="8328025" y="3429001"/>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46" name="Line 26">
            <a:extLst>
              <a:ext uri="{FF2B5EF4-FFF2-40B4-BE49-F238E27FC236}">
                <a16:creationId xmlns:a16="http://schemas.microsoft.com/office/drawing/2014/main" id="{74CDCF14-847F-40B8-9E28-E5B6E9B4D3A4}"/>
              </a:ext>
            </a:extLst>
          </p:cNvPr>
          <p:cNvSpPr>
            <a:spLocks noChangeShapeType="1"/>
          </p:cNvSpPr>
          <p:nvPr/>
        </p:nvSpPr>
        <p:spPr bwMode="auto">
          <a:xfrm>
            <a:off x="8543925" y="3213100"/>
            <a:ext cx="0" cy="2159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47" name="Line 27">
            <a:extLst>
              <a:ext uri="{FF2B5EF4-FFF2-40B4-BE49-F238E27FC236}">
                <a16:creationId xmlns:a16="http://schemas.microsoft.com/office/drawing/2014/main" id="{EC2D4B2F-833A-4F8C-BCB4-C76BFEA487EB}"/>
              </a:ext>
            </a:extLst>
          </p:cNvPr>
          <p:cNvSpPr>
            <a:spLocks noChangeShapeType="1"/>
          </p:cNvSpPr>
          <p:nvPr/>
        </p:nvSpPr>
        <p:spPr bwMode="auto">
          <a:xfrm>
            <a:off x="8688388" y="3429001"/>
            <a:ext cx="0" cy="2889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48" name="Line 28">
            <a:extLst>
              <a:ext uri="{FF2B5EF4-FFF2-40B4-BE49-F238E27FC236}">
                <a16:creationId xmlns:a16="http://schemas.microsoft.com/office/drawing/2014/main" id="{5F6FA33F-58C9-45FB-AABB-D9C7A7320354}"/>
              </a:ext>
            </a:extLst>
          </p:cNvPr>
          <p:cNvSpPr>
            <a:spLocks noChangeShapeType="1"/>
          </p:cNvSpPr>
          <p:nvPr/>
        </p:nvSpPr>
        <p:spPr bwMode="auto">
          <a:xfrm>
            <a:off x="8904288" y="3213100"/>
            <a:ext cx="0" cy="2159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49" name="Line 29">
            <a:extLst>
              <a:ext uri="{FF2B5EF4-FFF2-40B4-BE49-F238E27FC236}">
                <a16:creationId xmlns:a16="http://schemas.microsoft.com/office/drawing/2014/main" id="{03AB9458-FA7E-4592-A919-D74FB58699AA}"/>
              </a:ext>
            </a:extLst>
          </p:cNvPr>
          <p:cNvSpPr>
            <a:spLocks noChangeShapeType="1"/>
          </p:cNvSpPr>
          <p:nvPr/>
        </p:nvSpPr>
        <p:spPr bwMode="auto">
          <a:xfrm>
            <a:off x="9086850" y="3429001"/>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50" name="Line 30">
            <a:extLst>
              <a:ext uri="{FF2B5EF4-FFF2-40B4-BE49-F238E27FC236}">
                <a16:creationId xmlns:a16="http://schemas.microsoft.com/office/drawing/2014/main" id="{E3631323-1787-49CD-B9B1-7EB7638A22E1}"/>
              </a:ext>
            </a:extLst>
          </p:cNvPr>
          <p:cNvSpPr>
            <a:spLocks noChangeShapeType="1"/>
          </p:cNvSpPr>
          <p:nvPr/>
        </p:nvSpPr>
        <p:spPr bwMode="auto">
          <a:xfrm>
            <a:off x="9264650" y="3141664"/>
            <a:ext cx="0" cy="287337"/>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51" name="Line 31">
            <a:extLst>
              <a:ext uri="{FF2B5EF4-FFF2-40B4-BE49-F238E27FC236}">
                <a16:creationId xmlns:a16="http://schemas.microsoft.com/office/drawing/2014/main" id="{F470D4EA-4C23-407E-8AA6-070E68B3274B}"/>
              </a:ext>
            </a:extLst>
          </p:cNvPr>
          <p:cNvSpPr>
            <a:spLocks noChangeShapeType="1"/>
          </p:cNvSpPr>
          <p:nvPr/>
        </p:nvSpPr>
        <p:spPr bwMode="auto">
          <a:xfrm>
            <a:off x="9480550" y="3429000"/>
            <a:ext cx="0" cy="287338"/>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52" name="Line 32">
            <a:extLst>
              <a:ext uri="{FF2B5EF4-FFF2-40B4-BE49-F238E27FC236}">
                <a16:creationId xmlns:a16="http://schemas.microsoft.com/office/drawing/2014/main" id="{1E003B88-7A05-4B99-939C-9BC2263E4243}"/>
              </a:ext>
            </a:extLst>
          </p:cNvPr>
          <p:cNvSpPr>
            <a:spLocks noChangeShapeType="1"/>
          </p:cNvSpPr>
          <p:nvPr/>
        </p:nvSpPr>
        <p:spPr bwMode="auto">
          <a:xfrm>
            <a:off x="9644063" y="2924176"/>
            <a:ext cx="0" cy="50482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53" name="Text Box 33">
            <a:extLst>
              <a:ext uri="{FF2B5EF4-FFF2-40B4-BE49-F238E27FC236}">
                <a16:creationId xmlns:a16="http://schemas.microsoft.com/office/drawing/2014/main" id="{0B0C7A98-90DB-4791-8105-56D087D85568}"/>
              </a:ext>
            </a:extLst>
          </p:cNvPr>
          <p:cNvSpPr txBox="1">
            <a:spLocks noChangeArrowheads="1"/>
          </p:cNvSpPr>
          <p:nvPr/>
        </p:nvSpPr>
        <p:spPr bwMode="auto">
          <a:xfrm>
            <a:off x="228458" y="3789363"/>
            <a:ext cx="1008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s-MX" sz="1600" b="1" dirty="0">
                <a:solidFill>
                  <a:schemeClr val="accent1"/>
                </a:solidFill>
              </a:rPr>
              <a:t>mean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46" name="Rectangle 2">
            <a:extLst>
              <a:ext uri="{FF2B5EF4-FFF2-40B4-BE49-F238E27FC236}">
                <a16:creationId xmlns:a16="http://schemas.microsoft.com/office/drawing/2014/main" id="{6DF777BC-48BD-406C-85BC-502E9D6EF550}"/>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Distribution</a:t>
            </a:r>
          </a:p>
        </p:txBody>
      </p:sp>
      <p:sp>
        <p:nvSpPr>
          <p:cNvPr id="31747" name="Rectangle 3">
            <a:extLst>
              <a:ext uri="{FF2B5EF4-FFF2-40B4-BE49-F238E27FC236}">
                <a16:creationId xmlns:a16="http://schemas.microsoft.com/office/drawing/2014/main" id="{8B8D2FB0-7F42-4D6B-B277-B7F38C8B8500}"/>
              </a:ext>
            </a:extLst>
          </p:cNvPr>
          <p:cNvSpPr>
            <a:spLocks noGrp="1" noChangeArrowheads="1"/>
          </p:cNvSpPr>
          <p:nvPr>
            <p:ph idx="1"/>
          </p:nvPr>
        </p:nvSpPr>
        <p:spPr>
          <a:xfrm>
            <a:off x="4810259" y="649480"/>
            <a:ext cx="6555347" cy="5546047"/>
          </a:xfrm>
        </p:spPr>
        <p:txBody>
          <a:bodyPr anchor="ctr">
            <a:normAutofit/>
          </a:bodyPr>
          <a:lstStyle/>
          <a:p>
            <a:r>
              <a:rPr lang="en-US" altLang="es-MX" sz="2000"/>
              <a:t>Means and variances are ways to describe a distribution of scores.</a:t>
            </a:r>
          </a:p>
          <a:p>
            <a:r>
              <a:rPr lang="en-US" altLang="es-MX" sz="2000"/>
              <a:t>Knowing about your distributions is one of the best ways to understand your data.</a:t>
            </a:r>
          </a:p>
          <a:p>
            <a:r>
              <a:rPr lang="en-US" altLang="es-MX" sz="2000"/>
              <a:t>A NORMAL (aka Gaussian) distribution is the most common assumption of statistics; thus, it is often important to check if your data are normally distributed.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70" name="Rectangle 2">
            <a:extLst>
              <a:ext uri="{FF2B5EF4-FFF2-40B4-BE49-F238E27FC236}">
                <a16:creationId xmlns:a16="http://schemas.microsoft.com/office/drawing/2014/main" id="{104079A5-1D43-4740-B4F6-F23482C7B95C}"/>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What is “normal” anyway?</a:t>
            </a:r>
          </a:p>
        </p:txBody>
      </p:sp>
      <p:sp>
        <p:nvSpPr>
          <p:cNvPr id="32771" name="Rectangle 3">
            <a:extLst>
              <a:ext uri="{FF2B5EF4-FFF2-40B4-BE49-F238E27FC236}">
                <a16:creationId xmlns:a16="http://schemas.microsoft.com/office/drawing/2014/main" id="{347A95F7-44E0-45B7-B4A1-5A936BB10B14}"/>
              </a:ext>
            </a:extLst>
          </p:cNvPr>
          <p:cNvSpPr>
            <a:spLocks noGrp="1" noChangeArrowheads="1"/>
          </p:cNvSpPr>
          <p:nvPr>
            <p:ph idx="1"/>
          </p:nvPr>
        </p:nvSpPr>
        <p:spPr>
          <a:xfrm>
            <a:off x="1371599" y="2318197"/>
            <a:ext cx="9724031" cy="3683358"/>
          </a:xfrm>
        </p:spPr>
        <p:txBody>
          <a:bodyPr anchor="t">
            <a:normAutofit/>
          </a:bodyPr>
          <a:lstStyle/>
          <a:p>
            <a:r>
              <a:rPr lang="en-US" altLang="es-MX" sz="2000" dirty="0"/>
              <a:t>With enough measurements, most variables are distributed normally.</a:t>
            </a:r>
          </a:p>
          <a:p>
            <a:r>
              <a:rPr lang="en-US" altLang="es-MX" sz="2000" dirty="0"/>
              <a:t>But in order to fully describe data we need to introduce the idea of a standard deviation.</a:t>
            </a:r>
          </a:p>
        </p:txBody>
      </p:sp>
      <p:grpSp>
        <p:nvGrpSpPr>
          <p:cNvPr id="24" name="Grupo 23">
            <a:extLst>
              <a:ext uri="{FF2B5EF4-FFF2-40B4-BE49-F238E27FC236}">
                <a16:creationId xmlns:a16="http://schemas.microsoft.com/office/drawing/2014/main" id="{FD903C5B-D32F-4267-AE76-5356181656C0}"/>
              </a:ext>
            </a:extLst>
          </p:cNvPr>
          <p:cNvGrpSpPr/>
          <p:nvPr/>
        </p:nvGrpSpPr>
        <p:grpSpPr>
          <a:xfrm>
            <a:off x="3759497" y="3055194"/>
            <a:ext cx="5256212" cy="3667126"/>
            <a:chOff x="1992314" y="2720974"/>
            <a:chExt cx="5256212" cy="3667126"/>
          </a:xfrm>
        </p:grpSpPr>
        <p:pic>
          <p:nvPicPr>
            <p:cNvPr id="25" name="Picture 4">
              <a:extLst>
                <a:ext uri="{FF2B5EF4-FFF2-40B4-BE49-F238E27FC236}">
                  <a16:creationId xmlns:a16="http://schemas.microsoft.com/office/drawing/2014/main" id="{0AF5831A-5B84-4676-BE83-C76C4372E8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0963" y="2720974"/>
              <a:ext cx="2790825" cy="3240088"/>
            </a:xfrm>
            <a:prstGeom prst="rect">
              <a:avLst/>
            </a:prstGeom>
            <a:noFill/>
            <a:extLst>
              <a:ext uri="{909E8E84-426E-40DD-AFC4-6F175D3DCCD1}">
                <a14:hiddenFill xmlns:a14="http://schemas.microsoft.com/office/drawing/2010/main">
                  <a:solidFill>
                    <a:srgbClr val="FFFFFF"/>
                  </a:solidFill>
                </a14:hiddenFill>
              </a:ext>
            </a:extLst>
          </p:spPr>
        </p:pic>
        <p:sp>
          <p:nvSpPr>
            <p:cNvPr id="26" name="Text Box 6">
              <a:extLst>
                <a:ext uri="{FF2B5EF4-FFF2-40B4-BE49-F238E27FC236}">
                  <a16:creationId xmlns:a16="http://schemas.microsoft.com/office/drawing/2014/main" id="{EA61154F-9702-4A38-9AD0-68BE039F8BC6}"/>
                </a:ext>
              </a:extLst>
            </p:cNvPr>
            <p:cNvSpPr txBox="1">
              <a:spLocks noChangeArrowheads="1"/>
            </p:cNvSpPr>
            <p:nvPr/>
          </p:nvSpPr>
          <p:spPr bwMode="auto">
            <a:xfrm>
              <a:off x="5303839" y="5373688"/>
              <a:ext cx="19446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s-MX"/>
                <a:t>leptokurtic</a:t>
              </a:r>
            </a:p>
          </p:txBody>
        </p:sp>
        <p:sp>
          <p:nvSpPr>
            <p:cNvPr id="27" name="Text Box 7">
              <a:extLst>
                <a:ext uri="{FF2B5EF4-FFF2-40B4-BE49-F238E27FC236}">
                  <a16:creationId xmlns:a16="http://schemas.microsoft.com/office/drawing/2014/main" id="{336BABEE-D4DE-4919-9531-11A8A84DDF83}"/>
                </a:ext>
              </a:extLst>
            </p:cNvPr>
            <p:cNvSpPr txBox="1">
              <a:spLocks noChangeArrowheads="1"/>
            </p:cNvSpPr>
            <p:nvPr/>
          </p:nvSpPr>
          <p:spPr bwMode="auto">
            <a:xfrm>
              <a:off x="1992314" y="6021388"/>
              <a:ext cx="19446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s-MX"/>
                <a:t>platokurtic</a:t>
              </a:r>
            </a:p>
          </p:txBody>
        </p:sp>
        <p:sp>
          <p:nvSpPr>
            <p:cNvPr id="28" name="Line 8">
              <a:extLst>
                <a:ext uri="{FF2B5EF4-FFF2-40B4-BE49-F238E27FC236}">
                  <a16:creationId xmlns:a16="http://schemas.microsoft.com/office/drawing/2014/main" id="{67D05F53-8A2F-4E04-9A45-19551A7DFD1F}"/>
                </a:ext>
              </a:extLst>
            </p:cNvPr>
            <p:cNvSpPr>
              <a:spLocks noChangeShapeType="1"/>
            </p:cNvSpPr>
            <p:nvPr/>
          </p:nvSpPr>
          <p:spPr bwMode="auto">
            <a:xfrm flipV="1">
              <a:off x="3143251" y="5661026"/>
              <a:ext cx="360363" cy="576263"/>
            </a:xfrm>
            <a:prstGeom prst="line">
              <a:avLst/>
            </a:prstGeom>
            <a:noFill/>
            <a:ln w="158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29" name="Line 9">
              <a:extLst>
                <a:ext uri="{FF2B5EF4-FFF2-40B4-BE49-F238E27FC236}">
                  <a16:creationId xmlns:a16="http://schemas.microsoft.com/office/drawing/2014/main" id="{C7A1046B-BCB2-476F-8DC2-1CBEDFD67C6E}"/>
                </a:ext>
              </a:extLst>
            </p:cNvPr>
            <p:cNvSpPr>
              <a:spLocks noChangeShapeType="1"/>
            </p:cNvSpPr>
            <p:nvPr/>
          </p:nvSpPr>
          <p:spPr bwMode="auto">
            <a:xfrm flipH="1">
              <a:off x="5232401" y="5661025"/>
              <a:ext cx="358775" cy="0"/>
            </a:xfrm>
            <a:prstGeom prst="line">
              <a:avLst/>
            </a:prstGeom>
            <a:noFill/>
            <a:ln w="158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18" name="Rectangle 2">
            <a:extLst>
              <a:ext uri="{FF2B5EF4-FFF2-40B4-BE49-F238E27FC236}">
                <a16:creationId xmlns:a16="http://schemas.microsoft.com/office/drawing/2014/main" id="{35648F7D-EBDD-4802-8404-6BE02876DE82}"/>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Standard deviation</a:t>
            </a:r>
          </a:p>
        </p:txBody>
      </p:sp>
      <p:sp>
        <p:nvSpPr>
          <p:cNvPr id="34819" name="Rectangle 3">
            <a:extLst>
              <a:ext uri="{FF2B5EF4-FFF2-40B4-BE49-F238E27FC236}">
                <a16:creationId xmlns:a16="http://schemas.microsoft.com/office/drawing/2014/main" id="{B294FE58-8066-4DBD-B3D9-1B8C93D16C53}"/>
              </a:ext>
            </a:extLst>
          </p:cNvPr>
          <p:cNvSpPr>
            <a:spLocks noGrp="1" noChangeArrowheads="1"/>
          </p:cNvSpPr>
          <p:nvPr>
            <p:ph idx="1"/>
          </p:nvPr>
        </p:nvSpPr>
        <p:spPr>
          <a:xfrm>
            <a:off x="1371599" y="2318197"/>
            <a:ext cx="9724031" cy="3683358"/>
          </a:xfrm>
        </p:spPr>
        <p:txBody>
          <a:bodyPr anchor="ctr">
            <a:normAutofit/>
          </a:bodyPr>
          <a:lstStyle/>
          <a:p>
            <a:r>
              <a:rPr lang="en-US" altLang="es-MX" sz="2000" dirty="0"/>
              <a:t>Variance, as calculated earlier, is arbitrary.</a:t>
            </a:r>
          </a:p>
          <a:p>
            <a:r>
              <a:rPr lang="en-US" altLang="es-MX" sz="2000" dirty="0"/>
              <a:t>What does it mean to have a variance of 10.8? Or 2.2? Or 1459.092? Or 0.000001?</a:t>
            </a:r>
          </a:p>
          <a:p>
            <a:r>
              <a:rPr lang="en-US" altLang="es-MX" sz="2000" b="1" dirty="0"/>
              <a:t>Nothing</a:t>
            </a:r>
            <a:r>
              <a:rPr lang="en-US" altLang="es-MX" sz="2000" dirty="0"/>
              <a:t>. But if you could “standardize” that value, you could talk about any variance (i.e., deviation) in equivalent terms.</a:t>
            </a:r>
          </a:p>
          <a:p>
            <a:r>
              <a:rPr lang="en-US" altLang="es-MX" sz="2000" dirty="0"/>
              <a:t>Standard Deviations are simply the square root of the variance.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90" name="Rectangle 2">
            <a:extLst>
              <a:ext uri="{FF2B5EF4-FFF2-40B4-BE49-F238E27FC236}">
                <a16:creationId xmlns:a16="http://schemas.microsoft.com/office/drawing/2014/main" id="{2BBCB920-AE2B-44DE-81A2-15F8678D4223}"/>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Standard deviation</a:t>
            </a:r>
          </a:p>
        </p:txBody>
      </p:sp>
      <mc:AlternateContent xmlns:mc="http://schemas.openxmlformats.org/markup-compatibility/2006" xmlns:a14="http://schemas.microsoft.com/office/drawing/2010/main">
        <mc:Choice Requires="a14">
          <p:sp>
            <p:nvSpPr>
              <p:cNvPr id="37891" name="Rectangle 3">
                <a:extLst>
                  <a:ext uri="{FF2B5EF4-FFF2-40B4-BE49-F238E27FC236}">
                    <a16:creationId xmlns:a16="http://schemas.microsoft.com/office/drawing/2014/main" id="{CD40C94B-5224-4D31-9957-7EBF051E5BD5}"/>
                  </a:ext>
                </a:extLst>
              </p:cNvPr>
              <p:cNvSpPr>
                <a:spLocks noGrp="1" noChangeArrowheads="1"/>
              </p:cNvSpPr>
              <p:nvPr>
                <p:ph idx="1"/>
              </p:nvPr>
            </p:nvSpPr>
            <p:spPr>
              <a:xfrm>
                <a:off x="1371599" y="2318197"/>
                <a:ext cx="9724031" cy="3683358"/>
              </a:xfrm>
            </p:spPr>
            <p:txBody>
              <a:bodyPr anchor="ctr">
                <a:normAutofit/>
              </a:bodyPr>
              <a:lstStyle/>
              <a:p>
                <a:r>
                  <a:rPr lang="en-US" altLang="es-MX" sz="1400" dirty="0"/>
                  <a:t>The process of standardizing deviations goes like this:</a:t>
                </a:r>
              </a:p>
              <a:p>
                <a:endParaRPr lang="en-US" altLang="es-MX" sz="1400" dirty="0"/>
              </a:p>
              <a:p>
                <a:pPr marL="0" indent="0">
                  <a:buNone/>
                </a:pPr>
                <a14:m>
                  <m:oMathPara xmlns:m="http://schemas.openxmlformats.org/officeDocument/2006/math">
                    <m:oMathParaPr>
                      <m:jc m:val="centerGroup"/>
                    </m:oMathParaPr>
                    <m:oMath xmlns:m="http://schemas.openxmlformats.org/officeDocument/2006/math">
                      <m:r>
                        <a:rPr lang="es-MX" altLang="es-MX" sz="1400" b="0" i="1">
                          <a:latin typeface="Cambria Math" panose="02040503050406030204" pitchFamily="18" charset="0"/>
                          <a:sym typeface="Symbol" panose="05050102010706020507" pitchFamily="18" charset="2"/>
                        </a:rPr>
                        <m:t></m:t>
                      </m:r>
                      <m:r>
                        <a:rPr lang="es-MX" altLang="es-MX" sz="1400" b="0" i="1">
                          <a:latin typeface="Cambria Math" panose="02040503050406030204" pitchFamily="18" charset="0"/>
                        </a:rPr>
                        <m:t>=</m:t>
                      </m:r>
                      <m:rad>
                        <m:radPr>
                          <m:ctrlPr>
                            <a:rPr lang="es-MX" altLang="es-MX" sz="1400" b="0" i="1">
                              <a:latin typeface="Cambria Math" panose="02040503050406030204" pitchFamily="18" charset="0"/>
                            </a:rPr>
                          </m:ctrlPr>
                        </m:radPr>
                        <m:deg>
                          <m:r>
                            <a:rPr lang="es-MX" altLang="es-MX" sz="1400" b="0" i="1">
                              <a:latin typeface="Cambria Math" panose="02040503050406030204" pitchFamily="18" charset="0"/>
                            </a:rPr>
                            <m:t>2</m:t>
                          </m:r>
                        </m:deg>
                        <m:e>
                          <m:f>
                            <m:fPr>
                              <m:ctrlPr>
                                <a:rPr lang="es-MX" altLang="es-MX" sz="1400" b="0" i="1">
                                  <a:latin typeface="Cambria Math" panose="02040503050406030204" pitchFamily="18" charset="0"/>
                                </a:rPr>
                              </m:ctrlPr>
                            </m:fPr>
                            <m:num>
                              <m:r>
                                <a:rPr lang="es-MX" altLang="es-MX" sz="1400" b="0" i="1">
                                  <a:latin typeface="Cambria Math" panose="02040503050406030204" pitchFamily="18" charset="0"/>
                                </a:rPr>
                                <m:t>1</m:t>
                              </m:r>
                            </m:num>
                            <m:den>
                              <m:r>
                                <a:rPr lang="es-MX" altLang="es-MX" sz="1400" b="0" i="1">
                                  <a:latin typeface="Cambria Math" panose="02040503050406030204" pitchFamily="18" charset="0"/>
                                </a:rPr>
                                <m:t>𝑛</m:t>
                              </m:r>
                            </m:den>
                          </m:f>
                          <m:nary>
                            <m:naryPr>
                              <m:chr m:val="∑"/>
                              <m:ctrlPr>
                                <a:rPr lang="es-MX" altLang="es-MX" sz="1400" b="0" i="1">
                                  <a:latin typeface="Cambria Math" panose="02040503050406030204" pitchFamily="18" charset="0"/>
                                </a:rPr>
                              </m:ctrlPr>
                            </m:naryPr>
                            <m:sub>
                              <m:r>
                                <m:rPr>
                                  <m:brk m:alnAt="23"/>
                                </m:rPr>
                                <a:rPr lang="es-MX" altLang="es-MX" sz="1400" b="0" i="1">
                                  <a:latin typeface="Cambria Math" panose="02040503050406030204" pitchFamily="18" charset="0"/>
                                </a:rPr>
                                <m:t>𝑖</m:t>
                              </m:r>
                              <m:r>
                                <a:rPr lang="es-MX" altLang="es-MX" sz="1400" b="0" i="1">
                                  <a:latin typeface="Cambria Math" panose="02040503050406030204" pitchFamily="18" charset="0"/>
                                </a:rPr>
                                <m:t>=1</m:t>
                              </m:r>
                            </m:sub>
                            <m:sup>
                              <m:r>
                                <a:rPr lang="es-MX" altLang="es-MX" sz="1400" b="0" i="1">
                                  <a:latin typeface="Cambria Math" panose="02040503050406030204" pitchFamily="18" charset="0"/>
                                </a:rPr>
                                <m:t>𝑛</m:t>
                              </m:r>
                            </m:sup>
                            <m:e>
                              <m:sSup>
                                <m:sSupPr>
                                  <m:ctrlPr>
                                    <a:rPr lang="es-MX" altLang="es-MX" sz="1400" b="0" i="1">
                                      <a:latin typeface="Cambria Math" panose="02040503050406030204" pitchFamily="18" charset="0"/>
                                    </a:rPr>
                                  </m:ctrlPr>
                                </m:sSupPr>
                                <m:e>
                                  <m:d>
                                    <m:dPr>
                                      <m:ctrlPr>
                                        <a:rPr lang="es-MX" altLang="es-MX" sz="1400" b="0" i="1">
                                          <a:latin typeface="Cambria Math" panose="02040503050406030204" pitchFamily="18" charset="0"/>
                                        </a:rPr>
                                      </m:ctrlPr>
                                    </m:dPr>
                                    <m:e>
                                      <m:sSub>
                                        <m:sSubPr>
                                          <m:ctrlPr>
                                            <a:rPr lang="es-MX" altLang="es-MX" sz="1400" b="0" i="1">
                                              <a:latin typeface="Cambria Math" panose="02040503050406030204" pitchFamily="18" charset="0"/>
                                            </a:rPr>
                                          </m:ctrlPr>
                                        </m:sSubPr>
                                        <m:e>
                                          <m:r>
                                            <a:rPr lang="es-MX" altLang="es-MX" sz="1400" b="0" i="1">
                                              <a:latin typeface="Cambria Math" panose="02040503050406030204" pitchFamily="18" charset="0"/>
                                            </a:rPr>
                                            <m:t>𝑥</m:t>
                                          </m:r>
                                        </m:e>
                                        <m:sub>
                                          <m:r>
                                            <a:rPr lang="es-MX" altLang="es-MX" sz="1400" b="0" i="1">
                                              <a:latin typeface="Cambria Math" panose="02040503050406030204" pitchFamily="18" charset="0"/>
                                            </a:rPr>
                                            <m:t>𝑖</m:t>
                                          </m:r>
                                        </m:sub>
                                      </m:sSub>
                                      <m:r>
                                        <a:rPr lang="es-MX" altLang="es-MX" sz="1400" b="0" i="1">
                                          <a:latin typeface="Cambria Math" panose="02040503050406030204" pitchFamily="18" charset="0"/>
                                        </a:rPr>
                                        <m:t>−</m:t>
                                      </m:r>
                                      <m:acc>
                                        <m:accPr>
                                          <m:chr m:val="̅"/>
                                          <m:ctrlPr>
                                            <a:rPr lang="en-US" altLang="es-MX" sz="1400" i="1">
                                              <a:latin typeface="Cambria Math" panose="02040503050406030204" pitchFamily="18" charset="0"/>
                                            </a:rPr>
                                          </m:ctrlPr>
                                        </m:accPr>
                                        <m:e>
                                          <m:r>
                                            <a:rPr lang="en-US" altLang="es-MX" sz="1400" i="1">
                                              <a:latin typeface="Cambria Math" panose="02040503050406030204" pitchFamily="18" charset="0"/>
                                            </a:rPr>
                                            <m:t>𝑥</m:t>
                                          </m:r>
                                        </m:e>
                                      </m:acc>
                                    </m:e>
                                  </m:d>
                                </m:e>
                                <m:sup>
                                  <m:r>
                                    <a:rPr lang="es-MX" altLang="es-MX" sz="1400" b="0" i="1">
                                      <a:latin typeface="Cambria Math" panose="02040503050406030204" pitchFamily="18" charset="0"/>
                                    </a:rPr>
                                    <m:t>2</m:t>
                                  </m:r>
                                </m:sup>
                              </m:sSup>
                            </m:e>
                          </m:nary>
                        </m:e>
                      </m:rad>
                    </m:oMath>
                  </m:oMathPara>
                </a14:m>
                <a:endParaRPr lang="en-US" altLang="es-MX" sz="1400" dirty="0"/>
              </a:p>
              <a:p>
                <a:pPr marL="914400" lvl="1" indent="-457200">
                  <a:buFont typeface="+mj-lt"/>
                  <a:buAutoNum type="arabicPeriod"/>
                </a:pPr>
                <a:endParaRPr lang="en-US" altLang="es-MX" sz="1400" dirty="0"/>
              </a:p>
              <a:p>
                <a:pPr marL="914400" lvl="1" indent="-457200">
                  <a:buFont typeface="+mj-lt"/>
                  <a:buAutoNum type="arabicPeriod"/>
                </a:pPr>
                <a:r>
                  <a:rPr lang="en-US" altLang="es-MX" sz="1400" dirty="0"/>
                  <a:t>Score (in the units that are meaningful)</a:t>
                </a:r>
              </a:p>
              <a:p>
                <a:pPr marL="914400" lvl="1" indent="-457200">
                  <a:buFont typeface="+mj-lt"/>
                  <a:buAutoNum type="arabicPeriod"/>
                </a:pPr>
                <a:r>
                  <a:rPr lang="en-US" altLang="es-MX" sz="1400" dirty="0"/>
                  <a:t>Mean </a:t>
                </a:r>
              </a:p>
              <a:p>
                <a:pPr marL="914400" lvl="1" indent="-457200">
                  <a:buFont typeface="+mj-lt"/>
                  <a:buAutoNum type="arabicPeriod"/>
                </a:pPr>
                <a:r>
                  <a:rPr lang="en-US" altLang="es-MX" sz="1400" dirty="0"/>
                  <a:t>Each score’s deviation from the mean</a:t>
                </a:r>
              </a:p>
              <a:p>
                <a:pPr marL="914400" lvl="1" indent="-457200">
                  <a:buFont typeface="+mj-lt"/>
                  <a:buAutoNum type="arabicPeriod"/>
                </a:pPr>
                <a:r>
                  <a:rPr lang="en-US" altLang="es-MX" sz="1400" dirty="0"/>
                  <a:t>Square that deviation</a:t>
                </a:r>
              </a:p>
              <a:p>
                <a:pPr marL="914400" lvl="1" indent="-457200">
                  <a:buFont typeface="+mj-lt"/>
                  <a:buAutoNum type="arabicPeriod"/>
                </a:pPr>
                <a:r>
                  <a:rPr lang="en-US" altLang="es-MX" sz="1400" dirty="0"/>
                  <a:t>Sum all the squared deviations (Sum of Squares)</a:t>
                </a:r>
              </a:p>
              <a:p>
                <a:pPr marL="914400" lvl="1" indent="-457200">
                  <a:buFont typeface="+mj-lt"/>
                  <a:buAutoNum type="arabicPeriod"/>
                </a:pPr>
                <a:r>
                  <a:rPr lang="en-US" altLang="es-MX" sz="1400" dirty="0"/>
                  <a:t>Divide by n (if population) or n-1 (if sample)</a:t>
                </a:r>
              </a:p>
              <a:p>
                <a:pPr marL="914400" lvl="1" indent="-457200">
                  <a:buFont typeface="+mj-lt"/>
                  <a:buAutoNum type="arabicPeriod"/>
                </a:pPr>
                <a:r>
                  <a:rPr lang="en-US" altLang="es-MX" sz="1400" dirty="0"/>
                  <a:t>Square root – now the value is in the units we started with!!!</a:t>
                </a:r>
              </a:p>
            </p:txBody>
          </p:sp>
        </mc:Choice>
        <mc:Fallback xmlns="">
          <p:sp>
            <p:nvSpPr>
              <p:cNvPr id="37891" name="Rectangle 3">
                <a:extLst>
                  <a:ext uri="{FF2B5EF4-FFF2-40B4-BE49-F238E27FC236}">
                    <a16:creationId xmlns:a16="http://schemas.microsoft.com/office/drawing/2014/main" id="{CD40C94B-5224-4D31-9957-7EBF051E5BD5}"/>
                  </a:ext>
                </a:extLst>
              </p:cNvPr>
              <p:cNvSpPr>
                <a:spLocks noGrp="1" noRot="1" noChangeAspect="1" noMove="1" noResize="1" noEditPoints="1" noAdjustHandles="1" noChangeArrowheads="1" noChangeShapeType="1" noTextEdit="1"/>
              </p:cNvSpPr>
              <p:nvPr>
                <p:ph idx="1"/>
              </p:nvPr>
            </p:nvSpPr>
            <p:spPr>
              <a:xfrm>
                <a:off x="1371599" y="2318197"/>
                <a:ext cx="9724031" cy="3683358"/>
              </a:xfrm>
              <a:blipFill>
                <a:blip r:embed="rId3"/>
                <a:stretch>
                  <a:fillRect l="-63"/>
                </a:stretch>
              </a:blipFill>
            </p:spPr>
            <p:txBody>
              <a:bodyPr/>
              <a:lstStyle/>
              <a:p>
                <a:r>
                  <a:rPr lang="es-MX">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14" name="Rectangle 2">
            <a:extLst>
              <a:ext uri="{FF2B5EF4-FFF2-40B4-BE49-F238E27FC236}">
                <a16:creationId xmlns:a16="http://schemas.microsoft.com/office/drawing/2014/main" id="{1FC8CFE2-C3B2-49C3-9B3B-D8F06B1002ED}"/>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Interpreting standard deviation (SD)</a:t>
            </a:r>
          </a:p>
        </p:txBody>
      </p:sp>
      <p:sp>
        <p:nvSpPr>
          <p:cNvPr id="38915" name="Rectangle 3">
            <a:extLst>
              <a:ext uri="{FF2B5EF4-FFF2-40B4-BE49-F238E27FC236}">
                <a16:creationId xmlns:a16="http://schemas.microsoft.com/office/drawing/2014/main" id="{6A6DBE27-0ED2-41B1-B1C5-4778391C039B}"/>
              </a:ext>
            </a:extLst>
          </p:cNvPr>
          <p:cNvSpPr>
            <a:spLocks noGrp="1" noChangeArrowheads="1"/>
          </p:cNvSpPr>
          <p:nvPr>
            <p:ph idx="1"/>
          </p:nvPr>
        </p:nvSpPr>
        <p:spPr>
          <a:xfrm>
            <a:off x="1371599" y="2318197"/>
            <a:ext cx="9724031" cy="3683358"/>
          </a:xfrm>
        </p:spPr>
        <p:txBody>
          <a:bodyPr anchor="t">
            <a:normAutofit/>
          </a:bodyPr>
          <a:lstStyle/>
          <a:p>
            <a:r>
              <a:rPr lang="en-US" altLang="es-MX" sz="2000" dirty="0"/>
              <a:t>First, the SD will let you know about the distribution of scores around the mean. </a:t>
            </a:r>
          </a:p>
          <a:p>
            <a:r>
              <a:rPr lang="en-US" altLang="es-MX" sz="2000" dirty="0"/>
              <a:t>High SDs (relative to the mean) indicate the scores are spread out</a:t>
            </a:r>
          </a:p>
          <a:p>
            <a:r>
              <a:rPr lang="en-US" altLang="es-MX" sz="2000" dirty="0"/>
              <a:t>Low SDs tell you that most scores are very near the mean.</a:t>
            </a:r>
          </a:p>
        </p:txBody>
      </p:sp>
      <p:grpSp>
        <p:nvGrpSpPr>
          <p:cNvPr id="17" name="Grupo 16">
            <a:extLst>
              <a:ext uri="{FF2B5EF4-FFF2-40B4-BE49-F238E27FC236}">
                <a16:creationId xmlns:a16="http://schemas.microsoft.com/office/drawing/2014/main" id="{223F1BF0-EED9-4B3D-960C-BEBB3630EABD}"/>
              </a:ext>
            </a:extLst>
          </p:cNvPr>
          <p:cNvGrpSpPr/>
          <p:nvPr/>
        </p:nvGrpSpPr>
        <p:grpSpPr>
          <a:xfrm>
            <a:off x="3223949" y="3840968"/>
            <a:ext cx="6191250" cy="2160587"/>
            <a:chOff x="3216275" y="4221164"/>
            <a:chExt cx="6191250" cy="2160587"/>
          </a:xfrm>
        </p:grpSpPr>
        <p:pic>
          <p:nvPicPr>
            <p:cNvPr id="18" name="Picture 4">
              <a:extLst>
                <a:ext uri="{FF2B5EF4-FFF2-40B4-BE49-F238E27FC236}">
                  <a16:creationId xmlns:a16="http://schemas.microsoft.com/office/drawing/2014/main" id="{964EA36E-8CEE-4076-B4F8-1612771C59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1676" y="4221164"/>
              <a:ext cx="2790825" cy="2160587"/>
            </a:xfrm>
            <a:prstGeom prst="rect">
              <a:avLst/>
            </a:prstGeom>
            <a:noFill/>
            <a:extLst>
              <a:ext uri="{909E8E84-426E-40DD-AFC4-6F175D3DCCD1}">
                <a14:hiddenFill xmlns:a14="http://schemas.microsoft.com/office/drawing/2010/main">
                  <a:solidFill>
                    <a:srgbClr val="FFFFFF"/>
                  </a:solidFill>
                </a14:hiddenFill>
              </a:ext>
            </a:extLst>
          </p:spPr>
        </p:pic>
        <p:sp>
          <p:nvSpPr>
            <p:cNvPr id="19" name="Text Box 5">
              <a:extLst>
                <a:ext uri="{FF2B5EF4-FFF2-40B4-BE49-F238E27FC236}">
                  <a16:creationId xmlns:a16="http://schemas.microsoft.com/office/drawing/2014/main" id="{00A393DE-83C2-43AC-9136-6DE6EE31C6BD}"/>
                </a:ext>
              </a:extLst>
            </p:cNvPr>
            <p:cNvSpPr txBox="1">
              <a:spLocks noChangeArrowheads="1"/>
            </p:cNvSpPr>
            <p:nvPr/>
          </p:nvSpPr>
          <p:spPr bwMode="auto">
            <a:xfrm>
              <a:off x="7319963" y="5734051"/>
              <a:ext cx="20875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s-MX"/>
                <a:t>Low SD</a:t>
              </a:r>
            </a:p>
          </p:txBody>
        </p:sp>
        <p:sp>
          <p:nvSpPr>
            <p:cNvPr id="20" name="Text Box 6">
              <a:extLst>
                <a:ext uri="{FF2B5EF4-FFF2-40B4-BE49-F238E27FC236}">
                  <a16:creationId xmlns:a16="http://schemas.microsoft.com/office/drawing/2014/main" id="{C1F8EAF8-DDC6-4674-8613-0B0EC86331C5}"/>
                </a:ext>
              </a:extLst>
            </p:cNvPr>
            <p:cNvSpPr txBox="1">
              <a:spLocks noChangeArrowheads="1"/>
            </p:cNvSpPr>
            <p:nvPr/>
          </p:nvSpPr>
          <p:spPr bwMode="auto">
            <a:xfrm>
              <a:off x="3216275" y="5805488"/>
              <a:ext cx="12969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s-MX"/>
                <a:t>High SD</a:t>
              </a:r>
            </a:p>
          </p:txBody>
        </p:sp>
        <p:sp>
          <p:nvSpPr>
            <p:cNvPr id="21" name="Line 7">
              <a:extLst>
                <a:ext uri="{FF2B5EF4-FFF2-40B4-BE49-F238E27FC236}">
                  <a16:creationId xmlns:a16="http://schemas.microsoft.com/office/drawing/2014/main" id="{20352B3A-0DD1-4E54-AC04-3DFE227749CC}"/>
                </a:ext>
              </a:extLst>
            </p:cNvPr>
            <p:cNvSpPr>
              <a:spLocks noChangeShapeType="1"/>
            </p:cNvSpPr>
            <p:nvPr/>
          </p:nvSpPr>
          <p:spPr bwMode="auto">
            <a:xfrm flipH="1">
              <a:off x="7104063" y="6092825"/>
              <a:ext cx="576262" cy="0"/>
            </a:xfrm>
            <a:prstGeom prst="line">
              <a:avLst/>
            </a:prstGeom>
            <a:noFill/>
            <a:ln w="158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22" name="Line 8">
              <a:extLst>
                <a:ext uri="{FF2B5EF4-FFF2-40B4-BE49-F238E27FC236}">
                  <a16:creationId xmlns:a16="http://schemas.microsoft.com/office/drawing/2014/main" id="{F9D3C16A-D0E1-4987-A102-9E6B04728555}"/>
                </a:ext>
              </a:extLst>
            </p:cNvPr>
            <p:cNvSpPr>
              <a:spLocks noChangeShapeType="1"/>
            </p:cNvSpPr>
            <p:nvPr/>
          </p:nvSpPr>
          <p:spPr bwMode="auto">
            <a:xfrm flipV="1">
              <a:off x="3719514" y="6021388"/>
              <a:ext cx="1296987" cy="144462"/>
            </a:xfrm>
            <a:prstGeom prst="line">
              <a:avLst/>
            </a:prstGeom>
            <a:noFill/>
            <a:ln w="15875">
              <a:solidFill>
                <a:srgbClr val="00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38" name="Rectangle 2">
            <a:extLst>
              <a:ext uri="{FF2B5EF4-FFF2-40B4-BE49-F238E27FC236}">
                <a16:creationId xmlns:a16="http://schemas.microsoft.com/office/drawing/2014/main" id="{10B04F2B-0670-419B-A9A2-3CB581C7806B}"/>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Interpreting standard deviation (SD)</a:t>
            </a:r>
          </a:p>
        </p:txBody>
      </p:sp>
      <p:sp>
        <p:nvSpPr>
          <p:cNvPr id="39939" name="Rectangle 3">
            <a:extLst>
              <a:ext uri="{FF2B5EF4-FFF2-40B4-BE49-F238E27FC236}">
                <a16:creationId xmlns:a16="http://schemas.microsoft.com/office/drawing/2014/main" id="{A7266AE9-FD4B-4E79-82BA-170E248F554C}"/>
              </a:ext>
            </a:extLst>
          </p:cNvPr>
          <p:cNvSpPr>
            <a:spLocks noGrp="1" noChangeArrowheads="1"/>
          </p:cNvSpPr>
          <p:nvPr>
            <p:ph idx="1"/>
          </p:nvPr>
        </p:nvSpPr>
        <p:spPr>
          <a:xfrm>
            <a:off x="1371599" y="2318197"/>
            <a:ext cx="9724031" cy="3683358"/>
          </a:xfrm>
        </p:spPr>
        <p:txBody>
          <a:bodyPr anchor="ctr">
            <a:normAutofit/>
          </a:bodyPr>
          <a:lstStyle/>
          <a:p>
            <a:r>
              <a:rPr lang="en-US" altLang="es-MX" sz="2000"/>
              <a:t>Second, you can then interpret any individual score in terms of the SD. </a:t>
            </a:r>
          </a:p>
          <a:p>
            <a:r>
              <a:rPr lang="en-US" altLang="es-MX" sz="2000"/>
              <a:t>For example:</a:t>
            </a:r>
          </a:p>
          <a:p>
            <a:pPr lvl="1"/>
            <a:r>
              <a:rPr lang="en-US" altLang="es-MX" sz="2000"/>
              <a:t>mean = 50, SD = 10</a:t>
            </a:r>
          </a:p>
          <a:p>
            <a:pPr lvl="1"/>
            <a:r>
              <a:rPr lang="en-US" altLang="es-MX" sz="2000"/>
              <a:t>versus   mean = 50, SD = 1</a:t>
            </a:r>
          </a:p>
          <a:p>
            <a:pPr lvl="1"/>
            <a:r>
              <a:rPr lang="en-US" altLang="es-MX" sz="2000"/>
              <a:t>A score of 55 is:</a:t>
            </a:r>
          </a:p>
          <a:p>
            <a:pPr lvl="2"/>
            <a:r>
              <a:rPr lang="en-US" altLang="es-MX" dirty="0"/>
              <a:t> 0.5 Standard deviation units from the mean (not much)</a:t>
            </a:r>
          </a:p>
          <a:p>
            <a:pPr lvl="1"/>
            <a:r>
              <a:rPr lang="en-US" altLang="es-MX" sz="2000"/>
              <a:t>OR</a:t>
            </a:r>
          </a:p>
          <a:p>
            <a:pPr lvl="2"/>
            <a:r>
              <a:rPr lang="en-US" altLang="es-MX" dirty="0"/>
              <a:t>5 standard deviation units from mean (a lot!)</a:t>
            </a:r>
          </a:p>
        </p:txBody>
      </p:sp>
      <p:pic>
        <p:nvPicPr>
          <p:cNvPr id="13" name="Imagen 12">
            <a:extLst>
              <a:ext uri="{FF2B5EF4-FFF2-40B4-BE49-F238E27FC236}">
                <a16:creationId xmlns:a16="http://schemas.microsoft.com/office/drawing/2014/main" id="{D2528E68-3DE4-4BE5-B9FF-0565CCE49105}"/>
              </a:ext>
            </a:extLst>
          </p:cNvPr>
          <p:cNvPicPr>
            <a:picLocks noChangeAspect="1"/>
          </p:cNvPicPr>
          <p:nvPr/>
        </p:nvPicPr>
        <p:blipFill>
          <a:blip r:embed="rId2"/>
          <a:stretch>
            <a:fillRect/>
          </a:stretch>
        </p:blipFill>
        <p:spPr>
          <a:xfrm rot="16200000">
            <a:off x="9778779" y="2779152"/>
            <a:ext cx="1524137" cy="3302297"/>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807"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08"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09"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10"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11"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94" name="Rectangle 2">
            <a:extLst>
              <a:ext uri="{FF2B5EF4-FFF2-40B4-BE49-F238E27FC236}">
                <a16:creationId xmlns:a16="http://schemas.microsoft.com/office/drawing/2014/main" id="{D20C0E5B-31D7-4C4B-9C12-C65619F2FB82}"/>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Standardized scores (Z)</a:t>
            </a:r>
          </a:p>
        </p:txBody>
      </p:sp>
      <mc:AlternateContent xmlns:mc="http://schemas.openxmlformats.org/markup-compatibility/2006" xmlns:a14="http://schemas.microsoft.com/office/drawing/2010/main">
        <mc:Choice Requires="a14">
          <p:sp>
            <p:nvSpPr>
              <p:cNvPr id="33795" name="Rectangle 3">
                <a:extLst>
                  <a:ext uri="{FF2B5EF4-FFF2-40B4-BE49-F238E27FC236}">
                    <a16:creationId xmlns:a16="http://schemas.microsoft.com/office/drawing/2014/main" id="{35E16358-0941-4145-A45C-E5CAAEE47E5C}"/>
                  </a:ext>
                </a:extLst>
              </p:cNvPr>
              <p:cNvSpPr>
                <a:spLocks noGrp="1" noChangeArrowheads="1"/>
              </p:cNvSpPr>
              <p:nvPr>
                <p:ph idx="1"/>
              </p:nvPr>
            </p:nvSpPr>
            <p:spPr>
              <a:xfrm>
                <a:off x="1371599" y="2318197"/>
                <a:ext cx="9724031" cy="3683358"/>
              </a:xfrm>
            </p:spPr>
            <p:txBody>
              <a:bodyPr anchor="ctr">
                <a:normAutofit/>
              </a:bodyPr>
              <a:lstStyle/>
              <a:p>
                <a:r>
                  <a:rPr lang="en-US" altLang="es-MX" sz="2000" dirty="0"/>
                  <a:t>Third, you can use SDs to create standardized scores</a:t>
                </a:r>
              </a:p>
              <a:p>
                <a:pPr lvl="1"/>
                <a:r>
                  <a:rPr lang="en-US" altLang="es-MX" sz="2000" dirty="0"/>
                  <a:t>Force the scores onto a normal distribution by putting each score into units of SD.</a:t>
                </a:r>
              </a:p>
              <a:p>
                <a:r>
                  <a:rPr lang="en-US" altLang="es-MX" sz="2000" dirty="0"/>
                  <a:t>Subtract the mean from each score and divide by SD: </a:t>
                </a:r>
              </a:p>
              <a:p>
                <a:endParaRPr lang="en-US" altLang="es-MX" sz="2000" dirty="0"/>
              </a:p>
              <a:p>
                <a:pPr marL="457200" lvl="1" indent="0">
                  <a:buNone/>
                </a:pPr>
                <a14:m>
                  <m:oMathPara xmlns:m="http://schemas.openxmlformats.org/officeDocument/2006/math">
                    <m:oMathParaPr>
                      <m:jc m:val="centerGroup"/>
                    </m:oMathParaPr>
                    <m:oMath xmlns:m="http://schemas.openxmlformats.org/officeDocument/2006/math">
                      <m:r>
                        <a:rPr lang="es-MX" altLang="es-MX" sz="2000">
                          <a:latin typeface="Cambria Math" panose="02040503050406030204" pitchFamily="18" charset="0"/>
                        </a:rPr>
                        <m:t>𝑍</m:t>
                      </m:r>
                      <m:r>
                        <a:rPr lang="es-MX" altLang="es-MX" sz="2000">
                          <a:latin typeface="Cambria Math" panose="02040503050406030204" pitchFamily="18" charset="0"/>
                        </a:rPr>
                        <m:t>=</m:t>
                      </m:r>
                      <m:f>
                        <m:fPr>
                          <m:ctrlPr>
                            <a:rPr lang="es-MX" altLang="es-MX" sz="2000" i="1">
                              <a:latin typeface="Cambria Math" panose="02040503050406030204" pitchFamily="18" charset="0"/>
                            </a:rPr>
                          </m:ctrlPr>
                        </m:fPr>
                        <m:num>
                          <m:d>
                            <m:dPr>
                              <m:ctrlPr>
                                <a:rPr lang="es-MX" altLang="es-MX" sz="2000" i="1">
                                  <a:latin typeface="Cambria Math" panose="02040503050406030204" pitchFamily="18" charset="0"/>
                                </a:rPr>
                              </m:ctrlPr>
                            </m:dPr>
                            <m:e>
                              <m:r>
                                <a:rPr lang="es-MX" altLang="es-MX" sz="2000">
                                  <a:latin typeface="Cambria Math" panose="02040503050406030204" pitchFamily="18" charset="0"/>
                                </a:rPr>
                                <m:t>𝑥</m:t>
                              </m:r>
                              <m:r>
                                <a:rPr lang="es-MX" altLang="es-MX" sz="2000">
                                  <a:latin typeface="Cambria Math" panose="02040503050406030204" pitchFamily="18" charset="0"/>
                                </a:rPr>
                                <m:t>−</m:t>
                              </m:r>
                              <m:acc>
                                <m:accPr>
                                  <m:chr m:val="̅"/>
                                  <m:ctrlPr>
                                    <a:rPr lang="es-MX" altLang="es-MX" sz="2000" i="1">
                                      <a:latin typeface="Cambria Math" panose="02040503050406030204" pitchFamily="18" charset="0"/>
                                    </a:rPr>
                                  </m:ctrlPr>
                                </m:accPr>
                                <m:e>
                                  <m:r>
                                    <a:rPr lang="es-MX" altLang="es-MX" sz="2000">
                                      <a:latin typeface="Cambria Math" panose="02040503050406030204" pitchFamily="18" charset="0"/>
                                    </a:rPr>
                                    <m:t>𝑥</m:t>
                                  </m:r>
                                </m:e>
                              </m:acc>
                            </m:e>
                          </m:d>
                        </m:num>
                        <m:den>
                          <m:r>
                            <a:rPr lang="es-MX" altLang="es-MX" sz="2000">
                              <a:latin typeface="Cambria Math" panose="02040503050406030204" pitchFamily="18" charset="0"/>
                              <a:sym typeface="Symbol" panose="05050102010706020507" pitchFamily="18" charset="2"/>
                            </a:rPr>
                            <m:t></m:t>
                          </m:r>
                        </m:den>
                      </m:f>
                      <m:r>
                        <a:rPr lang="es-MX" altLang="es-MX" sz="2000">
                          <a:latin typeface="Cambria Math" panose="02040503050406030204" pitchFamily="18" charset="0"/>
                        </a:rPr>
                        <m:t>, </m:t>
                      </m:r>
                      <m:acc>
                        <m:accPr>
                          <m:chr m:val="̅"/>
                          <m:ctrlPr>
                            <a:rPr lang="es-MX" altLang="es-MX" sz="2000" i="1">
                              <a:latin typeface="Cambria Math" panose="02040503050406030204" pitchFamily="18" charset="0"/>
                            </a:rPr>
                          </m:ctrlPr>
                        </m:accPr>
                        <m:e>
                          <m:r>
                            <a:rPr lang="es-MX" altLang="es-MX" sz="2000">
                              <a:latin typeface="Cambria Math" panose="02040503050406030204" pitchFamily="18" charset="0"/>
                            </a:rPr>
                            <m:t>𝑥</m:t>
                          </m:r>
                        </m:e>
                      </m:acc>
                      <m:r>
                        <a:rPr lang="es-MX" altLang="es-MX" sz="2000">
                          <a:latin typeface="Cambria Math" panose="02040503050406030204" pitchFamily="18" charset="0"/>
                        </a:rPr>
                        <m:t>=,</m:t>
                      </m:r>
                      <m:f>
                        <m:fPr>
                          <m:ctrlPr>
                            <a:rPr lang="es-MX" altLang="es-MX" sz="2000" i="1">
                              <a:latin typeface="Cambria Math" panose="02040503050406030204" pitchFamily="18" charset="0"/>
                            </a:rPr>
                          </m:ctrlPr>
                        </m:fPr>
                        <m:num>
                          <m:r>
                            <a:rPr lang="es-MX" altLang="es-MX" sz="2000">
                              <a:latin typeface="Cambria Math" panose="02040503050406030204" pitchFamily="18" charset="0"/>
                            </a:rPr>
                            <m:t>1</m:t>
                          </m:r>
                        </m:num>
                        <m:den>
                          <m:r>
                            <a:rPr lang="es-MX" altLang="es-MX" sz="2000">
                              <a:latin typeface="Cambria Math" panose="02040503050406030204" pitchFamily="18" charset="0"/>
                            </a:rPr>
                            <m:t>𝑛</m:t>
                          </m:r>
                        </m:den>
                      </m:f>
                      <m:nary>
                        <m:naryPr>
                          <m:chr m:val="∑"/>
                          <m:ctrlPr>
                            <a:rPr lang="es-MX" altLang="es-MX" sz="2000" i="1">
                              <a:latin typeface="Cambria Math" panose="02040503050406030204" pitchFamily="18" charset="0"/>
                            </a:rPr>
                          </m:ctrlPr>
                        </m:naryPr>
                        <m:sub>
                          <m:r>
                            <m:rPr>
                              <m:brk m:alnAt="23"/>
                            </m:rPr>
                            <a:rPr lang="es-MX" altLang="es-MX" sz="2000">
                              <a:latin typeface="Cambria Math" panose="02040503050406030204" pitchFamily="18" charset="0"/>
                            </a:rPr>
                            <m:t>𝑖</m:t>
                          </m:r>
                          <m:r>
                            <a:rPr lang="es-MX" altLang="es-MX" sz="2000">
                              <a:latin typeface="Cambria Math" panose="02040503050406030204" pitchFamily="18" charset="0"/>
                            </a:rPr>
                            <m:t>=1</m:t>
                          </m:r>
                        </m:sub>
                        <m:sup>
                          <m:r>
                            <a:rPr lang="es-MX" altLang="es-MX" sz="2000">
                              <a:latin typeface="Cambria Math" panose="02040503050406030204" pitchFamily="18" charset="0"/>
                            </a:rPr>
                            <m:t>𝑛</m:t>
                          </m:r>
                        </m:sup>
                        <m:e>
                          <m:sSub>
                            <m:sSubPr>
                              <m:ctrlPr>
                                <a:rPr lang="es-MX" altLang="es-MX" sz="2000" i="1">
                                  <a:latin typeface="Cambria Math" panose="02040503050406030204" pitchFamily="18" charset="0"/>
                                </a:rPr>
                              </m:ctrlPr>
                            </m:sSubPr>
                            <m:e>
                              <m:r>
                                <a:rPr lang="es-MX" altLang="es-MX" sz="2000">
                                  <a:latin typeface="Cambria Math" panose="02040503050406030204" pitchFamily="18" charset="0"/>
                                </a:rPr>
                                <m:t>𝑥</m:t>
                              </m:r>
                            </m:e>
                            <m:sub>
                              <m:r>
                                <a:rPr lang="es-MX" altLang="es-MX" sz="2000">
                                  <a:latin typeface="Cambria Math" panose="02040503050406030204" pitchFamily="18" charset="0"/>
                                </a:rPr>
                                <m:t>𝑖</m:t>
                              </m:r>
                            </m:sub>
                          </m:sSub>
                        </m:e>
                      </m:nary>
                      <m:r>
                        <a:rPr lang="es-MX" altLang="es-MX" sz="2000">
                          <a:latin typeface="Cambria Math" panose="02040503050406030204" pitchFamily="18" charset="0"/>
                        </a:rPr>
                        <m:t>, </m:t>
                      </m:r>
                      <m:r>
                        <a:rPr lang="es-MX" altLang="es-MX" sz="2000">
                          <a:latin typeface="Cambria Math" panose="02040503050406030204" pitchFamily="18" charset="0"/>
                          <a:sym typeface="Symbol" panose="05050102010706020507" pitchFamily="18" charset="2"/>
                        </a:rPr>
                        <m:t></m:t>
                      </m:r>
                      <m:r>
                        <a:rPr lang="es-MX" altLang="es-MX" sz="2000">
                          <a:latin typeface="Cambria Math" panose="02040503050406030204" pitchFamily="18" charset="0"/>
                        </a:rPr>
                        <m:t>=</m:t>
                      </m:r>
                      <m:rad>
                        <m:radPr>
                          <m:ctrlPr>
                            <a:rPr lang="es-MX" altLang="es-MX" sz="2000" i="1">
                              <a:latin typeface="Cambria Math" panose="02040503050406030204" pitchFamily="18" charset="0"/>
                            </a:rPr>
                          </m:ctrlPr>
                        </m:radPr>
                        <m:deg>
                          <m:r>
                            <a:rPr lang="es-MX" altLang="es-MX" sz="2000">
                              <a:latin typeface="Cambria Math" panose="02040503050406030204" pitchFamily="18" charset="0"/>
                            </a:rPr>
                            <m:t>2</m:t>
                          </m:r>
                        </m:deg>
                        <m:e>
                          <m:f>
                            <m:fPr>
                              <m:ctrlPr>
                                <a:rPr lang="es-MX" altLang="es-MX" sz="2000" i="1">
                                  <a:latin typeface="Cambria Math" panose="02040503050406030204" pitchFamily="18" charset="0"/>
                                </a:rPr>
                              </m:ctrlPr>
                            </m:fPr>
                            <m:num>
                              <m:r>
                                <a:rPr lang="es-MX" altLang="es-MX" sz="2000">
                                  <a:latin typeface="Cambria Math" panose="02040503050406030204" pitchFamily="18" charset="0"/>
                                </a:rPr>
                                <m:t>1</m:t>
                              </m:r>
                            </m:num>
                            <m:den>
                              <m:r>
                                <a:rPr lang="es-MX" altLang="es-MX" sz="2000">
                                  <a:latin typeface="Cambria Math" panose="02040503050406030204" pitchFamily="18" charset="0"/>
                                </a:rPr>
                                <m:t>𝑛</m:t>
                              </m:r>
                            </m:den>
                          </m:f>
                          <m:nary>
                            <m:naryPr>
                              <m:chr m:val="∑"/>
                              <m:ctrlPr>
                                <a:rPr lang="es-MX" altLang="es-MX" sz="2000" i="1">
                                  <a:latin typeface="Cambria Math" panose="02040503050406030204" pitchFamily="18" charset="0"/>
                                </a:rPr>
                              </m:ctrlPr>
                            </m:naryPr>
                            <m:sub>
                              <m:r>
                                <m:rPr>
                                  <m:brk m:alnAt="23"/>
                                </m:rPr>
                                <a:rPr lang="es-MX" altLang="es-MX" sz="2000">
                                  <a:latin typeface="Cambria Math" panose="02040503050406030204" pitchFamily="18" charset="0"/>
                                </a:rPr>
                                <m:t>𝑖</m:t>
                              </m:r>
                              <m:r>
                                <a:rPr lang="es-MX" altLang="es-MX" sz="2000">
                                  <a:latin typeface="Cambria Math" panose="02040503050406030204" pitchFamily="18" charset="0"/>
                                </a:rPr>
                                <m:t>=1</m:t>
                              </m:r>
                            </m:sub>
                            <m:sup>
                              <m:r>
                                <a:rPr lang="es-MX" altLang="es-MX" sz="2000">
                                  <a:latin typeface="Cambria Math" panose="02040503050406030204" pitchFamily="18" charset="0"/>
                                </a:rPr>
                                <m:t>𝑛</m:t>
                              </m:r>
                            </m:sup>
                            <m:e>
                              <m:sSup>
                                <m:sSupPr>
                                  <m:ctrlPr>
                                    <a:rPr lang="es-MX" altLang="es-MX" sz="2000" i="1">
                                      <a:latin typeface="Cambria Math" panose="02040503050406030204" pitchFamily="18" charset="0"/>
                                    </a:rPr>
                                  </m:ctrlPr>
                                </m:sSupPr>
                                <m:e>
                                  <m:d>
                                    <m:dPr>
                                      <m:ctrlPr>
                                        <a:rPr lang="es-MX" altLang="es-MX" sz="2000" i="1">
                                          <a:latin typeface="Cambria Math" panose="02040503050406030204" pitchFamily="18" charset="0"/>
                                        </a:rPr>
                                      </m:ctrlPr>
                                    </m:dPr>
                                    <m:e>
                                      <m:sSub>
                                        <m:sSubPr>
                                          <m:ctrlPr>
                                            <a:rPr lang="es-MX" altLang="es-MX" sz="2000" i="1">
                                              <a:latin typeface="Cambria Math" panose="02040503050406030204" pitchFamily="18" charset="0"/>
                                            </a:rPr>
                                          </m:ctrlPr>
                                        </m:sSubPr>
                                        <m:e>
                                          <m:r>
                                            <a:rPr lang="es-MX" altLang="es-MX" sz="2000">
                                              <a:latin typeface="Cambria Math" panose="02040503050406030204" pitchFamily="18" charset="0"/>
                                            </a:rPr>
                                            <m:t>𝑥</m:t>
                                          </m:r>
                                        </m:e>
                                        <m:sub>
                                          <m:r>
                                            <a:rPr lang="es-MX" altLang="es-MX" sz="2000">
                                              <a:latin typeface="Cambria Math" panose="02040503050406030204" pitchFamily="18" charset="0"/>
                                            </a:rPr>
                                            <m:t>𝑖</m:t>
                                          </m:r>
                                        </m:sub>
                                      </m:sSub>
                                      <m:r>
                                        <a:rPr lang="es-MX" altLang="es-MX" sz="2000">
                                          <a:latin typeface="Cambria Math" panose="02040503050406030204" pitchFamily="18" charset="0"/>
                                        </a:rPr>
                                        <m:t>−</m:t>
                                      </m:r>
                                      <m:r>
                                        <a:rPr lang="es-MX" altLang="es-MX" sz="2000">
                                          <a:latin typeface="Cambria Math" panose="02040503050406030204" pitchFamily="18" charset="0"/>
                                        </a:rPr>
                                        <m:t>𝜇</m:t>
                                      </m:r>
                                    </m:e>
                                  </m:d>
                                </m:e>
                                <m:sup>
                                  <m:r>
                                    <a:rPr lang="es-MX" altLang="es-MX" sz="2000">
                                      <a:latin typeface="Cambria Math" panose="02040503050406030204" pitchFamily="18" charset="0"/>
                                    </a:rPr>
                                    <m:t>2</m:t>
                                  </m:r>
                                </m:sup>
                              </m:sSup>
                            </m:e>
                          </m:nary>
                        </m:e>
                      </m:rad>
                    </m:oMath>
                  </m:oMathPara>
                </a14:m>
                <a:endParaRPr lang="en-US" altLang="es-MX" sz="2000" dirty="0"/>
              </a:p>
            </p:txBody>
          </p:sp>
        </mc:Choice>
        <mc:Fallback xmlns="">
          <p:sp>
            <p:nvSpPr>
              <p:cNvPr id="33795" name="Rectangle 3">
                <a:extLst>
                  <a:ext uri="{FF2B5EF4-FFF2-40B4-BE49-F238E27FC236}">
                    <a16:creationId xmlns:a16="http://schemas.microsoft.com/office/drawing/2014/main" id="{35E16358-0941-4145-A45C-E5CAAEE47E5C}"/>
                  </a:ext>
                </a:extLst>
              </p:cNvPr>
              <p:cNvSpPr>
                <a:spLocks noGrp="1" noRot="1" noChangeAspect="1" noMove="1" noResize="1" noEditPoints="1" noAdjustHandles="1" noChangeArrowheads="1" noChangeShapeType="1" noTextEdit="1"/>
              </p:cNvSpPr>
              <p:nvPr>
                <p:ph idx="1"/>
              </p:nvPr>
            </p:nvSpPr>
            <p:spPr>
              <a:xfrm>
                <a:off x="1371599" y="2318197"/>
                <a:ext cx="9724031" cy="3683358"/>
              </a:xfrm>
              <a:blipFill>
                <a:blip r:embed="rId3"/>
                <a:stretch>
                  <a:fillRect l="-564"/>
                </a:stretch>
              </a:blipFill>
            </p:spPr>
            <p:txBody>
              <a:bodyPr/>
              <a:lstStyle/>
              <a:p>
                <a:r>
                  <a:rPr lang="es-MX">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4C6B5652-C661-4C58-B937-F0F490F7FC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0B936867-6407-43FB-9DE6-1B0879D0C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ACD0B258-678B-4A8C-894F-848AF24A19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6" name="Freeform: Shape 195">
            <a:extLst>
              <a:ext uri="{FF2B5EF4-FFF2-40B4-BE49-F238E27FC236}">
                <a16:creationId xmlns:a16="http://schemas.microsoft.com/office/drawing/2014/main" id="{C8D58395-74AF-401A-AF2F-76B6FCF71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7" name="Rectangle 196">
            <a:extLst>
              <a:ext uri="{FF2B5EF4-FFF2-40B4-BE49-F238E27FC236}">
                <a16:creationId xmlns:a16="http://schemas.microsoft.com/office/drawing/2014/main" id="{2F003F3F-F118-41D2-AA3F-74DB0D1970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62" name="Rectangle 2">
            <a:extLst>
              <a:ext uri="{FF2B5EF4-FFF2-40B4-BE49-F238E27FC236}">
                <a16:creationId xmlns:a16="http://schemas.microsoft.com/office/drawing/2014/main" id="{D092932C-010D-48EC-84CD-8B3EEA88DCA4}"/>
              </a:ext>
            </a:extLst>
          </p:cNvPr>
          <p:cNvSpPr>
            <a:spLocks noGrp="1" noChangeArrowheads="1"/>
          </p:cNvSpPr>
          <p:nvPr>
            <p:ph type="title"/>
          </p:nvPr>
        </p:nvSpPr>
        <p:spPr>
          <a:xfrm>
            <a:off x="806825" y="457201"/>
            <a:ext cx="2844800" cy="3588870"/>
          </a:xfrm>
        </p:spPr>
        <p:txBody>
          <a:bodyPr anchor="b">
            <a:normAutofit/>
          </a:bodyPr>
          <a:lstStyle/>
          <a:p>
            <a:pPr algn="r"/>
            <a:r>
              <a:rPr lang="en-US" altLang="es-MX" sz="4000">
                <a:solidFill>
                  <a:srgbClr val="FFFFFF"/>
                </a:solidFill>
              </a:rPr>
              <a:t>Standardized normal distribution</a:t>
            </a:r>
          </a:p>
        </p:txBody>
      </p:sp>
      <p:sp>
        <p:nvSpPr>
          <p:cNvPr id="40963" name="Rectangle 3">
            <a:extLst>
              <a:ext uri="{FF2B5EF4-FFF2-40B4-BE49-F238E27FC236}">
                <a16:creationId xmlns:a16="http://schemas.microsoft.com/office/drawing/2014/main" id="{129B2FC6-5554-469A-9231-62490AF684E4}"/>
              </a:ext>
            </a:extLst>
          </p:cNvPr>
          <p:cNvSpPr>
            <a:spLocks noGrp="1" noChangeArrowheads="1"/>
          </p:cNvSpPr>
          <p:nvPr>
            <p:ph idx="1"/>
          </p:nvPr>
        </p:nvSpPr>
        <p:spPr>
          <a:xfrm>
            <a:off x="4649245" y="669363"/>
            <a:ext cx="3290579" cy="5534211"/>
          </a:xfrm>
        </p:spPr>
        <p:txBody>
          <a:bodyPr anchor="ctr">
            <a:normAutofit/>
          </a:bodyPr>
          <a:lstStyle/>
          <a:p>
            <a:r>
              <a:rPr lang="en-US" altLang="es-MX" sz="2000"/>
              <a:t>ALL Z-scores have a mean of 0 and SD of 1. Nice and simple.</a:t>
            </a:r>
          </a:p>
          <a:p>
            <a:r>
              <a:rPr lang="en-US" altLang="es-MX" sz="2000"/>
              <a:t>From this we can get the proportion of scores anywhere in the distribution.</a:t>
            </a:r>
          </a:p>
        </p:txBody>
      </p:sp>
      <p:pic>
        <p:nvPicPr>
          <p:cNvPr id="40964" name="Picture 4">
            <a:extLst>
              <a:ext uri="{FF2B5EF4-FFF2-40B4-BE49-F238E27FC236}">
                <a16:creationId xmlns:a16="http://schemas.microsoft.com/office/drawing/2014/main" id="{14B82951-6F40-455C-ABF0-D5CB569F7E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467859" y="1359848"/>
            <a:ext cx="2823586" cy="1462668"/>
          </a:xfrm>
          <a:prstGeom prst="rect">
            <a:avLst/>
          </a:prstGeom>
          <a:noFill/>
          <a:extLst>
            <a:ext uri="{909E8E84-426E-40DD-AFC4-6F175D3DCCD1}">
              <a14:hiddenFill xmlns:a14="http://schemas.microsoft.com/office/drawing/2010/main">
                <a:solidFill>
                  <a:srgbClr val="FFFFFF"/>
                </a:solidFill>
              </a14:hiddenFill>
            </a:ext>
          </a:extLst>
        </p:spPr>
      </p:pic>
      <p:pic>
        <p:nvPicPr>
          <p:cNvPr id="40965" name="Picture 5">
            <a:extLst>
              <a:ext uri="{FF2B5EF4-FFF2-40B4-BE49-F238E27FC236}">
                <a16:creationId xmlns:a16="http://schemas.microsoft.com/office/drawing/2014/main" id="{E4E8C657-7CE2-4FB8-A916-51D52053328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051"/>
          <a:stretch/>
        </p:blipFill>
        <p:spPr bwMode="auto">
          <a:xfrm>
            <a:off x="8467859" y="3597528"/>
            <a:ext cx="2823586" cy="23799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86" name="Rectangle 2">
            <a:extLst>
              <a:ext uri="{FF2B5EF4-FFF2-40B4-BE49-F238E27FC236}">
                <a16:creationId xmlns:a16="http://schemas.microsoft.com/office/drawing/2014/main" id="{8631B476-41BE-4BC2-A1F7-9AF89445EB17}"/>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The trouble with normal</a:t>
            </a:r>
          </a:p>
        </p:txBody>
      </p:sp>
      <p:sp>
        <p:nvSpPr>
          <p:cNvPr id="41987" name="Rectangle 3">
            <a:extLst>
              <a:ext uri="{FF2B5EF4-FFF2-40B4-BE49-F238E27FC236}">
                <a16:creationId xmlns:a16="http://schemas.microsoft.com/office/drawing/2014/main" id="{0683ABA0-0F12-44B3-A9A9-C33A9B0735B4}"/>
              </a:ext>
            </a:extLst>
          </p:cNvPr>
          <p:cNvSpPr>
            <a:spLocks noGrp="1" noChangeArrowheads="1"/>
          </p:cNvSpPr>
          <p:nvPr>
            <p:ph idx="1"/>
          </p:nvPr>
        </p:nvSpPr>
        <p:spPr>
          <a:xfrm>
            <a:off x="1371599" y="2318197"/>
            <a:ext cx="9724031" cy="3683358"/>
          </a:xfrm>
        </p:spPr>
        <p:txBody>
          <a:bodyPr anchor="ctr">
            <a:normAutofit/>
          </a:bodyPr>
          <a:lstStyle/>
          <a:p>
            <a:r>
              <a:rPr lang="en-US" altLang="es-MX" sz="2000"/>
              <a:t>We violate assumptions about statistical tests if the distributions of our variables are not approximately normal.</a:t>
            </a:r>
          </a:p>
          <a:p>
            <a:r>
              <a:rPr lang="en-US" altLang="es-MX" sz="2000"/>
              <a:t>Thus, we must first examine each variable’s distribution and adjust when necessary, so that assumptions are met.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010" name="Rectangle 2">
            <a:extLst>
              <a:ext uri="{FF2B5EF4-FFF2-40B4-BE49-F238E27FC236}">
                <a16:creationId xmlns:a16="http://schemas.microsoft.com/office/drawing/2014/main" id="{07314097-7BE0-4F4E-9834-221D907E4DF5}"/>
              </a:ext>
            </a:extLst>
          </p:cNvPr>
          <p:cNvSpPr>
            <a:spLocks noGrp="1" noChangeArrowheads="1"/>
          </p:cNvSpPr>
          <p:nvPr>
            <p:ph type="title"/>
          </p:nvPr>
        </p:nvSpPr>
        <p:spPr>
          <a:xfrm>
            <a:off x="826396" y="586855"/>
            <a:ext cx="4230100" cy="3387497"/>
          </a:xfrm>
        </p:spPr>
        <p:txBody>
          <a:bodyPr anchor="b">
            <a:normAutofit/>
          </a:bodyPr>
          <a:lstStyle/>
          <a:p>
            <a:pPr algn="r"/>
            <a:r>
              <a:rPr lang="en-US" altLang="es-MX" sz="4000">
                <a:solidFill>
                  <a:srgbClr val="FFFFFF"/>
                </a:solidFill>
              </a:rPr>
              <a:t>Following</a:t>
            </a:r>
          </a:p>
        </p:txBody>
      </p:sp>
      <p:sp>
        <p:nvSpPr>
          <p:cNvPr id="43011" name="Rectangle 3">
            <a:extLst>
              <a:ext uri="{FF2B5EF4-FFF2-40B4-BE49-F238E27FC236}">
                <a16:creationId xmlns:a16="http://schemas.microsoft.com/office/drawing/2014/main" id="{850B2A94-181A-4D87-94BF-EB21938BEEF7}"/>
              </a:ext>
            </a:extLst>
          </p:cNvPr>
          <p:cNvSpPr>
            <a:spLocks noGrp="1" noChangeArrowheads="1"/>
          </p:cNvSpPr>
          <p:nvPr>
            <p:ph idx="1"/>
          </p:nvPr>
        </p:nvSpPr>
        <p:spPr>
          <a:xfrm>
            <a:off x="6503158" y="649480"/>
            <a:ext cx="4862447" cy="5546047"/>
          </a:xfrm>
        </p:spPr>
        <p:txBody>
          <a:bodyPr anchor="ctr">
            <a:normAutofit/>
          </a:bodyPr>
          <a:lstStyle/>
          <a:p>
            <a:r>
              <a:rPr lang="en-US" altLang="es-MX" sz="2000"/>
              <a:t>Examine every variable for:</a:t>
            </a:r>
          </a:p>
          <a:p>
            <a:pPr lvl="1"/>
            <a:r>
              <a:rPr lang="en-US" altLang="es-MX" sz="2000"/>
              <a:t>Out of range values </a:t>
            </a:r>
          </a:p>
          <a:p>
            <a:pPr lvl="1"/>
            <a:r>
              <a:rPr lang="en-US" altLang="es-MX" sz="2000"/>
              <a:t>Normality</a:t>
            </a:r>
          </a:p>
          <a:p>
            <a:pPr lvl="1"/>
            <a:r>
              <a:rPr lang="en-US" altLang="es-MX" sz="2000"/>
              <a:t>Outliers</a:t>
            </a:r>
          </a:p>
          <a:p>
            <a:endParaRPr lang="en-US" altLang="es-MX" sz="2000"/>
          </a:p>
          <a:p>
            <a:endParaRPr lang="en-US" altLang="es-MX" sz="2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2E17E911-875F-4DE5-8699-99D9F1805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Freeform: Shape 8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3" name="Rectangle 8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94" name="Rectangle 2">
            <a:extLst>
              <a:ext uri="{FF2B5EF4-FFF2-40B4-BE49-F238E27FC236}">
                <a16:creationId xmlns:a16="http://schemas.microsoft.com/office/drawing/2014/main" id="{E60ED51B-3C18-4701-807E-D3411E003673}"/>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Checking data</a:t>
            </a:r>
          </a:p>
        </p:txBody>
      </p:sp>
      <p:sp>
        <p:nvSpPr>
          <p:cNvPr id="59395" name="Rectangle 3">
            <a:extLst>
              <a:ext uri="{FF2B5EF4-FFF2-40B4-BE49-F238E27FC236}">
                <a16:creationId xmlns:a16="http://schemas.microsoft.com/office/drawing/2014/main" id="{0FD58CC1-A23E-47D9-B44A-8ADCC64BEEF9}"/>
              </a:ext>
            </a:extLst>
          </p:cNvPr>
          <p:cNvSpPr>
            <a:spLocks noGrp="1" noChangeArrowheads="1"/>
          </p:cNvSpPr>
          <p:nvPr>
            <p:ph idx="1"/>
          </p:nvPr>
        </p:nvSpPr>
        <p:spPr>
          <a:xfrm>
            <a:off x="4581727" y="649480"/>
            <a:ext cx="3025303" cy="5546047"/>
          </a:xfrm>
        </p:spPr>
        <p:txBody>
          <a:bodyPr anchor="ctr">
            <a:normAutofit/>
          </a:bodyPr>
          <a:lstStyle/>
          <a:p>
            <a:r>
              <a:rPr lang="en-US" altLang="es-MX" sz="2000"/>
              <a:t>It is necessary to get a table of each variable with each value and its frequency of occurrence. </a:t>
            </a:r>
          </a:p>
          <a:p>
            <a:r>
              <a:rPr lang="en-US" altLang="es-MX" sz="2000"/>
              <a:t>Best way to examine categorical variables is by checking their frequencies</a:t>
            </a:r>
          </a:p>
        </p:txBody>
      </p:sp>
      <p:pic>
        <p:nvPicPr>
          <p:cNvPr id="59397" name="Picture 59396" descr="Magnifying glass showing decling performance">
            <a:extLst>
              <a:ext uri="{FF2B5EF4-FFF2-40B4-BE49-F238E27FC236}">
                <a16:creationId xmlns:a16="http://schemas.microsoft.com/office/drawing/2014/main" id="{F14D6377-16A2-4C05-9B17-0643328A38E0}"/>
              </a:ext>
            </a:extLst>
          </p:cNvPr>
          <p:cNvPicPr>
            <a:picLocks noChangeAspect="1"/>
          </p:cNvPicPr>
          <p:nvPr/>
        </p:nvPicPr>
        <p:blipFill rotWithShape="1">
          <a:blip r:embed="rId2"/>
          <a:srcRect l="14850" r="45414" b="-1"/>
          <a:stretch/>
        </p:blipFill>
        <p:spPr>
          <a:xfrm>
            <a:off x="8109502" y="10"/>
            <a:ext cx="4082498" cy="685799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8" name="Rectangle 137">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74" name="Rectangle 2">
            <a:extLst>
              <a:ext uri="{FF2B5EF4-FFF2-40B4-BE49-F238E27FC236}">
                <a16:creationId xmlns:a16="http://schemas.microsoft.com/office/drawing/2014/main" id="{4FD519F2-B32F-4DF6-9939-C229EA25FEA2}"/>
              </a:ext>
            </a:extLst>
          </p:cNvPr>
          <p:cNvSpPr>
            <a:spLocks noGrp="1" noChangeArrowheads="1"/>
          </p:cNvSpPr>
          <p:nvPr>
            <p:ph type="title"/>
          </p:nvPr>
        </p:nvSpPr>
        <p:spPr>
          <a:xfrm>
            <a:off x="5596501" y="489508"/>
            <a:ext cx="5754896" cy="1667569"/>
          </a:xfrm>
        </p:spPr>
        <p:txBody>
          <a:bodyPr vert="horz" lIns="91440" tIns="45720" rIns="91440" bIns="45720" rtlCol="0" anchor="b">
            <a:normAutofit/>
          </a:bodyPr>
          <a:lstStyle/>
          <a:p>
            <a:r>
              <a:rPr lang="en-US" altLang="es-MX" sz="4000" kern="1200">
                <a:solidFill>
                  <a:schemeClr val="tx1"/>
                </a:solidFill>
                <a:latin typeface="+mj-lt"/>
                <a:ea typeface="+mj-ea"/>
                <a:cs typeface="+mj-cs"/>
              </a:rPr>
              <a:t>Visual display of univariate data</a:t>
            </a:r>
          </a:p>
        </p:txBody>
      </p:sp>
      <p:sp>
        <p:nvSpPr>
          <p:cNvPr id="28675" name="Rectangle 3">
            <a:extLst>
              <a:ext uri="{FF2B5EF4-FFF2-40B4-BE49-F238E27FC236}">
                <a16:creationId xmlns:a16="http://schemas.microsoft.com/office/drawing/2014/main" id="{A8084E48-688E-4EA2-8AF8-88C3F4EEFAED}"/>
              </a:ext>
            </a:extLst>
          </p:cNvPr>
          <p:cNvSpPr>
            <a:spLocks noGrp="1" noChangeArrowheads="1"/>
          </p:cNvSpPr>
          <p:nvPr>
            <p:ph type="body" sz="half" idx="1"/>
          </p:nvPr>
        </p:nvSpPr>
        <p:spPr>
          <a:xfrm>
            <a:off x="5596502" y="2405894"/>
            <a:ext cx="5754896" cy="3197464"/>
          </a:xfrm>
        </p:spPr>
        <p:txBody>
          <a:bodyPr vert="horz" lIns="91440" tIns="45720" rIns="91440" bIns="45720" rtlCol="0" anchor="t">
            <a:normAutofit/>
          </a:bodyPr>
          <a:lstStyle/>
          <a:p>
            <a:r>
              <a:rPr lang="en-US" altLang="es-MX" sz="2000"/>
              <a:t>Now the example data from before has decimals </a:t>
            </a:r>
          </a:p>
          <a:p>
            <a:pPr lvl="1"/>
            <a:r>
              <a:rPr lang="en-US" altLang="es-MX" sz="2000"/>
              <a:t>What kind of data is that?</a:t>
            </a:r>
          </a:p>
          <a:p>
            <a:r>
              <a:rPr lang="en-US" altLang="es-MX" sz="2000"/>
              <a:t>Precision has increased</a:t>
            </a:r>
          </a:p>
          <a:p>
            <a:endParaRPr lang="en-US" altLang="es-MX" sz="2000"/>
          </a:p>
        </p:txBody>
      </p:sp>
      <p:sp>
        <p:nvSpPr>
          <p:cNvPr id="140" name="Rectangle 139">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8741" name="Group 69">
            <a:extLst>
              <a:ext uri="{FF2B5EF4-FFF2-40B4-BE49-F238E27FC236}">
                <a16:creationId xmlns:a16="http://schemas.microsoft.com/office/drawing/2014/main" id="{C7668A21-25BD-44E3-8F14-BE5346C2088B}"/>
              </a:ext>
            </a:extLst>
          </p:cNvPr>
          <p:cNvGraphicFramePr>
            <a:graphicFrameLocks noGrp="1"/>
          </p:cNvGraphicFramePr>
          <p:nvPr>
            <p:ph sz="half" idx="2"/>
            <p:extLst>
              <p:ext uri="{D42A27DB-BD31-4B8C-83A1-F6EECF244321}">
                <p14:modId xmlns:p14="http://schemas.microsoft.com/office/powerpoint/2010/main" val="225212707"/>
              </p:ext>
            </p:extLst>
          </p:nvPr>
        </p:nvGraphicFramePr>
        <p:xfrm>
          <a:off x="1068130" y="1323702"/>
          <a:ext cx="3876167" cy="3778907"/>
        </p:xfrm>
        <a:graphic>
          <a:graphicData uri="http://schemas.openxmlformats.org/drawingml/2006/table">
            <a:tbl>
              <a:tblPr firstRow="1" bandRow="1"/>
              <a:tblGrid>
                <a:gridCol w="1037415">
                  <a:extLst>
                    <a:ext uri="{9D8B030D-6E8A-4147-A177-3AD203B41FA5}">
                      <a16:colId xmlns:a16="http://schemas.microsoft.com/office/drawing/2014/main" val="3426037883"/>
                    </a:ext>
                  </a:extLst>
                </a:gridCol>
                <a:gridCol w="1069146">
                  <a:extLst>
                    <a:ext uri="{9D8B030D-6E8A-4147-A177-3AD203B41FA5}">
                      <a16:colId xmlns:a16="http://schemas.microsoft.com/office/drawing/2014/main" val="1716593603"/>
                    </a:ext>
                  </a:extLst>
                </a:gridCol>
                <a:gridCol w="935674">
                  <a:extLst>
                    <a:ext uri="{9D8B030D-6E8A-4147-A177-3AD203B41FA5}">
                      <a16:colId xmlns:a16="http://schemas.microsoft.com/office/drawing/2014/main" val="996030563"/>
                    </a:ext>
                  </a:extLst>
                </a:gridCol>
                <a:gridCol w="833932">
                  <a:extLst>
                    <a:ext uri="{9D8B030D-6E8A-4147-A177-3AD203B41FA5}">
                      <a16:colId xmlns:a16="http://schemas.microsoft.com/office/drawing/2014/main" val="4239364671"/>
                    </a:ext>
                  </a:extLst>
                </a:gridCol>
              </a:tblGrid>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Subject</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before</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during</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after</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6870956"/>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1</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3.1</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2.3</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7</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41891830"/>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2</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3.2</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8.8</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4.2</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49746914"/>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3</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2.8</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7.1</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3.2</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06832474"/>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4</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3.3</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2.3</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6.7</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3404962"/>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5</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3.3</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8.6</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4.5</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91189617"/>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6</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3.3</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1.5</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6.6</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6993752"/>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7</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2.8</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9.1</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3.4</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69430207"/>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8</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3.3</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6.5</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8635233"/>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9</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3.1</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9.5</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4.1</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2413469"/>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10</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1</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7.3</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49926464"/>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22" name="Rectangle 2">
            <a:extLst>
              <a:ext uri="{FF2B5EF4-FFF2-40B4-BE49-F238E27FC236}">
                <a16:creationId xmlns:a16="http://schemas.microsoft.com/office/drawing/2014/main" id="{0F5CC893-BC99-46F4-AF43-DCFFA2F1D278}"/>
              </a:ext>
            </a:extLst>
          </p:cNvPr>
          <p:cNvSpPr>
            <a:spLocks noGrp="1" noChangeArrowheads="1"/>
          </p:cNvSpPr>
          <p:nvPr>
            <p:ph type="title"/>
          </p:nvPr>
        </p:nvSpPr>
        <p:spPr>
          <a:xfrm>
            <a:off x="5596501" y="489508"/>
            <a:ext cx="5754896" cy="1667569"/>
          </a:xfrm>
        </p:spPr>
        <p:txBody>
          <a:bodyPr vert="horz" lIns="91440" tIns="45720" rIns="91440" bIns="45720" rtlCol="0" anchor="b">
            <a:normAutofit/>
          </a:bodyPr>
          <a:lstStyle/>
          <a:p>
            <a:r>
              <a:rPr lang="en-US" altLang="es-MX" sz="4000" kern="1200">
                <a:solidFill>
                  <a:schemeClr val="tx1"/>
                </a:solidFill>
                <a:latin typeface="+mj-lt"/>
                <a:ea typeface="+mj-ea"/>
                <a:cs typeface="+mj-cs"/>
              </a:rPr>
              <a:t>Visual display of univariate data</a:t>
            </a:r>
          </a:p>
        </p:txBody>
      </p:sp>
      <p:sp>
        <p:nvSpPr>
          <p:cNvPr id="30723" name="Rectangle 3">
            <a:extLst>
              <a:ext uri="{FF2B5EF4-FFF2-40B4-BE49-F238E27FC236}">
                <a16:creationId xmlns:a16="http://schemas.microsoft.com/office/drawing/2014/main" id="{200EEAA5-A0C2-42D3-AD19-18C550B41D80}"/>
              </a:ext>
            </a:extLst>
          </p:cNvPr>
          <p:cNvSpPr>
            <a:spLocks noGrp="1" noChangeArrowheads="1"/>
          </p:cNvSpPr>
          <p:nvPr>
            <p:ph type="body" sz="half" idx="1"/>
          </p:nvPr>
        </p:nvSpPr>
        <p:spPr>
          <a:xfrm>
            <a:off x="5596502" y="2405894"/>
            <a:ext cx="5754896" cy="3197464"/>
          </a:xfrm>
        </p:spPr>
        <p:txBody>
          <a:bodyPr vert="horz" lIns="91440" tIns="45720" rIns="91440" bIns="45720" rtlCol="0" anchor="t">
            <a:normAutofit/>
          </a:bodyPr>
          <a:lstStyle/>
          <a:p>
            <a:r>
              <a:rPr lang="en-US" altLang="es-MX" sz="2000"/>
              <a:t>Histograms</a:t>
            </a:r>
          </a:p>
          <a:p>
            <a:r>
              <a:rPr lang="en-US" altLang="es-MX" sz="2000"/>
              <a:t>Stem and Leaf plots</a:t>
            </a:r>
          </a:p>
          <a:p>
            <a:r>
              <a:rPr lang="en-US" altLang="es-MX" sz="2000"/>
              <a:t>Boxplots</a:t>
            </a:r>
          </a:p>
          <a:p>
            <a:r>
              <a:rPr lang="en-US" altLang="es-MX" sz="2000"/>
              <a:t>QQ Plots</a:t>
            </a:r>
          </a:p>
          <a:p>
            <a:r>
              <a:rPr lang="en-US" altLang="es-MX" sz="2000"/>
              <a:t>…and many many more.</a:t>
            </a:r>
          </a:p>
          <a:p>
            <a:endParaRPr lang="en-US" altLang="es-MX" sz="2000"/>
          </a:p>
          <a:p>
            <a:endParaRPr lang="en-US" altLang="es-MX" sz="2000"/>
          </a:p>
          <a:p>
            <a:endParaRPr lang="en-US" altLang="es-MX" sz="2000"/>
          </a:p>
        </p:txBody>
      </p:sp>
      <p:sp>
        <p:nvSpPr>
          <p:cNvPr id="74" name="Rectangle 73">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Group 69">
            <a:extLst>
              <a:ext uri="{FF2B5EF4-FFF2-40B4-BE49-F238E27FC236}">
                <a16:creationId xmlns:a16="http://schemas.microsoft.com/office/drawing/2014/main" id="{B6C2E8E4-044C-4A2B-8796-9D5B23995E82}"/>
              </a:ext>
            </a:extLst>
          </p:cNvPr>
          <p:cNvGraphicFramePr>
            <a:graphicFrameLocks noGrp="1"/>
          </p:cNvGraphicFramePr>
          <p:nvPr>
            <p:ph sz="half" idx="2"/>
            <p:extLst>
              <p:ext uri="{D42A27DB-BD31-4B8C-83A1-F6EECF244321}">
                <p14:modId xmlns:p14="http://schemas.microsoft.com/office/powerpoint/2010/main" val="313557347"/>
              </p:ext>
            </p:extLst>
          </p:nvPr>
        </p:nvGraphicFramePr>
        <p:xfrm>
          <a:off x="1068130" y="1323702"/>
          <a:ext cx="3876167" cy="3778907"/>
        </p:xfrm>
        <a:graphic>
          <a:graphicData uri="http://schemas.openxmlformats.org/drawingml/2006/table">
            <a:tbl>
              <a:tblPr firstRow="1" bandRow="1"/>
              <a:tblGrid>
                <a:gridCol w="1037415">
                  <a:extLst>
                    <a:ext uri="{9D8B030D-6E8A-4147-A177-3AD203B41FA5}">
                      <a16:colId xmlns:a16="http://schemas.microsoft.com/office/drawing/2014/main" val="3426037883"/>
                    </a:ext>
                  </a:extLst>
                </a:gridCol>
                <a:gridCol w="1069146">
                  <a:extLst>
                    <a:ext uri="{9D8B030D-6E8A-4147-A177-3AD203B41FA5}">
                      <a16:colId xmlns:a16="http://schemas.microsoft.com/office/drawing/2014/main" val="1716593603"/>
                    </a:ext>
                  </a:extLst>
                </a:gridCol>
                <a:gridCol w="935674">
                  <a:extLst>
                    <a:ext uri="{9D8B030D-6E8A-4147-A177-3AD203B41FA5}">
                      <a16:colId xmlns:a16="http://schemas.microsoft.com/office/drawing/2014/main" val="996030563"/>
                    </a:ext>
                  </a:extLst>
                </a:gridCol>
                <a:gridCol w="833932">
                  <a:extLst>
                    <a:ext uri="{9D8B030D-6E8A-4147-A177-3AD203B41FA5}">
                      <a16:colId xmlns:a16="http://schemas.microsoft.com/office/drawing/2014/main" val="4239364671"/>
                    </a:ext>
                  </a:extLst>
                </a:gridCol>
              </a:tblGrid>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Subject</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before</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during</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after</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26870956"/>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1</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3.1</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2.3</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7</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41891830"/>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2</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3.2</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8.8</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4.2</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49746914"/>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3</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2.8</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7.1</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3.2</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06832474"/>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4</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3.3</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2.3</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6.7</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3404962"/>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5</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3.3</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8.6</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4.5</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91189617"/>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6</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3.3</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1.5</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6.6</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6993752"/>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7</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2.8</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9.1</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3.4</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69430207"/>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8</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3.3</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6.5</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08635233"/>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9</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3.1</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9.5</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4.1</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62413469"/>
                  </a:ext>
                </a:extLst>
              </a:tr>
              <a:tr h="343537">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1" i="0" u="none" strike="noStrike" cap="none" normalizeH="0" baseline="0">
                          <a:ln>
                            <a:noFill/>
                          </a:ln>
                          <a:solidFill>
                            <a:schemeClr val="tx1"/>
                          </a:solidFill>
                          <a:effectLst/>
                          <a:latin typeface="Courier" charset="0"/>
                        </a:rPr>
                        <a:t>10</a:t>
                      </a:r>
                      <a:endParaRPr kumimoji="0" lang="en-US" altLang="es-MX" sz="1300" b="1"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1300" b="0" i="0" u="none" strike="noStrike" cap="none" normalizeH="0" baseline="0">
                          <a:ln>
                            <a:noFill/>
                          </a:ln>
                          <a:solidFill>
                            <a:schemeClr val="tx1"/>
                          </a:solidFill>
                          <a:effectLst/>
                          <a:latin typeface="Arial" panose="020B0604020202020204" pitchFamily="34" charset="0"/>
                        </a:rPr>
                        <a:t>3</a:t>
                      </a: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1</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marL="742950" indent="-285750">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marL="1143000" indent="-228600">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marL="1600200" indent="-228600">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marL="2057400" indent="-228600">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marL="25146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marL="29718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marL="34290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marL="3886200" indent="-228600"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342900" marR="0" lvl="0" indent="-342900" algn="ctr" defTabSz="914400" rtl="0" eaLnBrk="1" fontAlgn="b" latinLnBrk="0" hangingPunct="1">
                        <a:lnSpc>
                          <a:spcPct val="100000"/>
                        </a:lnSpc>
                        <a:spcBef>
                          <a:spcPct val="0"/>
                        </a:spcBef>
                        <a:spcAft>
                          <a:spcPct val="0"/>
                        </a:spcAft>
                        <a:buClrTx/>
                        <a:buSzTx/>
                        <a:buFontTx/>
                        <a:buNone/>
                        <a:tabLst/>
                      </a:pPr>
                      <a:r>
                        <a:rPr kumimoji="0" lang="en-US" altLang="es-MX" sz="1300" b="0" i="0" u="none" strike="noStrike" cap="none" normalizeH="0" baseline="0">
                          <a:ln>
                            <a:noFill/>
                          </a:ln>
                          <a:solidFill>
                            <a:schemeClr val="tx1"/>
                          </a:solidFill>
                          <a:effectLst/>
                          <a:latin typeface="Courier" charset="0"/>
                        </a:rPr>
                        <a:t>7.3</a:t>
                      </a:r>
                      <a:endParaRPr kumimoji="0" lang="en-US" altLang="es-MX" sz="1300" b="0" i="0" u="none" strike="noStrike" cap="none" normalizeH="0" baseline="0">
                        <a:ln>
                          <a:noFill/>
                        </a:ln>
                        <a:solidFill>
                          <a:schemeClr val="tx1"/>
                        </a:solidFill>
                        <a:effectLst/>
                        <a:latin typeface="Arial" panose="020B0604020202020204" pitchFamily="34" charset="0"/>
                      </a:endParaRPr>
                    </a:p>
                  </a:txBody>
                  <a:tcPr marL="101040" marR="101040" marT="50520" marB="50520" anchor="b"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49926464"/>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34" name="Rectangle 2">
            <a:extLst>
              <a:ext uri="{FF2B5EF4-FFF2-40B4-BE49-F238E27FC236}">
                <a16:creationId xmlns:a16="http://schemas.microsoft.com/office/drawing/2014/main" id="{A8F6F146-AD75-49E5-A345-B050C8D918D0}"/>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Histograms</a:t>
            </a:r>
          </a:p>
        </p:txBody>
      </p:sp>
      <p:sp>
        <p:nvSpPr>
          <p:cNvPr id="44035" name="Rectangle 3">
            <a:extLst>
              <a:ext uri="{FF2B5EF4-FFF2-40B4-BE49-F238E27FC236}">
                <a16:creationId xmlns:a16="http://schemas.microsoft.com/office/drawing/2014/main" id="{E3EB9D98-8362-48ED-83AB-E252BF7DB93A}"/>
              </a:ext>
            </a:extLst>
          </p:cNvPr>
          <p:cNvSpPr>
            <a:spLocks noGrp="1" noChangeArrowheads="1"/>
          </p:cNvSpPr>
          <p:nvPr>
            <p:ph idx="1"/>
          </p:nvPr>
        </p:nvSpPr>
        <p:spPr>
          <a:xfrm>
            <a:off x="1371599" y="2318197"/>
            <a:ext cx="9724031" cy="3683358"/>
          </a:xfrm>
        </p:spPr>
        <p:txBody>
          <a:bodyPr anchor="t">
            <a:normAutofit/>
          </a:bodyPr>
          <a:lstStyle/>
          <a:p>
            <a:r>
              <a:rPr lang="en-US" altLang="es-MX" sz="2000" dirty="0"/>
              <a:t># of bins is very important</a:t>
            </a:r>
          </a:p>
        </p:txBody>
      </p:sp>
      <p:graphicFrame>
        <p:nvGraphicFramePr>
          <p:cNvPr id="18" name="Object 4">
            <a:extLst>
              <a:ext uri="{FF2B5EF4-FFF2-40B4-BE49-F238E27FC236}">
                <a16:creationId xmlns:a16="http://schemas.microsoft.com/office/drawing/2014/main" id="{287641B3-A027-4C47-B04E-5B806F557193}"/>
              </a:ext>
            </a:extLst>
          </p:cNvPr>
          <p:cNvGraphicFramePr>
            <a:graphicFrameLocks noChangeAspect="1"/>
          </p:cNvGraphicFramePr>
          <p:nvPr>
            <p:extLst>
              <p:ext uri="{D42A27DB-BD31-4B8C-83A1-F6EECF244321}">
                <p14:modId xmlns:p14="http://schemas.microsoft.com/office/powerpoint/2010/main" val="1018000850"/>
              </p:ext>
            </p:extLst>
          </p:nvPr>
        </p:nvGraphicFramePr>
        <p:xfrm>
          <a:off x="1068104" y="3205962"/>
          <a:ext cx="3033342" cy="2478860"/>
        </p:xfrm>
        <a:graphic>
          <a:graphicData uri="http://schemas.openxmlformats.org/presentationml/2006/ole">
            <mc:AlternateContent xmlns:mc="http://schemas.openxmlformats.org/markup-compatibility/2006">
              <mc:Choice xmlns:v="urn:schemas-microsoft-com:vml" Requires="v">
                <p:oleObj name="Picture" r:id="rId2" imgW="4501662" imgH="3678552" progId="StaticEnhancedMetafile">
                  <p:embed/>
                </p:oleObj>
              </mc:Choice>
              <mc:Fallback>
                <p:oleObj name="Picture" r:id="rId2" imgW="4501662" imgH="3678552" progId="StaticEnhancedMetafile">
                  <p:embed/>
                  <p:pic>
                    <p:nvPicPr>
                      <p:cNvPr id="18" name="Object 4">
                        <a:extLst>
                          <a:ext uri="{FF2B5EF4-FFF2-40B4-BE49-F238E27FC236}">
                            <a16:creationId xmlns:a16="http://schemas.microsoft.com/office/drawing/2014/main" id="{287641B3-A027-4C47-B04E-5B806F5571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104" y="3205962"/>
                        <a:ext cx="3033342" cy="2478860"/>
                      </a:xfrm>
                      <a:prstGeom prst="rect">
                        <a:avLst/>
                      </a:prstGeom>
                      <a:noFill/>
                      <a:ln>
                        <a:noFill/>
                      </a:ln>
                      <a:effectLst/>
                    </p:spPr>
                  </p:pic>
                </p:oleObj>
              </mc:Fallback>
            </mc:AlternateContent>
          </a:graphicData>
        </a:graphic>
      </p:graphicFrame>
      <p:graphicFrame>
        <p:nvGraphicFramePr>
          <p:cNvPr id="19" name="Object 6">
            <a:extLst>
              <a:ext uri="{FF2B5EF4-FFF2-40B4-BE49-F238E27FC236}">
                <a16:creationId xmlns:a16="http://schemas.microsoft.com/office/drawing/2014/main" id="{D00C1587-22A3-482B-A123-B9B9A16D6F55}"/>
              </a:ext>
            </a:extLst>
          </p:cNvPr>
          <p:cNvGraphicFramePr>
            <a:graphicFrameLocks noChangeAspect="1"/>
          </p:cNvGraphicFramePr>
          <p:nvPr>
            <p:extLst>
              <p:ext uri="{D42A27DB-BD31-4B8C-83A1-F6EECF244321}">
                <p14:modId xmlns:p14="http://schemas.microsoft.com/office/powerpoint/2010/main" val="1879492380"/>
              </p:ext>
            </p:extLst>
          </p:nvPr>
        </p:nvGraphicFramePr>
        <p:xfrm>
          <a:off x="4179143" y="3205962"/>
          <a:ext cx="3306890" cy="2701152"/>
        </p:xfrm>
        <a:graphic>
          <a:graphicData uri="http://schemas.openxmlformats.org/presentationml/2006/ole">
            <mc:AlternateContent xmlns:mc="http://schemas.openxmlformats.org/markup-compatibility/2006">
              <mc:Choice xmlns:v="urn:schemas-microsoft-com:vml" Requires="v">
                <p:oleObj name="Picture" r:id="rId4" imgW="4501662" imgH="3678552" progId="StaticEnhancedMetafile">
                  <p:embed/>
                </p:oleObj>
              </mc:Choice>
              <mc:Fallback>
                <p:oleObj name="Picture" r:id="rId4" imgW="4501662" imgH="3678552" progId="StaticEnhancedMetafile">
                  <p:embed/>
                  <p:pic>
                    <p:nvPicPr>
                      <p:cNvPr id="19" name="Object 6">
                        <a:extLst>
                          <a:ext uri="{FF2B5EF4-FFF2-40B4-BE49-F238E27FC236}">
                            <a16:creationId xmlns:a16="http://schemas.microsoft.com/office/drawing/2014/main" id="{D00C1587-22A3-482B-A123-B9B9A16D6F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9143" y="3205962"/>
                        <a:ext cx="3306890" cy="2701152"/>
                      </a:xfrm>
                      <a:prstGeom prst="rect">
                        <a:avLst/>
                      </a:prstGeom>
                      <a:noFill/>
                      <a:ln>
                        <a:noFill/>
                      </a:ln>
                      <a:effectLst/>
                    </p:spPr>
                  </p:pic>
                </p:oleObj>
              </mc:Fallback>
            </mc:AlternateContent>
          </a:graphicData>
        </a:graphic>
      </p:graphicFrame>
      <p:graphicFrame>
        <p:nvGraphicFramePr>
          <p:cNvPr id="20" name="Object 8">
            <a:extLst>
              <a:ext uri="{FF2B5EF4-FFF2-40B4-BE49-F238E27FC236}">
                <a16:creationId xmlns:a16="http://schemas.microsoft.com/office/drawing/2014/main" id="{6F9C3B8E-AA6C-4428-A6A2-ADD428908526}"/>
              </a:ext>
            </a:extLst>
          </p:cNvPr>
          <p:cNvGraphicFramePr>
            <a:graphicFrameLocks noChangeAspect="1"/>
          </p:cNvGraphicFramePr>
          <p:nvPr>
            <p:extLst>
              <p:ext uri="{D42A27DB-BD31-4B8C-83A1-F6EECF244321}">
                <p14:modId xmlns:p14="http://schemas.microsoft.com/office/powerpoint/2010/main" val="1238799662"/>
              </p:ext>
            </p:extLst>
          </p:nvPr>
        </p:nvGraphicFramePr>
        <p:xfrm>
          <a:off x="7952758" y="3180948"/>
          <a:ext cx="3349625" cy="2736850"/>
        </p:xfrm>
        <a:graphic>
          <a:graphicData uri="http://schemas.openxmlformats.org/presentationml/2006/ole">
            <mc:AlternateContent xmlns:mc="http://schemas.openxmlformats.org/markup-compatibility/2006">
              <mc:Choice xmlns:v="urn:schemas-microsoft-com:vml" Requires="v">
                <p:oleObj name="Picture" r:id="rId6" imgW="4501662" imgH="3678552" progId="StaticEnhancedMetafile">
                  <p:embed/>
                </p:oleObj>
              </mc:Choice>
              <mc:Fallback>
                <p:oleObj name="Picture" r:id="rId6" imgW="4501662" imgH="3678552" progId="StaticEnhancedMetafile">
                  <p:embed/>
                  <p:pic>
                    <p:nvPicPr>
                      <p:cNvPr id="20" name="Object 8">
                        <a:extLst>
                          <a:ext uri="{FF2B5EF4-FFF2-40B4-BE49-F238E27FC236}">
                            <a16:creationId xmlns:a16="http://schemas.microsoft.com/office/drawing/2014/main" id="{6F9C3B8E-AA6C-4428-A6A2-ADD42890852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52758" y="3180948"/>
                        <a:ext cx="3349625"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28" name="Rectangle 4">
            <a:extLst>
              <a:ext uri="{FF2B5EF4-FFF2-40B4-BE49-F238E27FC236}">
                <a16:creationId xmlns:a16="http://schemas.microsoft.com/office/drawing/2014/main" id="{F868DD09-789E-4698-92AD-0A2872C2A759}"/>
              </a:ext>
            </a:extLst>
          </p:cNvPr>
          <p:cNvSpPr>
            <a:spLocks noGrp="1" noChangeArrowheads="1"/>
          </p:cNvSpPr>
          <p:nvPr>
            <p:ph type="title"/>
          </p:nvPr>
        </p:nvSpPr>
        <p:spPr>
          <a:xfrm>
            <a:off x="1371599" y="294538"/>
            <a:ext cx="9895951" cy="1033669"/>
          </a:xfrm>
        </p:spPr>
        <p:txBody>
          <a:bodyPr>
            <a:normAutofit/>
          </a:bodyPr>
          <a:lstStyle/>
          <a:p>
            <a:r>
              <a:rPr lang="en-US" altLang="es-MX" sz="4000" dirty="0">
                <a:solidFill>
                  <a:srgbClr val="FFFFFF"/>
                </a:solidFill>
              </a:rPr>
              <a:t>Boxplots</a:t>
            </a:r>
          </a:p>
        </p:txBody>
      </p:sp>
      <p:sp>
        <p:nvSpPr>
          <p:cNvPr id="4" name="Marcador de contenido 3">
            <a:extLst>
              <a:ext uri="{FF2B5EF4-FFF2-40B4-BE49-F238E27FC236}">
                <a16:creationId xmlns:a16="http://schemas.microsoft.com/office/drawing/2014/main" id="{9BEE6A1D-3BCC-4D77-99E7-FE0C0F44FC10}"/>
              </a:ext>
            </a:extLst>
          </p:cNvPr>
          <p:cNvSpPr>
            <a:spLocks noGrp="1"/>
          </p:cNvSpPr>
          <p:nvPr>
            <p:ph idx="1"/>
          </p:nvPr>
        </p:nvSpPr>
        <p:spPr>
          <a:xfrm>
            <a:off x="1371599" y="2318197"/>
            <a:ext cx="9724031" cy="3683358"/>
          </a:xfrm>
        </p:spPr>
        <p:txBody>
          <a:bodyPr anchor="t">
            <a:normAutofit/>
          </a:bodyPr>
          <a:lstStyle/>
          <a:p>
            <a:r>
              <a:rPr lang="en-US" sz="2000" dirty="0"/>
              <a:t>Upper and lower bounds of boxes are the 25th and 75th percentile (interquartile range)</a:t>
            </a:r>
          </a:p>
          <a:p>
            <a:r>
              <a:rPr lang="en-US" sz="2000" dirty="0"/>
              <a:t>Whiskers are min and max value unless there is an outlier</a:t>
            </a:r>
          </a:p>
          <a:p>
            <a:r>
              <a:rPr lang="en-US" sz="2000" dirty="0"/>
              <a:t>An outlier is beyond 1.5 times the interquartile range (box length)</a:t>
            </a:r>
            <a:r>
              <a:rPr lang="es-MX" sz="2000" dirty="0"/>
              <a:t>.</a:t>
            </a:r>
            <a:endParaRPr lang="en-US" sz="2000" dirty="0"/>
          </a:p>
        </p:txBody>
      </p:sp>
      <p:graphicFrame>
        <p:nvGraphicFramePr>
          <p:cNvPr id="18" name="Object 7">
            <a:extLst>
              <a:ext uri="{FF2B5EF4-FFF2-40B4-BE49-F238E27FC236}">
                <a16:creationId xmlns:a16="http://schemas.microsoft.com/office/drawing/2014/main" id="{2DDCEB54-79C2-4CA2-B629-2E943B755EC6}"/>
              </a:ext>
            </a:extLst>
          </p:cNvPr>
          <p:cNvGraphicFramePr>
            <a:graphicFrameLocks noChangeAspect="1"/>
          </p:cNvGraphicFramePr>
          <p:nvPr>
            <p:extLst>
              <p:ext uri="{D42A27DB-BD31-4B8C-83A1-F6EECF244321}">
                <p14:modId xmlns:p14="http://schemas.microsoft.com/office/powerpoint/2010/main" val="1810876480"/>
              </p:ext>
            </p:extLst>
          </p:nvPr>
        </p:nvGraphicFramePr>
        <p:xfrm>
          <a:off x="8115299" y="3527355"/>
          <a:ext cx="4076697" cy="3330645"/>
        </p:xfrm>
        <a:graphic>
          <a:graphicData uri="http://schemas.openxmlformats.org/presentationml/2006/ole">
            <mc:AlternateContent xmlns:mc="http://schemas.openxmlformats.org/markup-compatibility/2006">
              <mc:Choice xmlns:v="urn:schemas-microsoft-com:vml" Requires="v">
                <p:oleObj name="Picture" r:id="rId2" imgW="4501662" imgH="3678552" progId="StaticEnhancedMetafile">
                  <p:embed/>
                </p:oleObj>
              </mc:Choice>
              <mc:Fallback>
                <p:oleObj name="Picture" r:id="rId2" imgW="4501662" imgH="3678552" progId="StaticEnhancedMetafile">
                  <p:embed/>
                  <p:pic>
                    <p:nvPicPr>
                      <p:cNvPr id="18" name="Object 7">
                        <a:extLst>
                          <a:ext uri="{FF2B5EF4-FFF2-40B4-BE49-F238E27FC236}">
                            <a16:creationId xmlns:a16="http://schemas.microsoft.com/office/drawing/2014/main" id="{2DDCEB54-79C2-4CA2-B629-2E943B755E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5299" y="3527355"/>
                        <a:ext cx="4076697" cy="3330645"/>
                      </a:xfrm>
                      <a:prstGeom prst="rect">
                        <a:avLst/>
                      </a:prstGeom>
                      <a:noFill/>
                      <a:ln>
                        <a:noFill/>
                      </a:ln>
                      <a:effectLst/>
                    </p:spPr>
                  </p:pic>
                </p:oleObj>
              </mc:Fallback>
            </mc:AlternateContent>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28" name="Rectangle 4">
            <a:extLst>
              <a:ext uri="{FF2B5EF4-FFF2-40B4-BE49-F238E27FC236}">
                <a16:creationId xmlns:a16="http://schemas.microsoft.com/office/drawing/2014/main" id="{F868DD09-789E-4698-92AD-0A2872C2A759}"/>
              </a:ext>
            </a:extLst>
          </p:cNvPr>
          <p:cNvSpPr>
            <a:spLocks noGrp="1" noChangeArrowheads="1"/>
          </p:cNvSpPr>
          <p:nvPr>
            <p:ph type="title"/>
          </p:nvPr>
        </p:nvSpPr>
        <p:spPr>
          <a:xfrm>
            <a:off x="1371599" y="294538"/>
            <a:ext cx="9895951" cy="1033669"/>
          </a:xfrm>
        </p:spPr>
        <p:txBody>
          <a:bodyPr>
            <a:normAutofit/>
          </a:bodyPr>
          <a:lstStyle/>
          <a:p>
            <a:r>
              <a:rPr lang="en-US" altLang="es-MX" sz="4000" dirty="0">
                <a:solidFill>
                  <a:srgbClr val="FFFFFF"/>
                </a:solidFill>
              </a:rPr>
              <a:t>Quantile-Quantile (Q-Q) Plots</a:t>
            </a:r>
          </a:p>
        </p:txBody>
      </p:sp>
      <p:sp>
        <p:nvSpPr>
          <p:cNvPr id="16" name="Marcador de texto 10">
            <a:extLst>
              <a:ext uri="{FF2B5EF4-FFF2-40B4-BE49-F238E27FC236}">
                <a16:creationId xmlns:a16="http://schemas.microsoft.com/office/drawing/2014/main" id="{4B1EB083-86C0-4391-8AD0-A87D97039E22}"/>
              </a:ext>
            </a:extLst>
          </p:cNvPr>
          <p:cNvSpPr txBox="1">
            <a:spLocks/>
          </p:cNvSpPr>
          <p:nvPr/>
        </p:nvSpPr>
        <p:spPr>
          <a:xfrm>
            <a:off x="839788" y="1681163"/>
            <a:ext cx="5157787" cy="82391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s-MX" b="1" dirty="0"/>
              <a:t>Random Normal Distribution</a:t>
            </a:r>
            <a:endParaRPr lang="es-MX" b="1" dirty="0"/>
          </a:p>
        </p:txBody>
      </p:sp>
      <p:sp>
        <p:nvSpPr>
          <p:cNvPr id="17" name="Marcador de texto 11">
            <a:extLst>
              <a:ext uri="{FF2B5EF4-FFF2-40B4-BE49-F238E27FC236}">
                <a16:creationId xmlns:a16="http://schemas.microsoft.com/office/drawing/2014/main" id="{D00B2A63-3A53-4272-A9D0-AE291A2CD230}"/>
              </a:ext>
            </a:extLst>
          </p:cNvPr>
          <p:cNvSpPr txBox="1">
            <a:spLocks/>
          </p:cNvSpPr>
          <p:nvPr/>
        </p:nvSpPr>
        <p:spPr>
          <a:xfrm>
            <a:off x="6172200" y="1681163"/>
            <a:ext cx="5183188" cy="8239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s-MX" b="1" dirty="0"/>
              <a:t>Random Exponential Distribution</a:t>
            </a:r>
            <a:endParaRPr lang="es-MX" b="1" dirty="0"/>
          </a:p>
        </p:txBody>
      </p:sp>
      <p:graphicFrame>
        <p:nvGraphicFramePr>
          <p:cNvPr id="19" name="Object 4">
            <a:extLst>
              <a:ext uri="{FF2B5EF4-FFF2-40B4-BE49-F238E27FC236}">
                <a16:creationId xmlns:a16="http://schemas.microsoft.com/office/drawing/2014/main" id="{D8A3A193-92C5-4C20-AD1E-1308BBCD4305}"/>
              </a:ext>
            </a:extLst>
          </p:cNvPr>
          <p:cNvGraphicFramePr>
            <a:graphicFrameLocks noChangeAspect="1"/>
          </p:cNvGraphicFramePr>
          <p:nvPr>
            <p:extLst>
              <p:ext uri="{D42A27DB-BD31-4B8C-83A1-F6EECF244321}">
                <p14:modId xmlns:p14="http://schemas.microsoft.com/office/powerpoint/2010/main" val="3612446782"/>
              </p:ext>
            </p:extLst>
          </p:nvPr>
        </p:nvGraphicFramePr>
        <p:xfrm>
          <a:off x="1143000" y="2526506"/>
          <a:ext cx="4551363" cy="3641725"/>
        </p:xfrm>
        <a:graphic>
          <a:graphicData uri="http://schemas.openxmlformats.org/presentationml/2006/ole">
            <mc:AlternateContent xmlns:mc="http://schemas.openxmlformats.org/markup-compatibility/2006">
              <mc:Choice xmlns:v="urn:schemas-microsoft-com:vml" Requires="v">
                <p:oleObj name="Picture" r:id="rId2" imgW="4551680" imgH="3641344" progId="StaticEnhancedMetafile">
                  <p:embed/>
                </p:oleObj>
              </mc:Choice>
              <mc:Fallback>
                <p:oleObj name="Picture" r:id="rId2" imgW="4551680" imgH="3641344" progId="StaticEnhancedMetafile">
                  <p:embed/>
                  <p:pic>
                    <p:nvPicPr>
                      <p:cNvPr id="19" name="Object 4">
                        <a:extLst>
                          <a:ext uri="{FF2B5EF4-FFF2-40B4-BE49-F238E27FC236}">
                            <a16:creationId xmlns:a16="http://schemas.microsoft.com/office/drawing/2014/main" id="{D8A3A193-92C5-4C20-AD1E-1308BBCD43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526506"/>
                        <a:ext cx="4551363" cy="364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6">
            <a:extLst>
              <a:ext uri="{FF2B5EF4-FFF2-40B4-BE49-F238E27FC236}">
                <a16:creationId xmlns:a16="http://schemas.microsoft.com/office/drawing/2014/main" id="{37CE7340-EC0E-41F8-B759-59A47E605F0E}"/>
              </a:ext>
            </a:extLst>
          </p:cNvPr>
          <p:cNvGraphicFramePr>
            <a:graphicFrameLocks noChangeAspect="1"/>
          </p:cNvGraphicFramePr>
          <p:nvPr>
            <p:extLst>
              <p:ext uri="{D42A27DB-BD31-4B8C-83A1-F6EECF244321}">
                <p14:modId xmlns:p14="http://schemas.microsoft.com/office/powerpoint/2010/main" val="757419708"/>
              </p:ext>
            </p:extLst>
          </p:nvPr>
        </p:nvGraphicFramePr>
        <p:xfrm>
          <a:off x="6488112" y="2526506"/>
          <a:ext cx="4551363" cy="3641725"/>
        </p:xfrm>
        <a:graphic>
          <a:graphicData uri="http://schemas.openxmlformats.org/presentationml/2006/ole">
            <mc:AlternateContent xmlns:mc="http://schemas.openxmlformats.org/markup-compatibility/2006">
              <mc:Choice xmlns:v="urn:schemas-microsoft-com:vml" Requires="v">
                <p:oleObj name="Picture" r:id="rId4" imgW="4551680" imgH="3641344" progId="StaticEnhancedMetafile">
                  <p:embed/>
                </p:oleObj>
              </mc:Choice>
              <mc:Fallback>
                <p:oleObj name="Picture" r:id="rId4" imgW="4551680" imgH="3641344" progId="StaticEnhancedMetafile">
                  <p:embed/>
                  <p:pic>
                    <p:nvPicPr>
                      <p:cNvPr id="20" name="Object 6">
                        <a:extLst>
                          <a:ext uri="{FF2B5EF4-FFF2-40B4-BE49-F238E27FC236}">
                            <a16:creationId xmlns:a16="http://schemas.microsoft.com/office/drawing/2014/main" id="{37CE7340-EC0E-41F8-B759-59A47E605F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8112" y="2526506"/>
                        <a:ext cx="4551363" cy="364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7371354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66" name="Rectangle 2">
            <a:extLst>
              <a:ext uri="{FF2B5EF4-FFF2-40B4-BE49-F238E27FC236}">
                <a16:creationId xmlns:a16="http://schemas.microsoft.com/office/drawing/2014/main" id="{2782CEC1-3596-454D-A6E6-67BE169A888F}"/>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Q-Q Plots</a:t>
            </a:r>
          </a:p>
        </p:txBody>
      </p:sp>
      <p:graphicFrame>
        <p:nvGraphicFramePr>
          <p:cNvPr id="24" name="Object 3">
            <a:extLst>
              <a:ext uri="{FF2B5EF4-FFF2-40B4-BE49-F238E27FC236}">
                <a16:creationId xmlns:a16="http://schemas.microsoft.com/office/drawing/2014/main" id="{C3932E3E-670A-4793-80C1-31AD486B2895}"/>
              </a:ext>
            </a:extLst>
          </p:cNvPr>
          <p:cNvGraphicFramePr>
            <a:graphicFrameLocks noGrp="1" noChangeAspect="1"/>
          </p:cNvGraphicFramePr>
          <p:nvPr>
            <p:ph sz="quarter" idx="1"/>
            <p:extLst>
              <p:ext uri="{D42A27DB-BD31-4B8C-83A1-F6EECF244321}">
                <p14:modId xmlns:p14="http://schemas.microsoft.com/office/powerpoint/2010/main" val="1564776579"/>
              </p:ext>
            </p:extLst>
          </p:nvPr>
        </p:nvGraphicFramePr>
        <p:xfrm>
          <a:off x="2517216" y="1745910"/>
          <a:ext cx="2714625" cy="2171700"/>
        </p:xfrm>
        <a:graphic>
          <a:graphicData uri="http://schemas.openxmlformats.org/presentationml/2006/ole">
            <mc:AlternateContent xmlns:mc="http://schemas.openxmlformats.org/markup-compatibility/2006">
              <mc:Choice xmlns:v="urn:schemas-microsoft-com:vml" Requires="v">
                <p:oleObj name="Picture" r:id="rId2" imgW="4551680" imgH="3641344" progId="StaticEnhancedMetafile">
                  <p:embed/>
                </p:oleObj>
              </mc:Choice>
              <mc:Fallback>
                <p:oleObj name="Picture" r:id="rId2" imgW="4551680" imgH="3641344" progId="StaticEnhancedMetafile">
                  <p:embed/>
                  <p:pic>
                    <p:nvPicPr>
                      <p:cNvPr id="24" name="Object 3">
                        <a:extLst>
                          <a:ext uri="{FF2B5EF4-FFF2-40B4-BE49-F238E27FC236}">
                            <a16:creationId xmlns:a16="http://schemas.microsoft.com/office/drawing/2014/main" id="{C3932E3E-670A-4793-80C1-31AD486B28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7216" y="1745910"/>
                        <a:ext cx="2714625"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4">
            <a:extLst>
              <a:ext uri="{FF2B5EF4-FFF2-40B4-BE49-F238E27FC236}">
                <a16:creationId xmlns:a16="http://schemas.microsoft.com/office/drawing/2014/main" id="{C1BCA31A-F974-4AFD-89BD-B00DD487F51D}"/>
              </a:ext>
            </a:extLst>
          </p:cNvPr>
          <p:cNvGraphicFramePr>
            <a:graphicFrameLocks noChangeAspect="1"/>
          </p:cNvGraphicFramePr>
          <p:nvPr>
            <p:extLst>
              <p:ext uri="{D42A27DB-BD31-4B8C-83A1-F6EECF244321}">
                <p14:modId xmlns:p14="http://schemas.microsoft.com/office/powerpoint/2010/main" val="4220435789"/>
              </p:ext>
            </p:extLst>
          </p:nvPr>
        </p:nvGraphicFramePr>
        <p:xfrm>
          <a:off x="6961618" y="1747498"/>
          <a:ext cx="2713037" cy="2170112"/>
        </p:xfrm>
        <a:graphic>
          <a:graphicData uri="http://schemas.openxmlformats.org/presentationml/2006/ole">
            <mc:AlternateContent xmlns:mc="http://schemas.openxmlformats.org/markup-compatibility/2006">
              <mc:Choice xmlns:v="urn:schemas-microsoft-com:vml" Requires="v">
                <p:oleObj name="Picture" r:id="rId4" imgW="4551680" imgH="3641344" progId="StaticEnhancedMetafile">
                  <p:embed/>
                </p:oleObj>
              </mc:Choice>
              <mc:Fallback>
                <p:oleObj name="Picture" r:id="rId4" imgW="4551680" imgH="3641344" progId="StaticEnhancedMetafile">
                  <p:embed/>
                  <p:pic>
                    <p:nvPicPr>
                      <p:cNvPr id="25" name="Object 4">
                        <a:extLst>
                          <a:ext uri="{FF2B5EF4-FFF2-40B4-BE49-F238E27FC236}">
                            <a16:creationId xmlns:a16="http://schemas.microsoft.com/office/drawing/2014/main" id="{C1BCA31A-F974-4AFD-89BD-B00DD487F5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61618" y="1747498"/>
                        <a:ext cx="2713037" cy="217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6" name="Picture 7">
            <a:extLst>
              <a:ext uri="{FF2B5EF4-FFF2-40B4-BE49-F238E27FC236}">
                <a16:creationId xmlns:a16="http://schemas.microsoft.com/office/drawing/2014/main" id="{9E9CA092-AD40-46BC-B2AE-A160AC60614F}"/>
              </a:ext>
            </a:extLst>
          </p:cNvPr>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a:xfrm>
            <a:off x="1486613" y="3729337"/>
            <a:ext cx="4042323" cy="312321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7" name="Picture 9">
            <a:extLst>
              <a:ext uri="{FF2B5EF4-FFF2-40B4-BE49-F238E27FC236}">
                <a16:creationId xmlns:a16="http://schemas.microsoft.com/office/drawing/2014/main" id="{3A8735B4-CF62-47B6-A70E-0D60414F149B}"/>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a:xfrm>
            <a:off x="6029242" y="3783921"/>
            <a:ext cx="4042323" cy="306862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298" name="Rectangle 2">
            <a:extLst>
              <a:ext uri="{FF2B5EF4-FFF2-40B4-BE49-F238E27FC236}">
                <a16:creationId xmlns:a16="http://schemas.microsoft.com/office/drawing/2014/main" id="{F18CDF70-AC17-4502-8315-268A59B07F9A}"/>
              </a:ext>
            </a:extLst>
          </p:cNvPr>
          <p:cNvSpPr>
            <a:spLocks noGrp="1" noChangeArrowheads="1"/>
          </p:cNvSpPr>
          <p:nvPr>
            <p:ph type="title"/>
          </p:nvPr>
        </p:nvSpPr>
        <p:spPr>
          <a:xfrm>
            <a:off x="1371597" y="348865"/>
            <a:ext cx="10044023" cy="877729"/>
          </a:xfrm>
        </p:spPr>
        <p:txBody>
          <a:bodyPr anchor="ctr">
            <a:normAutofit/>
          </a:bodyPr>
          <a:lstStyle/>
          <a:p>
            <a:r>
              <a:rPr lang="en-US" altLang="es-MX" sz="4000">
                <a:solidFill>
                  <a:srgbClr val="FFFFFF"/>
                </a:solidFill>
              </a:rPr>
              <a:t>So…what do you do?</a:t>
            </a:r>
          </a:p>
        </p:txBody>
      </p:sp>
      <p:graphicFrame>
        <p:nvGraphicFramePr>
          <p:cNvPr id="55301" name="Rectangle 3">
            <a:extLst>
              <a:ext uri="{FF2B5EF4-FFF2-40B4-BE49-F238E27FC236}">
                <a16:creationId xmlns:a16="http://schemas.microsoft.com/office/drawing/2014/main" id="{9395AD26-0107-4023-A5F4-D74638E12773}"/>
              </a:ext>
            </a:extLst>
          </p:cNvPr>
          <p:cNvGraphicFramePr>
            <a:graphicFrameLocks noGrp="1"/>
          </p:cNvGraphicFramePr>
          <p:nvPr>
            <p:ph idx="1"/>
            <p:extLst>
              <p:ext uri="{D42A27DB-BD31-4B8C-83A1-F6EECF244321}">
                <p14:modId xmlns:p14="http://schemas.microsoft.com/office/powerpoint/2010/main" val="225584980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22" name="Rectangle 2">
            <a:extLst>
              <a:ext uri="{FF2B5EF4-FFF2-40B4-BE49-F238E27FC236}">
                <a16:creationId xmlns:a16="http://schemas.microsoft.com/office/drawing/2014/main" id="{25F55466-1215-4A6A-A034-253E9BBF533A}"/>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Dealing with Outliers</a:t>
            </a:r>
          </a:p>
        </p:txBody>
      </p:sp>
      <p:sp>
        <p:nvSpPr>
          <p:cNvPr id="56323" name="Rectangle 3">
            <a:extLst>
              <a:ext uri="{FF2B5EF4-FFF2-40B4-BE49-F238E27FC236}">
                <a16:creationId xmlns:a16="http://schemas.microsoft.com/office/drawing/2014/main" id="{97D516E8-06AF-4268-9BF3-EB708DE94CFC}"/>
              </a:ext>
            </a:extLst>
          </p:cNvPr>
          <p:cNvSpPr>
            <a:spLocks noGrp="1" noChangeArrowheads="1"/>
          </p:cNvSpPr>
          <p:nvPr>
            <p:ph idx="1"/>
          </p:nvPr>
        </p:nvSpPr>
        <p:spPr>
          <a:xfrm>
            <a:off x="1371599" y="2318197"/>
            <a:ext cx="9724031" cy="3683358"/>
          </a:xfrm>
        </p:spPr>
        <p:txBody>
          <a:bodyPr anchor="ctr">
            <a:normAutofit/>
          </a:bodyPr>
          <a:lstStyle/>
          <a:p>
            <a:r>
              <a:rPr lang="en-US" altLang="es-MX" sz="2000"/>
              <a:t>First, try to explain it.</a:t>
            </a:r>
          </a:p>
          <a:p>
            <a:r>
              <a:rPr lang="en-US" altLang="es-MX" sz="2000"/>
              <a:t>In a normal distribution 0.4% are outliers (&gt;2.7 SD) and 1 in a million is an extreme outlier (&gt;4.72 SD). </a:t>
            </a:r>
          </a:p>
          <a:p>
            <a:r>
              <a:rPr lang="en-US" altLang="es-MX" sz="2000"/>
              <a:t>For analyses you can:</a:t>
            </a:r>
          </a:p>
          <a:p>
            <a:pPr lvl="1"/>
            <a:r>
              <a:rPr lang="en-US" altLang="es-MX" sz="2000"/>
              <a:t>Delete the value – crude but effective</a:t>
            </a:r>
          </a:p>
          <a:p>
            <a:pPr lvl="1"/>
            <a:r>
              <a:rPr lang="en-US" altLang="es-MX" sz="2000"/>
              <a:t>Change the outlier to value ~3 SD from mean </a:t>
            </a:r>
          </a:p>
          <a:p>
            <a:pPr lvl="1"/>
            <a:r>
              <a:rPr lang="en-US" altLang="es-MX" sz="2000"/>
              <a:t>“Winsorize” it (make = to next highest value)</a:t>
            </a:r>
          </a:p>
          <a:p>
            <a:pPr lvl="1"/>
            <a:r>
              <a:rPr lang="en-US" altLang="es-MX" sz="2000"/>
              <a:t>“Trim” the mean – recalculate mean from data within interquartile range</a:t>
            </a:r>
          </a:p>
          <a:p>
            <a:endParaRPr lang="en-US" altLang="es-MX" sz="2000"/>
          </a:p>
          <a:p>
            <a:endParaRPr lang="en-US" altLang="es-MX" sz="2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058" name="Rectangle 2">
            <a:extLst>
              <a:ext uri="{FF2B5EF4-FFF2-40B4-BE49-F238E27FC236}">
                <a16:creationId xmlns:a16="http://schemas.microsoft.com/office/drawing/2014/main" id="{D0E620F0-476D-4E7E-A2EB-43E5070600E0}"/>
              </a:ext>
            </a:extLst>
          </p:cNvPr>
          <p:cNvSpPr>
            <a:spLocks noGrp="1" noChangeArrowheads="1"/>
          </p:cNvSpPr>
          <p:nvPr>
            <p:ph type="title"/>
          </p:nvPr>
        </p:nvSpPr>
        <p:spPr>
          <a:xfrm>
            <a:off x="826396" y="586855"/>
            <a:ext cx="4230100" cy="3387497"/>
          </a:xfrm>
        </p:spPr>
        <p:txBody>
          <a:bodyPr anchor="b">
            <a:normAutofit/>
          </a:bodyPr>
          <a:lstStyle/>
          <a:p>
            <a:pPr algn="r"/>
            <a:r>
              <a:rPr lang="en-US" altLang="es-MX" sz="4000">
                <a:solidFill>
                  <a:srgbClr val="FFFFFF"/>
                </a:solidFill>
              </a:rPr>
              <a:t>Dealing with skewed distributions</a:t>
            </a:r>
          </a:p>
        </p:txBody>
      </p:sp>
      <p:sp>
        <p:nvSpPr>
          <p:cNvPr id="45059" name="Rectangle 3">
            <a:extLst>
              <a:ext uri="{FF2B5EF4-FFF2-40B4-BE49-F238E27FC236}">
                <a16:creationId xmlns:a16="http://schemas.microsoft.com/office/drawing/2014/main" id="{5630B940-F6E4-4712-BE46-CBCD3768F85F}"/>
              </a:ext>
            </a:extLst>
          </p:cNvPr>
          <p:cNvSpPr>
            <a:spLocks noGrp="1" noChangeArrowheads="1"/>
          </p:cNvSpPr>
          <p:nvPr>
            <p:ph idx="1"/>
          </p:nvPr>
        </p:nvSpPr>
        <p:spPr>
          <a:xfrm>
            <a:off x="6503158" y="649480"/>
            <a:ext cx="4862447" cy="5546047"/>
          </a:xfrm>
        </p:spPr>
        <p:txBody>
          <a:bodyPr anchor="t">
            <a:normAutofit/>
          </a:bodyPr>
          <a:lstStyle/>
          <a:p>
            <a:r>
              <a:rPr lang="en-US" altLang="es-MX" sz="2000" dirty="0"/>
              <a:t>(Skewness and kurtosis greater than +/- 2)</a:t>
            </a:r>
          </a:p>
          <a:p>
            <a:pPr lvl="1"/>
            <a:r>
              <a:rPr lang="en-US" altLang="es-MX" sz="2000" dirty="0"/>
              <a:t>Positive skew is reduced by using the square root or log</a:t>
            </a:r>
          </a:p>
          <a:p>
            <a:endParaRPr lang="en-US" altLang="es-MX" sz="2000" dirty="0"/>
          </a:p>
          <a:p>
            <a:endParaRPr lang="en-US" altLang="es-MX" sz="2000" dirty="0"/>
          </a:p>
          <a:p>
            <a:endParaRPr lang="en-US" altLang="es-MX" sz="2000" dirty="0"/>
          </a:p>
          <a:p>
            <a:endParaRPr lang="en-US" altLang="es-MX" sz="2000" dirty="0"/>
          </a:p>
          <a:p>
            <a:endParaRPr lang="en-US" altLang="es-MX" sz="2000" dirty="0"/>
          </a:p>
          <a:p>
            <a:pPr lvl="1"/>
            <a:r>
              <a:rPr lang="en-US" altLang="es-MX" sz="2000" dirty="0"/>
              <a:t>Negative skew is reduced by squaring the data values</a:t>
            </a:r>
          </a:p>
          <a:p>
            <a:endParaRPr lang="en-US" altLang="es-MX" sz="2000" dirty="0"/>
          </a:p>
        </p:txBody>
      </p:sp>
      <p:grpSp>
        <p:nvGrpSpPr>
          <p:cNvPr id="38" name="Group 12">
            <a:extLst>
              <a:ext uri="{FF2B5EF4-FFF2-40B4-BE49-F238E27FC236}">
                <a16:creationId xmlns:a16="http://schemas.microsoft.com/office/drawing/2014/main" id="{C1354337-F09D-42BB-8983-893F30960256}"/>
              </a:ext>
            </a:extLst>
          </p:cNvPr>
          <p:cNvGrpSpPr>
            <a:grpSpLocks/>
          </p:cNvGrpSpPr>
          <p:nvPr/>
        </p:nvGrpSpPr>
        <p:grpSpPr bwMode="auto">
          <a:xfrm>
            <a:off x="7780683" y="4781308"/>
            <a:ext cx="2665413" cy="1163637"/>
            <a:chOff x="2880" y="2886"/>
            <a:chExt cx="1679" cy="733"/>
          </a:xfrm>
        </p:grpSpPr>
        <p:sp>
          <p:nvSpPr>
            <p:cNvPr id="39" name="Freeform 5">
              <a:extLst>
                <a:ext uri="{FF2B5EF4-FFF2-40B4-BE49-F238E27FC236}">
                  <a16:creationId xmlns:a16="http://schemas.microsoft.com/office/drawing/2014/main" id="{E1DDE674-FBDB-42AD-BD50-4C5AE4E4A3B2}"/>
                </a:ext>
              </a:extLst>
            </p:cNvPr>
            <p:cNvSpPr>
              <a:spLocks/>
            </p:cNvSpPr>
            <p:nvPr/>
          </p:nvSpPr>
          <p:spPr bwMode="auto">
            <a:xfrm flipH="1">
              <a:off x="2925" y="3022"/>
              <a:ext cx="1587" cy="597"/>
            </a:xfrm>
            <a:custGeom>
              <a:avLst/>
              <a:gdLst>
                <a:gd name="T0" fmla="*/ 0 w 1587"/>
                <a:gd name="T1" fmla="*/ 597 h 597"/>
                <a:gd name="T2" fmla="*/ 317 w 1587"/>
                <a:gd name="T3" fmla="*/ 7 h 597"/>
                <a:gd name="T4" fmla="*/ 1587 w 1587"/>
                <a:gd name="T5" fmla="*/ 552 h 597"/>
              </a:gdLst>
              <a:ahLst/>
              <a:cxnLst>
                <a:cxn ang="0">
                  <a:pos x="T0" y="T1"/>
                </a:cxn>
                <a:cxn ang="0">
                  <a:pos x="T2" y="T3"/>
                </a:cxn>
                <a:cxn ang="0">
                  <a:pos x="T4" y="T5"/>
                </a:cxn>
              </a:cxnLst>
              <a:rect l="0" t="0" r="r" b="b"/>
              <a:pathLst>
                <a:path w="1587" h="597">
                  <a:moveTo>
                    <a:pt x="0" y="597"/>
                  </a:moveTo>
                  <a:cubicBezTo>
                    <a:pt x="26" y="305"/>
                    <a:pt x="53" y="14"/>
                    <a:pt x="317" y="7"/>
                  </a:cubicBezTo>
                  <a:cubicBezTo>
                    <a:pt x="581" y="0"/>
                    <a:pt x="1375" y="461"/>
                    <a:pt x="1587" y="55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dirty="0"/>
            </a:p>
          </p:txBody>
        </p:sp>
        <p:grpSp>
          <p:nvGrpSpPr>
            <p:cNvPr id="40" name="Group 9">
              <a:extLst>
                <a:ext uri="{FF2B5EF4-FFF2-40B4-BE49-F238E27FC236}">
                  <a16:creationId xmlns:a16="http://schemas.microsoft.com/office/drawing/2014/main" id="{E721FA08-F83D-45D0-840C-5888A60A6933}"/>
                </a:ext>
              </a:extLst>
            </p:cNvPr>
            <p:cNvGrpSpPr>
              <a:grpSpLocks/>
            </p:cNvGrpSpPr>
            <p:nvPr/>
          </p:nvGrpSpPr>
          <p:grpSpPr bwMode="auto">
            <a:xfrm>
              <a:off x="2880" y="2886"/>
              <a:ext cx="1679" cy="726"/>
              <a:chOff x="657" y="2976"/>
              <a:chExt cx="1679" cy="726"/>
            </a:xfrm>
          </p:grpSpPr>
          <p:sp>
            <p:nvSpPr>
              <p:cNvPr id="41" name="Line 10">
                <a:extLst>
                  <a:ext uri="{FF2B5EF4-FFF2-40B4-BE49-F238E27FC236}">
                    <a16:creationId xmlns:a16="http://schemas.microsoft.com/office/drawing/2014/main" id="{F28EE716-1EE6-4CA1-B35A-EAB903CCFCD5}"/>
                  </a:ext>
                </a:extLst>
              </p:cNvPr>
              <p:cNvSpPr>
                <a:spLocks noChangeShapeType="1"/>
              </p:cNvSpPr>
              <p:nvPr/>
            </p:nvSpPr>
            <p:spPr bwMode="auto">
              <a:xfrm>
                <a:off x="657" y="2976"/>
                <a:ext cx="0" cy="7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42" name="Line 11">
                <a:extLst>
                  <a:ext uri="{FF2B5EF4-FFF2-40B4-BE49-F238E27FC236}">
                    <a16:creationId xmlns:a16="http://schemas.microsoft.com/office/drawing/2014/main" id="{FFF8B12E-6344-4557-909B-77245A25F641}"/>
                  </a:ext>
                </a:extLst>
              </p:cNvPr>
              <p:cNvSpPr>
                <a:spLocks noChangeShapeType="1"/>
              </p:cNvSpPr>
              <p:nvPr/>
            </p:nvSpPr>
            <p:spPr bwMode="auto">
              <a:xfrm>
                <a:off x="657" y="3702"/>
                <a:ext cx="167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grpSp>
      </p:grpSp>
      <p:grpSp>
        <p:nvGrpSpPr>
          <p:cNvPr id="43" name="Group 13">
            <a:extLst>
              <a:ext uri="{FF2B5EF4-FFF2-40B4-BE49-F238E27FC236}">
                <a16:creationId xmlns:a16="http://schemas.microsoft.com/office/drawing/2014/main" id="{4AE0D727-F4F0-4486-B189-A1D6B8304419}"/>
              </a:ext>
            </a:extLst>
          </p:cNvPr>
          <p:cNvGrpSpPr>
            <a:grpSpLocks/>
          </p:cNvGrpSpPr>
          <p:nvPr/>
        </p:nvGrpSpPr>
        <p:grpSpPr bwMode="auto">
          <a:xfrm>
            <a:off x="7696767" y="2073572"/>
            <a:ext cx="2665413" cy="1152525"/>
            <a:chOff x="657" y="2976"/>
            <a:chExt cx="1679" cy="726"/>
          </a:xfrm>
        </p:grpSpPr>
        <p:sp>
          <p:nvSpPr>
            <p:cNvPr id="44" name="Freeform 4">
              <a:extLst>
                <a:ext uri="{FF2B5EF4-FFF2-40B4-BE49-F238E27FC236}">
                  <a16:creationId xmlns:a16="http://schemas.microsoft.com/office/drawing/2014/main" id="{B6B243A3-7D28-4223-9E69-AE1D5CB0291C}"/>
                </a:ext>
              </a:extLst>
            </p:cNvPr>
            <p:cNvSpPr>
              <a:spLocks/>
            </p:cNvSpPr>
            <p:nvPr/>
          </p:nvSpPr>
          <p:spPr bwMode="auto">
            <a:xfrm>
              <a:off x="703" y="3060"/>
              <a:ext cx="1587" cy="597"/>
            </a:xfrm>
            <a:custGeom>
              <a:avLst/>
              <a:gdLst>
                <a:gd name="T0" fmla="*/ 0 w 1587"/>
                <a:gd name="T1" fmla="*/ 597 h 597"/>
                <a:gd name="T2" fmla="*/ 317 w 1587"/>
                <a:gd name="T3" fmla="*/ 7 h 597"/>
                <a:gd name="T4" fmla="*/ 1587 w 1587"/>
                <a:gd name="T5" fmla="*/ 552 h 597"/>
              </a:gdLst>
              <a:ahLst/>
              <a:cxnLst>
                <a:cxn ang="0">
                  <a:pos x="T0" y="T1"/>
                </a:cxn>
                <a:cxn ang="0">
                  <a:pos x="T2" y="T3"/>
                </a:cxn>
                <a:cxn ang="0">
                  <a:pos x="T4" y="T5"/>
                </a:cxn>
              </a:cxnLst>
              <a:rect l="0" t="0" r="r" b="b"/>
              <a:pathLst>
                <a:path w="1587" h="597">
                  <a:moveTo>
                    <a:pt x="0" y="597"/>
                  </a:moveTo>
                  <a:cubicBezTo>
                    <a:pt x="26" y="305"/>
                    <a:pt x="53" y="14"/>
                    <a:pt x="317" y="7"/>
                  </a:cubicBezTo>
                  <a:cubicBezTo>
                    <a:pt x="581" y="0"/>
                    <a:pt x="1375" y="461"/>
                    <a:pt x="1587" y="55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grpSp>
          <p:nvGrpSpPr>
            <p:cNvPr id="45" name="Group 8">
              <a:extLst>
                <a:ext uri="{FF2B5EF4-FFF2-40B4-BE49-F238E27FC236}">
                  <a16:creationId xmlns:a16="http://schemas.microsoft.com/office/drawing/2014/main" id="{8BE717D8-E051-455C-88B5-75A37D661056}"/>
                </a:ext>
              </a:extLst>
            </p:cNvPr>
            <p:cNvGrpSpPr>
              <a:grpSpLocks/>
            </p:cNvGrpSpPr>
            <p:nvPr/>
          </p:nvGrpSpPr>
          <p:grpSpPr bwMode="auto">
            <a:xfrm>
              <a:off x="657" y="2976"/>
              <a:ext cx="1679" cy="726"/>
              <a:chOff x="657" y="2976"/>
              <a:chExt cx="1679" cy="726"/>
            </a:xfrm>
          </p:grpSpPr>
          <p:sp>
            <p:nvSpPr>
              <p:cNvPr id="46" name="Line 6">
                <a:extLst>
                  <a:ext uri="{FF2B5EF4-FFF2-40B4-BE49-F238E27FC236}">
                    <a16:creationId xmlns:a16="http://schemas.microsoft.com/office/drawing/2014/main" id="{42FB1E31-0B80-4761-A852-6628029C0047}"/>
                  </a:ext>
                </a:extLst>
              </p:cNvPr>
              <p:cNvSpPr>
                <a:spLocks noChangeShapeType="1"/>
              </p:cNvSpPr>
              <p:nvPr/>
            </p:nvSpPr>
            <p:spPr bwMode="auto">
              <a:xfrm>
                <a:off x="657" y="2976"/>
                <a:ext cx="0" cy="7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47" name="Line 7">
                <a:extLst>
                  <a:ext uri="{FF2B5EF4-FFF2-40B4-BE49-F238E27FC236}">
                    <a16:creationId xmlns:a16="http://schemas.microsoft.com/office/drawing/2014/main" id="{2E660F5C-C0F9-467B-A26E-1ABFB7DEFC92}"/>
                  </a:ext>
                </a:extLst>
              </p:cNvPr>
              <p:cNvSpPr>
                <a:spLocks noChangeShapeType="1"/>
              </p:cNvSpPr>
              <p:nvPr/>
            </p:nvSpPr>
            <p:spPr bwMode="auto">
              <a:xfrm>
                <a:off x="657" y="3702"/>
                <a:ext cx="167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gr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370" name="Rectangle 2">
            <a:extLst>
              <a:ext uri="{FF2B5EF4-FFF2-40B4-BE49-F238E27FC236}">
                <a16:creationId xmlns:a16="http://schemas.microsoft.com/office/drawing/2014/main" id="{9A832176-2B6E-4A3B-B4FA-480B7B29A1ED}"/>
              </a:ext>
            </a:extLst>
          </p:cNvPr>
          <p:cNvSpPr>
            <a:spLocks noGrp="1" noChangeArrowheads="1"/>
          </p:cNvSpPr>
          <p:nvPr>
            <p:ph type="title"/>
          </p:nvPr>
        </p:nvSpPr>
        <p:spPr>
          <a:xfrm>
            <a:off x="826396" y="586855"/>
            <a:ext cx="4230100" cy="3387497"/>
          </a:xfrm>
        </p:spPr>
        <p:txBody>
          <a:bodyPr anchor="b">
            <a:normAutofit/>
          </a:bodyPr>
          <a:lstStyle/>
          <a:p>
            <a:pPr algn="r"/>
            <a:r>
              <a:rPr lang="en-US" altLang="es-MX" sz="4000">
                <a:solidFill>
                  <a:srgbClr val="FFFFFF"/>
                </a:solidFill>
              </a:rPr>
              <a:t>Visual Display of Bivariate Data</a:t>
            </a:r>
          </a:p>
        </p:txBody>
      </p:sp>
      <p:sp>
        <p:nvSpPr>
          <p:cNvPr id="58371" name="Rectangle 3">
            <a:extLst>
              <a:ext uri="{FF2B5EF4-FFF2-40B4-BE49-F238E27FC236}">
                <a16:creationId xmlns:a16="http://schemas.microsoft.com/office/drawing/2014/main" id="{14633DEA-3B1D-457D-99B3-8CCEE63E4DDC}"/>
              </a:ext>
            </a:extLst>
          </p:cNvPr>
          <p:cNvSpPr>
            <a:spLocks noGrp="1" noChangeArrowheads="1"/>
          </p:cNvSpPr>
          <p:nvPr>
            <p:ph idx="1"/>
          </p:nvPr>
        </p:nvSpPr>
        <p:spPr>
          <a:xfrm>
            <a:off x="6503158" y="649480"/>
            <a:ext cx="4862447" cy="5546047"/>
          </a:xfrm>
        </p:spPr>
        <p:txBody>
          <a:bodyPr anchor="t">
            <a:normAutofit/>
          </a:bodyPr>
          <a:lstStyle/>
          <a:p>
            <a:r>
              <a:rPr lang="en-US" altLang="es-MX" sz="2000" dirty="0"/>
              <a:t>So, you have examined each variable for mistakes, outliers and distribution and made any necessary alterations. Now what?</a:t>
            </a:r>
          </a:p>
          <a:p>
            <a:endParaRPr lang="en-US" altLang="es-MX" sz="2000" dirty="0"/>
          </a:p>
          <a:p>
            <a:endParaRPr lang="en-US" altLang="es-MX" sz="2000" dirty="0"/>
          </a:p>
          <a:p>
            <a:endParaRPr lang="en-US" altLang="es-MX" sz="2000" dirty="0"/>
          </a:p>
          <a:p>
            <a:endParaRPr lang="en-US" altLang="es-MX" sz="2000" dirty="0"/>
          </a:p>
          <a:p>
            <a:r>
              <a:rPr lang="en-US" altLang="es-MX" sz="2000" dirty="0"/>
              <a:t>Look at the relationship between 2 (or more) variables at a time</a:t>
            </a:r>
          </a:p>
        </p:txBody>
      </p:sp>
      <p:grpSp>
        <p:nvGrpSpPr>
          <p:cNvPr id="22" name="Group 14">
            <a:extLst>
              <a:ext uri="{FF2B5EF4-FFF2-40B4-BE49-F238E27FC236}">
                <a16:creationId xmlns:a16="http://schemas.microsoft.com/office/drawing/2014/main" id="{BB6F9234-47B7-4D0F-B57C-C5B7A6115C75}"/>
              </a:ext>
            </a:extLst>
          </p:cNvPr>
          <p:cNvGrpSpPr>
            <a:grpSpLocks/>
          </p:cNvGrpSpPr>
          <p:nvPr/>
        </p:nvGrpSpPr>
        <p:grpSpPr bwMode="auto">
          <a:xfrm>
            <a:off x="7090072" y="2105510"/>
            <a:ext cx="2305050" cy="947737"/>
            <a:chOff x="1066" y="3158"/>
            <a:chExt cx="1452" cy="597"/>
          </a:xfrm>
        </p:grpSpPr>
        <p:sp>
          <p:nvSpPr>
            <p:cNvPr id="23" name="Freeform 5">
              <a:extLst>
                <a:ext uri="{FF2B5EF4-FFF2-40B4-BE49-F238E27FC236}">
                  <a16:creationId xmlns:a16="http://schemas.microsoft.com/office/drawing/2014/main" id="{AC8F99F4-F0BC-4B3F-B87F-D5F8F114652E}"/>
                </a:ext>
              </a:extLst>
            </p:cNvPr>
            <p:cNvSpPr>
              <a:spLocks/>
            </p:cNvSpPr>
            <p:nvPr/>
          </p:nvSpPr>
          <p:spPr bwMode="auto">
            <a:xfrm>
              <a:off x="1066" y="3158"/>
              <a:ext cx="1452" cy="597"/>
            </a:xfrm>
            <a:custGeom>
              <a:avLst/>
              <a:gdLst>
                <a:gd name="T0" fmla="*/ 0 w 1452"/>
                <a:gd name="T1" fmla="*/ 551 h 597"/>
                <a:gd name="T2" fmla="*/ 272 w 1452"/>
                <a:gd name="T3" fmla="*/ 506 h 597"/>
                <a:gd name="T4" fmla="*/ 590 w 1452"/>
                <a:gd name="T5" fmla="*/ 7 h 597"/>
                <a:gd name="T6" fmla="*/ 1089 w 1452"/>
                <a:gd name="T7" fmla="*/ 461 h 597"/>
                <a:gd name="T8" fmla="*/ 1452 w 1452"/>
                <a:gd name="T9" fmla="*/ 551 h 597"/>
              </a:gdLst>
              <a:ahLst/>
              <a:cxnLst>
                <a:cxn ang="0">
                  <a:pos x="T0" y="T1"/>
                </a:cxn>
                <a:cxn ang="0">
                  <a:pos x="T2" y="T3"/>
                </a:cxn>
                <a:cxn ang="0">
                  <a:pos x="T4" y="T5"/>
                </a:cxn>
                <a:cxn ang="0">
                  <a:pos x="T6" y="T7"/>
                </a:cxn>
                <a:cxn ang="0">
                  <a:pos x="T8" y="T9"/>
                </a:cxn>
              </a:cxnLst>
              <a:rect l="0" t="0" r="r" b="b"/>
              <a:pathLst>
                <a:path w="1452" h="597">
                  <a:moveTo>
                    <a:pt x="0" y="551"/>
                  </a:moveTo>
                  <a:cubicBezTo>
                    <a:pt x="87" y="574"/>
                    <a:pt x="174" y="597"/>
                    <a:pt x="272" y="506"/>
                  </a:cubicBezTo>
                  <a:cubicBezTo>
                    <a:pt x="370" y="415"/>
                    <a:pt x="454" y="14"/>
                    <a:pt x="590" y="7"/>
                  </a:cubicBezTo>
                  <a:cubicBezTo>
                    <a:pt x="726" y="0"/>
                    <a:pt x="945" y="370"/>
                    <a:pt x="1089" y="461"/>
                  </a:cubicBezTo>
                  <a:cubicBezTo>
                    <a:pt x="1233" y="552"/>
                    <a:pt x="1392" y="536"/>
                    <a:pt x="1452" y="551"/>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grpSp>
          <p:nvGrpSpPr>
            <p:cNvPr id="24" name="Group 9">
              <a:extLst>
                <a:ext uri="{FF2B5EF4-FFF2-40B4-BE49-F238E27FC236}">
                  <a16:creationId xmlns:a16="http://schemas.microsoft.com/office/drawing/2014/main" id="{556C892D-6308-4E60-AC9E-5DA014A74013}"/>
                </a:ext>
              </a:extLst>
            </p:cNvPr>
            <p:cNvGrpSpPr>
              <a:grpSpLocks/>
            </p:cNvGrpSpPr>
            <p:nvPr/>
          </p:nvGrpSpPr>
          <p:grpSpPr bwMode="auto">
            <a:xfrm>
              <a:off x="1066" y="3203"/>
              <a:ext cx="1451" cy="545"/>
              <a:chOff x="1066" y="3203"/>
              <a:chExt cx="1451" cy="545"/>
            </a:xfrm>
          </p:grpSpPr>
          <p:sp>
            <p:nvSpPr>
              <p:cNvPr id="25" name="Line 7">
                <a:extLst>
                  <a:ext uri="{FF2B5EF4-FFF2-40B4-BE49-F238E27FC236}">
                    <a16:creationId xmlns:a16="http://schemas.microsoft.com/office/drawing/2014/main" id="{6205E339-32CF-48B0-B159-B585A626DCA6}"/>
                  </a:ext>
                </a:extLst>
              </p:cNvPr>
              <p:cNvSpPr>
                <a:spLocks noChangeShapeType="1"/>
              </p:cNvSpPr>
              <p:nvPr/>
            </p:nvSpPr>
            <p:spPr bwMode="auto">
              <a:xfrm>
                <a:off x="1066" y="3203"/>
                <a:ext cx="0" cy="5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26" name="Line 8">
                <a:extLst>
                  <a:ext uri="{FF2B5EF4-FFF2-40B4-BE49-F238E27FC236}">
                    <a16:creationId xmlns:a16="http://schemas.microsoft.com/office/drawing/2014/main" id="{3A869399-BC55-4BAC-BF6A-9D1F05355B04}"/>
                  </a:ext>
                </a:extLst>
              </p:cNvPr>
              <p:cNvSpPr>
                <a:spLocks noChangeShapeType="1"/>
              </p:cNvSpPr>
              <p:nvPr/>
            </p:nvSpPr>
            <p:spPr bwMode="auto">
              <a:xfrm>
                <a:off x="1066" y="3748"/>
                <a:ext cx="145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grpSp>
      </p:grpSp>
      <p:grpSp>
        <p:nvGrpSpPr>
          <p:cNvPr id="27" name="Group 13">
            <a:extLst>
              <a:ext uri="{FF2B5EF4-FFF2-40B4-BE49-F238E27FC236}">
                <a16:creationId xmlns:a16="http://schemas.microsoft.com/office/drawing/2014/main" id="{27A64CAF-7E87-4DB8-BB61-9018A693EA3C}"/>
              </a:ext>
            </a:extLst>
          </p:cNvPr>
          <p:cNvGrpSpPr>
            <a:grpSpLocks/>
          </p:cNvGrpSpPr>
          <p:nvPr/>
        </p:nvGrpSpPr>
        <p:grpSpPr bwMode="auto">
          <a:xfrm>
            <a:off x="7090072" y="4752490"/>
            <a:ext cx="2303463" cy="962025"/>
            <a:chOff x="3107" y="3188"/>
            <a:chExt cx="1451" cy="606"/>
          </a:xfrm>
        </p:grpSpPr>
        <p:sp>
          <p:nvSpPr>
            <p:cNvPr id="28" name="Freeform 6">
              <a:extLst>
                <a:ext uri="{FF2B5EF4-FFF2-40B4-BE49-F238E27FC236}">
                  <a16:creationId xmlns:a16="http://schemas.microsoft.com/office/drawing/2014/main" id="{BD2EDDCB-FC43-4379-9A46-068E56FF1180}"/>
                </a:ext>
              </a:extLst>
            </p:cNvPr>
            <p:cNvSpPr>
              <a:spLocks/>
            </p:cNvSpPr>
            <p:nvPr/>
          </p:nvSpPr>
          <p:spPr bwMode="auto">
            <a:xfrm>
              <a:off x="3107" y="3188"/>
              <a:ext cx="1361" cy="605"/>
            </a:xfrm>
            <a:custGeom>
              <a:avLst/>
              <a:gdLst>
                <a:gd name="T0" fmla="*/ 0 w 1361"/>
                <a:gd name="T1" fmla="*/ 560 h 605"/>
                <a:gd name="T2" fmla="*/ 136 w 1361"/>
                <a:gd name="T3" fmla="*/ 514 h 605"/>
                <a:gd name="T4" fmla="*/ 272 w 1361"/>
                <a:gd name="T5" fmla="*/ 15 h 605"/>
                <a:gd name="T6" fmla="*/ 453 w 1361"/>
                <a:gd name="T7" fmla="*/ 424 h 605"/>
                <a:gd name="T8" fmla="*/ 1361 w 1361"/>
                <a:gd name="T9" fmla="*/ 560 h 605"/>
              </a:gdLst>
              <a:ahLst/>
              <a:cxnLst>
                <a:cxn ang="0">
                  <a:pos x="T0" y="T1"/>
                </a:cxn>
                <a:cxn ang="0">
                  <a:pos x="T2" y="T3"/>
                </a:cxn>
                <a:cxn ang="0">
                  <a:pos x="T4" y="T5"/>
                </a:cxn>
                <a:cxn ang="0">
                  <a:pos x="T6" y="T7"/>
                </a:cxn>
                <a:cxn ang="0">
                  <a:pos x="T8" y="T9"/>
                </a:cxn>
              </a:cxnLst>
              <a:rect l="0" t="0" r="r" b="b"/>
              <a:pathLst>
                <a:path w="1361" h="605">
                  <a:moveTo>
                    <a:pt x="0" y="560"/>
                  </a:moveTo>
                  <a:cubicBezTo>
                    <a:pt x="45" y="582"/>
                    <a:pt x="91" y="605"/>
                    <a:pt x="136" y="514"/>
                  </a:cubicBezTo>
                  <a:cubicBezTo>
                    <a:pt x="181" y="423"/>
                    <a:pt x="219" y="30"/>
                    <a:pt x="272" y="15"/>
                  </a:cubicBezTo>
                  <a:cubicBezTo>
                    <a:pt x="325" y="0"/>
                    <a:pt x="271" y="333"/>
                    <a:pt x="453" y="424"/>
                  </a:cubicBezTo>
                  <a:cubicBezTo>
                    <a:pt x="635" y="515"/>
                    <a:pt x="1210" y="537"/>
                    <a:pt x="1361" y="56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grpSp>
          <p:nvGrpSpPr>
            <p:cNvPr id="29" name="Group 10">
              <a:extLst>
                <a:ext uri="{FF2B5EF4-FFF2-40B4-BE49-F238E27FC236}">
                  <a16:creationId xmlns:a16="http://schemas.microsoft.com/office/drawing/2014/main" id="{43E0A6AF-E4B4-4D1F-A442-11C62E1B4886}"/>
                </a:ext>
              </a:extLst>
            </p:cNvPr>
            <p:cNvGrpSpPr>
              <a:grpSpLocks/>
            </p:cNvGrpSpPr>
            <p:nvPr/>
          </p:nvGrpSpPr>
          <p:grpSpPr bwMode="auto">
            <a:xfrm>
              <a:off x="3107" y="3249"/>
              <a:ext cx="1451" cy="545"/>
              <a:chOff x="1066" y="3203"/>
              <a:chExt cx="1451" cy="545"/>
            </a:xfrm>
          </p:grpSpPr>
          <p:sp>
            <p:nvSpPr>
              <p:cNvPr id="30" name="Line 11">
                <a:extLst>
                  <a:ext uri="{FF2B5EF4-FFF2-40B4-BE49-F238E27FC236}">
                    <a16:creationId xmlns:a16="http://schemas.microsoft.com/office/drawing/2014/main" id="{D2E919C8-FBFF-4AE1-BB70-D312F9925180}"/>
                  </a:ext>
                </a:extLst>
              </p:cNvPr>
              <p:cNvSpPr>
                <a:spLocks noChangeShapeType="1"/>
              </p:cNvSpPr>
              <p:nvPr/>
            </p:nvSpPr>
            <p:spPr bwMode="auto">
              <a:xfrm>
                <a:off x="1066" y="3203"/>
                <a:ext cx="0" cy="54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sp>
            <p:nvSpPr>
              <p:cNvPr id="31" name="Line 12">
                <a:extLst>
                  <a:ext uri="{FF2B5EF4-FFF2-40B4-BE49-F238E27FC236}">
                    <a16:creationId xmlns:a16="http://schemas.microsoft.com/office/drawing/2014/main" id="{FD0AA45F-BE2D-4738-B457-857C7AC1E2B3}"/>
                  </a:ext>
                </a:extLst>
              </p:cNvPr>
              <p:cNvSpPr>
                <a:spLocks noChangeShapeType="1"/>
              </p:cNvSpPr>
              <p:nvPr/>
            </p:nvSpPr>
            <p:spPr bwMode="auto">
              <a:xfrm>
                <a:off x="1066" y="3748"/>
                <a:ext cx="145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s-MX"/>
              </a:p>
            </p:txBody>
          </p:sp>
        </p:gr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11" name="Rectangle 1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442" name="Rectangle 2">
            <a:extLst>
              <a:ext uri="{FF2B5EF4-FFF2-40B4-BE49-F238E27FC236}">
                <a16:creationId xmlns:a16="http://schemas.microsoft.com/office/drawing/2014/main" id="{F81D650F-570C-4145-ADDD-7A20022BDEAA}"/>
              </a:ext>
            </a:extLst>
          </p:cNvPr>
          <p:cNvSpPr>
            <a:spLocks noGrp="1" noChangeArrowheads="1"/>
          </p:cNvSpPr>
          <p:nvPr>
            <p:ph type="title"/>
          </p:nvPr>
        </p:nvSpPr>
        <p:spPr>
          <a:xfrm>
            <a:off x="1383564" y="348865"/>
            <a:ext cx="9718111" cy="1576446"/>
          </a:xfrm>
        </p:spPr>
        <p:txBody>
          <a:bodyPr anchor="ctr">
            <a:normAutofit/>
          </a:bodyPr>
          <a:lstStyle/>
          <a:p>
            <a:r>
              <a:rPr lang="en-US" altLang="es-MX" sz="4000">
                <a:solidFill>
                  <a:srgbClr val="FFFFFF"/>
                </a:solidFill>
              </a:rPr>
              <a:t>Visual Displays of Bivariate Data</a:t>
            </a:r>
          </a:p>
        </p:txBody>
      </p:sp>
      <p:graphicFrame>
        <p:nvGraphicFramePr>
          <p:cNvPr id="61482" name="Group 42">
            <a:extLst>
              <a:ext uri="{FF2B5EF4-FFF2-40B4-BE49-F238E27FC236}">
                <a16:creationId xmlns:a16="http://schemas.microsoft.com/office/drawing/2014/main" id="{CCDC5706-E773-4465-AAEC-643F9F570EF8}"/>
              </a:ext>
            </a:extLst>
          </p:cNvPr>
          <p:cNvGraphicFramePr>
            <a:graphicFrameLocks noGrp="1"/>
          </p:cNvGraphicFramePr>
          <p:nvPr>
            <p:ph idx="1"/>
            <p:extLst>
              <p:ext uri="{D42A27DB-BD31-4B8C-83A1-F6EECF244321}">
                <p14:modId xmlns:p14="http://schemas.microsoft.com/office/powerpoint/2010/main" val="4190565435"/>
              </p:ext>
            </p:extLst>
          </p:nvPr>
        </p:nvGraphicFramePr>
        <p:xfrm>
          <a:off x="1696943" y="2851337"/>
          <a:ext cx="8822057" cy="3218688"/>
        </p:xfrm>
        <a:graphic>
          <a:graphicData uri="http://schemas.openxmlformats.org/drawingml/2006/table">
            <a:tbl>
              <a:tblPr firstRow="1" bandRow="1"/>
              <a:tblGrid>
                <a:gridCol w="2537801">
                  <a:extLst>
                    <a:ext uri="{9D8B030D-6E8A-4147-A177-3AD203B41FA5}">
                      <a16:colId xmlns:a16="http://schemas.microsoft.com/office/drawing/2014/main" val="75510644"/>
                    </a:ext>
                  </a:extLst>
                </a:gridCol>
                <a:gridCol w="2537801">
                  <a:extLst>
                    <a:ext uri="{9D8B030D-6E8A-4147-A177-3AD203B41FA5}">
                      <a16:colId xmlns:a16="http://schemas.microsoft.com/office/drawing/2014/main" val="71379872"/>
                    </a:ext>
                  </a:extLst>
                </a:gridCol>
                <a:gridCol w="3746455">
                  <a:extLst>
                    <a:ext uri="{9D8B030D-6E8A-4147-A177-3AD203B41FA5}">
                      <a16:colId xmlns:a16="http://schemas.microsoft.com/office/drawing/2014/main" val="2247659531"/>
                    </a:ext>
                  </a:extLst>
                </a:gridCol>
              </a:tblGrid>
              <a:tr h="653796">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3300" b="1" i="0" u="none" strike="noStrike" cap="none" normalizeH="0" baseline="0">
                          <a:ln>
                            <a:noFill/>
                          </a:ln>
                          <a:solidFill>
                            <a:schemeClr val="tx1"/>
                          </a:solidFill>
                          <a:effectLst/>
                          <a:latin typeface="Arial" panose="020B0604020202020204" pitchFamily="34" charset="0"/>
                        </a:rPr>
                        <a:t>Variable 1</a:t>
                      </a:r>
                    </a:p>
                  </a:txBody>
                  <a:tcPr marL="107769" marR="107769" marT="53884" marB="538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3300" b="1" i="0" u="none" strike="noStrike" cap="none" normalizeH="0" baseline="0">
                          <a:ln>
                            <a:noFill/>
                          </a:ln>
                          <a:solidFill>
                            <a:schemeClr val="tx1"/>
                          </a:solidFill>
                          <a:effectLst/>
                          <a:latin typeface="Arial" panose="020B0604020202020204" pitchFamily="34" charset="0"/>
                        </a:rPr>
                        <a:t>Variable 2</a:t>
                      </a:r>
                    </a:p>
                  </a:txBody>
                  <a:tcPr marL="107769" marR="107769" marT="53884" marB="538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3300" b="1" i="0" u="none" strike="noStrike" cap="none" normalizeH="0" baseline="0">
                          <a:ln>
                            <a:noFill/>
                          </a:ln>
                          <a:solidFill>
                            <a:schemeClr val="tx1"/>
                          </a:solidFill>
                          <a:effectLst/>
                          <a:latin typeface="Arial" panose="020B0604020202020204" pitchFamily="34" charset="0"/>
                        </a:rPr>
                        <a:t>Display Example</a:t>
                      </a:r>
                    </a:p>
                  </a:txBody>
                  <a:tcPr marL="107769" marR="107769" marT="53884" marB="538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97361490"/>
                  </a:ext>
                </a:extLst>
              </a:tr>
              <a:tr h="1257300">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3300" b="0" i="0" u="none" strike="noStrike" cap="none" normalizeH="0" baseline="0">
                          <a:ln>
                            <a:noFill/>
                          </a:ln>
                          <a:solidFill>
                            <a:schemeClr val="tx1"/>
                          </a:solidFill>
                          <a:effectLst/>
                          <a:latin typeface="Arial" panose="020B0604020202020204" pitchFamily="34" charset="0"/>
                        </a:rPr>
                        <a:t>Categorical</a:t>
                      </a:r>
                    </a:p>
                  </a:txBody>
                  <a:tcPr marL="107769" marR="107769" marT="53884" marB="538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3300" b="0" i="0" u="none" strike="noStrike" cap="none" normalizeH="0" baseline="0">
                          <a:ln>
                            <a:noFill/>
                          </a:ln>
                          <a:solidFill>
                            <a:schemeClr val="tx1"/>
                          </a:solidFill>
                          <a:effectLst/>
                          <a:latin typeface="Arial" panose="020B0604020202020204" pitchFamily="34" charset="0"/>
                        </a:rPr>
                        <a:t>Categorical</a:t>
                      </a:r>
                    </a:p>
                  </a:txBody>
                  <a:tcPr marL="107769" marR="107769" marT="53884" marB="538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3300" b="0" i="0" u="none" strike="noStrike" cap="none" normalizeH="0" baseline="0">
                          <a:ln>
                            <a:noFill/>
                          </a:ln>
                          <a:solidFill>
                            <a:schemeClr val="tx1"/>
                          </a:solidFill>
                          <a:effectLst/>
                          <a:latin typeface="Arial" panose="020B0604020202020204" pitchFamily="34" charset="0"/>
                        </a:rPr>
                        <a:t>Crosstabs</a:t>
                      </a:r>
                    </a:p>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endParaRPr kumimoji="0" lang="en-US" altLang="es-MX" sz="3300" b="0" i="0" u="none" strike="noStrike" cap="none" normalizeH="0" baseline="0">
                        <a:ln>
                          <a:noFill/>
                        </a:ln>
                        <a:solidFill>
                          <a:schemeClr val="tx1"/>
                        </a:solidFill>
                        <a:effectLst/>
                        <a:latin typeface="Arial" panose="020B0604020202020204" pitchFamily="34" charset="0"/>
                      </a:endParaRPr>
                    </a:p>
                  </a:txBody>
                  <a:tcPr marL="107769" marR="107769" marT="53884" marB="538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4863702"/>
                  </a:ext>
                </a:extLst>
              </a:tr>
              <a:tr h="653796">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3300" b="0" i="0" u="none" strike="noStrike" cap="none" normalizeH="0" baseline="0">
                          <a:ln>
                            <a:noFill/>
                          </a:ln>
                          <a:solidFill>
                            <a:schemeClr val="tx1"/>
                          </a:solidFill>
                          <a:effectLst/>
                          <a:latin typeface="Arial" panose="020B0604020202020204" pitchFamily="34" charset="0"/>
                        </a:rPr>
                        <a:t>Categorical</a:t>
                      </a:r>
                    </a:p>
                  </a:txBody>
                  <a:tcPr marL="107769" marR="107769" marT="53884" marB="538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3300" b="0" i="0" u="none" strike="noStrike" cap="none" normalizeH="0" baseline="0">
                          <a:ln>
                            <a:noFill/>
                          </a:ln>
                          <a:solidFill>
                            <a:schemeClr val="tx1"/>
                          </a:solidFill>
                          <a:effectLst/>
                          <a:latin typeface="Arial" panose="020B0604020202020204" pitchFamily="34" charset="0"/>
                        </a:rPr>
                        <a:t>Continuous</a:t>
                      </a:r>
                    </a:p>
                  </a:txBody>
                  <a:tcPr marL="107769" marR="107769" marT="53884" marB="538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3300" b="0" i="0" u="none" strike="noStrike" cap="none" normalizeH="0" baseline="0">
                          <a:ln>
                            <a:noFill/>
                          </a:ln>
                          <a:solidFill>
                            <a:schemeClr val="tx1"/>
                          </a:solidFill>
                          <a:effectLst/>
                          <a:latin typeface="Arial" panose="020B0604020202020204" pitchFamily="34" charset="0"/>
                        </a:rPr>
                        <a:t>Box plots</a:t>
                      </a:r>
                    </a:p>
                  </a:txBody>
                  <a:tcPr marL="107769" marR="107769" marT="53884" marB="538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70791627"/>
                  </a:ext>
                </a:extLst>
              </a:tr>
              <a:tr h="653796">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3300" b="0" i="0" u="none" strike="noStrike" cap="none" normalizeH="0" baseline="0">
                          <a:ln>
                            <a:noFill/>
                          </a:ln>
                          <a:solidFill>
                            <a:schemeClr val="tx1"/>
                          </a:solidFill>
                          <a:effectLst/>
                          <a:latin typeface="Arial" panose="020B0604020202020204" pitchFamily="34" charset="0"/>
                        </a:rPr>
                        <a:t>Continuous</a:t>
                      </a:r>
                    </a:p>
                  </a:txBody>
                  <a:tcPr marL="107769" marR="107769" marT="53884" marB="53884"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3300" b="0" i="0" u="none" strike="noStrike" cap="none" normalizeH="0" baseline="0">
                          <a:ln>
                            <a:noFill/>
                          </a:ln>
                          <a:solidFill>
                            <a:schemeClr val="tx1"/>
                          </a:solidFill>
                          <a:effectLst/>
                          <a:latin typeface="Arial" panose="020B0604020202020204" pitchFamily="34" charset="0"/>
                        </a:rPr>
                        <a:t>Continuous</a:t>
                      </a:r>
                    </a:p>
                  </a:txBody>
                  <a:tcPr marL="107769" marR="107769" marT="53884" marB="5388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buSzPct val="115000"/>
                        <a:buFont typeface="Wingdings" panose="05000000000000000000" pitchFamily="2" charset="2"/>
                        <a:defRPr sz="2800">
                          <a:solidFill>
                            <a:schemeClr val="tx1"/>
                          </a:solidFill>
                          <a:effectLst>
                            <a:outerShdw blurRad="38100" dist="38100" dir="2700000" algn="tl">
                              <a:srgbClr val="000000"/>
                            </a:outerShdw>
                          </a:effectLst>
                          <a:latin typeface="Arial" panose="020B0604020202020204" pitchFamily="34" charset="0"/>
                        </a:defRPr>
                      </a:lvl1pPr>
                      <a:lvl2pPr>
                        <a:spcBef>
                          <a:spcPct val="20000"/>
                        </a:spcBef>
                        <a:buFont typeface="Wingdings" panose="05000000000000000000" pitchFamily="2" charset="2"/>
                        <a:defRPr sz="2400">
                          <a:solidFill>
                            <a:schemeClr val="tx1"/>
                          </a:solidFill>
                          <a:effectLst>
                            <a:outerShdw blurRad="38100" dist="38100" dir="2700000" algn="tl">
                              <a:srgbClr val="000000"/>
                            </a:outerShdw>
                          </a:effectLst>
                          <a:latin typeface="Arial" panose="020B0604020202020204" pitchFamily="34" charset="0"/>
                        </a:defRPr>
                      </a:lvl2pPr>
                      <a:lvl3pPr>
                        <a:spcBef>
                          <a:spcPct val="20000"/>
                        </a:spcBef>
                        <a:buClr>
                          <a:schemeClr val="tx2"/>
                        </a:buClr>
                        <a:buSzPct val="115000"/>
                        <a:buFont typeface="Wingdings" panose="05000000000000000000" pitchFamily="2" charset="2"/>
                        <a:defRPr sz="2000">
                          <a:solidFill>
                            <a:schemeClr val="tx1"/>
                          </a:solidFill>
                          <a:effectLst>
                            <a:outerShdw blurRad="38100" dist="38100" dir="2700000" algn="tl">
                              <a:srgbClr val="000000"/>
                            </a:outerShdw>
                          </a:effectLst>
                          <a:latin typeface="Arial" panose="020B0604020202020204" pitchFamily="34" charset="0"/>
                        </a:defRPr>
                      </a:lvl3pPr>
                      <a:lvl4pPr>
                        <a:spcBef>
                          <a:spcPct val="20000"/>
                        </a:spcBef>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4pPr>
                      <a:lvl5pPr>
                        <a:spcBef>
                          <a:spcPct val="20000"/>
                        </a:spcBef>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5pPr>
                      <a:lvl6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6pPr>
                      <a:lvl7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7pPr>
                      <a:lvl8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8pPr>
                      <a:lvl9pPr fontAlgn="base">
                        <a:spcBef>
                          <a:spcPct val="20000"/>
                        </a:spcBef>
                        <a:spcAft>
                          <a:spcPct val="0"/>
                        </a:spcAft>
                        <a:buClr>
                          <a:schemeClr val="tx2"/>
                        </a:buClr>
                        <a:buSzPct val="115000"/>
                        <a:buFont typeface="Wingdings" panose="05000000000000000000" pitchFamily="2" charset="2"/>
                        <a:defRPr>
                          <a:solidFill>
                            <a:schemeClr val="tx1"/>
                          </a:solidFill>
                          <a:effectLst>
                            <a:outerShdw blurRad="38100" dist="38100" dir="2700000" algn="tl">
                              <a:srgbClr val="000000"/>
                            </a:outerShdw>
                          </a:effectLst>
                          <a:latin typeface="Arial" panose="020B0604020202020204" pitchFamily="34" charset="0"/>
                        </a:defRPr>
                      </a:lvl9pPr>
                    </a:lstStyle>
                    <a:p>
                      <a:pPr marL="0" marR="0" lvl="0" indent="0" algn="l" defTabSz="914400" rtl="0" eaLnBrk="1" fontAlgn="base" latinLnBrk="0" hangingPunct="1">
                        <a:lnSpc>
                          <a:spcPct val="100000"/>
                        </a:lnSpc>
                        <a:spcBef>
                          <a:spcPct val="20000"/>
                        </a:spcBef>
                        <a:spcAft>
                          <a:spcPct val="0"/>
                        </a:spcAft>
                        <a:buClr>
                          <a:schemeClr val="tx2"/>
                        </a:buClr>
                        <a:buSzPct val="115000"/>
                        <a:buFont typeface="Wingdings" panose="05000000000000000000" pitchFamily="2" charset="2"/>
                        <a:buNone/>
                        <a:tabLst/>
                      </a:pPr>
                      <a:r>
                        <a:rPr kumimoji="0" lang="en-US" altLang="es-MX" sz="3300" b="0" i="0" u="none" strike="noStrike" cap="none" normalizeH="0" baseline="0">
                          <a:ln>
                            <a:noFill/>
                          </a:ln>
                          <a:solidFill>
                            <a:schemeClr val="tx1"/>
                          </a:solidFill>
                          <a:effectLst/>
                          <a:latin typeface="Arial" panose="020B0604020202020204" pitchFamily="34" charset="0"/>
                        </a:rPr>
                        <a:t>Scatter plots</a:t>
                      </a:r>
                    </a:p>
                  </a:txBody>
                  <a:tcPr marL="107769" marR="107769" marT="53884" marB="53884"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96213556"/>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754" name="Rectangle 2">
            <a:extLst>
              <a:ext uri="{FF2B5EF4-FFF2-40B4-BE49-F238E27FC236}">
                <a16:creationId xmlns:a16="http://schemas.microsoft.com/office/drawing/2014/main" id="{AB3CB287-9115-4C42-A114-86110E056DF5}"/>
              </a:ext>
            </a:extLst>
          </p:cNvPr>
          <p:cNvSpPr>
            <a:spLocks noGrp="1" noChangeArrowheads="1"/>
          </p:cNvSpPr>
          <p:nvPr>
            <p:ph type="title"/>
          </p:nvPr>
        </p:nvSpPr>
        <p:spPr>
          <a:xfrm>
            <a:off x="1371597" y="348865"/>
            <a:ext cx="10044023" cy="877729"/>
          </a:xfrm>
        </p:spPr>
        <p:txBody>
          <a:bodyPr anchor="ctr">
            <a:normAutofit/>
          </a:bodyPr>
          <a:lstStyle/>
          <a:p>
            <a:r>
              <a:rPr lang="en-US" altLang="es-MX" sz="4000">
                <a:solidFill>
                  <a:srgbClr val="FFFFFF"/>
                </a:solidFill>
              </a:rPr>
              <a:t>Scales of Graphs</a:t>
            </a:r>
          </a:p>
        </p:txBody>
      </p:sp>
      <p:graphicFrame>
        <p:nvGraphicFramePr>
          <p:cNvPr id="74757" name="Rectangle 3">
            <a:extLst>
              <a:ext uri="{FF2B5EF4-FFF2-40B4-BE49-F238E27FC236}">
                <a16:creationId xmlns:a16="http://schemas.microsoft.com/office/drawing/2014/main" id="{25C318EE-B92D-4F65-A271-BAAA8DE1D22E}"/>
              </a:ext>
            </a:extLst>
          </p:cNvPr>
          <p:cNvGraphicFramePr>
            <a:graphicFrameLocks noGrp="1"/>
          </p:cNvGraphicFramePr>
          <p:nvPr>
            <p:ph idx="1"/>
            <p:extLst>
              <p:ext uri="{D42A27DB-BD31-4B8C-83A1-F6EECF244321}">
                <p14:modId xmlns:p14="http://schemas.microsoft.com/office/powerpoint/2010/main" val="159838675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D97CEC4-6167-4AA3-B1C3-B14B85DC265F}"/>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Steps in Data Exploration and Processing</a:t>
            </a:r>
          </a:p>
        </p:txBody>
      </p:sp>
      <p:sp>
        <p:nvSpPr>
          <p:cNvPr id="3" name="Marcador de contenido 2">
            <a:extLst>
              <a:ext uri="{FF2B5EF4-FFF2-40B4-BE49-F238E27FC236}">
                <a16:creationId xmlns:a16="http://schemas.microsoft.com/office/drawing/2014/main" id="{805782FF-9B71-44C7-B034-860E434E84AE}"/>
              </a:ext>
            </a:extLst>
          </p:cNvPr>
          <p:cNvSpPr>
            <a:spLocks noGrp="1"/>
          </p:cNvSpPr>
          <p:nvPr>
            <p:ph idx="1"/>
          </p:nvPr>
        </p:nvSpPr>
        <p:spPr>
          <a:xfrm>
            <a:off x="1371599" y="2318197"/>
            <a:ext cx="9724031" cy="3683358"/>
          </a:xfrm>
        </p:spPr>
        <p:txBody>
          <a:bodyPr anchor="ctr">
            <a:normAutofit/>
          </a:bodyPr>
          <a:lstStyle/>
          <a:p>
            <a:pPr marL="514350" indent="-514350">
              <a:buFont typeface="+mj-lt"/>
              <a:buAutoNum type="arabicPeriod"/>
            </a:pPr>
            <a:r>
              <a:rPr lang="es-MX" sz="1700"/>
              <a:t>Identification of variables and data types</a:t>
            </a:r>
          </a:p>
          <a:p>
            <a:pPr marL="514350" indent="-514350">
              <a:buFont typeface="+mj-lt"/>
              <a:buAutoNum type="arabicPeriod"/>
            </a:pPr>
            <a:r>
              <a:rPr lang="es-MX" sz="1700"/>
              <a:t>Analyzing the basic metrics</a:t>
            </a:r>
          </a:p>
          <a:p>
            <a:pPr marL="514350" indent="-514350">
              <a:buFont typeface="+mj-lt"/>
              <a:buAutoNum type="arabicPeriod"/>
            </a:pPr>
            <a:r>
              <a:rPr lang="es-MX" sz="1700"/>
              <a:t>Non-Graphical Univariate Analysis</a:t>
            </a:r>
          </a:p>
          <a:p>
            <a:pPr marL="514350" indent="-514350">
              <a:buFont typeface="+mj-lt"/>
              <a:buAutoNum type="arabicPeriod"/>
            </a:pPr>
            <a:r>
              <a:rPr lang="es-MX" sz="1700"/>
              <a:t>Graphical Univariate Analysis</a:t>
            </a:r>
          </a:p>
          <a:p>
            <a:pPr marL="514350" indent="-514350">
              <a:buFont typeface="+mj-lt"/>
              <a:buAutoNum type="arabicPeriod"/>
            </a:pPr>
            <a:r>
              <a:rPr lang="es-MX" sz="1700"/>
              <a:t>Bivariate Analysis</a:t>
            </a:r>
          </a:p>
          <a:p>
            <a:pPr marL="514350" indent="-514350">
              <a:buFont typeface="+mj-lt"/>
              <a:buAutoNum type="arabicPeriod"/>
            </a:pPr>
            <a:r>
              <a:rPr lang="es-MX" sz="1700"/>
              <a:t>Variable transformations</a:t>
            </a:r>
          </a:p>
          <a:p>
            <a:pPr marL="514350" indent="-514350">
              <a:buFont typeface="+mj-lt"/>
              <a:buAutoNum type="arabicPeriod"/>
            </a:pPr>
            <a:r>
              <a:rPr lang="es-MX" sz="1700"/>
              <a:t>Missing value treatment</a:t>
            </a:r>
          </a:p>
          <a:p>
            <a:pPr marL="514350" indent="-514350">
              <a:buFont typeface="+mj-lt"/>
              <a:buAutoNum type="arabicPeriod"/>
            </a:pPr>
            <a:r>
              <a:rPr lang="es-MX" sz="1700"/>
              <a:t>Outlier treatment</a:t>
            </a:r>
          </a:p>
          <a:p>
            <a:pPr marL="514350" indent="-514350">
              <a:buFont typeface="+mj-lt"/>
              <a:buAutoNum type="arabicPeriod"/>
            </a:pPr>
            <a:r>
              <a:rPr lang="es-MX" sz="1700"/>
              <a:t>Correlation Analysis</a:t>
            </a:r>
          </a:p>
          <a:p>
            <a:pPr marL="514350" indent="-514350">
              <a:buFont typeface="+mj-lt"/>
              <a:buAutoNum type="arabicPeriod"/>
            </a:pPr>
            <a:r>
              <a:rPr lang="es-MX" sz="1700"/>
              <a:t>Dimensionality Reduction</a:t>
            </a:r>
          </a:p>
        </p:txBody>
      </p:sp>
    </p:spTree>
    <p:extLst>
      <p:ext uri="{BB962C8B-B14F-4D97-AF65-F5344CB8AC3E}">
        <p14:creationId xmlns:p14="http://schemas.microsoft.com/office/powerpoint/2010/main" val="12879129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426" name="Rectangle 2">
            <a:extLst>
              <a:ext uri="{FF2B5EF4-FFF2-40B4-BE49-F238E27FC236}">
                <a16:creationId xmlns:a16="http://schemas.microsoft.com/office/drawing/2014/main" id="{5B6655BA-9228-49A2-9868-C641289B53B9}"/>
              </a:ext>
            </a:extLst>
          </p:cNvPr>
          <p:cNvSpPr>
            <a:spLocks noGrp="1" noChangeArrowheads="1"/>
          </p:cNvSpPr>
          <p:nvPr>
            <p:ph type="title"/>
          </p:nvPr>
        </p:nvSpPr>
        <p:spPr>
          <a:xfrm>
            <a:off x="1371597" y="348865"/>
            <a:ext cx="10044023" cy="877729"/>
          </a:xfrm>
        </p:spPr>
        <p:txBody>
          <a:bodyPr anchor="ctr">
            <a:normAutofit/>
          </a:bodyPr>
          <a:lstStyle/>
          <a:p>
            <a:r>
              <a:rPr lang="en-US" altLang="es-MX" sz="4000">
                <a:solidFill>
                  <a:srgbClr val="FFFFFF"/>
                </a:solidFill>
              </a:rPr>
              <a:t>Summary</a:t>
            </a:r>
          </a:p>
        </p:txBody>
      </p:sp>
      <p:graphicFrame>
        <p:nvGraphicFramePr>
          <p:cNvPr id="103429" name="Rectangle 3">
            <a:extLst>
              <a:ext uri="{FF2B5EF4-FFF2-40B4-BE49-F238E27FC236}">
                <a16:creationId xmlns:a16="http://schemas.microsoft.com/office/drawing/2014/main" id="{005CA11D-D935-4155-96B2-8FB205F1C056}"/>
              </a:ext>
            </a:extLst>
          </p:cNvPr>
          <p:cNvGraphicFramePr/>
          <p:nvPr>
            <p:extLst>
              <p:ext uri="{D42A27DB-BD31-4B8C-83A1-F6EECF244321}">
                <p14:modId xmlns:p14="http://schemas.microsoft.com/office/powerpoint/2010/main" val="412000074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9EA3481-5AA1-405F-83D9-30EB83696A9E}"/>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Trabajo con datos</a:t>
            </a:r>
          </a:p>
        </p:txBody>
      </p:sp>
      <p:pic>
        <p:nvPicPr>
          <p:cNvPr id="5" name="Marcador de contenido 4" descr="Imagen de la pantalla de un video juego&#10;&#10;Descripción generada automáticamente con confianza baja">
            <a:extLst>
              <a:ext uri="{FF2B5EF4-FFF2-40B4-BE49-F238E27FC236}">
                <a16:creationId xmlns:a16="http://schemas.microsoft.com/office/drawing/2014/main" id="{FA903669-E009-4C84-9440-C4F3602AA0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16013" y="467208"/>
            <a:ext cx="3598577" cy="5923584"/>
          </a:xfrm>
          <a:prstGeom prst="rect">
            <a:avLst/>
          </a:prstGeom>
        </p:spPr>
      </p:pic>
    </p:spTree>
    <p:extLst>
      <p:ext uri="{BB962C8B-B14F-4D97-AF65-F5344CB8AC3E}">
        <p14:creationId xmlns:p14="http://schemas.microsoft.com/office/powerpoint/2010/main" val="6048489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43708854-7743-42E2-BEDB-346F22E5460A}"/>
              </a:ext>
            </a:extLst>
          </p:cNvPr>
          <p:cNvSpPr>
            <a:spLocks noGrp="1"/>
          </p:cNvSpPr>
          <p:nvPr>
            <p:ph type="title"/>
          </p:nvPr>
        </p:nvSpPr>
        <p:spPr>
          <a:xfrm>
            <a:off x="1371599" y="294538"/>
            <a:ext cx="9895951" cy="1033669"/>
          </a:xfrm>
        </p:spPr>
        <p:txBody>
          <a:bodyPr>
            <a:normAutofit/>
          </a:bodyPr>
          <a:lstStyle/>
          <a:p>
            <a:r>
              <a:rPr lang="es-MX" sz="4000">
                <a:solidFill>
                  <a:srgbClr val="FFFFFF"/>
                </a:solidFill>
              </a:rPr>
              <a:t>Introducción</a:t>
            </a:r>
          </a:p>
        </p:txBody>
      </p:sp>
      <p:sp>
        <p:nvSpPr>
          <p:cNvPr id="28" name="Marcador de contenido 27">
            <a:extLst>
              <a:ext uri="{FF2B5EF4-FFF2-40B4-BE49-F238E27FC236}">
                <a16:creationId xmlns:a16="http://schemas.microsoft.com/office/drawing/2014/main" id="{2B0B40DB-6B1E-4847-894C-9CEDC7AE9202}"/>
              </a:ext>
            </a:extLst>
          </p:cNvPr>
          <p:cNvSpPr>
            <a:spLocks noGrp="1"/>
          </p:cNvSpPr>
          <p:nvPr>
            <p:ph idx="1"/>
          </p:nvPr>
        </p:nvSpPr>
        <p:spPr/>
        <p:txBody>
          <a:bodyPr/>
          <a:lstStyle/>
          <a:p>
            <a:endParaRPr lang="es-MX"/>
          </a:p>
        </p:txBody>
      </p:sp>
      <p:grpSp>
        <p:nvGrpSpPr>
          <p:cNvPr id="34" name="Grupo 33">
            <a:extLst>
              <a:ext uri="{FF2B5EF4-FFF2-40B4-BE49-F238E27FC236}">
                <a16:creationId xmlns:a16="http://schemas.microsoft.com/office/drawing/2014/main" id="{E9120E71-1DF9-432D-8BD6-52A18F11D26A}"/>
              </a:ext>
            </a:extLst>
          </p:cNvPr>
          <p:cNvGrpSpPr/>
          <p:nvPr/>
        </p:nvGrpSpPr>
        <p:grpSpPr>
          <a:xfrm>
            <a:off x="2102702" y="2282280"/>
            <a:ext cx="7619999" cy="3200400"/>
            <a:chOff x="2276873" y="2060848"/>
            <a:chExt cx="7619999" cy="3200400"/>
          </a:xfrm>
        </p:grpSpPr>
        <p:sp>
          <p:nvSpPr>
            <p:cNvPr id="36" name="Text Box 7">
              <a:extLst>
                <a:ext uri="{FF2B5EF4-FFF2-40B4-BE49-F238E27FC236}">
                  <a16:creationId xmlns:a16="http://schemas.microsoft.com/office/drawing/2014/main" id="{7F8D9B46-77D0-49FC-89CD-0C4AE4E9406A}"/>
                </a:ext>
              </a:extLst>
            </p:cNvPr>
            <p:cNvSpPr txBox="1">
              <a:spLocks noChangeArrowheads="1"/>
            </p:cNvSpPr>
            <p:nvPr/>
          </p:nvSpPr>
          <p:spPr bwMode="auto">
            <a:xfrm>
              <a:off x="2276873" y="4501450"/>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s-MX" altLang="es-MX" sz="2000" b="1" i="0" u="none" strike="noStrike" kern="1200" cap="none" spc="0" normalizeH="0" baseline="0" noProof="0" dirty="0">
                  <a:ln>
                    <a:noFill/>
                  </a:ln>
                  <a:solidFill>
                    <a:prstClr val="black"/>
                  </a:solidFill>
                  <a:effectLst/>
                  <a:uLnTx/>
                  <a:uFillTx/>
                  <a:latin typeface="Calibri Light" panose="020F0302020204030204"/>
                  <a:ea typeface="+mn-ea"/>
                  <a:cs typeface="+mn-cs"/>
                </a:rPr>
                <a:t>Dato</a:t>
              </a:r>
              <a:endParaRPr kumimoji="0" lang="es-ES" altLang="es-MX" sz="2000" b="1"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38" name="Text Box 8">
              <a:extLst>
                <a:ext uri="{FF2B5EF4-FFF2-40B4-BE49-F238E27FC236}">
                  <a16:creationId xmlns:a16="http://schemas.microsoft.com/office/drawing/2014/main" id="{27979C2D-AD54-4221-884B-EA1FC3D64152}"/>
                </a:ext>
              </a:extLst>
            </p:cNvPr>
            <p:cNvSpPr txBox="1">
              <a:spLocks noChangeArrowheads="1"/>
            </p:cNvSpPr>
            <p:nvPr/>
          </p:nvSpPr>
          <p:spPr bwMode="auto">
            <a:xfrm>
              <a:off x="5096272" y="4534975"/>
              <a:ext cx="14478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s-MX" altLang="es-MX" sz="2000" b="1" i="0" u="none" strike="noStrike" kern="1200" cap="none" spc="0" normalizeH="0" baseline="0" noProof="0" dirty="0">
                  <a:ln>
                    <a:noFill/>
                  </a:ln>
                  <a:solidFill>
                    <a:prstClr val="black"/>
                  </a:solidFill>
                  <a:effectLst/>
                  <a:uLnTx/>
                  <a:uFillTx/>
                  <a:latin typeface="Calibri Light" panose="020F0302020204030204"/>
                  <a:ea typeface="+mn-ea"/>
                  <a:cs typeface="+mn-cs"/>
                </a:rPr>
                <a:t>Información</a:t>
              </a:r>
              <a:endParaRPr kumimoji="0" lang="es-ES" altLang="es-MX" sz="2000" b="1"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40" name="Text Box 9">
              <a:extLst>
                <a:ext uri="{FF2B5EF4-FFF2-40B4-BE49-F238E27FC236}">
                  <a16:creationId xmlns:a16="http://schemas.microsoft.com/office/drawing/2014/main" id="{A9C2FE2C-85F9-47AA-A406-6EC925CA493D}"/>
                </a:ext>
              </a:extLst>
            </p:cNvPr>
            <p:cNvSpPr txBox="1">
              <a:spLocks noChangeArrowheads="1"/>
            </p:cNvSpPr>
            <p:nvPr/>
          </p:nvSpPr>
          <p:spPr bwMode="auto">
            <a:xfrm>
              <a:off x="8601473" y="4534967"/>
              <a:ext cx="1295399"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s-MX" altLang="es-MX" sz="2000" b="1" i="0" u="none" strike="noStrike" kern="1200" cap="none" spc="0" normalizeH="0" baseline="0" noProof="0" dirty="0">
                  <a:ln>
                    <a:noFill/>
                  </a:ln>
                  <a:solidFill>
                    <a:prstClr val="black"/>
                  </a:solidFill>
                  <a:effectLst/>
                  <a:uLnTx/>
                  <a:uFillTx/>
                  <a:latin typeface="Calibri Light" panose="020F0302020204030204"/>
                  <a:ea typeface="+mn-ea"/>
                  <a:cs typeface="+mn-cs"/>
                </a:rPr>
                <a:t>Resultados</a:t>
              </a:r>
              <a:endParaRPr kumimoji="0" lang="es-ES" altLang="es-MX" sz="2000" b="1"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41" name="Rectangle 10">
              <a:extLst>
                <a:ext uri="{FF2B5EF4-FFF2-40B4-BE49-F238E27FC236}">
                  <a16:creationId xmlns:a16="http://schemas.microsoft.com/office/drawing/2014/main" id="{B8CD953E-169F-41B4-96D7-D1A2C1AE0CA8}"/>
                </a:ext>
              </a:extLst>
            </p:cNvPr>
            <p:cNvSpPr>
              <a:spLocks noChangeArrowheads="1"/>
            </p:cNvSpPr>
            <p:nvPr/>
          </p:nvSpPr>
          <p:spPr bwMode="auto">
            <a:xfrm>
              <a:off x="3496072" y="4346848"/>
              <a:ext cx="12192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MX" altLang="es-MX" sz="1800" b="0" i="0" u="none" strike="noStrike" kern="1200" cap="none" spc="0" normalizeH="0" baseline="0" noProof="0">
                  <a:ln>
                    <a:noFill/>
                  </a:ln>
                  <a:solidFill>
                    <a:prstClr val="white"/>
                  </a:solidFill>
                  <a:effectLst/>
                  <a:uLnTx/>
                  <a:uFillTx/>
                  <a:latin typeface="Calibri Light" panose="020F0302020204030204"/>
                  <a:ea typeface="+mn-ea"/>
                  <a:cs typeface="+mn-cs"/>
                </a:rPr>
                <a:t>Formato</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MX" altLang="es-MX" sz="1800" b="0" i="0" u="none" strike="noStrike" kern="1200" cap="none" spc="0" normalizeH="0" baseline="0" noProof="0">
                  <a:ln>
                    <a:noFill/>
                  </a:ln>
                  <a:solidFill>
                    <a:prstClr val="white"/>
                  </a:solidFill>
                  <a:effectLst/>
                  <a:uLnTx/>
                  <a:uFillTx/>
                  <a:latin typeface="Calibri Light" panose="020F0302020204030204"/>
                  <a:ea typeface="+mn-ea"/>
                  <a:cs typeface="+mn-cs"/>
                </a:rPr>
                <a:t>Filtro</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MX" altLang="es-MX" sz="1800" b="0" i="0" u="none" strike="noStrike" kern="1200" cap="none" spc="0" normalizeH="0" baseline="0" noProof="0">
                  <a:ln>
                    <a:noFill/>
                  </a:ln>
                  <a:solidFill>
                    <a:prstClr val="white"/>
                  </a:solidFill>
                  <a:effectLst/>
                  <a:uLnTx/>
                  <a:uFillTx/>
                  <a:latin typeface="Calibri Light" panose="020F0302020204030204"/>
                  <a:ea typeface="+mn-ea"/>
                  <a:cs typeface="+mn-cs"/>
                </a:rPr>
                <a:t>Resumen</a:t>
              </a:r>
              <a:endParaRPr kumimoji="0" lang="es-ES" alt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42" name="Rectangle 11">
              <a:extLst>
                <a:ext uri="{FF2B5EF4-FFF2-40B4-BE49-F238E27FC236}">
                  <a16:creationId xmlns:a16="http://schemas.microsoft.com/office/drawing/2014/main" id="{8092D88C-BA3B-4EDC-B287-58D639CFEDF7}"/>
                </a:ext>
              </a:extLst>
            </p:cNvPr>
            <p:cNvSpPr>
              <a:spLocks noChangeArrowheads="1"/>
            </p:cNvSpPr>
            <p:nvPr/>
          </p:nvSpPr>
          <p:spPr bwMode="auto">
            <a:xfrm>
              <a:off x="7077472" y="4346848"/>
              <a:ext cx="12192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MX" altLang="es-MX" sz="1800" b="0" i="0" u="none" strike="noStrike" kern="1200" cap="none" spc="0" normalizeH="0" baseline="0" noProof="0">
                  <a:ln>
                    <a:noFill/>
                  </a:ln>
                  <a:solidFill>
                    <a:prstClr val="white"/>
                  </a:solidFill>
                  <a:effectLst/>
                  <a:uLnTx/>
                  <a:uFillTx/>
                  <a:latin typeface="Calibri Light" panose="020F0302020204030204"/>
                  <a:ea typeface="+mn-ea"/>
                  <a:cs typeface="+mn-cs"/>
                </a:rPr>
                <a:t>Interpreta</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MX" altLang="es-MX" sz="1800" b="0" i="0" u="none" strike="noStrike" kern="1200" cap="none" spc="0" normalizeH="0" baseline="0" noProof="0">
                  <a:ln>
                    <a:noFill/>
                  </a:ln>
                  <a:solidFill>
                    <a:prstClr val="white"/>
                  </a:solidFill>
                  <a:effectLst/>
                  <a:uLnTx/>
                  <a:uFillTx/>
                  <a:latin typeface="Calibri Light" panose="020F0302020204030204"/>
                  <a:ea typeface="+mn-ea"/>
                  <a:cs typeface="+mn-cs"/>
                </a:rPr>
                <a:t>Decide</a:t>
              </a:r>
              <a:endParaRPr kumimoji="0" lang="es-ES" altLang="es-MX" sz="180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43" name="Rectangle 12">
              <a:extLst>
                <a:ext uri="{FF2B5EF4-FFF2-40B4-BE49-F238E27FC236}">
                  <a16:creationId xmlns:a16="http://schemas.microsoft.com/office/drawing/2014/main" id="{88E5A607-570A-4EE8-8F6F-218A818EDE6A}"/>
                </a:ext>
              </a:extLst>
            </p:cNvPr>
            <p:cNvSpPr>
              <a:spLocks noChangeArrowheads="1"/>
            </p:cNvSpPr>
            <p:nvPr/>
          </p:nvSpPr>
          <p:spPr bwMode="auto">
            <a:xfrm>
              <a:off x="4943872" y="2060848"/>
              <a:ext cx="17526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MX" altLang="es-MX" sz="1800" b="0" i="0" u="none" strike="noStrike" kern="1200" cap="none" spc="0" normalizeH="0" baseline="0" noProof="0" dirty="0">
                  <a:ln>
                    <a:noFill/>
                  </a:ln>
                  <a:solidFill>
                    <a:prstClr val="white"/>
                  </a:solidFill>
                  <a:effectLst/>
                  <a:uLnTx/>
                  <a:uFillTx/>
                  <a:latin typeface="Calibri Light" panose="020F0302020204030204"/>
                  <a:ea typeface="+mn-ea"/>
                  <a:cs typeface="+mn-cs"/>
                </a:rPr>
                <a:t>Acumulación</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MX" altLang="es-MX" sz="1800" b="0" i="0" u="none" strike="noStrike" kern="1200" cap="none" spc="0" normalizeH="0" baseline="0" noProof="0" dirty="0">
                  <a:ln>
                    <a:noFill/>
                  </a:ln>
                  <a:solidFill>
                    <a:prstClr val="white"/>
                  </a:solidFill>
                  <a:effectLst/>
                  <a:uLnTx/>
                  <a:uFillTx/>
                  <a:latin typeface="Calibri Light" panose="020F0302020204030204"/>
                  <a:ea typeface="+mn-ea"/>
                  <a:cs typeface="+mn-cs"/>
                </a:rPr>
                <a:t>de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s-MX" altLang="es-MX" sz="1800" b="0" i="0" u="none" strike="noStrike" kern="1200" cap="none" spc="0" normalizeH="0" baseline="0" noProof="0" dirty="0">
                  <a:ln>
                    <a:noFill/>
                  </a:ln>
                  <a:solidFill>
                    <a:prstClr val="white"/>
                  </a:solidFill>
                  <a:effectLst/>
                  <a:uLnTx/>
                  <a:uFillTx/>
                  <a:latin typeface="Calibri Light" panose="020F0302020204030204"/>
                  <a:ea typeface="+mn-ea"/>
                  <a:cs typeface="+mn-cs"/>
                </a:rPr>
                <a:t>experiencia</a:t>
              </a:r>
              <a:endParaRPr kumimoji="0" lang="es-ES" altLang="es-MX" sz="1800" b="0" i="0" u="none" strike="noStrike" kern="1200" cap="none" spc="0" normalizeH="0" baseline="0" noProof="0" dirty="0">
                <a:ln>
                  <a:noFill/>
                </a:ln>
                <a:solidFill>
                  <a:prstClr val="white"/>
                </a:solidFill>
                <a:effectLst/>
                <a:uLnTx/>
                <a:uFillTx/>
                <a:latin typeface="Calibri Light" panose="020F0302020204030204"/>
                <a:ea typeface="+mn-ea"/>
                <a:cs typeface="+mn-cs"/>
              </a:endParaRPr>
            </a:p>
          </p:txBody>
        </p:sp>
        <p:sp>
          <p:nvSpPr>
            <p:cNvPr id="44" name="Text Box 13">
              <a:extLst>
                <a:ext uri="{FF2B5EF4-FFF2-40B4-BE49-F238E27FC236}">
                  <a16:creationId xmlns:a16="http://schemas.microsoft.com/office/drawing/2014/main" id="{11151CE6-1870-4B16-B38C-6CCB04101425}"/>
                </a:ext>
              </a:extLst>
            </p:cNvPr>
            <p:cNvSpPr txBox="1">
              <a:spLocks noChangeArrowheads="1"/>
            </p:cNvSpPr>
            <p:nvPr/>
          </p:nvSpPr>
          <p:spPr bwMode="auto">
            <a:xfrm>
              <a:off x="4943872" y="3356248"/>
              <a:ext cx="1600196"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s-MX" altLang="es-MX" sz="2000" b="1" i="0" u="none" strike="noStrike" kern="1200" cap="none" spc="0" normalizeH="0" baseline="0" noProof="0" dirty="0">
                  <a:ln>
                    <a:noFill/>
                  </a:ln>
                  <a:solidFill>
                    <a:prstClr val="black"/>
                  </a:solidFill>
                  <a:effectLst/>
                  <a:uLnTx/>
                  <a:uFillTx/>
                  <a:latin typeface="Calibri Light" panose="020F0302020204030204"/>
                  <a:ea typeface="+mn-ea"/>
                  <a:cs typeface="+mn-cs"/>
                </a:rPr>
                <a:t>Conocimiento</a:t>
              </a:r>
              <a:endParaRPr kumimoji="0" lang="es-ES" altLang="es-MX" sz="2000" b="1" i="0" u="none" strike="noStrike" kern="1200" cap="none" spc="0" normalizeH="0" baseline="0" noProof="0" dirty="0">
                <a:ln>
                  <a:noFill/>
                </a:ln>
                <a:solidFill>
                  <a:prstClr val="black"/>
                </a:solidFill>
                <a:effectLst/>
                <a:uLnTx/>
                <a:uFillTx/>
                <a:latin typeface="Calibri Light" panose="020F0302020204030204"/>
                <a:ea typeface="+mn-ea"/>
                <a:cs typeface="+mn-cs"/>
              </a:endParaRPr>
            </a:p>
          </p:txBody>
        </p:sp>
        <p:sp>
          <p:nvSpPr>
            <p:cNvPr id="45" name="Line 14">
              <a:extLst>
                <a:ext uri="{FF2B5EF4-FFF2-40B4-BE49-F238E27FC236}">
                  <a16:creationId xmlns:a16="http://schemas.microsoft.com/office/drawing/2014/main" id="{579E1C40-8CAD-4B21-80BD-49F967FA0B0F}"/>
                </a:ext>
              </a:extLst>
            </p:cNvPr>
            <p:cNvSpPr>
              <a:spLocks noChangeShapeType="1"/>
            </p:cNvSpPr>
            <p:nvPr/>
          </p:nvSpPr>
          <p:spPr bwMode="auto">
            <a:xfrm>
              <a:off x="2962672" y="4727848"/>
              <a:ext cx="457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MX" sz="24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46" name="Line 15">
              <a:extLst>
                <a:ext uri="{FF2B5EF4-FFF2-40B4-BE49-F238E27FC236}">
                  <a16:creationId xmlns:a16="http://schemas.microsoft.com/office/drawing/2014/main" id="{1A98EEF7-831A-4080-96AF-5AC4B4E62B5C}"/>
                </a:ext>
              </a:extLst>
            </p:cNvPr>
            <p:cNvSpPr>
              <a:spLocks noChangeShapeType="1"/>
            </p:cNvSpPr>
            <p:nvPr/>
          </p:nvSpPr>
          <p:spPr bwMode="auto">
            <a:xfrm>
              <a:off x="4715272" y="4727848"/>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MX" sz="24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47" name="Line 16">
              <a:extLst>
                <a:ext uri="{FF2B5EF4-FFF2-40B4-BE49-F238E27FC236}">
                  <a16:creationId xmlns:a16="http://schemas.microsoft.com/office/drawing/2014/main" id="{5A53C3D2-4C28-4758-9E28-D68ACC967007}"/>
                </a:ext>
              </a:extLst>
            </p:cNvPr>
            <p:cNvSpPr>
              <a:spLocks noChangeShapeType="1"/>
            </p:cNvSpPr>
            <p:nvPr/>
          </p:nvSpPr>
          <p:spPr bwMode="auto">
            <a:xfrm flipV="1">
              <a:off x="6544072" y="4727848"/>
              <a:ext cx="533400" cy="718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MX" sz="24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48" name="Line 17">
              <a:extLst>
                <a:ext uri="{FF2B5EF4-FFF2-40B4-BE49-F238E27FC236}">
                  <a16:creationId xmlns:a16="http://schemas.microsoft.com/office/drawing/2014/main" id="{6081DCA9-3F8B-429A-8E66-D181E4E167DA}"/>
                </a:ext>
              </a:extLst>
            </p:cNvPr>
            <p:cNvSpPr>
              <a:spLocks noChangeShapeType="1"/>
            </p:cNvSpPr>
            <p:nvPr/>
          </p:nvSpPr>
          <p:spPr bwMode="auto">
            <a:xfrm>
              <a:off x="8296672" y="4727848"/>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MX" sz="24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49" name="Line 18">
              <a:extLst>
                <a:ext uri="{FF2B5EF4-FFF2-40B4-BE49-F238E27FC236}">
                  <a16:creationId xmlns:a16="http://schemas.microsoft.com/office/drawing/2014/main" id="{AB0AA0BF-0CDC-432F-8465-5336C17024AE}"/>
                </a:ext>
              </a:extLst>
            </p:cNvPr>
            <p:cNvSpPr>
              <a:spLocks noChangeShapeType="1"/>
            </p:cNvSpPr>
            <p:nvPr/>
          </p:nvSpPr>
          <p:spPr bwMode="auto">
            <a:xfrm flipV="1">
              <a:off x="9211072" y="2518048"/>
              <a:ext cx="0" cy="2057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MX" sz="24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50" name="Line 19">
              <a:extLst>
                <a:ext uri="{FF2B5EF4-FFF2-40B4-BE49-F238E27FC236}">
                  <a16:creationId xmlns:a16="http://schemas.microsoft.com/office/drawing/2014/main" id="{DDFA4C36-6A09-4EE9-80A0-8CEE6BF93884}"/>
                </a:ext>
              </a:extLst>
            </p:cNvPr>
            <p:cNvSpPr>
              <a:spLocks noChangeShapeType="1"/>
            </p:cNvSpPr>
            <p:nvPr/>
          </p:nvSpPr>
          <p:spPr bwMode="auto">
            <a:xfrm flipH="1">
              <a:off x="6696472" y="2518048"/>
              <a:ext cx="2514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MX" sz="24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51" name="Line 20">
              <a:extLst>
                <a:ext uri="{FF2B5EF4-FFF2-40B4-BE49-F238E27FC236}">
                  <a16:creationId xmlns:a16="http://schemas.microsoft.com/office/drawing/2014/main" id="{2AB7AE78-6204-473A-A70A-DC58A9D0BA96}"/>
                </a:ext>
              </a:extLst>
            </p:cNvPr>
            <p:cNvSpPr>
              <a:spLocks noChangeShapeType="1"/>
            </p:cNvSpPr>
            <p:nvPr/>
          </p:nvSpPr>
          <p:spPr bwMode="auto">
            <a:xfrm>
              <a:off x="5705872" y="2975248"/>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MX" sz="24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52" name="Line 21">
              <a:extLst>
                <a:ext uri="{FF2B5EF4-FFF2-40B4-BE49-F238E27FC236}">
                  <a16:creationId xmlns:a16="http://schemas.microsoft.com/office/drawing/2014/main" id="{7838AB58-9934-41D2-9B62-B02C3089B936}"/>
                </a:ext>
              </a:extLst>
            </p:cNvPr>
            <p:cNvSpPr>
              <a:spLocks noChangeShapeType="1"/>
            </p:cNvSpPr>
            <p:nvPr/>
          </p:nvSpPr>
          <p:spPr bwMode="auto">
            <a:xfrm flipH="1">
              <a:off x="4105672" y="3584848"/>
              <a:ext cx="914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MX" sz="24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53" name="Line 22">
              <a:extLst>
                <a:ext uri="{FF2B5EF4-FFF2-40B4-BE49-F238E27FC236}">
                  <a16:creationId xmlns:a16="http://schemas.microsoft.com/office/drawing/2014/main" id="{E3690424-6D1B-43EA-80FA-399F303D1E38}"/>
                </a:ext>
              </a:extLst>
            </p:cNvPr>
            <p:cNvSpPr>
              <a:spLocks noChangeShapeType="1"/>
            </p:cNvSpPr>
            <p:nvPr/>
          </p:nvSpPr>
          <p:spPr bwMode="auto">
            <a:xfrm>
              <a:off x="6544072" y="3584848"/>
              <a:ext cx="1143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MX" sz="24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54" name="Line 23">
              <a:extLst>
                <a:ext uri="{FF2B5EF4-FFF2-40B4-BE49-F238E27FC236}">
                  <a16:creationId xmlns:a16="http://schemas.microsoft.com/office/drawing/2014/main" id="{953D160F-B335-4893-93F3-B6BB2352334F}"/>
                </a:ext>
              </a:extLst>
            </p:cNvPr>
            <p:cNvSpPr>
              <a:spLocks noChangeShapeType="1"/>
            </p:cNvSpPr>
            <p:nvPr/>
          </p:nvSpPr>
          <p:spPr bwMode="auto">
            <a:xfrm>
              <a:off x="4105672" y="3584848"/>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MX" sz="24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sp>
          <p:nvSpPr>
            <p:cNvPr id="55" name="Line 24">
              <a:extLst>
                <a:ext uri="{FF2B5EF4-FFF2-40B4-BE49-F238E27FC236}">
                  <a16:creationId xmlns:a16="http://schemas.microsoft.com/office/drawing/2014/main" id="{B568B879-6851-4ECF-9D0A-8F7C8FD467E3}"/>
                </a:ext>
              </a:extLst>
            </p:cNvPr>
            <p:cNvSpPr>
              <a:spLocks noChangeShapeType="1"/>
            </p:cNvSpPr>
            <p:nvPr/>
          </p:nvSpPr>
          <p:spPr bwMode="auto">
            <a:xfrm>
              <a:off x="7687072" y="3584848"/>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defPPr>
                <a:defRPr lang="en-US"/>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s-MX" sz="2400" b="0" i="0" u="none" strike="noStrike" kern="1200" cap="none" spc="0" normalizeH="0" baseline="0" noProof="0">
                <a:ln>
                  <a:noFill/>
                </a:ln>
                <a:solidFill>
                  <a:prstClr val="black"/>
                </a:solidFill>
                <a:effectLst/>
                <a:uLnTx/>
                <a:uFillTx/>
                <a:latin typeface="Calibri Light" panose="020F0302020204030204"/>
                <a:ea typeface="+mn-ea"/>
                <a:cs typeface="+mn-cs"/>
              </a:endParaRPr>
            </a:p>
          </p:txBody>
        </p:sp>
      </p:grpSp>
    </p:spTree>
    <p:extLst>
      <p:ext uri="{BB962C8B-B14F-4D97-AF65-F5344CB8AC3E}">
        <p14:creationId xmlns:p14="http://schemas.microsoft.com/office/powerpoint/2010/main" val="33457737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9783" name="Rectangle 7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9784" name="Rectangle 7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9785" name="Rectangle 7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59780" name="Rectangle 4">
            <a:extLst>
              <a:ext uri="{FF2B5EF4-FFF2-40B4-BE49-F238E27FC236}">
                <a16:creationId xmlns:a16="http://schemas.microsoft.com/office/drawing/2014/main" id="{F34C641F-700A-4DC4-BC78-6CEA95C5A329}"/>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Why Data Preprocessing?</a:t>
            </a:r>
          </a:p>
        </p:txBody>
      </p:sp>
      <p:sp>
        <p:nvSpPr>
          <p:cNvPr id="459781" name="Rectangle 5">
            <a:extLst>
              <a:ext uri="{FF2B5EF4-FFF2-40B4-BE49-F238E27FC236}">
                <a16:creationId xmlns:a16="http://schemas.microsoft.com/office/drawing/2014/main" id="{744B80CE-9286-41FC-9ABB-966CFD615078}"/>
              </a:ext>
            </a:extLst>
          </p:cNvPr>
          <p:cNvSpPr>
            <a:spLocks noGrp="1" noChangeArrowheads="1"/>
          </p:cNvSpPr>
          <p:nvPr>
            <p:ph idx="1"/>
          </p:nvPr>
        </p:nvSpPr>
        <p:spPr>
          <a:xfrm>
            <a:off x="1371599" y="2318197"/>
            <a:ext cx="9724031" cy="3683358"/>
          </a:xfrm>
        </p:spPr>
        <p:txBody>
          <a:bodyPr anchor="ctr">
            <a:normAutofit/>
          </a:bodyPr>
          <a:lstStyle/>
          <a:p>
            <a:r>
              <a:rPr lang="en-US" altLang="es-MX" sz="2000" dirty="0"/>
              <a:t>Data in the real world is dirty</a:t>
            </a:r>
          </a:p>
          <a:p>
            <a:pPr lvl="1"/>
            <a:r>
              <a:rPr lang="en-US" altLang="es-MX" sz="2000" dirty="0"/>
              <a:t>incomplete: lacking attribute values, lacking certain attributes of interest, or containing only aggregate data</a:t>
            </a:r>
          </a:p>
          <a:p>
            <a:pPr lvl="2"/>
            <a:r>
              <a:rPr lang="en-US" altLang="es-MX" dirty="0"/>
              <a:t>e.g., occupation=“”</a:t>
            </a:r>
          </a:p>
          <a:p>
            <a:pPr lvl="1"/>
            <a:r>
              <a:rPr lang="en-US" altLang="es-MX" sz="2000" dirty="0"/>
              <a:t>noisy: containing errors or outliers</a:t>
            </a:r>
          </a:p>
          <a:p>
            <a:pPr lvl="2"/>
            <a:r>
              <a:rPr lang="en-US" altLang="es-MX" dirty="0"/>
              <a:t>e.g., Salary=“-10”</a:t>
            </a:r>
          </a:p>
          <a:p>
            <a:pPr lvl="1"/>
            <a:r>
              <a:rPr lang="en-US" altLang="es-MX" sz="2000" dirty="0"/>
              <a:t>inconsistent: containing discrepancies in codes or names</a:t>
            </a:r>
          </a:p>
          <a:p>
            <a:pPr lvl="2"/>
            <a:r>
              <a:rPr lang="en-US" altLang="es-MX" dirty="0"/>
              <a:t>e.g., Age=“42” Birthday=“03/07/1997”</a:t>
            </a:r>
          </a:p>
          <a:p>
            <a:pPr lvl="2"/>
            <a:r>
              <a:rPr lang="en-US" altLang="es-MX" dirty="0"/>
              <a:t>e.g., Was rating “1,2,3”, now rating “A, B, C”</a:t>
            </a:r>
          </a:p>
          <a:p>
            <a:pPr lvl="2"/>
            <a:r>
              <a:rPr lang="en-US" altLang="es-MX" dirty="0"/>
              <a:t>e.g., discrepancy between duplicate records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0804" name="Rectangle 4">
            <a:extLst>
              <a:ext uri="{FF2B5EF4-FFF2-40B4-BE49-F238E27FC236}">
                <a16:creationId xmlns:a16="http://schemas.microsoft.com/office/drawing/2014/main" id="{403FC8F1-F241-45AB-B9C5-654BA84F37B9}"/>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Why Is Data Dirty?</a:t>
            </a:r>
          </a:p>
        </p:txBody>
      </p:sp>
      <p:graphicFrame>
        <p:nvGraphicFramePr>
          <p:cNvPr id="7" name="Marcador de contenido 6">
            <a:extLst>
              <a:ext uri="{FF2B5EF4-FFF2-40B4-BE49-F238E27FC236}">
                <a16:creationId xmlns:a16="http://schemas.microsoft.com/office/drawing/2014/main" id="{7CC89A6D-83F0-48C0-BB59-6C933A637DDF}"/>
              </a:ext>
            </a:extLst>
          </p:cNvPr>
          <p:cNvGraphicFramePr>
            <a:graphicFrameLocks noGrp="1"/>
          </p:cNvGraphicFramePr>
          <p:nvPr>
            <p:ph idx="1"/>
          </p:nvPr>
        </p:nvGraphicFramePr>
        <p:xfrm>
          <a:off x="1371599" y="2318197"/>
          <a:ext cx="9724031" cy="3683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1831" name="Rectangle 73">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1828" name="Rectangle 4">
            <a:extLst>
              <a:ext uri="{FF2B5EF4-FFF2-40B4-BE49-F238E27FC236}">
                <a16:creationId xmlns:a16="http://schemas.microsoft.com/office/drawing/2014/main" id="{C4875378-14EB-4518-BBBD-B02CD6C45A5A}"/>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a:t>Why Is Data Preprocessing Important?</a:t>
            </a:r>
          </a:p>
        </p:txBody>
      </p:sp>
      <p:sp>
        <p:nvSpPr>
          <p:cNvPr id="461829" name="Rectangle 5">
            <a:extLst>
              <a:ext uri="{FF2B5EF4-FFF2-40B4-BE49-F238E27FC236}">
                <a16:creationId xmlns:a16="http://schemas.microsoft.com/office/drawing/2014/main" id="{9BF220EC-87B7-4945-83DE-32543417C82A}"/>
              </a:ext>
            </a:extLst>
          </p:cNvPr>
          <p:cNvSpPr>
            <a:spLocks noGrp="1" noChangeArrowheads="1"/>
          </p:cNvSpPr>
          <p:nvPr>
            <p:ph idx="1"/>
          </p:nvPr>
        </p:nvSpPr>
        <p:spPr>
          <a:xfrm>
            <a:off x="4088929" y="962167"/>
            <a:ext cx="6858113" cy="4743174"/>
          </a:xfrm>
        </p:spPr>
        <p:txBody>
          <a:bodyPr anchor="t">
            <a:normAutofit/>
          </a:bodyPr>
          <a:lstStyle/>
          <a:p>
            <a:r>
              <a:rPr lang="en-US" altLang="es-MX" sz="2000"/>
              <a:t>No quality data, no quality mining results!</a:t>
            </a:r>
          </a:p>
          <a:p>
            <a:pPr lvl="1"/>
            <a:r>
              <a:rPr lang="en-US" altLang="es-MX" sz="2000"/>
              <a:t>Quality decisions must be based on quality data</a:t>
            </a:r>
          </a:p>
          <a:p>
            <a:pPr lvl="2"/>
            <a:r>
              <a:rPr lang="en-US" altLang="es-MX"/>
              <a:t>e.g., duplicate or missing data may cause incorrect or even misleading statistics.</a:t>
            </a:r>
          </a:p>
          <a:p>
            <a:pPr lvl="1"/>
            <a:r>
              <a:rPr lang="en-US" altLang="es-MX" sz="2000"/>
              <a:t>Data warehouse needs consistent integration of quality data</a:t>
            </a:r>
          </a:p>
          <a:p>
            <a:r>
              <a:rPr lang="en-US" altLang="es-MX" sz="2000"/>
              <a:t>Data extraction, cleaning, and transformation comprises the majority of the work of building a data warehouse. —Bill Inmon </a:t>
            </a:r>
          </a:p>
        </p:txBody>
      </p:sp>
      <p:sp>
        <p:nvSpPr>
          <p:cNvPr id="461832" name="Rectangle 75">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1833" name="Rectangle 77">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2852" name="Rectangle 4">
            <a:extLst>
              <a:ext uri="{FF2B5EF4-FFF2-40B4-BE49-F238E27FC236}">
                <a16:creationId xmlns:a16="http://schemas.microsoft.com/office/drawing/2014/main" id="{E40A841E-ABB4-4A2A-8A51-04A7ABD1F82D}"/>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a:t>Multi-Dimensional Measure of Data Quality</a:t>
            </a:r>
          </a:p>
        </p:txBody>
      </p:sp>
      <p:sp>
        <p:nvSpPr>
          <p:cNvPr id="462853" name="Rectangle 5">
            <a:extLst>
              <a:ext uri="{FF2B5EF4-FFF2-40B4-BE49-F238E27FC236}">
                <a16:creationId xmlns:a16="http://schemas.microsoft.com/office/drawing/2014/main" id="{E17549EE-A114-4D3C-BACE-3CE7417AF078}"/>
              </a:ext>
            </a:extLst>
          </p:cNvPr>
          <p:cNvSpPr>
            <a:spLocks noGrp="1" noChangeArrowheads="1"/>
          </p:cNvSpPr>
          <p:nvPr>
            <p:ph idx="1"/>
          </p:nvPr>
        </p:nvSpPr>
        <p:spPr>
          <a:xfrm>
            <a:off x="4088929" y="962167"/>
            <a:ext cx="6858113" cy="4743174"/>
          </a:xfrm>
        </p:spPr>
        <p:txBody>
          <a:bodyPr anchor="t">
            <a:normAutofit/>
          </a:bodyPr>
          <a:lstStyle/>
          <a:p>
            <a:r>
              <a:rPr lang="en-US" altLang="es-MX" sz="2000"/>
              <a:t>A well-accepted multidimensional view:</a:t>
            </a:r>
          </a:p>
          <a:p>
            <a:pPr lvl="1"/>
            <a:r>
              <a:rPr lang="en-US" altLang="es-MX" sz="2000"/>
              <a:t>Accuracy</a:t>
            </a:r>
          </a:p>
          <a:p>
            <a:pPr lvl="1"/>
            <a:r>
              <a:rPr lang="en-US" altLang="es-MX" sz="2000"/>
              <a:t>Completeness</a:t>
            </a:r>
          </a:p>
          <a:p>
            <a:pPr lvl="1"/>
            <a:r>
              <a:rPr lang="en-US" altLang="es-MX" sz="2000"/>
              <a:t>Consistency</a:t>
            </a:r>
          </a:p>
          <a:p>
            <a:pPr lvl="1"/>
            <a:r>
              <a:rPr lang="en-US" altLang="es-MX" sz="2000"/>
              <a:t>Timeliness</a:t>
            </a:r>
          </a:p>
          <a:p>
            <a:pPr lvl="1"/>
            <a:r>
              <a:rPr lang="en-US" altLang="es-MX" sz="2000"/>
              <a:t>Believability</a:t>
            </a:r>
          </a:p>
          <a:p>
            <a:pPr lvl="1"/>
            <a:r>
              <a:rPr lang="en-US" altLang="es-MX" sz="2000"/>
              <a:t>Value added</a:t>
            </a:r>
          </a:p>
          <a:p>
            <a:pPr lvl="1"/>
            <a:r>
              <a:rPr lang="en-US" altLang="es-MX" sz="2000"/>
              <a:t>Interpretability</a:t>
            </a:r>
          </a:p>
          <a:p>
            <a:pPr lvl="1"/>
            <a:r>
              <a:rPr lang="en-US" altLang="es-MX" sz="2000"/>
              <a:t>Accessibility</a:t>
            </a:r>
          </a:p>
          <a:p>
            <a:r>
              <a:rPr lang="en-US" altLang="es-MX" sz="2000"/>
              <a:t>Broad categories:</a:t>
            </a:r>
          </a:p>
          <a:p>
            <a:pPr lvl="1"/>
            <a:r>
              <a:rPr lang="en-US" altLang="es-MX" sz="2000"/>
              <a:t>intrinsic, contextual, representational, and accessibility.</a:t>
            </a:r>
          </a:p>
        </p:txBody>
      </p:sp>
      <p:sp>
        <p:nvSpPr>
          <p:cNvPr id="76" name="Rectangle 75">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4903" name="Rectangle 73">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4900" name="Rectangle 4">
            <a:extLst>
              <a:ext uri="{FF2B5EF4-FFF2-40B4-BE49-F238E27FC236}">
                <a16:creationId xmlns:a16="http://schemas.microsoft.com/office/drawing/2014/main" id="{A76F4C0A-2BA0-44CC-988E-AD269E63156B}"/>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a:t>Major Tasks in Data Preprocessing</a:t>
            </a:r>
          </a:p>
        </p:txBody>
      </p:sp>
      <p:sp>
        <p:nvSpPr>
          <p:cNvPr id="464901" name="Rectangle 5">
            <a:extLst>
              <a:ext uri="{FF2B5EF4-FFF2-40B4-BE49-F238E27FC236}">
                <a16:creationId xmlns:a16="http://schemas.microsoft.com/office/drawing/2014/main" id="{0D7F6544-EDE2-426E-8FAE-79E1D4BEACB8}"/>
              </a:ext>
            </a:extLst>
          </p:cNvPr>
          <p:cNvSpPr>
            <a:spLocks noGrp="1" noChangeArrowheads="1"/>
          </p:cNvSpPr>
          <p:nvPr>
            <p:ph idx="1"/>
          </p:nvPr>
        </p:nvSpPr>
        <p:spPr>
          <a:xfrm>
            <a:off x="4088929" y="962167"/>
            <a:ext cx="6858113" cy="4743174"/>
          </a:xfrm>
        </p:spPr>
        <p:txBody>
          <a:bodyPr anchor="t">
            <a:normAutofit/>
          </a:bodyPr>
          <a:lstStyle/>
          <a:p>
            <a:r>
              <a:rPr lang="en-US" altLang="es-MX" sz="2000"/>
              <a:t>Data cleaning</a:t>
            </a:r>
          </a:p>
          <a:p>
            <a:pPr lvl="1"/>
            <a:r>
              <a:rPr lang="en-US" altLang="es-MX" sz="2000"/>
              <a:t>Fill in missing values, smooth noisy data, identify or remove outliers, and resolve inconsistencies</a:t>
            </a:r>
          </a:p>
          <a:p>
            <a:r>
              <a:rPr lang="en-US" altLang="es-MX" sz="2000"/>
              <a:t>Data integration</a:t>
            </a:r>
          </a:p>
          <a:p>
            <a:pPr lvl="1"/>
            <a:r>
              <a:rPr lang="en-US" altLang="es-MX" sz="2000"/>
              <a:t>Integration of multiple databases, data cubes, or files</a:t>
            </a:r>
          </a:p>
          <a:p>
            <a:r>
              <a:rPr lang="en-US" altLang="es-MX" sz="2000"/>
              <a:t>Data transformation</a:t>
            </a:r>
          </a:p>
          <a:p>
            <a:pPr lvl="1"/>
            <a:r>
              <a:rPr lang="en-US" altLang="es-MX" sz="2000"/>
              <a:t>Normalization and aggregation</a:t>
            </a:r>
          </a:p>
          <a:p>
            <a:r>
              <a:rPr lang="en-US" altLang="es-MX" sz="2000"/>
              <a:t>Data reduction</a:t>
            </a:r>
          </a:p>
          <a:p>
            <a:pPr lvl="1"/>
            <a:r>
              <a:rPr lang="en-US" altLang="es-MX" sz="2000"/>
              <a:t>Obtains reduced representation in volume but produces the same or similar analytical results</a:t>
            </a:r>
          </a:p>
          <a:p>
            <a:r>
              <a:rPr lang="en-US" altLang="es-MX" sz="2000"/>
              <a:t>Data discretization</a:t>
            </a:r>
          </a:p>
          <a:p>
            <a:pPr lvl="1"/>
            <a:r>
              <a:rPr lang="en-US" altLang="es-MX" sz="2000"/>
              <a:t>Part of data reduction but with particular importance, especially for numerical data</a:t>
            </a:r>
          </a:p>
        </p:txBody>
      </p:sp>
      <p:sp>
        <p:nvSpPr>
          <p:cNvPr id="464904" name="Rectangle 75">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4905" name="Rectangle 77">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7972" name="Rectangle 4">
            <a:extLst>
              <a:ext uri="{FF2B5EF4-FFF2-40B4-BE49-F238E27FC236}">
                <a16:creationId xmlns:a16="http://schemas.microsoft.com/office/drawing/2014/main" id="{DE7999E1-F54B-4039-BA23-5C48AFF9B668}"/>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a:t>Data Cleaning</a:t>
            </a:r>
          </a:p>
        </p:txBody>
      </p:sp>
      <p:sp>
        <p:nvSpPr>
          <p:cNvPr id="467973" name="Rectangle 5">
            <a:extLst>
              <a:ext uri="{FF2B5EF4-FFF2-40B4-BE49-F238E27FC236}">
                <a16:creationId xmlns:a16="http://schemas.microsoft.com/office/drawing/2014/main" id="{8EA80EBB-1265-4109-926F-373B2047E7F7}"/>
              </a:ext>
            </a:extLst>
          </p:cNvPr>
          <p:cNvSpPr>
            <a:spLocks noGrp="1" noChangeArrowheads="1"/>
          </p:cNvSpPr>
          <p:nvPr>
            <p:ph idx="1"/>
          </p:nvPr>
        </p:nvSpPr>
        <p:spPr>
          <a:xfrm>
            <a:off x="4088929" y="962167"/>
            <a:ext cx="6858113" cy="4743174"/>
          </a:xfrm>
        </p:spPr>
        <p:txBody>
          <a:bodyPr anchor="t">
            <a:normAutofit/>
          </a:bodyPr>
          <a:lstStyle/>
          <a:p>
            <a:r>
              <a:rPr lang="en-US" altLang="es-MX" sz="2000"/>
              <a:t>Importance</a:t>
            </a:r>
          </a:p>
          <a:p>
            <a:pPr lvl="1"/>
            <a:r>
              <a:rPr lang="en-US" altLang="es-MX" sz="2000"/>
              <a:t>“Data cleaning is one of the three biggest problems in data warehousing”—Ralph Kimball</a:t>
            </a:r>
          </a:p>
          <a:p>
            <a:pPr lvl="1"/>
            <a:r>
              <a:rPr lang="en-US" altLang="es-MX" sz="2000"/>
              <a:t>“Data cleaning is the number one problem in data warehousing”—DCI survey</a:t>
            </a:r>
          </a:p>
          <a:p>
            <a:r>
              <a:rPr lang="en-US" altLang="es-MX" sz="2000"/>
              <a:t>Data cleaning tasks</a:t>
            </a:r>
          </a:p>
          <a:p>
            <a:pPr lvl="1"/>
            <a:r>
              <a:rPr lang="en-US" altLang="es-MX" sz="2000"/>
              <a:t>Fill in missing values</a:t>
            </a:r>
          </a:p>
          <a:p>
            <a:pPr lvl="1"/>
            <a:r>
              <a:rPr lang="en-US" altLang="es-MX" sz="2000"/>
              <a:t>Identify outliers and smooth out noisy data </a:t>
            </a:r>
          </a:p>
          <a:p>
            <a:pPr lvl="1"/>
            <a:r>
              <a:rPr lang="en-US" altLang="es-MX" sz="2000"/>
              <a:t>Correct inconsistent data</a:t>
            </a:r>
          </a:p>
          <a:p>
            <a:pPr lvl="1"/>
            <a:r>
              <a:rPr lang="en-US" altLang="es-MX" sz="2000"/>
              <a:t>Resolve redundancy caused by data integration</a:t>
            </a:r>
          </a:p>
        </p:txBody>
      </p:sp>
      <p:sp>
        <p:nvSpPr>
          <p:cNvPr id="76" name="Rectangle 75">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8996" name="Rectangle 4">
            <a:extLst>
              <a:ext uri="{FF2B5EF4-FFF2-40B4-BE49-F238E27FC236}">
                <a16:creationId xmlns:a16="http://schemas.microsoft.com/office/drawing/2014/main" id="{569E6F1E-1E95-434B-91FA-C2C9A2C32B1B}"/>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Missing Data</a:t>
            </a:r>
          </a:p>
        </p:txBody>
      </p:sp>
      <p:sp>
        <p:nvSpPr>
          <p:cNvPr id="468997" name="Rectangle 5">
            <a:extLst>
              <a:ext uri="{FF2B5EF4-FFF2-40B4-BE49-F238E27FC236}">
                <a16:creationId xmlns:a16="http://schemas.microsoft.com/office/drawing/2014/main" id="{63B4C67C-62B3-47F2-AD78-2A826B50D04B}"/>
              </a:ext>
            </a:extLst>
          </p:cNvPr>
          <p:cNvSpPr>
            <a:spLocks noGrp="1" noChangeArrowheads="1"/>
          </p:cNvSpPr>
          <p:nvPr>
            <p:ph idx="1"/>
          </p:nvPr>
        </p:nvSpPr>
        <p:spPr>
          <a:xfrm>
            <a:off x="1371599" y="2318197"/>
            <a:ext cx="9724031" cy="3683358"/>
          </a:xfrm>
        </p:spPr>
        <p:txBody>
          <a:bodyPr anchor="ctr">
            <a:normAutofit/>
          </a:bodyPr>
          <a:lstStyle/>
          <a:p>
            <a:r>
              <a:rPr lang="en-US" altLang="es-MX" sz="2000"/>
              <a:t>Data is not always available</a:t>
            </a:r>
          </a:p>
          <a:p>
            <a:pPr lvl="1"/>
            <a:r>
              <a:rPr lang="en-US" altLang="es-MX" sz="2000"/>
              <a:t>E.g., many tuples have no recorded value for several attributes, such as customer income in sales data</a:t>
            </a:r>
          </a:p>
          <a:p>
            <a:r>
              <a:rPr lang="en-US" altLang="es-MX" sz="2000"/>
              <a:t>Missing data may be due to </a:t>
            </a:r>
          </a:p>
          <a:p>
            <a:pPr lvl="1"/>
            <a:r>
              <a:rPr lang="en-US" altLang="es-MX" sz="2000"/>
              <a:t>equipment malfunction</a:t>
            </a:r>
          </a:p>
          <a:p>
            <a:pPr lvl="1"/>
            <a:r>
              <a:rPr lang="en-US" altLang="es-MX" sz="2000"/>
              <a:t>inconsistent with other recorded data and thus deleted</a:t>
            </a:r>
          </a:p>
          <a:p>
            <a:pPr lvl="1"/>
            <a:r>
              <a:rPr lang="en-US" altLang="es-MX" sz="2000"/>
              <a:t>data not entered due to misunderstanding</a:t>
            </a:r>
          </a:p>
          <a:p>
            <a:pPr lvl="1"/>
            <a:r>
              <a:rPr lang="en-US" altLang="es-MX" sz="2000"/>
              <a:t>certain data may not be considered important at the time of entry</a:t>
            </a:r>
          </a:p>
          <a:p>
            <a:pPr lvl="1"/>
            <a:r>
              <a:rPr lang="en-US" altLang="es-MX" sz="2000"/>
              <a:t>not register history or changes of the data</a:t>
            </a:r>
          </a:p>
          <a:p>
            <a:r>
              <a:rPr lang="en-US" altLang="es-MX" sz="2000"/>
              <a:t>Missing data may need to be inferred.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0020" name="Rectangle 4">
            <a:extLst>
              <a:ext uri="{FF2B5EF4-FFF2-40B4-BE49-F238E27FC236}">
                <a16:creationId xmlns:a16="http://schemas.microsoft.com/office/drawing/2014/main" id="{F7A1D194-1538-4876-8251-2A366E917CA9}"/>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How to Handle Missing Data?</a:t>
            </a:r>
          </a:p>
        </p:txBody>
      </p:sp>
      <p:sp>
        <p:nvSpPr>
          <p:cNvPr id="470021" name="Rectangle 5">
            <a:extLst>
              <a:ext uri="{FF2B5EF4-FFF2-40B4-BE49-F238E27FC236}">
                <a16:creationId xmlns:a16="http://schemas.microsoft.com/office/drawing/2014/main" id="{0246B3F7-E918-4350-8A0A-0C9D919F3C08}"/>
              </a:ext>
            </a:extLst>
          </p:cNvPr>
          <p:cNvSpPr>
            <a:spLocks noGrp="1" noChangeArrowheads="1"/>
          </p:cNvSpPr>
          <p:nvPr>
            <p:ph idx="1"/>
          </p:nvPr>
        </p:nvSpPr>
        <p:spPr>
          <a:xfrm>
            <a:off x="1371599" y="2318197"/>
            <a:ext cx="9724031" cy="3683358"/>
          </a:xfrm>
        </p:spPr>
        <p:txBody>
          <a:bodyPr anchor="ctr">
            <a:normAutofit/>
          </a:bodyPr>
          <a:lstStyle/>
          <a:p>
            <a:r>
              <a:rPr lang="en-US" altLang="es-MX" sz="2000"/>
              <a:t>Ignore the tuple: usually done when class label is missing (assuming the tasks in classification—not effective when the percentage of missing values per attribute varies considerably.</a:t>
            </a:r>
          </a:p>
          <a:p>
            <a:r>
              <a:rPr lang="en-US" altLang="es-MX" sz="2000"/>
              <a:t>Fill in the missing value manually: tedious + infeasible?</a:t>
            </a:r>
          </a:p>
          <a:p>
            <a:r>
              <a:rPr lang="en-US" altLang="es-MX" sz="2000"/>
              <a:t>Fill in it automatically with</a:t>
            </a:r>
          </a:p>
          <a:p>
            <a:pPr lvl="1"/>
            <a:r>
              <a:rPr lang="en-US" altLang="es-MX" sz="2000"/>
              <a:t>a global constant : e.g., “unknown”, a new class?! </a:t>
            </a:r>
          </a:p>
          <a:p>
            <a:pPr lvl="1"/>
            <a:r>
              <a:rPr lang="en-US" altLang="es-MX" sz="2000"/>
              <a:t>the attribute mean</a:t>
            </a:r>
          </a:p>
          <a:p>
            <a:pPr lvl="1"/>
            <a:r>
              <a:rPr lang="en-US" altLang="es-MX" sz="2000"/>
              <a:t>the attribute mean for all samples belonging to the same class: smarter</a:t>
            </a:r>
          </a:p>
          <a:p>
            <a:pPr lvl="1"/>
            <a:r>
              <a:rPr lang="en-US" altLang="es-MX" sz="2000"/>
              <a:t>the most probable value: inference-based such as Bayesian formula or decision tree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6434" name="Rectangle 2">
            <a:extLst>
              <a:ext uri="{FF2B5EF4-FFF2-40B4-BE49-F238E27FC236}">
                <a16:creationId xmlns:a16="http://schemas.microsoft.com/office/drawing/2014/main" id="{B7CC9F62-91DC-4FE2-A3DE-D0F460361938}"/>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What is Data?</a:t>
            </a:r>
          </a:p>
        </p:txBody>
      </p:sp>
      <p:sp>
        <p:nvSpPr>
          <p:cNvPr id="786435" name="Rectangle 3">
            <a:extLst>
              <a:ext uri="{FF2B5EF4-FFF2-40B4-BE49-F238E27FC236}">
                <a16:creationId xmlns:a16="http://schemas.microsoft.com/office/drawing/2014/main" id="{41F6A886-E2CD-49B1-A222-98E49CAD0ACB}"/>
              </a:ext>
            </a:extLst>
          </p:cNvPr>
          <p:cNvSpPr>
            <a:spLocks noGrp="1" noChangeArrowheads="1"/>
          </p:cNvSpPr>
          <p:nvPr>
            <p:ph idx="1"/>
          </p:nvPr>
        </p:nvSpPr>
        <p:spPr>
          <a:xfrm>
            <a:off x="1371600" y="2318197"/>
            <a:ext cx="5781676" cy="3683358"/>
          </a:xfrm>
        </p:spPr>
        <p:txBody>
          <a:bodyPr anchor="ctr">
            <a:normAutofit/>
          </a:bodyPr>
          <a:lstStyle/>
          <a:p>
            <a:r>
              <a:rPr lang="en-US" altLang="es-MX" sz="2000" dirty="0"/>
              <a:t>Collection of data objects and their attributes</a:t>
            </a:r>
          </a:p>
          <a:p>
            <a:r>
              <a:rPr lang="en-US" altLang="es-MX" sz="2000" dirty="0"/>
              <a:t>An attribute is a property or characteristic of an object</a:t>
            </a:r>
          </a:p>
          <a:p>
            <a:pPr lvl="1"/>
            <a:r>
              <a:rPr lang="en-US" altLang="es-MX" sz="2000" dirty="0"/>
              <a:t>Examples: eye color of a person, temperature, etc.</a:t>
            </a:r>
          </a:p>
          <a:p>
            <a:pPr lvl="1"/>
            <a:r>
              <a:rPr lang="en-US" altLang="es-MX" sz="2000" dirty="0"/>
              <a:t>Attribute is also known as variable, field, characteristic, or feature</a:t>
            </a:r>
          </a:p>
          <a:p>
            <a:r>
              <a:rPr lang="en-US" altLang="es-MX" sz="2000" dirty="0"/>
              <a:t>A collection of attributes describe an object</a:t>
            </a:r>
          </a:p>
          <a:p>
            <a:pPr lvl="1"/>
            <a:r>
              <a:rPr lang="en-US" altLang="es-MX" sz="2000" dirty="0"/>
              <a:t>Object is also known as record, point, case, sample, entity, or instance</a:t>
            </a:r>
          </a:p>
        </p:txBody>
      </p:sp>
      <p:grpSp>
        <p:nvGrpSpPr>
          <p:cNvPr id="26" name="Grupo 25">
            <a:extLst>
              <a:ext uri="{FF2B5EF4-FFF2-40B4-BE49-F238E27FC236}">
                <a16:creationId xmlns:a16="http://schemas.microsoft.com/office/drawing/2014/main" id="{CDF83807-3B0A-4E71-BEC4-4F89B163FD04}"/>
              </a:ext>
            </a:extLst>
          </p:cNvPr>
          <p:cNvGrpSpPr/>
          <p:nvPr/>
        </p:nvGrpSpPr>
        <p:grpSpPr>
          <a:xfrm>
            <a:off x="7231062" y="1797676"/>
            <a:ext cx="4875213" cy="4724399"/>
            <a:chOff x="5715000" y="1524001"/>
            <a:chExt cx="4875213" cy="4724399"/>
          </a:xfrm>
        </p:grpSpPr>
        <p:grpSp>
          <p:nvGrpSpPr>
            <p:cNvPr id="27" name="Group 4">
              <a:extLst>
                <a:ext uri="{FF2B5EF4-FFF2-40B4-BE49-F238E27FC236}">
                  <a16:creationId xmlns:a16="http://schemas.microsoft.com/office/drawing/2014/main" id="{C6DF1AF7-DB11-48A9-85E0-C9015A19836A}"/>
                </a:ext>
              </a:extLst>
            </p:cNvPr>
            <p:cNvGrpSpPr>
              <a:grpSpLocks/>
            </p:cNvGrpSpPr>
            <p:nvPr/>
          </p:nvGrpSpPr>
          <p:grpSpPr bwMode="auto">
            <a:xfrm>
              <a:off x="7077075" y="2057400"/>
              <a:ext cx="3513138" cy="4191000"/>
              <a:chOff x="3349" y="1104"/>
              <a:chExt cx="2213" cy="2640"/>
            </a:xfrm>
          </p:grpSpPr>
          <p:graphicFrame>
            <p:nvGraphicFramePr>
              <p:cNvPr id="31" name="Object 5">
                <a:extLst>
                  <a:ext uri="{FF2B5EF4-FFF2-40B4-BE49-F238E27FC236}">
                    <a16:creationId xmlns:a16="http://schemas.microsoft.com/office/drawing/2014/main" id="{40216BE7-2B30-4B68-A16D-278BF7BE6B07}"/>
                  </a:ext>
                </a:extLst>
              </p:cNvPr>
              <p:cNvGraphicFramePr>
                <a:graphicFrameLocks noChangeAspect="1"/>
              </p:cNvGraphicFramePr>
              <p:nvPr/>
            </p:nvGraphicFramePr>
            <p:xfrm>
              <a:off x="3349" y="1378"/>
              <a:ext cx="2213" cy="2366"/>
            </p:xfrm>
            <a:graphic>
              <a:graphicData uri="http://schemas.openxmlformats.org/presentationml/2006/ole">
                <mc:AlternateContent xmlns:mc="http://schemas.openxmlformats.org/markup-compatibility/2006">
                  <mc:Choice xmlns:v="urn:schemas-microsoft-com:vml" Requires="v">
                    <p:oleObj name="Document" r:id="rId3" imgW="5405040" imgH="5778360" progId="Word.Document.8">
                      <p:embed/>
                    </p:oleObj>
                  </mc:Choice>
                  <mc:Fallback>
                    <p:oleObj name="Document" r:id="rId3" imgW="5405040" imgH="5778360" progId="Word.Document.8">
                      <p:embed/>
                      <p:pic>
                        <p:nvPicPr>
                          <p:cNvPr id="31" name="Object 5">
                            <a:extLst>
                              <a:ext uri="{FF2B5EF4-FFF2-40B4-BE49-F238E27FC236}">
                                <a16:creationId xmlns:a16="http://schemas.microsoft.com/office/drawing/2014/main" id="{40216BE7-2B30-4B68-A16D-278BF7BE6B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9" y="1378"/>
                            <a:ext cx="2213" cy="2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2" name="AutoShape 6">
                <a:extLst>
                  <a:ext uri="{FF2B5EF4-FFF2-40B4-BE49-F238E27FC236}">
                    <a16:creationId xmlns:a16="http://schemas.microsoft.com/office/drawing/2014/main" id="{0D7CBA7A-E157-4744-80A0-4E00162F1365}"/>
                  </a:ext>
                </a:extLst>
              </p:cNvPr>
              <p:cNvSpPr>
                <a:spLocks/>
              </p:cNvSpPr>
              <p:nvPr/>
            </p:nvSpPr>
            <p:spPr bwMode="auto">
              <a:xfrm rot="5400000">
                <a:off x="4340" y="240"/>
                <a:ext cx="240" cy="1968"/>
              </a:xfrm>
              <a:prstGeom prst="leftBrace">
                <a:avLst>
                  <a:gd name="adj1" fmla="val 68333"/>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28" name="Text Box 7">
              <a:extLst>
                <a:ext uri="{FF2B5EF4-FFF2-40B4-BE49-F238E27FC236}">
                  <a16:creationId xmlns:a16="http://schemas.microsoft.com/office/drawing/2014/main" id="{8D28CC00-EF4D-4E43-82B6-005723C1E86F}"/>
                </a:ext>
              </a:extLst>
            </p:cNvPr>
            <p:cNvSpPr txBox="1">
              <a:spLocks noChangeArrowheads="1"/>
            </p:cNvSpPr>
            <p:nvPr/>
          </p:nvSpPr>
          <p:spPr bwMode="auto">
            <a:xfrm>
              <a:off x="8001000" y="1524001"/>
              <a:ext cx="1447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s-MX" sz="2000" b="1" i="0" u="none" strike="noStrike" kern="1200" cap="none" spc="0" normalizeH="0" baseline="0" noProof="0" dirty="0">
                  <a:ln>
                    <a:noFill/>
                  </a:ln>
                  <a:solidFill>
                    <a:srgbClr val="FF0000"/>
                  </a:solidFill>
                  <a:effectLst/>
                  <a:uLnTx/>
                  <a:uFillTx/>
                  <a:latin typeface="Calibri" panose="020F0502020204030204"/>
                  <a:ea typeface="+mn-ea"/>
                  <a:cs typeface="+mn-cs"/>
                </a:rPr>
                <a:t>Attributes</a:t>
              </a:r>
            </a:p>
          </p:txBody>
        </p:sp>
        <p:sp>
          <p:nvSpPr>
            <p:cNvPr id="29" name="AutoShape 8">
              <a:extLst>
                <a:ext uri="{FF2B5EF4-FFF2-40B4-BE49-F238E27FC236}">
                  <a16:creationId xmlns:a16="http://schemas.microsoft.com/office/drawing/2014/main" id="{05FE915C-1B7D-41E1-94AE-B240B0857DDE}"/>
                </a:ext>
              </a:extLst>
            </p:cNvPr>
            <p:cNvSpPr>
              <a:spLocks/>
            </p:cNvSpPr>
            <p:nvPr/>
          </p:nvSpPr>
          <p:spPr bwMode="auto">
            <a:xfrm>
              <a:off x="6781800" y="2971800"/>
              <a:ext cx="381000" cy="3124200"/>
            </a:xfrm>
            <a:prstGeom prst="leftBrace">
              <a:avLst>
                <a:gd name="adj1" fmla="val 68333"/>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9">
              <a:extLst>
                <a:ext uri="{FF2B5EF4-FFF2-40B4-BE49-F238E27FC236}">
                  <a16:creationId xmlns:a16="http://schemas.microsoft.com/office/drawing/2014/main" id="{08C1707D-03F9-4617-926C-4F3C78533CD7}"/>
                </a:ext>
              </a:extLst>
            </p:cNvPr>
            <p:cNvSpPr txBox="1">
              <a:spLocks noChangeArrowheads="1"/>
            </p:cNvSpPr>
            <p:nvPr/>
          </p:nvSpPr>
          <p:spPr bwMode="auto">
            <a:xfrm>
              <a:off x="5715000" y="4343401"/>
              <a:ext cx="1143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s-MX" sz="2000" b="1" i="0" u="none" strike="noStrike" kern="1200" cap="none" spc="0" normalizeH="0" baseline="0" noProof="0" dirty="0">
                  <a:ln>
                    <a:noFill/>
                  </a:ln>
                  <a:solidFill>
                    <a:srgbClr val="FF0000"/>
                  </a:solidFill>
                  <a:effectLst/>
                  <a:uLnTx/>
                  <a:uFillTx/>
                  <a:latin typeface="Calibri" panose="020F0502020204030204"/>
                  <a:ea typeface="+mn-ea"/>
                  <a:cs typeface="+mn-cs"/>
                </a:rPr>
                <a:t>Objects</a:t>
              </a: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0530" name="Rectangle 2">
            <a:extLst>
              <a:ext uri="{FF2B5EF4-FFF2-40B4-BE49-F238E27FC236}">
                <a16:creationId xmlns:a16="http://schemas.microsoft.com/office/drawing/2014/main" id="{AD3C3D3F-1A6A-4C73-81A7-272BB744EC4D}"/>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Attribute Values</a:t>
            </a:r>
          </a:p>
        </p:txBody>
      </p:sp>
      <p:sp>
        <p:nvSpPr>
          <p:cNvPr id="790531" name="Rectangle 3">
            <a:extLst>
              <a:ext uri="{FF2B5EF4-FFF2-40B4-BE49-F238E27FC236}">
                <a16:creationId xmlns:a16="http://schemas.microsoft.com/office/drawing/2014/main" id="{D09C38C1-E12E-4796-A035-CC1B82B6D95F}"/>
              </a:ext>
            </a:extLst>
          </p:cNvPr>
          <p:cNvSpPr>
            <a:spLocks noGrp="1" noChangeArrowheads="1"/>
          </p:cNvSpPr>
          <p:nvPr>
            <p:ph idx="1"/>
          </p:nvPr>
        </p:nvSpPr>
        <p:spPr>
          <a:xfrm>
            <a:off x="1371599" y="2318197"/>
            <a:ext cx="9724031" cy="3683358"/>
          </a:xfrm>
        </p:spPr>
        <p:txBody>
          <a:bodyPr anchor="ctr">
            <a:normAutofit/>
          </a:bodyPr>
          <a:lstStyle/>
          <a:p>
            <a:r>
              <a:rPr lang="en-US" altLang="es-MX" sz="2000" dirty="0"/>
              <a:t>Attribute values are numbers or symbols assigned to an attribute</a:t>
            </a:r>
          </a:p>
          <a:p>
            <a:r>
              <a:rPr lang="en-US" altLang="es-MX" sz="2000" dirty="0"/>
              <a:t>Distinction between attributes and attribute values</a:t>
            </a:r>
          </a:p>
          <a:p>
            <a:pPr lvl="1"/>
            <a:r>
              <a:rPr lang="en-US" altLang="es-MX" sz="2000" dirty="0"/>
              <a:t>Same attribute can be mapped to different attribute values</a:t>
            </a:r>
          </a:p>
          <a:p>
            <a:pPr lvl="2"/>
            <a:r>
              <a:rPr lang="en-US" altLang="es-MX" dirty="0"/>
              <a:t> Example: height can be measured in feet or meters</a:t>
            </a:r>
          </a:p>
          <a:p>
            <a:pPr lvl="1"/>
            <a:r>
              <a:rPr lang="en-US" altLang="es-MX" sz="2000" dirty="0"/>
              <a:t>Different attributes can be mapped to the same set of values</a:t>
            </a:r>
          </a:p>
          <a:p>
            <a:pPr lvl="2"/>
            <a:r>
              <a:rPr lang="en-US" altLang="es-MX" dirty="0"/>
              <a:t> Example: Attribute values for ID and age are integers</a:t>
            </a:r>
          </a:p>
          <a:p>
            <a:pPr lvl="2"/>
            <a:r>
              <a:rPr lang="en-US" altLang="es-MX" dirty="0"/>
              <a:t> But properties of attribute values can be different</a:t>
            </a:r>
          </a:p>
          <a:p>
            <a:pPr lvl="3"/>
            <a:r>
              <a:rPr lang="en-US" altLang="es-MX" sz="2000" dirty="0"/>
              <a:t>ID has no limit, but age has a maximum and minimum value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3602" name="Rectangle 2">
            <a:extLst>
              <a:ext uri="{FF2B5EF4-FFF2-40B4-BE49-F238E27FC236}">
                <a16:creationId xmlns:a16="http://schemas.microsoft.com/office/drawing/2014/main" id="{E0268BE8-17C5-449C-BC74-0339170DC2E8}"/>
              </a:ext>
            </a:extLst>
          </p:cNvPr>
          <p:cNvSpPr>
            <a:spLocks noGrp="1" noChangeArrowheads="1"/>
          </p:cNvSpPr>
          <p:nvPr>
            <p:ph type="title"/>
          </p:nvPr>
        </p:nvSpPr>
        <p:spPr>
          <a:xfrm>
            <a:off x="1136397" y="502021"/>
            <a:ext cx="9688296" cy="1642969"/>
          </a:xfrm>
        </p:spPr>
        <p:txBody>
          <a:bodyPr anchor="b">
            <a:normAutofit/>
          </a:bodyPr>
          <a:lstStyle/>
          <a:p>
            <a:r>
              <a:rPr lang="en-US" altLang="es-MX" sz="4000"/>
              <a:t>Types of Attributes </a:t>
            </a:r>
          </a:p>
        </p:txBody>
      </p:sp>
      <p:sp>
        <p:nvSpPr>
          <p:cNvPr id="793603" name="Rectangle 3">
            <a:extLst>
              <a:ext uri="{FF2B5EF4-FFF2-40B4-BE49-F238E27FC236}">
                <a16:creationId xmlns:a16="http://schemas.microsoft.com/office/drawing/2014/main" id="{AFEF44A0-31A0-438D-B2C2-11DF4071BA0D}"/>
              </a:ext>
            </a:extLst>
          </p:cNvPr>
          <p:cNvSpPr>
            <a:spLocks noGrp="1" noChangeArrowheads="1"/>
          </p:cNvSpPr>
          <p:nvPr>
            <p:ph idx="1"/>
          </p:nvPr>
        </p:nvSpPr>
        <p:spPr>
          <a:xfrm>
            <a:off x="1136397" y="2418409"/>
            <a:ext cx="9688296" cy="3454358"/>
          </a:xfrm>
        </p:spPr>
        <p:txBody>
          <a:bodyPr anchor="t">
            <a:normAutofit/>
          </a:bodyPr>
          <a:lstStyle/>
          <a:p>
            <a:r>
              <a:rPr lang="en-US" altLang="es-MX" sz="2000"/>
              <a:t> There are different types of attributes</a:t>
            </a:r>
          </a:p>
          <a:p>
            <a:pPr lvl="1"/>
            <a:r>
              <a:rPr lang="en-US" altLang="es-MX" sz="2000"/>
              <a:t>Nominal</a:t>
            </a:r>
          </a:p>
          <a:p>
            <a:pPr lvl="2"/>
            <a:r>
              <a:rPr lang="en-US" altLang="es-MX"/>
              <a:t>Examples: ID numbers, eye color, zip codes</a:t>
            </a:r>
          </a:p>
          <a:p>
            <a:pPr lvl="1"/>
            <a:r>
              <a:rPr lang="en-US" altLang="es-MX" sz="2000"/>
              <a:t>Ordinal</a:t>
            </a:r>
          </a:p>
          <a:p>
            <a:pPr lvl="2"/>
            <a:r>
              <a:rPr lang="en-US" altLang="es-MX"/>
              <a:t>Examples: rankings (e.g., taste of potato chips on a scale from 1-10), grades, height in {tall, medium, short}</a:t>
            </a:r>
          </a:p>
          <a:p>
            <a:pPr lvl="1"/>
            <a:r>
              <a:rPr lang="en-US" altLang="es-MX" sz="2000"/>
              <a:t>Interval</a:t>
            </a:r>
          </a:p>
          <a:p>
            <a:pPr lvl="2"/>
            <a:r>
              <a:rPr lang="en-US" altLang="es-MX"/>
              <a:t>Examples: calendar dates, temperatures in Celsius or Fahrenheit.</a:t>
            </a:r>
          </a:p>
          <a:p>
            <a:pPr lvl="1"/>
            <a:r>
              <a:rPr lang="en-US" altLang="es-MX" sz="2000"/>
              <a:t>Ratio</a:t>
            </a:r>
          </a:p>
          <a:p>
            <a:pPr lvl="2"/>
            <a:r>
              <a:rPr lang="en-US" altLang="es-MX"/>
              <a:t>Examples: temperature in Kelvin, length, time, counts</a:t>
            </a:r>
          </a:p>
        </p:txBody>
      </p:sp>
      <p:sp>
        <p:nvSpPr>
          <p:cNvPr id="74" name="Rectangle 7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5650" name="Rectangle 2">
            <a:extLst>
              <a:ext uri="{FF2B5EF4-FFF2-40B4-BE49-F238E27FC236}">
                <a16:creationId xmlns:a16="http://schemas.microsoft.com/office/drawing/2014/main" id="{BDD55FB0-47EF-4366-BF1E-0C581D8CB6B7}"/>
              </a:ext>
            </a:extLst>
          </p:cNvPr>
          <p:cNvSpPr>
            <a:spLocks noGrp="1" noChangeArrowheads="1"/>
          </p:cNvSpPr>
          <p:nvPr>
            <p:ph type="title"/>
          </p:nvPr>
        </p:nvSpPr>
        <p:spPr>
          <a:xfrm>
            <a:off x="1136397" y="502021"/>
            <a:ext cx="9688296" cy="1642969"/>
          </a:xfrm>
        </p:spPr>
        <p:txBody>
          <a:bodyPr anchor="b">
            <a:normAutofit/>
          </a:bodyPr>
          <a:lstStyle/>
          <a:p>
            <a:r>
              <a:rPr lang="en-US" altLang="es-MX" sz="4000"/>
              <a:t>Properties of Attribute Values </a:t>
            </a:r>
          </a:p>
        </p:txBody>
      </p:sp>
      <p:sp>
        <p:nvSpPr>
          <p:cNvPr id="795651" name="Rectangle 3">
            <a:extLst>
              <a:ext uri="{FF2B5EF4-FFF2-40B4-BE49-F238E27FC236}">
                <a16:creationId xmlns:a16="http://schemas.microsoft.com/office/drawing/2014/main" id="{91319174-09EC-4A34-897F-E02B9DF21D8C}"/>
              </a:ext>
            </a:extLst>
          </p:cNvPr>
          <p:cNvSpPr>
            <a:spLocks noGrp="1" noChangeArrowheads="1"/>
          </p:cNvSpPr>
          <p:nvPr>
            <p:ph idx="1"/>
          </p:nvPr>
        </p:nvSpPr>
        <p:spPr>
          <a:xfrm>
            <a:off x="1136397" y="2418409"/>
            <a:ext cx="9688296" cy="3454358"/>
          </a:xfrm>
        </p:spPr>
        <p:txBody>
          <a:bodyPr anchor="t">
            <a:normAutofit/>
          </a:bodyPr>
          <a:lstStyle/>
          <a:p>
            <a:r>
              <a:rPr lang="en-US" altLang="es-MX" sz="2000" dirty="0"/>
              <a:t>The type of an attribute depends on which of the following properties it possesses:</a:t>
            </a:r>
          </a:p>
          <a:p>
            <a:pPr lvl="1"/>
            <a:r>
              <a:rPr lang="en-US" altLang="es-MX" sz="2000" dirty="0"/>
              <a:t>Distinctness:  		=  </a:t>
            </a:r>
            <a:r>
              <a:rPr lang="en-US" altLang="es-MX" sz="2000" dirty="0">
                <a:sym typeface="Symbol" panose="05050102010706020507" pitchFamily="18" charset="2"/>
              </a:rPr>
              <a:t>		</a:t>
            </a:r>
            <a:endParaRPr lang="en-US" altLang="es-MX" sz="2000" dirty="0"/>
          </a:p>
          <a:p>
            <a:pPr lvl="1"/>
            <a:r>
              <a:rPr lang="en-US" altLang="es-MX" sz="2000" dirty="0"/>
              <a:t>Order:  			&lt;  &gt;  		</a:t>
            </a:r>
          </a:p>
          <a:p>
            <a:pPr lvl="1"/>
            <a:r>
              <a:rPr lang="en-US" altLang="es-MX" sz="2000" dirty="0"/>
              <a:t>Addition:  		                +  - 		</a:t>
            </a:r>
          </a:p>
          <a:p>
            <a:pPr lvl="1"/>
            <a:r>
              <a:rPr lang="en-US" altLang="es-MX" sz="2000" dirty="0"/>
              <a:t>Multiplication: 		*  /</a:t>
            </a:r>
            <a:br>
              <a:rPr lang="en-US" altLang="es-MX" sz="2000" dirty="0"/>
            </a:br>
            <a:endParaRPr lang="en-US" altLang="es-MX" sz="2000" dirty="0"/>
          </a:p>
          <a:p>
            <a:pPr lvl="1"/>
            <a:r>
              <a:rPr lang="en-US" altLang="es-MX" sz="2000" dirty="0"/>
              <a:t>Nominal attribute: distinctness</a:t>
            </a:r>
          </a:p>
          <a:p>
            <a:pPr lvl="1"/>
            <a:r>
              <a:rPr lang="en-US" altLang="es-MX" sz="2000" dirty="0"/>
              <a:t>Ordinal attribute: distinctness &amp; order</a:t>
            </a:r>
          </a:p>
          <a:p>
            <a:pPr lvl="1"/>
            <a:r>
              <a:rPr lang="en-US" altLang="es-MX" sz="2000" dirty="0"/>
              <a:t>Interval attribute: distinctness, order &amp; addition</a:t>
            </a:r>
          </a:p>
          <a:p>
            <a:pPr lvl="1"/>
            <a:r>
              <a:rPr lang="en-US" altLang="es-MX" sz="2000" dirty="0"/>
              <a:t>Ratio attribute: all 4 properties</a:t>
            </a:r>
          </a:p>
        </p:txBody>
      </p:sp>
      <p:sp>
        <p:nvSpPr>
          <p:cNvPr id="74" name="Rectangle 7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80" name="Group 2">
            <a:extLst>
              <a:ext uri="{FF2B5EF4-FFF2-40B4-BE49-F238E27FC236}">
                <a16:creationId xmlns:a16="http://schemas.microsoft.com/office/drawing/2014/main" id="{B02D3DFA-C467-462B-94EF-DE742CFE7A83}"/>
              </a:ext>
            </a:extLst>
          </p:cNvPr>
          <p:cNvGrpSpPr>
            <a:grpSpLocks/>
          </p:cNvGrpSpPr>
          <p:nvPr/>
        </p:nvGrpSpPr>
        <p:grpSpPr bwMode="auto">
          <a:xfrm>
            <a:off x="1905000" y="304800"/>
            <a:ext cx="8305800" cy="5851699"/>
            <a:chOff x="-2" y="-2"/>
            <a:chExt cx="3890" cy="5004"/>
          </a:xfrm>
        </p:grpSpPr>
        <p:grpSp>
          <p:nvGrpSpPr>
            <p:cNvPr id="81" name="Group 3">
              <a:extLst>
                <a:ext uri="{FF2B5EF4-FFF2-40B4-BE49-F238E27FC236}">
                  <a16:creationId xmlns:a16="http://schemas.microsoft.com/office/drawing/2014/main" id="{380ECEBD-6468-46AF-8862-2BDE54817853}"/>
                </a:ext>
              </a:extLst>
            </p:cNvPr>
            <p:cNvGrpSpPr>
              <a:grpSpLocks/>
            </p:cNvGrpSpPr>
            <p:nvPr/>
          </p:nvGrpSpPr>
          <p:grpSpPr bwMode="auto">
            <a:xfrm>
              <a:off x="0" y="0"/>
              <a:ext cx="3886" cy="5002"/>
              <a:chOff x="0" y="0"/>
              <a:chExt cx="3886" cy="5002"/>
            </a:xfrm>
          </p:grpSpPr>
          <p:grpSp>
            <p:nvGrpSpPr>
              <p:cNvPr id="83" name="Group 4">
                <a:extLst>
                  <a:ext uri="{FF2B5EF4-FFF2-40B4-BE49-F238E27FC236}">
                    <a16:creationId xmlns:a16="http://schemas.microsoft.com/office/drawing/2014/main" id="{CE959659-BF34-47D2-A4C4-37BE6D6A3BD2}"/>
                  </a:ext>
                </a:extLst>
              </p:cNvPr>
              <p:cNvGrpSpPr>
                <a:grpSpLocks/>
              </p:cNvGrpSpPr>
              <p:nvPr/>
            </p:nvGrpSpPr>
            <p:grpSpPr bwMode="auto">
              <a:xfrm>
                <a:off x="0" y="0"/>
                <a:ext cx="684" cy="596"/>
                <a:chOff x="0" y="0"/>
                <a:chExt cx="684" cy="596"/>
              </a:xfrm>
            </p:grpSpPr>
            <p:sp>
              <p:nvSpPr>
                <p:cNvPr id="147" name="Rectangle 5">
                  <a:extLst>
                    <a:ext uri="{FF2B5EF4-FFF2-40B4-BE49-F238E27FC236}">
                      <a16:creationId xmlns:a16="http://schemas.microsoft.com/office/drawing/2014/main" id="{97EA22F2-9117-478E-B4E9-6D5181A768AA}"/>
                    </a:ext>
                  </a:extLst>
                </p:cNvPr>
                <p:cNvSpPr>
                  <a:spLocks noChangeArrowheads="1"/>
                </p:cNvSpPr>
                <p:nvPr/>
              </p:nvSpPr>
              <p:spPr bwMode="auto">
                <a:xfrm>
                  <a:off x="0" y="0"/>
                  <a:ext cx="684"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48" name="Group 6">
                  <a:extLst>
                    <a:ext uri="{FF2B5EF4-FFF2-40B4-BE49-F238E27FC236}">
                      <a16:creationId xmlns:a16="http://schemas.microsoft.com/office/drawing/2014/main" id="{6C71BBB2-47FA-42A6-B2E9-AFC27F2301A1}"/>
                    </a:ext>
                  </a:extLst>
                </p:cNvPr>
                <p:cNvGrpSpPr>
                  <a:grpSpLocks/>
                </p:cNvGrpSpPr>
                <p:nvPr/>
              </p:nvGrpSpPr>
              <p:grpSpPr bwMode="auto">
                <a:xfrm>
                  <a:off x="0" y="0"/>
                  <a:ext cx="684" cy="596"/>
                  <a:chOff x="0" y="0"/>
                  <a:chExt cx="684" cy="596"/>
                </a:xfrm>
              </p:grpSpPr>
              <p:sp>
                <p:nvSpPr>
                  <p:cNvPr id="149" name="Rectangle 7">
                    <a:extLst>
                      <a:ext uri="{FF2B5EF4-FFF2-40B4-BE49-F238E27FC236}">
                        <a16:creationId xmlns:a16="http://schemas.microsoft.com/office/drawing/2014/main" id="{A64CA0B4-1176-4382-A64F-760BCDD438DC}"/>
                      </a:ext>
                    </a:extLst>
                  </p:cNvPr>
                  <p:cNvSpPr>
                    <a:spLocks noChangeArrowheads="1"/>
                  </p:cNvSpPr>
                  <p:nvPr/>
                </p:nvSpPr>
                <p:spPr bwMode="auto">
                  <a:xfrm>
                    <a:off x="43" y="0"/>
                    <a:ext cx="598"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6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Attribute Type</a:t>
                    </a:r>
                    <a:endParaRPr kumimoji="0" lang="en-US" altLang="es-MX"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
                <p:nvSpPr>
                  <p:cNvPr id="150" name="Rectangle 8">
                    <a:extLst>
                      <a:ext uri="{FF2B5EF4-FFF2-40B4-BE49-F238E27FC236}">
                        <a16:creationId xmlns:a16="http://schemas.microsoft.com/office/drawing/2014/main" id="{99C9F586-CE01-49BB-A80E-CCA47A8D5BE9}"/>
                      </a:ext>
                    </a:extLst>
                  </p:cNvPr>
                  <p:cNvSpPr>
                    <a:spLocks noChangeArrowheads="1"/>
                  </p:cNvSpPr>
                  <p:nvPr/>
                </p:nvSpPr>
                <p:spPr bwMode="auto">
                  <a:xfrm>
                    <a:off x="0" y="0"/>
                    <a:ext cx="684"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84" name="Group 9">
                <a:extLst>
                  <a:ext uri="{FF2B5EF4-FFF2-40B4-BE49-F238E27FC236}">
                    <a16:creationId xmlns:a16="http://schemas.microsoft.com/office/drawing/2014/main" id="{C0202EA9-3D45-423A-95DD-753CF17881B3}"/>
                  </a:ext>
                </a:extLst>
              </p:cNvPr>
              <p:cNvGrpSpPr>
                <a:grpSpLocks/>
              </p:cNvGrpSpPr>
              <p:nvPr/>
            </p:nvGrpSpPr>
            <p:grpSpPr bwMode="auto">
              <a:xfrm>
                <a:off x="684" y="0"/>
                <a:ext cx="1403" cy="596"/>
                <a:chOff x="684" y="0"/>
                <a:chExt cx="1403" cy="596"/>
              </a:xfrm>
            </p:grpSpPr>
            <p:sp>
              <p:nvSpPr>
                <p:cNvPr id="143" name="Rectangle 10">
                  <a:extLst>
                    <a:ext uri="{FF2B5EF4-FFF2-40B4-BE49-F238E27FC236}">
                      <a16:creationId xmlns:a16="http://schemas.microsoft.com/office/drawing/2014/main" id="{AAA723EC-3955-4B09-BEC7-F4E694F421B2}"/>
                    </a:ext>
                  </a:extLst>
                </p:cNvPr>
                <p:cNvSpPr>
                  <a:spLocks noChangeArrowheads="1"/>
                </p:cNvSpPr>
                <p:nvPr/>
              </p:nvSpPr>
              <p:spPr bwMode="auto">
                <a:xfrm>
                  <a:off x="684" y="0"/>
                  <a:ext cx="1403"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44" name="Group 11">
                  <a:extLst>
                    <a:ext uri="{FF2B5EF4-FFF2-40B4-BE49-F238E27FC236}">
                      <a16:creationId xmlns:a16="http://schemas.microsoft.com/office/drawing/2014/main" id="{876A0F9F-66CA-4F82-B230-C19D15106AFF}"/>
                    </a:ext>
                  </a:extLst>
                </p:cNvPr>
                <p:cNvGrpSpPr>
                  <a:grpSpLocks/>
                </p:cNvGrpSpPr>
                <p:nvPr/>
              </p:nvGrpSpPr>
              <p:grpSpPr bwMode="auto">
                <a:xfrm>
                  <a:off x="684" y="0"/>
                  <a:ext cx="1403" cy="596"/>
                  <a:chOff x="684" y="0"/>
                  <a:chExt cx="1403" cy="596"/>
                </a:xfrm>
              </p:grpSpPr>
              <p:sp>
                <p:nvSpPr>
                  <p:cNvPr id="145" name="Rectangle 12">
                    <a:extLst>
                      <a:ext uri="{FF2B5EF4-FFF2-40B4-BE49-F238E27FC236}">
                        <a16:creationId xmlns:a16="http://schemas.microsoft.com/office/drawing/2014/main" id="{9F0C6E52-18DF-4A95-A29D-1BB8BFC56E60}"/>
                      </a:ext>
                    </a:extLst>
                  </p:cNvPr>
                  <p:cNvSpPr>
                    <a:spLocks noChangeArrowheads="1"/>
                  </p:cNvSpPr>
                  <p:nvPr/>
                </p:nvSpPr>
                <p:spPr bwMode="auto">
                  <a:xfrm>
                    <a:off x="727" y="0"/>
                    <a:ext cx="1317"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6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Description</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46" name="Rectangle 13">
                    <a:extLst>
                      <a:ext uri="{FF2B5EF4-FFF2-40B4-BE49-F238E27FC236}">
                        <a16:creationId xmlns:a16="http://schemas.microsoft.com/office/drawing/2014/main" id="{C116B641-9D86-4807-8002-DADC132AC909}"/>
                      </a:ext>
                    </a:extLst>
                  </p:cNvPr>
                  <p:cNvSpPr>
                    <a:spLocks noChangeArrowheads="1"/>
                  </p:cNvSpPr>
                  <p:nvPr/>
                </p:nvSpPr>
                <p:spPr bwMode="auto">
                  <a:xfrm>
                    <a:off x="684" y="0"/>
                    <a:ext cx="1403"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85" name="Group 14">
                <a:extLst>
                  <a:ext uri="{FF2B5EF4-FFF2-40B4-BE49-F238E27FC236}">
                    <a16:creationId xmlns:a16="http://schemas.microsoft.com/office/drawing/2014/main" id="{74E8AD09-2B75-42C7-AF9D-3B15D8F89397}"/>
                  </a:ext>
                </a:extLst>
              </p:cNvPr>
              <p:cNvGrpSpPr>
                <a:grpSpLocks/>
              </p:cNvGrpSpPr>
              <p:nvPr/>
            </p:nvGrpSpPr>
            <p:grpSpPr bwMode="auto">
              <a:xfrm>
                <a:off x="2087" y="0"/>
                <a:ext cx="950" cy="596"/>
                <a:chOff x="2087" y="0"/>
                <a:chExt cx="950" cy="596"/>
              </a:xfrm>
            </p:grpSpPr>
            <p:sp>
              <p:nvSpPr>
                <p:cNvPr id="139" name="Rectangle 15">
                  <a:extLst>
                    <a:ext uri="{FF2B5EF4-FFF2-40B4-BE49-F238E27FC236}">
                      <a16:creationId xmlns:a16="http://schemas.microsoft.com/office/drawing/2014/main" id="{FD6DA83B-F4B0-4D71-8351-2B38D5C4AC4A}"/>
                    </a:ext>
                  </a:extLst>
                </p:cNvPr>
                <p:cNvSpPr>
                  <a:spLocks noChangeArrowheads="1"/>
                </p:cNvSpPr>
                <p:nvPr/>
              </p:nvSpPr>
              <p:spPr bwMode="auto">
                <a:xfrm>
                  <a:off x="2087" y="0"/>
                  <a:ext cx="950"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40" name="Group 16">
                  <a:extLst>
                    <a:ext uri="{FF2B5EF4-FFF2-40B4-BE49-F238E27FC236}">
                      <a16:creationId xmlns:a16="http://schemas.microsoft.com/office/drawing/2014/main" id="{E5E5884C-D7BA-4D63-929C-F96420EFA328}"/>
                    </a:ext>
                  </a:extLst>
                </p:cNvPr>
                <p:cNvGrpSpPr>
                  <a:grpSpLocks/>
                </p:cNvGrpSpPr>
                <p:nvPr/>
              </p:nvGrpSpPr>
              <p:grpSpPr bwMode="auto">
                <a:xfrm>
                  <a:off x="2087" y="0"/>
                  <a:ext cx="950" cy="596"/>
                  <a:chOff x="2087" y="0"/>
                  <a:chExt cx="950" cy="596"/>
                </a:xfrm>
              </p:grpSpPr>
              <p:sp>
                <p:nvSpPr>
                  <p:cNvPr id="141" name="Rectangle 17">
                    <a:extLst>
                      <a:ext uri="{FF2B5EF4-FFF2-40B4-BE49-F238E27FC236}">
                        <a16:creationId xmlns:a16="http://schemas.microsoft.com/office/drawing/2014/main" id="{07522CF7-E0DE-433E-99DC-B17D2E34BC18}"/>
                      </a:ext>
                    </a:extLst>
                  </p:cNvPr>
                  <p:cNvSpPr>
                    <a:spLocks noChangeArrowheads="1"/>
                  </p:cNvSpPr>
                  <p:nvPr/>
                </p:nvSpPr>
                <p:spPr bwMode="auto">
                  <a:xfrm>
                    <a:off x="2130" y="0"/>
                    <a:ext cx="864"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6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Examples</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42" name="Rectangle 18">
                    <a:extLst>
                      <a:ext uri="{FF2B5EF4-FFF2-40B4-BE49-F238E27FC236}">
                        <a16:creationId xmlns:a16="http://schemas.microsoft.com/office/drawing/2014/main" id="{D15B39CC-E13D-43FB-AA7F-65BA34475AAD}"/>
                      </a:ext>
                    </a:extLst>
                  </p:cNvPr>
                  <p:cNvSpPr>
                    <a:spLocks noChangeArrowheads="1"/>
                  </p:cNvSpPr>
                  <p:nvPr/>
                </p:nvSpPr>
                <p:spPr bwMode="auto">
                  <a:xfrm>
                    <a:off x="2087" y="0"/>
                    <a:ext cx="950"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86" name="Group 19">
                <a:extLst>
                  <a:ext uri="{FF2B5EF4-FFF2-40B4-BE49-F238E27FC236}">
                    <a16:creationId xmlns:a16="http://schemas.microsoft.com/office/drawing/2014/main" id="{F1684399-6F1F-4FD0-A160-82A63680FF5F}"/>
                  </a:ext>
                </a:extLst>
              </p:cNvPr>
              <p:cNvGrpSpPr>
                <a:grpSpLocks/>
              </p:cNvGrpSpPr>
              <p:nvPr/>
            </p:nvGrpSpPr>
            <p:grpSpPr bwMode="auto">
              <a:xfrm>
                <a:off x="3037" y="0"/>
                <a:ext cx="849" cy="596"/>
                <a:chOff x="3037" y="0"/>
                <a:chExt cx="849" cy="596"/>
              </a:xfrm>
            </p:grpSpPr>
            <p:sp>
              <p:nvSpPr>
                <p:cNvPr id="135" name="Rectangle 20">
                  <a:extLst>
                    <a:ext uri="{FF2B5EF4-FFF2-40B4-BE49-F238E27FC236}">
                      <a16:creationId xmlns:a16="http://schemas.microsoft.com/office/drawing/2014/main" id="{76851E92-F015-4487-B338-8A509173641A}"/>
                    </a:ext>
                  </a:extLst>
                </p:cNvPr>
                <p:cNvSpPr>
                  <a:spLocks noChangeArrowheads="1"/>
                </p:cNvSpPr>
                <p:nvPr/>
              </p:nvSpPr>
              <p:spPr bwMode="auto">
                <a:xfrm>
                  <a:off x="3037" y="0"/>
                  <a:ext cx="849"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36" name="Group 21">
                  <a:extLst>
                    <a:ext uri="{FF2B5EF4-FFF2-40B4-BE49-F238E27FC236}">
                      <a16:creationId xmlns:a16="http://schemas.microsoft.com/office/drawing/2014/main" id="{8EA03A3C-09A6-4CD0-83D2-3BF514FD05EB}"/>
                    </a:ext>
                  </a:extLst>
                </p:cNvPr>
                <p:cNvGrpSpPr>
                  <a:grpSpLocks/>
                </p:cNvGrpSpPr>
                <p:nvPr/>
              </p:nvGrpSpPr>
              <p:grpSpPr bwMode="auto">
                <a:xfrm>
                  <a:off x="3037" y="0"/>
                  <a:ext cx="849" cy="596"/>
                  <a:chOff x="3037" y="0"/>
                  <a:chExt cx="849" cy="596"/>
                </a:xfrm>
              </p:grpSpPr>
              <p:sp>
                <p:nvSpPr>
                  <p:cNvPr id="137" name="Rectangle 22">
                    <a:extLst>
                      <a:ext uri="{FF2B5EF4-FFF2-40B4-BE49-F238E27FC236}">
                        <a16:creationId xmlns:a16="http://schemas.microsoft.com/office/drawing/2014/main" id="{C663B4E1-49E5-4F1C-B76B-EE30113DA423}"/>
                      </a:ext>
                    </a:extLst>
                  </p:cNvPr>
                  <p:cNvSpPr>
                    <a:spLocks noChangeArrowheads="1"/>
                  </p:cNvSpPr>
                  <p:nvPr/>
                </p:nvSpPr>
                <p:spPr bwMode="auto">
                  <a:xfrm>
                    <a:off x="3080" y="0"/>
                    <a:ext cx="763"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6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Operations</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38" name="Rectangle 23">
                    <a:extLst>
                      <a:ext uri="{FF2B5EF4-FFF2-40B4-BE49-F238E27FC236}">
                        <a16:creationId xmlns:a16="http://schemas.microsoft.com/office/drawing/2014/main" id="{88D253D0-3169-453E-9D34-B663B0EEB9C1}"/>
                      </a:ext>
                    </a:extLst>
                  </p:cNvPr>
                  <p:cNvSpPr>
                    <a:spLocks noChangeArrowheads="1"/>
                  </p:cNvSpPr>
                  <p:nvPr/>
                </p:nvSpPr>
                <p:spPr bwMode="auto">
                  <a:xfrm>
                    <a:off x="3037" y="0"/>
                    <a:ext cx="849"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87" name="Group 24">
                <a:extLst>
                  <a:ext uri="{FF2B5EF4-FFF2-40B4-BE49-F238E27FC236}">
                    <a16:creationId xmlns:a16="http://schemas.microsoft.com/office/drawing/2014/main" id="{92E25EA6-0AE9-453E-B508-76974831B1AE}"/>
                  </a:ext>
                </a:extLst>
              </p:cNvPr>
              <p:cNvGrpSpPr>
                <a:grpSpLocks/>
              </p:cNvGrpSpPr>
              <p:nvPr/>
            </p:nvGrpSpPr>
            <p:grpSpPr bwMode="auto">
              <a:xfrm>
                <a:off x="0" y="596"/>
                <a:ext cx="684" cy="1130"/>
                <a:chOff x="0" y="596"/>
                <a:chExt cx="684" cy="1130"/>
              </a:xfrm>
            </p:grpSpPr>
            <p:sp>
              <p:nvSpPr>
                <p:cNvPr id="133" name="Rectangle 25">
                  <a:extLst>
                    <a:ext uri="{FF2B5EF4-FFF2-40B4-BE49-F238E27FC236}">
                      <a16:creationId xmlns:a16="http://schemas.microsoft.com/office/drawing/2014/main" id="{FF955E6D-F739-491F-8DA3-BE346C2F09E6}"/>
                    </a:ext>
                  </a:extLst>
                </p:cNvPr>
                <p:cNvSpPr>
                  <a:spLocks noChangeArrowheads="1"/>
                </p:cNvSpPr>
                <p:nvPr/>
              </p:nvSpPr>
              <p:spPr bwMode="auto">
                <a:xfrm>
                  <a:off x="43" y="596"/>
                  <a:ext cx="598" cy="1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Nominal</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34" name="Rectangle 26">
                  <a:extLst>
                    <a:ext uri="{FF2B5EF4-FFF2-40B4-BE49-F238E27FC236}">
                      <a16:creationId xmlns:a16="http://schemas.microsoft.com/office/drawing/2014/main" id="{5A55C529-A13C-4CB1-B734-C1FEC8DDBA20}"/>
                    </a:ext>
                  </a:extLst>
                </p:cNvPr>
                <p:cNvSpPr>
                  <a:spLocks noChangeArrowheads="1"/>
                </p:cNvSpPr>
                <p:nvPr/>
              </p:nvSpPr>
              <p:spPr bwMode="auto">
                <a:xfrm>
                  <a:off x="0" y="596"/>
                  <a:ext cx="684" cy="113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8" name="Group 27">
                <a:extLst>
                  <a:ext uri="{FF2B5EF4-FFF2-40B4-BE49-F238E27FC236}">
                    <a16:creationId xmlns:a16="http://schemas.microsoft.com/office/drawing/2014/main" id="{41AEF3F8-C414-4D53-A552-B655E175C6E1}"/>
                  </a:ext>
                </a:extLst>
              </p:cNvPr>
              <p:cNvGrpSpPr>
                <a:grpSpLocks/>
              </p:cNvGrpSpPr>
              <p:nvPr/>
            </p:nvGrpSpPr>
            <p:grpSpPr bwMode="auto">
              <a:xfrm>
                <a:off x="684" y="596"/>
                <a:ext cx="1403" cy="1130"/>
                <a:chOff x="684" y="596"/>
                <a:chExt cx="1403" cy="1130"/>
              </a:xfrm>
            </p:grpSpPr>
            <p:sp>
              <p:nvSpPr>
                <p:cNvPr id="131" name="Rectangle 28">
                  <a:extLst>
                    <a:ext uri="{FF2B5EF4-FFF2-40B4-BE49-F238E27FC236}">
                      <a16:creationId xmlns:a16="http://schemas.microsoft.com/office/drawing/2014/main" id="{F162A7AA-CEB6-411F-AE6A-79730772191B}"/>
                    </a:ext>
                  </a:extLst>
                </p:cNvPr>
                <p:cNvSpPr>
                  <a:spLocks noChangeArrowheads="1"/>
                </p:cNvSpPr>
                <p:nvPr/>
              </p:nvSpPr>
              <p:spPr bwMode="auto">
                <a:xfrm>
                  <a:off x="727" y="596"/>
                  <a:ext cx="1317" cy="1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The values of a nominal attribute are just different names, i.e., nominal attributes provide only enough information to distinguish one object from another. (=, </a:t>
                  </a: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sym typeface="Symbol" panose="05050102010706020507" pitchFamily="18" charset="2"/>
                    </a:rPr>
                    <a:t></a:t>
                  </a: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sym typeface="Symbol" panose="05050102010706020507" pitchFamily="18" charset="2"/>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sym typeface="Symbol" panose="05050102010706020507" pitchFamily="18" charset="2"/>
                  </a:endParaRPr>
                </a:p>
              </p:txBody>
            </p:sp>
            <p:sp>
              <p:nvSpPr>
                <p:cNvPr id="132" name="Rectangle 29">
                  <a:extLst>
                    <a:ext uri="{FF2B5EF4-FFF2-40B4-BE49-F238E27FC236}">
                      <a16:creationId xmlns:a16="http://schemas.microsoft.com/office/drawing/2014/main" id="{1A50C511-1AF5-4D1B-B8C8-24399BF8BFA3}"/>
                    </a:ext>
                  </a:extLst>
                </p:cNvPr>
                <p:cNvSpPr>
                  <a:spLocks noChangeArrowheads="1"/>
                </p:cNvSpPr>
                <p:nvPr/>
              </p:nvSpPr>
              <p:spPr bwMode="auto">
                <a:xfrm>
                  <a:off x="684" y="596"/>
                  <a:ext cx="1403" cy="113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9" name="Group 30">
                <a:extLst>
                  <a:ext uri="{FF2B5EF4-FFF2-40B4-BE49-F238E27FC236}">
                    <a16:creationId xmlns:a16="http://schemas.microsoft.com/office/drawing/2014/main" id="{D8DC8D4A-9DA8-416C-B848-D511A02259F9}"/>
                  </a:ext>
                </a:extLst>
              </p:cNvPr>
              <p:cNvGrpSpPr>
                <a:grpSpLocks/>
              </p:cNvGrpSpPr>
              <p:nvPr/>
            </p:nvGrpSpPr>
            <p:grpSpPr bwMode="auto">
              <a:xfrm>
                <a:off x="2087" y="596"/>
                <a:ext cx="950" cy="1130"/>
                <a:chOff x="2087" y="596"/>
                <a:chExt cx="950" cy="1130"/>
              </a:xfrm>
            </p:grpSpPr>
            <p:sp>
              <p:nvSpPr>
                <p:cNvPr id="129" name="Rectangle 31">
                  <a:extLst>
                    <a:ext uri="{FF2B5EF4-FFF2-40B4-BE49-F238E27FC236}">
                      <a16:creationId xmlns:a16="http://schemas.microsoft.com/office/drawing/2014/main" id="{CD671906-FBA0-4422-ADDC-46CC1CD9F46A}"/>
                    </a:ext>
                  </a:extLst>
                </p:cNvPr>
                <p:cNvSpPr>
                  <a:spLocks noChangeArrowheads="1"/>
                </p:cNvSpPr>
                <p:nvPr/>
              </p:nvSpPr>
              <p:spPr bwMode="auto">
                <a:xfrm>
                  <a:off x="2130" y="596"/>
                  <a:ext cx="864" cy="1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zip codes, employee ID numbers, eye color, sex: {</a:t>
                  </a:r>
                  <a:r>
                    <a:rPr kumimoji="0" lang="en-US" altLang="es-MX" sz="1400" b="0" i="1"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male, female</a:t>
                  </a: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30" name="Rectangle 32">
                  <a:extLst>
                    <a:ext uri="{FF2B5EF4-FFF2-40B4-BE49-F238E27FC236}">
                      <a16:creationId xmlns:a16="http://schemas.microsoft.com/office/drawing/2014/main" id="{F2590957-7E3F-45BD-9BC0-413F8F5FD989}"/>
                    </a:ext>
                  </a:extLst>
                </p:cNvPr>
                <p:cNvSpPr>
                  <a:spLocks noChangeArrowheads="1"/>
                </p:cNvSpPr>
                <p:nvPr/>
              </p:nvSpPr>
              <p:spPr bwMode="auto">
                <a:xfrm>
                  <a:off x="2087" y="596"/>
                  <a:ext cx="950" cy="113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0" name="Group 33">
                <a:extLst>
                  <a:ext uri="{FF2B5EF4-FFF2-40B4-BE49-F238E27FC236}">
                    <a16:creationId xmlns:a16="http://schemas.microsoft.com/office/drawing/2014/main" id="{BB9F0280-B400-4134-B81A-488315B1D526}"/>
                  </a:ext>
                </a:extLst>
              </p:cNvPr>
              <p:cNvGrpSpPr>
                <a:grpSpLocks/>
              </p:cNvGrpSpPr>
              <p:nvPr/>
            </p:nvGrpSpPr>
            <p:grpSpPr bwMode="auto">
              <a:xfrm>
                <a:off x="3037" y="596"/>
                <a:ext cx="849" cy="1130"/>
                <a:chOff x="3037" y="596"/>
                <a:chExt cx="849" cy="1130"/>
              </a:xfrm>
            </p:grpSpPr>
            <p:sp>
              <p:nvSpPr>
                <p:cNvPr id="127" name="Rectangle 34">
                  <a:extLst>
                    <a:ext uri="{FF2B5EF4-FFF2-40B4-BE49-F238E27FC236}">
                      <a16:creationId xmlns:a16="http://schemas.microsoft.com/office/drawing/2014/main" id="{CCADDED0-A1D2-4ED6-90E6-DDABD77AC49C}"/>
                    </a:ext>
                  </a:extLst>
                </p:cNvPr>
                <p:cNvSpPr>
                  <a:spLocks noChangeArrowheads="1"/>
                </p:cNvSpPr>
                <p:nvPr/>
              </p:nvSpPr>
              <p:spPr bwMode="auto">
                <a:xfrm>
                  <a:off x="3080" y="596"/>
                  <a:ext cx="763" cy="1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mode, entropy, contingency correlation, </a:t>
                  </a: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sym typeface="Symbol" panose="05050102010706020507" pitchFamily="18" charset="2"/>
                    </a:rPr>
                    <a:t></a:t>
                  </a:r>
                  <a:r>
                    <a:rPr kumimoji="0" lang="en-US" altLang="es-MX" sz="1400" b="0" i="0" u="none" strike="noStrike" kern="1200" cap="none" spc="0" normalizeH="0" baseline="30000" noProof="0">
                      <a:ln>
                        <a:noFill/>
                      </a:ln>
                      <a:solidFill>
                        <a:prstClr val="black"/>
                      </a:solidFill>
                      <a:effectLst/>
                      <a:uLnTx/>
                      <a:uFillTx/>
                      <a:latin typeface="Times New Roman" panose="02020603050405020304" pitchFamily="18" charset="0"/>
                      <a:ea typeface="MS Mincho" panose="02020609040205080304" pitchFamily="49" charset="-128"/>
                      <a:cs typeface="+mn-cs"/>
                    </a:rPr>
                    <a:t>2</a:t>
                  </a: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sym typeface="Symbol" panose="05050102010706020507" pitchFamily="18" charset="2"/>
                    </a:rPr>
                    <a:t> test</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sym typeface="Symbol" panose="05050102010706020507" pitchFamily="18" charset="2"/>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sym typeface="Symbol" panose="05050102010706020507" pitchFamily="18" charset="2"/>
                  </a:endParaRPr>
                </a:p>
              </p:txBody>
            </p:sp>
            <p:sp>
              <p:nvSpPr>
                <p:cNvPr id="128" name="Rectangle 35">
                  <a:extLst>
                    <a:ext uri="{FF2B5EF4-FFF2-40B4-BE49-F238E27FC236}">
                      <a16:creationId xmlns:a16="http://schemas.microsoft.com/office/drawing/2014/main" id="{004CDDDF-9E95-42F4-AF84-9531D0462377}"/>
                    </a:ext>
                  </a:extLst>
                </p:cNvPr>
                <p:cNvSpPr>
                  <a:spLocks noChangeArrowheads="1"/>
                </p:cNvSpPr>
                <p:nvPr/>
              </p:nvSpPr>
              <p:spPr bwMode="auto">
                <a:xfrm>
                  <a:off x="3037" y="596"/>
                  <a:ext cx="849" cy="1130"/>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1" name="Group 36">
                <a:extLst>
                  <a:ext uri="{FF2B5EF4-FFF2-40B4-BE49-F238E27FC236}">
                    <a16:creationId xmlns:a16="http://schemas.microsoft.com/office/drawing/2014/main" id="{8E8D5B5A-B4F6-4379-8435-80F225EEEADE}"/>
                  </a:ext>
                </a:extLst>
              </p:cNvPr>
              <p:cNvGrpSpPr>
                <a:grpSpLocks/>
              </p:cNvGrpSpPr>
              <p:nvPr/>
            </p:nvGrpSpPr>
            <p:grpSpPr bwMode="auto">
              <a:xfrm>
                <a:off x="0" y="1726"/>
                <a:ext cx="684" cy="1092"/>
                <a:chOff x="0" y="1726"/>
                <a:chExt cx="684" cy="1092"/>
              </a:xfrm>
            </p:grpSpPr>
            <p:sp>
              <p:nvSpPr>
                <p:cNvPr id="125" name="Rectangle 37">
                  <a:extLst>
                    <a:ext uri="{FF2B5EF4-FFF2-40B4-BE49-F238E27FC236}">
                      <a16:creationId xmlns:a16="http://schemas.microsoft.com/office/drawing/2014/main" id="{5CD64AE7-7227-4E47-A3FE-BCE1978E3487}"/>
                    </a:ext>
                  </a:extLst>
                </p:cNvPr>
                <p:cNvSpPr>
                  <a:spLocks noChangeArrowheads="1"/>
                </p:cNvSpPr>
                <p:nvPr/>
              </p:nvSpPr>
              <p:spPr bwMode="auto">
                <a:xfrm>
                  <a:off x="43" y="1726"/>
                  <a:ext cx="598"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Ordinal</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26" name="Rectangle 38">
                  <a:extLst>
                    <a:ext uri="{FF2B5EF4-FFF2-40B4-BE49-F238E27FC236}">
                      <a16:creationId xmlns:a16="http://schemas.microsoft.com/office/drawing/2014/main" id="{E5AE8B3B-FC90-42F1-9DF0-269E84ADDD0C}"/>
                    </a:ext>
                  </a:extLst>
                </p:cNvPr>
                <p:cNvSpPr>
                  <a:spLocks noChangeArrowheads="1"/>
                </p:cNvSpPr>
                <p:nvPr/>
              </p:nvSpPr>
              <p:spPr bwMode="auto">
                <a:xfrm>
                  <a:off x="0" y="1726"/>
                  <a:ext cx="684"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2" name="Group 39">
                <a:extLst>
                  <a:ext uri="{FF2B5EF4-FFF2-40B4-BE49-F238E27FC236}">
                    <a16:creationId xmlns:a16="http://schemas.microsoft.com/office/drawing/2014/main" id="{CA470B35-7773-4EB2-A94A-63220BE1F9B4}"/>
                  </a:ext>
                </a:extLst>
              </p:cNvPr>
              <p:cNvGrpSpPr>
                <a:grpSpLocks/>
              </p:cNvGrpSpPr>
              <p:nvPr/>
            </p:nvGrpSpPr>
            <p:grpSpPr bwMode="auto">
              <a:xfrm>
                <a:off x="684" y="1726"/>
                <a:ext cx="1403" cy="1092"/>
                <a:chOff x="684" y="1726"/>
                <a:chExt cx="1403" cy="1092"/>
              </a:xfrm>
            </p:grpSpPr>
            <p:sp>
              <p:nvSpPr>
                <p:cNvPr id="123" name="Rectangle 40">
                  <a:extLst>
                    <a:ext uri="{FF2B5EF4-FFF2-40B4-BE49-F238E27FC236}">
                      <a16:creationId xmlns:a16="http://schemas.microsoft.com/office/drawing/2014/main" id="{0C56C1DE-8179-4A5A-AE0D-B69774FD203F}"/>
                    </a:ext>
                  </a:extLst>
                </p:cNvPr>
                <p:cNvSpPr>
                  <a:spLocks noChangeArrowheads="1"/>
                </p:cNvSpPr>
                <p:nvPr/>
              </p:nvSpPr>
              <p:spPr bwMode="auto">
                <a:xfrm>
                  <a:off x="727" y="1726"/>
                  <a:ext cx="1317"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The values of an ordinal attribute provide enough information to order objects. (&lt;, &gt;)</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24" name="Rectangle 41">
                  <a:extLst>
                    <a:ext uri="{FF2B5EF4-FFF2-40B4-BE49-F238E27FC236}">
                      <a16:creationId xmlns:a16="http://schemas.microsoft.com/office/drawing/2014/main" id="{8C213F58-F831-4EDF-8748-5F9B75C18666}"/>
                    </a:ext>
                  </a:extLst>
                </p:cNvPr>
                <p:cNvSpPr>
                  <a:spLocks noChangeArrowheads="1"/>
                </p:cNvSpPr>
                <p:nvPr/>
              </p:nvSpPr>
              <p:spPr bwMode="auto">
                <a:xfrm>
                  <a:off x="684" y="1726"/>
                  <a:ext cx="1403"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3" name="Group 42">
                <a:extLst>
                  <a:ext uri="{FF2B5EF4-FFF2-40B4-BE49-F238E27FC236}">
                    <a16:creationId xmlns:a16="http://schemas.microsoft.com/office/drawing/2014/main" id="{5EC32BB6-FE2B-4092-861D-96FE71D92D72}"/>
                  </a:ext>
                </a:extLst>
              </p:cNvPr>
              <p:cNvGrpSpPr>
                <a:grpSpLocks/>
              </p:cNvGrpSpPr>
              <p:nvPr/>
            </p:nvGrpSpPr>
            <p:grpSpPr bwMode="auto">
              <a:xfrm>
                <a:off x="2087" y="1726"/>
                <a:ext cx="950" cy="1092"/>
                <a:chOff x="2087" y="1726"/>
                <a:chExt cx="950" cy="1092"/>
              </a:xfrm>
            </p:grpSpPr>
            <p:sp>
              <p:nvSpPr>
                <p:cNvPr id="121" name="Rectangle 43">
                  <a:extLst>
                    <a:ext uri="{FF2B5EF4-FFF2-40B4-BE49-F238E27FC236}">
                      <a16:creationId xmlns:a16="http://schemas.microsoft.com/office/drawing/2014/main" id="{7849D7FC-2CCC-4D36-8156-61DE9CC73B20}"/>
                    </a:ext>
                  </a:extLst>
                </p:cNvPr>
                <p:cNvSpPr>
                  <a:spLocks noChangeArrowheads="1"/>
                </p:cNvSpPr>
                <p:nvPr/>
              </p:nvSpPr>
              <p:spPr bwMode="auto">
                <a:xfrm>
                  <a:off x="2130" y="1726"/>
                  <a:ext cx="864"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hardness of minerals, {</a:t>
                  </a:r>
                  <a:r>
                    <a:rPr kumimoji="0" lang="en-US" altLang="es-MX" sz="1400" b="0" i="1"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good, better, best</a:t>
                  </a: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 </a:t>
                  </a:r>
                  <a:b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b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grades, street numbers</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22" name="Rectangle 44">
                  <a:extLst>
                    <a:ext uri="{FF2B5EF4-FFF2-40B4-BE49-F238E27FC236}">
                      <a16:creationId xmlns:a16="http://schemas.microsoft.com/office/drawing/2014/main" id="{23F69B80-855E-4353-B747-3CE0D000CA77}"/>
                    </a:ext>
                  </a:extLst>
                </p:cNvPr>
                <p:cNvSpPr>
                  <a:spLocks noChangeArrowheads="1"/>
                </p:cNvSpPr>
                <p:nvPr/>
              </p:nvSpPr>
              <p:spPr bwMode="auto">
                <a:xfrm>
                  <a:off x="2087" y="1726"/>
                  <a:ext cx="950"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4" name="Group 45">
                <a:extLst>
                  <a:ext uri="{FF2B5EF4-FFF2-40B4-BE49-F238E27FC236}">
                    <a16:creationId xmlns:a16="http://schemas.microsoft.com/office/drawing/2014/main" id="{1F347FF1-7301-49C6-9C9F-A21CCA4F8EE9}"/>
                  </a:ext>
                </a:extLst>
              </p:cNvPr>
              <p:cNvGrpSpPr>
                <a:grpSpLocks/>
              </p:cNvGrpSpPr>
              <p:nvPr/>
            </p:nvGrpSpPr>
            <p:grpSpPr bwMode="auto">
              <a:xfrm>
                <a:off x="3037" y="1726"/>
                <a:ext cx="849" cy="1092"/>
                <a:chOff x="3037" y="1726"/>
                <a:chExt cx="849" cy="1092"/>
              </a:xfrm>
            </p:grpSpPr>
            <p:sp>
              <p:nvSpPr>
                <p:cNvPr id="119" name="Rectangle 46">
                  <a:extLst>
                    <a:ext uri="{FF2B5EF4-FFF2-40B4-BE49-F238E27FC236}">
                      <a16:creationId xmlns:a16="http://schemas.microsoft.com/office/drawing/2014/main" id="{DE3B77DF-2F45-4CE7-B520-5B7560BCB5F7}"/>
                    </a:ext>
                  </a:extLst>
                </p:cNvPr>
                <p:cNvSpPr>
                  <a:spLocks noChangeArrowheads="1"/>
                </p:cNvSpPr>
                <p:nvPr/>
              </p:nvSpPr>
              <p:spPr bwMode="auto">
                <a:xfrm>
                  <a:off x="3080" y="1726"/>
                  <a:ext cx="763"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median, percentiles, rank correlation, run tests, sign tests</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20" name="Rectangle 47">
                  <a:extLst>
                    <a:ext uri="{FF2B5EF4-FFF2-40B4-BE49-F238E27FC236}">
                      <a16:creationId xmlns:a16="http://schemas.microsoft.com/office/drawing/2014/main" id="{EFDA0ED9-C195-4EB5-BEE3-946F872FE294}"/>
                    </a:ext>
                  </a:extLst>
                </p:cNvPr>
                <p:cNvSpPr>
                  <a:spLocks noChangeArrowheads="1"/>
                </p:cNvSpPr>
                <p:nvPr/>
              </p:nvSpPr>
              <p:spPr bwMode="auto">
                <a:xfrm>
                  <a:off x="3037" y="1726"/>
                  <a:ext cx="849"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5" name="Group 48">
                <a:extLst>
                  <a:ext uri="{FF2B5EF4-FFF2-40B4-BE49-F238E27FC236}">
                    <a16:creationId xmlns:a16="http://schemas.microsoft.com/office/drawing/2014/main" id="{7AA9752E-1294-47BE-B91D-47EA21141394}"/>
                  </a:ext>
                </a:extLst>
              </p:cNvPr>
              <p:cNvGrpSpPr>
                <a:grpSpLocks/>
              </p:cNvGrpSpPr>
              <p:nvPr/>
            </p:nvGrpSpPr>
            <p:grpSpPr bwMode="auto">
              <a:xfrm>
                <a:off x="0" y="2818"/>
                <a:ext cx="684" cy="1092"/>
                <a:chOff x="0" y="2818"/>
                <a:chExt cx="684" cy="1092"/>
              </a:xfrm>
            </p:grpSpPr>
            <p:sp>
              <p:nvSpPr>
                <p:cNvPr id="117" name="Rectangle 49">
                  <a:extLst>
                    <a:ext uri="{FF2B5EF4-FFF2-40B4-BE49-F238E27FC236}">
                      <a16:creationId xmlns:a16="http://schemas.microsoft.com/office/drawing/2014/main" id="{2B6F7309-CBB8-4EA2-B265-516A02C7F3CF}"/>
                    </a:ext>
                  </a:extLst>
                </p:cNvPr>
                <p:cNvSpPr>
                  <a:spLocks noChangeArrowheads="1"/>
                </p:cNvSpPr>
                <p:nvPr/>
              </p:nvSpPr>
              <p:spPr bwMode="auto">
                <a:xfrm>
                  <a:off x="43" y="2818"/>
                  <a:ext cx="598"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Interval</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18" name="Rectangle 50">
                  <a:extLst>
                    <a:ext uri="{FF2B5EF4-FFF2-40B4-BE49-F238E27FC236}">
                      <a16:creationId xmlns:a16="http://schemas.microsoft.com/office/drawing/2014/main" id="{CBDE8BAB-C69F-4D5E-A8FA-454D5ECC468C}"/>
                    </a:ext>
                  </a:extLst>
                </p:cNvPr>
                <p:cNvSpPr>
                  <a:spLocks noChangeArrowheads="1"/>
                </p:cNvSpPr>
                <p:nvPr/>
              </p:nvSpPr>
              <p:spPr bwMode="auto">
                <a:xfrm>
                  <a:off x="0" y="2818"/>
                  <a:ext cx="684"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6" name="Group 51">
                <a:extLst>
                  <a:ext uri="{FF2B5EF4-FFF2-40B4-BE49-F238E27FC236}">
                    <a16:creationId xmlns:a16="http://schemas.microsoft.com/office/drawing/2014/main" id="{91EF527D-4347-4B52-9900-3B8D90C5AA8E}"/>
                  </a:ext>
                </a:extLst>
              </p:cNvPr>
              <p:cNvGrpSpPr>
                <a:grpSpLocks/>
              </p:cNvGrpSpPr>
              <p:nvPr/>
            </p:nvGrpSpPr>
            <p:grpSpPr bwMode="auto">
              <a:xfrm>
                <a:off x="684" y="2818"/>
                <a:ext cx="1403" cy="1092"/>
                <a:chOff x="684" y="2818"/>
                <a:chExt cx="1403" cy="1092"/>
              </a:xfrm>
            </p:grpSpPr>
            <p:sp>
              <p:nvSpPr>
                <p:cNvPr id="115" name="Rectangle 52">
                  <a:extLst>
                    <a:ext uri="{FF2B5EF4-FFF2-40B4-BE49-F238E27FC236}">
                      <a16:creationId xmlns:a16="http://schemas.microsoft.com/office/drawing/2014/main" id="{957C08C3-CEA5-42FD-9ECE-F26A7B3627D6}"/>
                    </a:ext>
                  </a:extLst>
                </p:cNvPr>
                <p:cNvSpPr>
                  <a:spLocks noChangeArrowheads="1"/>
                </p:cNvSpPr>
                <p:nvPr/>
              </p:nvSpPr>
              <p:spPr bwMode="auto">
                <a:xfrm>
                  <a:off x="727" y="2818"/>
                  <a:ext cx="1317"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For interval attributes, the differences between values are meaningful, i.e., a unit of measurement exists.  </a:t>
                  </a:r>
                  <a:b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b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 - )</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16" name="Rectangle 53">
                  <a:extLst>
                    <a:ext uri="{FF2B5EF4-FFF2-40B4-BE49-F238E27FC236}">
                      <a16:creationId xmlns:a16="http://schemas.microsoft.com/office/drawing/2014/main" id="{F2DCE631-7D6F-4C32-B59D-9ADC7CFF34E9}"/>
                    </a:ext>
                  </a:extLst>
                </p:cNvPr>
                <p:cNvSpPr>
                  <a:spLocks noChangeArrowheads="1"/>
                </p:cNvSpPr>
                <p:nvPr/>
              </p:nvSpPr>
              <p:spPr bwMode="auto">
                <a:xfrm>
                  <a:off x="684" y="2818"/>
                  <a:ext cx="1403"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7" name="Group 54">
                <a:extLst>
                  <a:ext uri="{FF2B5EF4-FFF2-40B4-BE49-F238E27FC236}">
                    <a16:creationId xmlns:a16="http://schemas.microsoft.com/office/drawing/2014/main" id="{7CCF9E51-E042-400D-8B7C-E9952340A838}"/>
                  </a:ext>
                </a:extLst>
              </p:cNvPr>
              <p:cNvGrpSpPr>
                <a:grpSpLocks/>
              </p:cNvGrpSpPr>
              <p:nvPr/>
            </p:nvGrpSpPr>
            <p:grpSpPr bwMode="auto">
              <a:xfrm>
                <a:off x="2087" y="2818"/>
                <a:ext cx="950" cy="1092"/>
                <a:chOff x="2087" y="2818"/>
                <a:chExt cx="950" cy="1092"/>
              </a:xfrm>
            </p:grpSpPr>
            <p:sp>
              <p:nvSpPr>
                <p:cNvPr id="113" name="Rectangle 55">
                  <a:extLst>
                    <a:ext uri="{FF2B5EF4-FFF2-40B4-BE49-F238E27FC236}">
                      <a16:creationId xmlns:a16="http://schemas.microsoft.com/office/drawing/2014/main" id="{D36DFECC-307E-4E3B-8D40-CF1870DC64B9}"/>
                    </a:ext>
                  </a:extLst>
                </p:cNvPr>
                <p:cNvSpPr>
                  <a:spLocks noChangeArrowheads="1"/>
                </p:cNvSpPr>
                <p:nvPr/>
              </p:nvSpPr>
              <p:spPr bwMode="auto">
                <a:xfrm>
                  <a:off x="2130" y="2818"/>
                  <a:ext cx="864"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calendar dates, temperature in Celsius or Fahrenheit</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14" name="Rectangle 56">
                  <a:extLst>
                    <a:ext uri="{FF2B5EF4-FFF2-40B4-BE49-F238E27FC236}">
                      <a16:creationId xmlns:a16="http://schemas.microsoft.com/office/drawing/2014/main" id="{486A6D32-65CD-400E-A6E9-C67A38E0A990}"/>
                    </a:ext>
                  </a:extLst>
                </p:cNvPr>
                <p:cNvSpPr>
                  <a:spLocks noChangeArrowheads="1"/>
                </p:cNvSpPr>
                <p:nvPr/>
              </p:nvSpPr>
              <p:spPr bwMode="auto">
                <a:xfrm>
                  <a:off x="2087" y="2818"/>
                  <a:ext cx="950"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8" name="Group 57">
                <a:extLst>
                  <a:ext uri="{FF2B5EF4-FFF2-40B4-BE49-F238E27FC236}">
                    <a16:creationId xmlns:a16="http://schemas.microsoft.com/office/drawing/2014/main" id="{90EE9461-1BB0-4188-BB0A-32D8465560FE}"/>
                  </a:ext>
                </a:extLst>
              </p:cNvPr>
              <p:cNvGrpSpPr>
                <a:grpSpLocks/>
              </p:cNvGrpSpPr>
              <p:nvPr/>
            </p:nvGrpSpPr>
            <p:grpSpPr bwMode="auto">
              <a:xfrm>
                <a:off x="3037" y="2818"/>
                <a:ext cx="849" cy="1092"/>
                <a:chOff x="3037" y="2818"/>
                <a:chExt cx="849" cy="1092"/>
              </a:xfrm>
            </p:grpSpPr>
            <p:sp>
              <p:nvSpPr>
                <p:cNvPr id="111" name="Rectangle 58">
                  <a:extLst>
                    <a:ext uri="{FF2B5EF4-FFF2-40B4-BE49-F238E27FC236}">
                      <a16:creationId xmlns:a16="http://schemas.microsoft.com/office/drawing/2014/main" id="{AF12EB47-9712-465A-B4E4-879AC849647C}"/>
                    </a:ext>
                  </a:extLst>
                </p:cNvPr>
                <p:cNvSpPr>
                  <a:spLocks noChangeArrowheads="1"/>
                </p:cNvSpPr>
                <p:nvPr/>
              </p:nvSpPr>
              <p:spPr bwMode="auto">
                <a:xfrm>
                  <a:off x="3080" y="2818"/>
                  <a:ext cx="763"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mean, standard deviation, Pearson's correlation, </a:t>
                  </a:r>
                  <a:r>
                    <a:rPr kumimoji="0" lang="en-US" altLang="es-MX" sz="1400" b="0" i="1"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t</a:t>
                  </a: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 and </a:t>
                  </a:r>
                  <a:r>
                    <a:rPr kumimoji="0" lang="en-US" altLang="es-MX" sz="1400" b="0" i="1"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F</a:t>
                  </a:r>
                  <a:r>
                    <a:rPr kumimoji="0" lang="en-US" altLang="es-MX" sz="14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 tests</a:t>
                  </a:r>
                  <a:endParaRPr kumimoji="0" lang="en-US" altLang="es-MX"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12" name="Rectangle 59">
                  <a:extLst>
                    <a:ext uri="{FF2B5EF4-FFF2-40B4-BE49-F238E27FC236}">
                      <a16:creationId xmlns:a16="http://schemas.microsoft.com/office/drawing/2014/main" id="{C9091595-663F-4415-B71C-FFDF6005F8EB}"/>
                    </a:ext>
                  </a:extLst>
                </p:cNvPr>
                <p:cNvSpPr>
                  <a:spLocks noChangeArrowheads="1"/>
                </p:cNvSpPr>
                <p:nvPr/>
              </p:nvSpPr>
              <p:spPr bwMode="auto">
                <a:xfrm>
                  <a:off x="3037" y="2818"/>
                  <a:ext cx="849"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9" name="Group 60">
                <a:extLst>
                  <a:ext uri="{FF2B5EF4-FFF2-40B4-BE49-F238E27FC236}">
                    <a16:creationId xmlns:a16="http://schemas.microsoft.com/office/drawing/2014/main" id="{A4D6B7DD-C8EC-4087-832C-D213EE94F106}"/>
                  </a:ext>
                </a:extLst>
              </p:cNvPr>
              <p:cNvGrpSpPr>
                <a:grpSpLocks/>
              </p:cNvGrpSpPr>
              <p:nvPr/>
            </p:nvGrpSpPr>
            <p:grpSpPr bwMode="auto">
              <a:xfrm>
                <a:off x="0" y="3910"/>
                <a:ext cx="684" cy="1092"/>
                <a:chOff x="0" y="3910"/>
                <a:chExt cx="684" cy="1092"/>
              </a:xfrm>
            </p:grpSpPr>
            <p:sp>
              <p:nvSpPr>
                <p:cNvPr id="109" name="Rectangle 61">
                  <a:extLst>
                    <a:ext uri="{FF2B5EF4-FFF2-40B4-BE49-F238E27FC236}">
                      <a16:creationId xmlns:a16="http://schemas.microsoft.com/office/drawing/2014/main" id="{6D223DFD-C871-4F2B-A659-86337666327E}"/>
                    </a:ext>
                  </a:extLst>
                </p:cNvPr>
                <p:cNvSpPr>
                  <a:spLocks noChangeArrowheads="1"/>
                </p:cNvSpPr>
                <p:nvPr/>
              </p:nvSpPr>
              <p:spPr bwMode="auto">
                <a:xfrm>
                  <a:off x="43" y="3910"/>
                  <a:ext cx="598"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Ratio</a:t>
                  </a:r>
                  <a:endParaRPr kumimoji="0" lang="en-US" altLang="es-MX"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
              <p:nvSpPr>
                <p:cNvPr id="110" name="Rectangle 62">
                  <a:extLst>
                    <a:ext uri="{FF2B5EF4-FFF2-40B4-BE49-F238E27FC236}">
                      <a16:creationId xmlns:a16="http://schemas.microsoft.com/office/drawing/2014/main" id="{DDF6C1E7-970E-4D8D-ACBA-9D0BD5408904}"/>
                    </a:ext>
                  </a:extLst>
                </p:cNvPr>
                <p:cNvSpPr>
                  <a:spLocks noChangeArrowheads="1"/>
                </p:cNvSpPr>
                <p:nvPr/>
              </p:nvSpPr>
              <p:spPr bwMode="auto">
                <a:xfrm>
                  <a:off x="0" y="3910"/>
                  <a:ext cx="684" cy="96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00" name="Group 63">
                <a:extLst>
                  <a:ext uri="{FF2B5EF4-FFF2-40B4-BE49-F238E27FC236}">
                    <a16:creationId xmlns:a16="http://schemas.microsoft.com/office/drawing/2014/main" id="{6DE0ABB2-4FE7-41AD-8C65-3588937E8039}"/>
                  </a:ext>
                </a:extLst>
              </p:cNvPr>
              <p:cNvGrpSpPr>
                <a:grpSpLocks/>
              </p:cNvGrpSpPr>
              <p:nvPr/>
            </p:nvGrpSpPr>
            <p:grpSpPr bwMode="auto">
              <a:xfrm>
                <a:off x="684" y="3910"/>
                <a:ext cx="1401" cy="971"/>
                <a:chOff x="684" y="3910"/>
                <a:chExt cx="1401" cy="971"/>
              </a:xfrm>
            </p:grpSpPr>
            <p:sp>
              <p:nvSpPr>
                <p:cNvPr id="107" name="Rectangle 64">
                  <a:extLst>
                    <a:ext uri="{FF2B5EF4-FFF2-40B4-BE49-F238E27FC236}">
                      <a16:creationId xmlns:a16="http://schemas.microsoft.com/office/drawing/2014/main" id="{D9E287AF-87D9-407F-8484-8011822781CB}"/>
                    </a:ext>
                  </a:extLst>
                </p:cNvPr>
                <p:cNvSpPr>
                  <a:spLocks noChangeArrowheads="1"/>
                </p:cNvSpPr>
                <p:nvPr/>
              </p:nvSpPr>
              <p:spPr bwMode="auto">
                <a:xfrm>
                  <a:off x="727" y="3910"/>
                  <a:ext cx="1317" cy="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dirty="0">
                      <a:ln>
                        <a:noFill/>
                      </a:ln>
                      <a:solidFill>
                        <a:prstClr val="black"/>
                      </a:solidFill>
                      <a:effectLst/>
                      <a:uLnTx/>
                      <a:uFillTx/>
                      <a:latin typeface="Times New Roman" panose="02020603050405020304" pitchFamily="18" charset="0"/>
                      <a:ea typeface="MS Mincho" panose="02020609040205080304" pitchFamily="49" charset="-128"/>
                      <a:cs typeface="+mn-cs"/>
                    </a:rPr>
                    <a:t>For ratio variables, both differences and ratios are meaningful. (*, /)</a:t>
                  </a:r>
                  <a:endParaRPr kumimoji="0" lang="en-US" altLang="es-MX"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
              <p:nvSpPr>
                <p:cNvPr id="108" name="Rectangle 65">
                  <a:extLst>
                    <a:ext uri="{FF2B5EF4-FFF2-40B4-BE49-F238E27FC236}">
                      <a16:creationId xmlns:a16="http://schemas.microsoft.com/office/drawing/2014/main" id="{F582951B-F059-41E1-8E61-665A4E157576}"/>
                    </a:ext>
                  </a:extLst>
                </p:cNvPr>
                <p:cNvSpPr>
                  <a:spLocks noChangeArrowheads="1"/>
                </p:cNvSpPr>
                <p:nvPr/>
              </p:nvSpPr>
              <p:spPr bwMode="auto">
                <a:xfrm>
                  <a:off x="684" y="3910"/>
                  <a:ext cx="1401" cy="96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01" name="Group 66">
                <a:extLst>
                  <a:ext uri="{FF2B5EF4-FFF2-40B4-BE49-F238E27FC236}">
                    <a16:creationId xmlns:a16="http://schemas.microsoft.com/office/drawing/2014/main" id="{46081EB5-DC73-4C54-B7FD-1C81CA432D0F}"/>
                  </a:ext>
                </a:extLst>
              </p:cNvPr>
              <p:cNvGrpSpPr>
                <a:grpSpLocks/>
              </p:cNvGrpSpPr>
              <p:nvPr/>
            </p:nvGrpSpPr>
            <p:grpSpPr bwMode="auto">
              <a:xfrm>
                <a:off x="2087" y="3910"/>
                <a:ext cx="950" cy="971"/>
                <a:chOff x="2087" y="3910"/>
                <a:chExt cx="950" cy="971"/>
              </a:xfrm>
            </p:grpSpPr>
            <p:sp>
              <p:nvSpPr>
                <p:cNvPr id="105" name="Rectangle 67">
                  <a:extLst>
                    <a:ext uri="{FF2B5EF4-FFF2-40B4-BE49-F238E27FC236}">
                      <a16:creationId xmlns:a16="http://schemas.microsoft.com/office/drawing/2014/main" id="{643509C8-6558-4E2C-9126-BFEC6FEF5BEB}"/>
                    </a:ext>
                  </a:extLst>
                </p:cNvPr>
                <p:cNvSpPr>
                  <a:spLocks noChangeArrowheads="1"/>
                </p:cNvSpPr>
                <p:nvPr/>
              </p:nvSpPr>
              <p:spPr bwMode="auto">
                <a:xfrm>
                  <a:off x="2130" y="3910"/>
                  <a:ext cx="864" cy="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dirty="0">
                      <a:ln>
                        <a:noFill/>
                      </a:ln>
                      <a:solidFill>
                        <a:prstClr val="black"/>
                      </a:solidFill>
                      <a:effectLst/>
                      <a:uLnTx/>
                      <a:uFillTx/>
                      <a:latin typeface="Times New Roman" panose="02020603050405020304" pitchFamily="18" charset="0"/>
                      <a:ea typeface="MS Mincho" panose="02020609040205080304" pitchFamily="49" charset="-128"/>
                      <a:cs typeface="+mn-cs"/>
                    </a:rPr>
                    <a:t>temperature in Kelvin, monetary quantities, counts, age, mass, length, electrical current</a:t>
                  </a:r>
                  <a:endParaRPr kumimoji="0" lang="en-US" altLang="es-MX"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
              <p:nvSpPr>
                <p:cNvPr id="106" name="Rectangle 68">
                  <a:extLst>
                    <a:ext uri="{FF2B5EF4-FFF2-40B4-BE49-F238E27FC236}">
                      <a16:creationId xmlns:a16="http://schemas.microsoft.com/office/drawing/2014/main" id="{03153F47-AA3E-4FAB-974F-FED22652E51E}"/>
                    </a:ext>
                  </a:extLst>
                </p:cNvPr>
                <p:cNvSpPr>
                  <a:spLocks noChangeArrowheads="1"/>
                </p:cNvSpPr>
                <p:nvPr/>
              </p:nvSpPr>
              <p:spPr bwMode="auto">
                <a:xfrm>
                  <a:off x="2087" y="3910"/>
                  <a:ext cx="950" cy="96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02" name="Group 69">
                <a:extLst>
                  <a:ext uri="{FF2B5EF4-FFF2-40B4-BE49-F238E27FC236}">
                    <a16:creationId xmlns:a16="http://schemas.microsoft.com/office/drawing/2014/main" id="{77B93A67-0974-4BE3-B3C0-0F63E441C1B7}"/>
                  </a:ext>
                </a:extLst>
              </p:cNvPr>
              <p:cNvGrpSpPr>
                <a:grpSpLocks/>
              </p:cNvGrpSpPr>
              <p:nvPr/>
            </p:nvGrpSpPr>
            <p:grpSpPr bwMode="auto">
              <a:xfrm>
                <a:off x="3037" y="3910"/>
                <a:ext cx="849" cy="971"/>
                <a:chOff x="3037" y="3910"/>
                <a:chExt cx="849" cy="971"/>
              </a:xfrm>
            </p:grpSpPr>
            <p:sp>
              <p:nvSpPr>
                <p:cNvPr id="103" name="Rectangle 70">
                  <a:extLst>
                    <a:ext uri="{FF2B5EF4-FFF2-40B4-BE49-F238E27FC236}">
                      <a16:creationId xmlns:a16="http://schemas.microsoft.com/office/drawing/2014/main" id="{6656FD30-6DB5-40A3-B73F-364D6EA41E8A}"/>
                    </a:ext>
                  </a:extLst>
                </p:cNvPr>
                <p:cNvSpPr>
                  <a:spLocks noChangeArrowheads="1"/>
                </p:cNvSpPr>
                <p:nvPr/>
              </p:nvSpPr>
              <p:spPr bwMode="auto">
                <a:xfrm>
                  <a:off x="3080" y="3910"/>
                  <a:ext cx="763" cy="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400" b="0" i="0" u="none" strike="noStrike" kern="1200" cap="none" spc="0" normalizeH="0" baseline="0" noProof="0" dirty="0">
                      <a:ln>
                        <a:noFill/>
                      </a:ln>
                      <a:solidFill>
                        <a:prstClr val="black"/>
                      </a:solidFill>
                      <a:effectLst/>
                      <a:uLnTx/>
                      <a:uFillTx/>
                      <a:latin typeface="Times New Roman" panose="02020603050405020304" pitchFamily="18" charset="0"/>
                      <a:ea typeface="MS Mincho" panose="02020609040205080304" pitchFamily="49" charset="-128"/>
                      <a:cs typeface="+mn-cs"/>
                    </a:rPr>
                    <a:t>geometric mean, harmonic mean, percent variation</a:t>
                  </a:r>
                  <a:endParaRPr kumimoji="0" lang="en-US" altLang="es-MX"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
              <p:nvSpPr>
                <p:cNvPr id="104" name="Rectangle 71">
                  <a:extLst>
                    <a:ext uri="{FF2B5EF4-FFF2-40B4-BE49-F238E27FC236}">
                      <a16:creationId xmlns:a16="http://schemas.microsoft.com/office/drawing/2014/main" id="{767F7A05-C3F1-4220-B825-9E489EAB7B10}"/>
                    </a:ext>
                  </a:extLst>
                </p:cNvPr>
                <p:cNvSpPr>
                  <a:spLocks noChangeArrowheads="1"/>
                </p:cNvSpPr>
                <p:nvPr/>
              </p:nvSpPr>
              <p:spPr bwMode="auto">
                <a:xfrm>
                  <a:off x="3037" y="3910"/>
                  <a:ext cx="849" cy="969"/>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82" name="Rectangle 72">
              <a:extLst>
                <a:ext uri="{FF2B5EF4-FFF2-40B4-BE49-F238E27FC236}">
                  <a16:creationId xmlns:a16="http://schemas.microsoft.com/office/drawing/2014/main" id="{7C767ADB-5BB0-4E12-AF7E-402C535F30CC}"/>
                </a:ext>
              </a:extLst>
            </p:cNvPr>
            <p:cNvSpPr>
              <a:spLocks noChangeArrowheads="1"/>
            </p:cNvSpPr>
            <p:nvPr/>
          </p:nvSpPr>
          <p:spPr bwMode="auto">
            <a:xfrm>
              <a:off x="-2" y="-2"/>
              <a:ext cx="3890" cy="4881"/>
            </a:xfrm>
            <a:prstGeom prst="rect">
              <a:avLst/>
            </a:prstGeom>
            <a:noFill/>
            <a:ln w="6350">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63" name="Group 2">
            <a:extLst>
              <a:ext uri="{FF2B5EF4-FFF2-40B4-BE49-F238E27FC236}">
                <a16:creationId xmlns:a16="http://schemas.microsoft.com/office/drawing/2014/main" id="{AB402A31-4413-449B-8EF0-D62B28467067}"/>
              </a:ext>
            </a:extLst>
          </p:cNvPr>
          <p:cNvGrpSpPr>
            <a:grpSpLocks/>
          </p:cNvGrpSpPr>
          <p:nvPr/>
        </p:nvGrpSpPr>
        <p:grpSpPr bwMode="auto">
          <a:xfrm>
            <a:off x="2238375" y="180547"/>
            <a:ext cx="7924800" cy="6029755"/>
            <a:chOff x="-2" y="-2"/>
            <a:chExt cx="3761" cy="4000"/>
          </a:xfrm>
        </p:grpSpPr>
        <p:grpSp>
          <p:nvGrpSpPr>
            <p:cNvPr id="64" name="Group 3">
              <a:extLst>
                <a:ext uri="{FF2B5EF4-FFF2-40B4-BE49-F238E27FC236}">
                  <a16:creationId xmlns:a16="http://schemas.microsoft.com/office/drawing/2014/main" id="{EFD6D1F5-3AB4-498E-B028-931E9A0712E1}"/>
                </a:ext>
              </a:extLst>
            </p:cNvPr>
            <p:cNvGrpSpPr>
              <a:grpSpLocks/>
            </p:cNvGrpSpPr>
            <p:nvPr/>
          </p:nvGrpSpPr>
          <p:grpSpPr bwMode="auto">
            <a:xfrm>
              <a:off x="0" y="0"/>
              <a:ext cx="3757" cy="3998"/>
              <a:chOff x="0" y="0"/>
              <a:chExt cx="3757" cy="3998"/>
            </a:xfrm>
          </p:grpSpPr>
          <p:grpSp>
            <p:nvGrpSpPr>
              <p:cNvPr id="66" name="Group 4">
                <a:extLst>
                  <a:ext uri="{FF2B5EF4-FFF2-40B4-BE49-F238E27FC236}">
                    <a16:creationId xmlns:a16="http://schemas.microsoft.com/office/drawing/2014/main" id="{4BC361FC-6884-47F3-871E-FDC3104A8D31}"/>
                  </a:ext>
                </a:extLst>
              </p:cNvPr>
              <p:cNvGrpSpPr>
                <a:grpSpLocks/>
              </p:cNvGrpSpPr>
              <p:nvPr/>
            </p:nvGrpSpPr>
            <p:grpSpPr bwMode="auto">
              <a:xfrm>
                <a:off x="0" y="0"/>
                <a:ext cx="684" cy="596"/>
                <a:chOff x="0" y="0"/>
                <a:chExt cx="684" cy="596"/>
              </a:xfrm>
            </p:grpSpPr>
            <p:sp>
              <p:nvSpPr>
                <p:cNvPr id="113" name="Rectangle 5">
                  <a:extLst>
                    <a:ext uri="{FF2B5EF4-FFF2-40B4-BE49-F238E27FC236}">
                      <a16:creationId xmlns:a16="http://schemas.microsoft.com/office/drawing/2014/main" id="{05A88AD5-D0B4-42E2-99BB-600A802699D3}"/>
                    </a:ext>
                  </a:extLst>
                </p:cNvPr>
                <p:cNvSpPr>
                  <a:spLocks noChangeArrowheads="1"/>
                </p:cNvSpPr>
                <p:nvPr/>
              </p:nvSpPr>
              <p:spPr bwMode="auto">
                <a:xfrm>
                  <a:off x="0" y="0"/>
                  <a:ext cx="684"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14" name="Group 6">
                  <a:extLst>
                    <a:ext uri="{FF2B5EF4-FFF2-40B4-BE49-F238E27FC236}">
                      <a16:creationId xmlns:a16="http://schemas.microsoft.com/office/drawing/2014/main" id="{62B468EC-A6D7-43E0-8F2D-0E751B6214D0}"/>
                    </a:ext>
                  </a:extLst>
                </p:cNvPr>
                <p:cNvGrpSpPr>
                  <a:grpSpLocks/>
                </p:cNvGrpSpPr>
                <p:nvPr/>
              </p:nvGrpSpPr>
              <p:grpSpPr bwMode="auto">
                <a:xfrm>
                  <a:off x="0" y="0"/>
                  <a:ext cx="684" cy="596"/>
                  <a:chOff x="0" y="0"/>
                  <a:chExt cx="684" cy="596"/>
                </a:xfrm>
              </p:grpSpPr>
              <p:sp>
                <p:nvSpPr>
                  <p:cNvPr id="115" name="Rectangle 7">
                    <a:extLst>
                      <a:ext uri="{FF2B5EF4-FFF2-40B4-BE49-F238E27FC236}">
                        <a16:creationId xmlns:a16="http://schemas.microsoft.com/office/drawing/2014/main" id="{B332CCF5-7EC2-47B0-9CD2-25FAC05E0AB6}"/>
                      </a:ext>
                    </a:extLst>
                  </p:cNvPr>
                  <p:cNvSpPr>
                    <a:spLocks noChangeArrowheads="1"/>
                  </p:cNvSpPr>
                  <p:nvPr/>
                </p:nvSpPr>
                <p:spPr bwMode="auto">
                  <a:xfrm>
                    <a:off x="43" y="0"/>
                    <a:ext cx="598"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Attribute Level</a:t>
                    </a:r>
                    <a:endPar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16" name="Rectangle 8">
                    <a:extLst>
                      <a:ext uri="{FF2B5EF4-FFF2-40B4-BE49-F238E27FC236}">
                        <a16:creationId xmlns:a16="http://schemas.microsoft.com/office/drawing/2014/main" id="{3F6C6F04-EABC-4827-BD10-C891E9159321}"/>
                      </a:ext>
                    </a:extLst>
                  </p:cNvPr>
                  <p:cNvSpPr>
                    <a:spLocks noChangeArrowheads="1"/>
                  </p:cNvSpPr>
                  <p:nvPr/>
                </p:nvSpPr>
                <p:spPr bwMode="auto">
                  <a:xfrm>
                    <a:off x="0" y="0"/>
                    <a:ext cx="684"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67" name="Group 9">
                <a:extLst>
                  <a:ext uri="{FF2B5EF4-FFF2-40B4-BE49-F238E27FC236}">
                    <a16:creationId xmlns:a16="http://schemas.microsoft.com/office/drawing/2014/main" id="{D0454173-2049-4259-A5D3-BD364BA5B89D}"/>
                  </a:ext>
                </a:extLst>
              </p:cNvPr>
              <p:cNvGrpSpPr>
                <a:grpSpLocks/>
              </p:cNvGrpSpPr>
              <p:nvPr/>
            </p:nvGrpSpPr>
            <p:grpSpPr bwMode="auto">
              <a:xfrm>
                <a:off x="684" y="0"/>
                <a:ext cx="1691" cy="596"/>
                <a:chOff x="684" y="0"/>
                <a:chExt cx="1691" cy="596"/>
              </a:xfrm>
            </p:grpSpPr>
            <p:sp>
              <p:nvSpPr>
                <p:cNvPr id="109" name="Rectangle 10">
                  <a:extLst>
                    <a:ext uri="{FF2B5EF4-FFF2-40B4-BE49-F238E27FC236}">
                      <a16:creationId xmlns:a16="http://schemas.microsoft.com/office/drawing/2014/main" id="{3D66143E-C54A-428D-91DC-4E05DE843438}"/>
                    </a:ext>
                  </a:extLst>
                </p:cNvPr>
                <p:cNvSpPr>
                  <a:spLocks noChangeArrowheads="1"/>
                </p:cNvSpPr>
                <p:nvPr/>
              </p:nvSpPr>
              <p:spPr bwMode="auto">
                <a:xfrm>
                  <a:off x="684" y="0"/>
                  <a:ext cx="1691"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10" name="Group 11">
                  <a:extLst>
                    <a:ext uri="{FF2B5EF4-FFF2-40B4-BE49-F238E27FC236}">
                      <a16:creationId xmlns:a16="http://schemas.microsoft.com/office/drawing/2014/main" id="{164A5873-4AAE-4536-95C0-D9A59BFF28D3}"/>
                    </a:ext>
                  </a:extLst>
                </p:cNvPr>
                <p:cNvGrpSpPr>
                  <a:grpSpLocks/>
                </p:cNvGrpSpPr>
                <p:nvPr/>
              </p:nvGrpSpPr>
              <p:grpSpPr bwMode="auto">
                <a:xfrm>
                  <a:off x="684" y="0"/>
                  <a:ext cx="1691" cy="596"/>
                  <a:chOff x="684" y="0"/>
                  <a:chExt cx="1691" cy="596"/>
                </a:xfrm>
              </p:grpSpPr>
              <p:sp>
                <p:nvSpPr>
                  <p:cNvPr id="111" name="Rectangle 12">
                    <a:extLst>
                      <a:ext uri="{FF2B5EF4-FFF2-40B4-BE49-F238E27FC236}">
                        <a16:creationId xmlns:a16="http://schemas.microsoft.com/office/drawing/2014/main" id="{57F48391-CC07-4B5E-9E7C-41E3B122F6DB}"/>
                      </a:ext>
                    </a:extLst>
                  </p:cNvPr>
                  <p:cNvSpPr>
                    <a:spLocks noChangeArrowheads="1"/>
                  </p:cNvSpPr>
                  <p:nvPr/>
                </p:nvSpPr>
                <p:spPr bwMode="auto">
                  <a:xfrm>
                    <a:off x="727" y="0"/>
                    <a:ext cx="1605"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Transformation</a:t>
                    </a:r>
                    <a:endPar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12" name="Rectangle 13">
                    <a:extLst>
                      <a:ext uri="{FF2B5EF4-FFF2-40B4-BE49-F238E27FC236}">
                        <a16:creationId xmlns:a16="http://schemas.microsoft.com/office/drawing/2014/main" id="{50747933-3CB0-4F87-AF89-E6C17B72AB23}"/>
                      </a:ext>
                    </a:extLst>
                  </p:cNvPr>
                  <p:cNvSpPr>
                    <a:spLocks noChangeArrowheads="1"/>
                  </p:cNvSpPr>
                  <p:nvPr/>
                </p:nvSpPr>
                <p:spPr bwMode="auto">
                  <a:xfrm>
                    <a:off x="684" y="0"/>
                    <a:ext cx="1691"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68" name="Group 14">
                <a:extLst>
                  <a:ext uri="{FF2B5EF4-FFF2-40B4-BE49-F238E27FC236}">
                    <a16:creationId xmlns:a16="http://schemas.microsoft.com/office/drawing/2014/main" id="{7B40503F-BBF9-4A1F-84AD-3A362EAB717C}"/>
                  </a:ext>
                </a:extLst>
              </p:cNvPr>
              <p:cNvGrpSpPr>
                <a:grpSpLocks/>
              </p:cNvGrpSpPr>
              <p:nvPr/>
            </p:nvGrpSpPr>
            <p:grpSpPr bwMode="auto">
              <a:xfrm>
                <a:off x="2375" y="0"/>
                <a:ext cx="1382" cy="596"/>
                <a:chOff x="2375" y="0"/>
                <a:chExt cx="1382" cy="596"/>
              </a:xfrm>
            </p:grpSpPr>
            <p:sp>
              <p:nvSpPr>
                <p:cNvPr id="105" name="Rectangle 15">
                  <a:extLst>
                    <a:ext uri="{FF2B5EF4-FFF2-40B4-BE49-F238E27FC236}">
                      <a16:creationId xmlns:a16="http://schemas.microsoft.com/office/drawing/2014/main" id="{681DD44C-686C-4811-B490-A172061283D3}"/>
                    </a:ext>
                  </a:extLst>
                </p:cNvPr>
                <p:cNvSpPr>
                  <a:spLocks noChangeArrowheads="1"/>
                </p:cNvSpPr>
                <p:nvPr/>
              </p:nvSpPr>
              <p:spPr bwMode="auto">
                <a:xfrm>
                  <a:off x="2375" y="0"/>
                  <a:ext cx="1382"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06" name="Group 16">
                  <a:extLst>
                    <a:ext uri="{FF2B5EF4-FFF2-40B4-BE49-F238E27FC236}">
                      <a16:creationId xmlns:a16="http://schemas.microsoft.com/office/drawing/2014/main" id="{FFDA0034-6FCC-40C2-A369-F548C8ED621D}"/>
                    </a:ext>
                  </a:extLst>
                </p:cNvPr>
                <p:cNvGrpSpPr>
                  <a:grpSpLocks/>
                </p:cNvGrpSpPr>
                <p:nvPr/>
              </p:nvGrpSpPr>
              <p:grpSpPr bwMode="auto">
                <a:xfrm>
                  <a:off x="2375" y="0"/>
                  <a:ext cx="1382" cy="596"/>
                  <a:chOff x="2375" y="0"/>
                  <a:chExt cx="1382" cy="596"/>
                </a:xfrm>
              </p:grpSpPr>
              <p:sp>
                <p:nvSpPr>
                  <p:cNvPr id="107" name="Rectangle 17">
                    <a:extLst>
                      <a:ext uri="{FF2B5EF4-FFF2-40B4-BE49-F238E27FC236}">
                        <a16:creationId xmlns:a16="http://schemas.microsoft.com/office/drawing/2014/main" id="{E65A028C-FCD6-4D8B-9157-FEF38B5645B6}"/>
                      </a:ext>
                    </a:extLst>
                  </p:cNvPr>
                  <p:cNvSpPr>
                    <a:spLocks noChangeArrowheads="1"/>
                  </p:cNvSpPr>
                  <p:nvPr/>
                </p:nvSpPr>
                <p:spPr bwMode="auto">
                  <a:xfrm>
                    <a:off x="2418" y="0"/>
                    <a:ext cx="1296" cy="596"/>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800" b="1"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Comments</a:t>
                    </a:r>
                    <a:endPar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08" name="Rectangle 18">
                    <a:extLst>
                      <a:ext uri="{FF2B5EF4-FFF2-40B4-BE49-F238E27FC236}">
                        <a16:creationId xmlns:a16="http://schemas.microsoft.com/office/drawing/2014/main" id="{69AB84E6-4A9A-4CA2-BDD6-DEB910A27B0B}"/>
                      </a:ext>
                    </a:extLst>
                  </p:cNvPr>
                  <p:cNvSpPr>
                    <a:spLocks noChangeArrowheads="1"/>
                  </p:cNvSpPr>
                  <p:nvPr/>
                </p:nvSpPr>
                <p:spPr bwMode="auto">
                  <a:xfrm>
                    <a:off x="2375" y="0"/>
                    <a:ext cx="1382" cy="596"/>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grpSp>
            <p:nvGrpSpPr>
              <p:cNvPr id="69" name="Group 19">
                <a:extLst>
                  <a:ext uri="{FF2B5EF4-FFF2-40B4-BE49-F238E27FC236}">
                    <a16:creationId xmlns:a16="http://schemas.microsoft.com/office/drawing/2014/main" id="{B266BB6C-F689-4433-8D6D-4E2B6D726F09}"/>
                  </a:ext>
                </a:extLst>
              </p:cNvPr>
              <p:cNvGrpSpPr>
                <a:grpSpLocks/>
              </p:cNvGrpSpPr>
              <p:nvPr/>
            </p:nvGrpSpPr>
            <p:grpSpPr bwMode="auto">
              <a:xfrm>
                <a:off x="0" y="596"/>
                <a:ext cx="684" cy="824"/>
                <a:chOff x="0" y="596"/>
                <a:chExt cx="684" cy="824"/>
              </a:xfrm>
            </p:grpSpPr>
            <p:sp>
              <p:nvSpPr>
                <p:cNvPr id="103" name="Rectangle 20">
                  <a:extLst>
                    <a:ext uri="{FF2B5EF4-FFF2-40B4-BE49-F238E27FC236}">
                      <a16:creationId xmlns:a16="http://schemas.microsoft.com/office/drawing/2014/main" id="{04F37ACC-A7CA-46AA-B0F0-617BBDDBFE04}"/>
                    </a:ext>
                  </a:extLst>
                </p:cNvPr>
                <p:cNvSpPr>
                  <a:spLocks noChangeArrowheads="1"/>
                </p:cNvSpPr>
                <p:nvPr/>
              </p:nvSpPr>
              <p:spPr bwMode="auto">
                <a:xfrm>
                  <a:off x="43" y="596"/>
                  <a:ext cx="598" cy="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Nominal</a:t>
                  </a: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04" name="Rectangle 21">
                  <a:extLst>
                    <a:ext uri="{FF2B5EF4-FFF2-40B4-BE49-F238E27FC236}">
                      <a16:creationId xmlns:a16="http://schemas.microsoft.com/office/drawing/2014/main" id="{4C0A5563-F0CE-4235-9EE8-7E2F71608148}"/>
                    </a:ext>
                  </a:extLst>
                </p:cNvPr>
                <p:cNvSpPr>
                  <a:spLocks noChangeArrowheads="1"/>
                </p:cNvSpPr>
                <p:nvPr/>
              </p:nvSpPr>
              <p:spPr bwMode="auto">
                <a:xfrm>
                  <a:off x="0" y="596"/>
                  <a:ext cx="684" cy="82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0" name="Group 22">
                <a:extLst>
                  <a:ext uri="{FF2B5EF4-FFF2-40B4-BE49-F238E27FC236}">
                    <a16:creationId xmlns:a16="http://schemas.microsoft.com/office/drawing/2014/main" id="{34415079-9AA0-4F6A-B5FF-046F67F317C2}"/>
                  </a:ext>
                </a:extLst>
              </p:cNvPr>
              <p:cNvGrpSpPr>
                <a:grpSpLocks/>
              </p:cNvGrpSpPr>
              <p:nvPr/>
            </p:nvGrpSpPr>
            <p:grpSpPr bwMode="auto">
              <a:xfrm>
                <a:off x="684" y="596"/>
                <a:ext cx="1691" cy="824"/>
                <a:chOff x="684" y="596"/>
                <a:chExt cx="1691" cy="824"/>
              </a:xfrm>
            </p:grpSpPr>
            <p:sp>
              <p:nvSpPr>
                <p:cNvPr id="101" name="Rectangle 23">
                  <a:extLst>
                    <a:ext uri="{FF2B5EF4-FFF2-40B4-BE49-F238E27FC236}">
                      <a16:creationId xmlns:a16="http://schemas.microsoft.com/office/drawing/2014/main" id="{761ACE71-495A-4EA3-80D2-225CB59DADC9}"/>
                    </a:ext>
                  </a:extLst>
                </p:cNvPr>
                <p:cNvSpPr>
                  <a:spLocks noChangeArrowheads="1"/>
                </p:cNvSpPr>
                <p:nvPr/>
              </p:nvSpPr>
              <p:spPr bwMode="auto">
                <a:xfrm>
                  <a:off x="727" y="596"/>
                  <a:ext cx="1605" cy="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Any permutation of values</a:t>
                  </a:r>
                  <a:endPar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02" name="Rectangle 24">
                  <a:extLst>
                    <a:ext uri="{FF2B5EF4-FFF2-40B4-BE49-F238E27FC236}">
                      <a16:creationId xmlns:a16="http://schemas.microsoft.com/office/drawing/2014/main" id="{5F3CE330-7400-4CAA-9B4F-CE9B5F5AA3A5}"/>
                    </a:ext>
                  </a:extLst>
                </p:cNvPr>
                <p:cNvSpPr>
                  <a:spLocks noChangeArrowheads="1"/>
                </p:cNvSpPr>
                <p:nvPr/>
              </p:nvSpPr>
              <p:spPr bwMode="auto">
                <a:xfrm>
                  <a:off x="684" y="596"/>
                  <a:ext cx="1691" cy="82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1" name="Group 25">
                <a:extLst>
                  <a:ext uri="{FF2B5EF4-FFF2-40B4-BE49-F238E27FC236}">
                    <a16:creationId xmlns:a16="http://schemas.microsoft.com/office/drawing/2014/main" id="{16592C28-A852-4FD8-9E58-E559C7E20D8D}"/>
                  </a:ext>
                </a:extLst>
              </p:cNvPr>
              <p:cNvGrpSpPr>
                <a:grpSpLocks/>
              </p:cNvGrpSpPr>
              <p:nvPr/>
            </p:nvGrpSpPr>
            <p:grpSpPr bwMode="auto">
              <a:xfrm>
                <a:off x="2375" y="596"/>
                <a:ext cx="1382" cy="824"/>
                <a:chOff x="2375" y="596"/>
                <a:chExt cx="1382" cy="824"/>
              </a:xfrm>
            </p:grpSpPr>
            <p:sp>
              <p:nvSpPr>
                <p:cNvPr id="99" name="Rectangle 26">
                  <a:extLst>
                    <a:ext uri="{FF2B5EF4-FFF2-40B4-BE49-F238E27FC236}">
                      <a16:creationId xmlns:a16="http://schemas.microsoft.com/office/drawing/2014/main" id="{65E7AAC6-E0C9-426E-A2FC-4F99D80131C0}"/>
                    </a:ext>
                  </a:extLst>
                </p:cNvPr>
                <p:cNvSpPr>
                  <a:spLocks noChangeArrowheads="1"/>
                </p:cNvSpPr>
                <p:nvPr/>
              </p:nvSpPr>
              <p:spPr bwMode="auto">
                <a:xfrm>
                  <a:off x="2418" y="596"/>
                  <a:ext cx="1296" cy="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If all employee ID numbers were reassigned, would it make any difference?</a:t>
                  </a: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100" name="Rectangle 27">
                  <a:extLst>
                    <a:ext uri="{FF2B5EF4-FFF2-40B4-BE49-F238E27FC236}">
                      <a16:creationId xmlns:a16="http://schemas.microsoft.com/office/drawing/2014/main" id="{5240FE21-798E-4D9C-A14B-9421F4889825}"/>
                    </a:ext>
                  </a:extLst>
                </p:cNvPr>
                <p:cNvSpPr>
                  <a:spLocks noChangeArrowheads="1"/>
                </p:cNvSpPr>
                <p:nvPr/>
              </p:nvSpPr>
              <p:spPr bwMode="auto">
                <a:xfrm>
                  <a:off x="2375" y="596"/>
                  <a:ext cx="1382" cy="82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2" name="Group 28">
                <a:extLst>
                  <a:ext uri="{FF2B5EF4-FFF2-40B4-BE49-F238E27FC236}">
                    <a16:creationId xmlns:a16="http://schemas.microsoft.com/office/drawing/2014/main" id="{60DD5439-B352-468E-BFE6-EF21D578D9CA}"/>
                  </a:ext>
                </a:extLst>
              </p:cNvPr>
              <p:cNvGrpSpPr>
                <a:grpSpLocks/>
              </p:cNvGrpSpPr>
              <p:nvPr/>
            </p:nvGrpSpPr>
            <p:grpSpPr bwMode="auto">
              <a:xfrm>
                <a:off x="0" y="1420"/>
                <a:ext cx="684" cy="1092"/>
                <a:chOff x="0" y="1420"/>
                <a:chExt cx="684" cy="1092"/>
              </a:xfrm>
            </p:grpSpPr>
            <p:sp>
              <p:nvSpPr>
                <p:cNvPr id="97" name="Rectangle 29">
                  <a:extLst>
                    <a:ext uri="{FF2B5EF4-FFF2-40B4-BE49-F238E27FC236}">
                      <a16:creationId xmlns:a16="http://schemas.microsoft.com/office/drawing/2014/main" id="{8B78DBBD-E334-46AB-9506-FA3599C0A1D2}"/>
                    </a:ext>
                  </a:extLst>
                </p:cNvPr>
                <p:cNvSpPr>
                  <a:spLocks noChangeArrowheads="1"/>
                </p:cNvSpPr>
                <p:nvPr/>
              </p:nvSpPr>
              <p:spPr bwMode="auto">
                <a:xfrm>
                  <a:off x="43" y="1420"/>
                  <a:ext cx="598"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Ordinal</a:t>
                  </a: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98" name="Rectangle 30">
                  <a:extLst>
                    <a:ext uri="{FF2B5EF4-FFF2-40B4-BE49-F238E27FC236}">
                      <a16:creationId xmlns:a16="http://schemas.microsoft.com/office/drawing/2014/main" id="{7F9F3E71-A6E1-4532-8237-835D51B244B3}"/>
                    </a:ext>
                  </a:extLst>
                </p:cNvPr>
                <p:cNvSpPr>
                  <a:spLocks noChangeArrowheads="1"/>
                </p:cNvSpPr>
                <p:nvPr/>
              </p:nvSpPr>
              <p:spPr bwMode="auto">
                <a:xfrm>
                  <a:off x="0" y="1420"/>
                  <a:ext cx="684"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3" name="Group 31">
                <a:extLst>
                  <a:ext uri="{FF2B5EF4-FFF2-40B4-BE49-F238E27FC236}">
                    <a16:creationId xmlns:a16="http://schemas.microsoft.com/office/drawing/2014/main" id="{E4B965D5-FA1A-46B1-9C0F-1119198368AF}"/>
                  </a:ext>
                </a:extLst>
              </p:cNvPr>
              <p:cNvGrpSpPr>
                <a:grpSpLocks/>
              </p:cNvGrpSpPr>
              <p:nvPr/>
            </p:nvGrpSpPr>
            <p:grpSpPr bwMode="auto">
              <a:xfrm>
                <a:off x="684" y="1420"/>
                <a:ext cx="1691" cy="1092"/>
                <a:chOff x="684" y="1420"/>
                <a:chExt cx="1691" cy="1092"/>
              </a:xfrm>
            </p:grpSpPr>
            <p:sp>
              <p:nvSpPr>
                <p:cNvPr id="95" name="Rectangle 32">
                  <a:extLst>
                    <a:ext uri="{FF2B5EF4-FFF2-40B4-BE49-F238E27FC236}">
                      <a16:creationId xmlns:a16="http://schemas.microsoft.com/office/drawing/2014/main" id="{014AB41B-8F81-497D-A3E8-F63165CF3149}"/>
                    </a:ext>
                  </a:extLst>
                </p:cNvPr>
                <p:cNvSpPr>
                  <a:spLocks noChangeArrowheads="1"/>
                </p:cNvSpPr>
                <p:nvPr/>
              </p:nvSpPr>
              <p:spPr bwMode="auto">
                <a:xfrm>
                  <a:off x="727" y="1420"/>
                  <a:ext cx="1605"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An order preserving change of values, i.e., </a:t>
                  </a:r>
                  <a:br>
                    <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br>
                  <a:r>
                    <a:rPr kumimoji="0" lang="en-US" altLang="es-MX" sz="1800" b="0" i="1"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new_value = f(old_value) </a:t>
                  </a:r>
                  <a:br>
                    <a:rPr kumimoji="0" lang="en-US" altLang="es-MX" sz="1800" b="0" i="1"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br>
                  <a:r>
                    <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where </a:t>
                  </a:r>
                  <a:r>
                    <a:rPr kumimoji="0" lang="en-US" altLang="es-MX" sz="1800" b="0" i="1"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f</a:t>
                  </a:r>
                  <a:r>
                    <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 is a monotonic function.</a:t>
                  </a:r>
                  <a:endPar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96" name="Rectangle 33">
                  <a:extLst>
                    <a:ext uri="{FF2B5EF4-FFF2-40B4-BE49-F238E27FC236}">
                      <a16:creationId xmlns:a16="http://schemas.microsoft.com/office/drawing/2014/main" id="{393482A6-34BA-401F-BD9D-69882198E2A6}"/>
                    </a:ext>
                  </a:extLst>
                </p:cNvPr>
                <p:cNvSpPr>
                  <a:spLocks noChangeArrowheads="1"/>
                </p:cNvSpPr>
                <p:nvPr/>
              </p:nvSpPr>
              <p:spPr bwMode="auto">
                <a:xfrm>
                  <a:off x="684" y="1420"/>
                  <a:ext cx="1691"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4" name="Group 34">
                <a:extLst>
                  <a:ext uri="{FF2B5EF4-FFF2-40B4-BE49-F238E27FC236}">
                    <a16:creationId xmlns:a16="http://schemas.microsoft.com/office/drawing/2014/main" id="{B5080C1E-65C9-48F5-9473-4C6E09B6FF33}"/>
                  </a:ext>
                </a:extLst>
              </p:cNvPr>
              <p:cNvGrpSpPr>
                <a:grpSpLocks/>
              </p:cNvGrpSpPr>
              <p:nvPr/>
            </p:nvGrpSpPr>
            <p:grpSpPr bwMode="auto">
              <a:xfrm>
                <a:off x="2375" y="1420"/>
                <a:ext cx="1382" cy="1092"/>
                <a:chOff x="2375" y="1420"/>
                <a:chExt cx="1382" cy="1092"/>
              </a:xfrm>
            </p:grpSpPr>
            <p:sp>
              <p:nvSpPr>
                <p:cNvPr id="93" name="Rectangle 35">
                  <a:extLst>
                    <a:ext uri="{FF2B5EF4-FFF2-40B4-BE49-F238E27FC236}">
                      <a16:creationId xmlns:a16="http://schemas.microsoft.com/office/drawing/2014/main" id="{C62AF6B2-5F1C-4BD3-AEC3-D51AE53CBBD6}"/>
                    </a:ext>
                  </a:extLst>
                </p:cNvPr>
                <p:cNvSpPr>
                  <a:spLocks noChangeArrowheads="1"/>
                </p:cNvSpPr>
                <p:nvPr/>
              </p:nvSpPr>
              <p:spPr bwMode="auto">
                <a:xfrm>
                  <a:off x="2418" y="1420"/>
                  <a:ext cx="1296"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An attribute encompassing the notion of good, better best can be represented equally well by the values {1, 2, 3} or by { 0.5, 1, 10}.</a:t>
                  </a: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94" name="Rectangle 36">
                  <a:extLst>
                    <a:ext uri="{FF2B5EF4-FFF2-40B4-BE49-F238E27FC236}">
                      <a16:creationId xmlns:a16="http://schemas.microsoft.com/office/drawing/2014/main" id="{464F946F-B530-413B-A1F7-E772FCD23724}"/>
                    </a:ext>
                  </a:extLst>
                </p:cNvPr>
                <p:cNvSpPr>
                  <a:spLocks noChangeArrowheads="1"/>
                </p:cNvSpPr>
                <p:nvPr/>
              </p:nvSpPr>
              <p:spPr bwMode="auto">
                <a:xfrm>
                  <a:off x="2375" y="1420"/>
                  <a:ext cx="1382"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5" name="Group 37">
                <a:extLst>
                  <a:ext uri="{FF2B5EF4-FFF2-40B4-BE49-F238E27FC236}">
                    <a16:creationId xmlns:a16="http://schemas.microsoft.com/office/drawing/2014/main" id="{9C447F81-D888-4A35-9186-E1B189F2E345}"/>
                  </a:ext>
                </a:extLst>
              </p:cNvPr>
              <p:cNvGrpSpPr>
                <a:grpSpLocks/>
              </p:cNvGrpSpPr>
              <p:nvPr/>
            </p:nvGrpSpPr>
            <p:grpSpPr bwMode="auto">
              <a:xfrm>
                <a:off x="0" y="2512"/>
                <a:ext cx="684" cy="1092"/>
                <a:chOff x="0" y="2512"/>
                <a:chExt cx="684" cy="1092"/>
              </a:xfrm>
            </p:grpSpPr>
            <p:sp>
              <p:nvSpPr>
                <p:cNvPr id="91" name="Rectangle 38">
                  <a:extLst>
                    <a:ext uri="{FF2B5EF4-FFF2-40B4-BE49-F238E27FC236}">
                      <a16:creationId xmlns:a16="http://schemas.microsoft.com/office/drawing/2014/main" id="{44780B2D-595A-4F31-96F1-649AD91F0391}"/>
                    </a:ext>
                  </a:extLst>
                </p:cNvPr>
                <p:cNvSpPr>
                  <a:spLocks noChangeArrowheads="1"/>
                </p:cNvSpPr>
                <p:nvPr/>
              </p:nvSpPr>
              <p:spPr bwMode="auto">
                <a:xfrm>
                  <a:off x="43" y="2512"/>
                  <a:ext cx="598"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Interval</a:t>
                  </a: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92" name="Rectangle 39">
                  <a:extLst>
                    <a:ext uri="{FF2B5EF4-FFF2-40B4-BE49-F238E27FC236}">
                      <a16:creationId xmlns:a16="http://schemas.microsoft.com/office/drawing/2014/main" id="{856A2E3B-0551-4DF2-9599-99C55681EC60}"/>
                    </a:ext>
                  </a:extLst>
                </p:cNvPr>
                <p:cNvSpPr>
                  <a:spLocks noChangeArrowheads="1"/>
                </p:cNvSpPr>
                <p:nvPr/>
              </p:nvSpPr>
              <p:spPr bwMode="auto">
                <a:xfrm>
                  <a:off x="0" y="2512"/>
                  <a:ext cx="684"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6" name="Group 40">
                <a:extLst>
                  <a:ext uri="{FF2B5EF4-FFF2-40B4-BE49-F238E27FC236}">
                    <a16:creationId xmlns:a16="http://schemas.microsoft.com/office/drawing/2014/main" id="{22620E1C-0879-499B-B508-49D3D7C3CFD9}"/>
                  </a:ext>
                </a:extLst>
              </p:cNvPr>
              <p:cNvGrpSpPr>
                <a:grpSpLocks/>
              </p:cNvGrpSpPr>
              <p:nvPr/>
            </p:nvGrpSpPr>
            <p:grpSpPr bwMode="auto">
              <a:xfrm>
                <a:off x="684" y="2512"/>
                <a:ext cx="1691" cy="1092"/>
                <a:chOff x="684" y="2512"/>
                <a:chExt cx="1691" cy="1092"/>
              </a:xfrm>
            </p:grpSpPr>
            <p:sp>
              <p:nvSpPr>
                <p:cNvPr id="89" name="Rectangle 41">
                  <a:extLst>
                    <a:ext uri="{FF2B5EF4-FFF2-40B4-BE49-F238E27FC236}">
                      <a16:creationId xmlns:a16="http://schemas.microsoft.com/office/drawing/2014/main" id="{499A9F76-079A-4CF5-8011-ED279C2C1C7C}"/>
                    </a:ext>
                  </a:extLst>
                </p:cNvPr>
                <p:cNvSpPr>
                  <a:spLocks noChangeArrowheads="1"/>
                </p:cNvSpPr>
                <p:nvPr/>
              </p:nvSpPr>
              <p:spPr bwMode="auto">
                <a:xfrm>
                  <a:off x="727" y="2512"/>
                  <a:ext cx="1605"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800" b="0" i="1" u="none" strike="noStrike" kern="1200" cap="none" spc="0" normalizeH="0" baseline="0" noProof="0">
                      <a:ln>
                        <a:noFill/>
                      </a:ln>
                      <a:solidFill>
                        <a:prstClr val="black"/>
                      </a:solidFill>
                      <a:effectLst/>
                      <a:uLnTx/>
                      <a:uFillTx/>
                      <a:latin typeface="Times New Roman" panose="02020603050405020304" pitchFamily="18" charset="0"/>
                      <a:ea typeface="MS Mincho" panose="02020609040205080304" pitchFamily="49" charset="-128"/>
                      <a:cs typeface="+mn-cs"/>
                    </a:rPr>
                    <a:t>new_value =a * old_value + b </a:t>
                  </a:r>
                  <a:r>
                    <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where a and b are constants</a:t>
                  </a: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90" name="Rectangle 42">
                  <a:extLst>
                    <a:ext uri="{FF2B5EF4-FFF2-40B4-BE49-F238E27FC236}">
                      <a16:creationId xmlns:a16="http://schemas.microsoft.com/office/drawing/2014/main" id="{59D64A0B-34F6-41C6-853D-D36BCE0391AC}"/>
                    </a:ext>
                  </a:extLst>
                </p:cNvPr>
                <p:cNvSpPr>
                  <a:spLocks noChangeArrowheads="1"/>
                </p:cNvSpPr>
                <p:nvPr/>
              </p:nvSpPr>
              <p:spPr bwMode="auto">
                <a:xfrm>
                  <a:off x="684" y="2512"/>
                  <a:ext cx="1691"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7" name="Group 43">
                <a:extLst>
                  <a:ext uri="{FF2B5EF4-FFF2-40B4-BE49-F238E27FC236}">
                    <a16:creationId xmlns:a16="http://schemas.microsoft.com/office/drawing/2014/main" id="{1FFBCA4D-83DD-430D-B905-D0B4C8CE0DA7}"/>
                  </a:ext>
                </a:extLst>
              </p:cNvPr>
              <p:cNvGrpSpPr>
                <a:grpSpLocks/>
              </p:cNvGrpSpPr>
              <p:nvPr/>
            </p:nvGrpSpPr>
            <p:grpSpPr bwMode="auto">
              <a:xfrm>
                <a:off x="2375" y="2512"/>
                <a:ext cx="1382" cy="1092"/>
                <a:chOff x="2375" y="2512"/>
                <a:chExt cx="1382" cy="1092"/>
              </a:xfrm>
            </p:grpSpPr>
            <p:sp>
              <p:nvSpPr>
                <p:cNvPr id="87" name="Rectangle 44">
                  <a:extLst>
                    <a:ext uri="{FF2B5EF4-FFF2-40B4-BE49-F238E27FC236}">
                      <a16:creationId xmlns:a16="http://schemas.microsoft.com/office/drawing/2014/main" id="{0B477EA6-64C3-4871-8BC1-499231DD09E5}"/>
                    </a:ext>
                  </a:extLst>
                </p:cNvPr>
                <p:cNvSpPr>
                  <a:spLocks noChangeArrowheads="1"/>
                </p:cNvSpPr>
                <p:nvPr/>
              </p:nvSpPr>
              <p:spPr bwMode="auto">
                <a:xfrm>
                  <a:off x="2418" y="2512"/>
                  <a:ext cx="1296" cy="1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Thus, the Fahrenheit and Celsius temperature scales differ in terms of where their zero value is and the size of a unit (degree).</a:t>
                  </a: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endParaRPr>
                </a:p>
              </p:txBody>
            </p:sp>
            <p:sp>
              <p:nvSpPr>
                <p:cNvPr id="88" name="Rectangle 45">
                  <a:extLst>
                    <a:ext uri="{FF2B5EF4-FFF2-40B4-BE49-F238E27FC236}">
                      <a16:creationId xmlns:a16="http://schemas.microsoft.com/office/drawing/2014/main" id="{7974BCF1-54CA-446D-8E40-CD4DADF70607}"/>
                    </a:ext>
                  </a:extLst>
                </p:cNvPr>
                <p:cNvSpPr>
                  <a:spLocks noChangeArrowheads="1"/>
                </p:cNvSpPr>
                <p:nvPr/>
              </p:nvSpPr>
              <p:spPr bwMode="auto">
                <a:xfrm>
                  <a:off x="2375" y="2512"/>
                  <a:ext cx="1382" cy="1092"/>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8" name="Group 46">
                <a:extLst>
                  <a:ext uri="{FF2B5EF4-FFF2-40B4-BE49-F238E27FC236}">
                    <a16:creationId xmlns:a16="http://schemas.microsoft.com/office/drawing/2014/main" id="{E44C663F-77FC-4345-ACFD-FBB72E7B129A}"/>
                  </a:ext>
                </a:extLst>
              </p:cNvPr>
              <p:cNvGrpSpPr>
                <a:grpSpLocks/>
              </p:cNvGrpSpPr>
              <p:nvPr/>
            </p:nvGrpSpPr>
            <p:grpSpPr bwMode="auto">
              <a:xfrm>
                <a:off x="0" y="3604"/>
                <a:ext cx="684" cy="394"/>
                <a:chOff x="0" y="3604"/>
                <a:chExt cx="684" cy="394"/>
              </a:xfrm>
            </p:grpSpPr>
            <p:sp>
              <p:nvSpPr>
                <p:cNvPr id="85" name="Rectangle 47">
                  <a:extLst>
                    <a:ext uri="{FF2B5EF4-FFF2-40B4-BE49-F238E27FC236}">
                      <a16:creationId xmlns:a16="http://schemas.microsoft.com/office/drawing/2014/main" id="{20E90D79-2CC0-423A-9B4B-1FD200BF7E39}"/>
                    </a:ext>
                  </a:extLst>
                </p:cNvPr>
                <p:cNvSpPr>
                  <a:spLocks noChangeArrowheads="1"/>
                </p:cNvSpPr>
                <p:nvPr/>
              </p:nvSpPr>
              <p:spPr bwMode="auto">
                <a:xfrm>
                  <a:off x="43" y="3604"/>
                  <a:ext cx="598" cy="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Ratio</a:t>
                  </a: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altLang="es-MX"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
              <p:nvSpPr>
                <p:cNvPr id="86" name="Rectangle 48">
                  <a:extLst>
                    <a:ext uri="{FF2B5EF4-FFF2-40B4-BE49-F238E27FC236}">
                      <a16:creationId xmlns:a16="http://schemas.microsoft.com/office/drawing/2014/main" id="{5A2E61F1-F41B-4DD2-919B-691FEC48FE27}"/>
                    </a:ext>
                  </a:extLst>
                </p:cNvPr>
                <p:cNvSpPr>
                  <a:spLocks noChangeArrowheads="1"/>
                </p:cNvSpPr>
                <p:nvPr/>
              </p:nvSpPr>
              <p:spPr bwMode="auto">
                <a:xfrm>
                  <a:off x="0" y="3604"/>
                  <a:ext cx="684" cy="3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9" name="Group 49">
                <a:extLst>
                  <a:ext uri="{FF2B5EF4-FFF2-40B4-BE49-F238E27FC236}">
                    <a16:creationId xmlns:a16="http://schemas.microsoft.com/office/drawing/2014/main" id="{4E8C43AC-EDB6-4E6D-BE9C-01C042D43B15}"/>
                  </a:ext>
                </a:extLst>
              </p:cNvPr>
              <p:cNvGrpSpPr>
                <a:grpSpLocks/>
              </p:cNvGrpSpPr>
              <p:nvPr/>
            </p:nvGrpSpPr>
            <p:grpSpPr bwMode="auto">
              <a:xfrm>
                <a:off x="684" y="3604"/>
                <a:ext cx="1691" cy="394"/>
                <a:chOff x="684" y="3604"/>
                <a:chExt cx="1691" cy="394"/>
              </a:xfrm>
            </p:grpSpPr>
            <p:sp>
              <p:nvSpPr>
                <p:cNvPr id="83" name="Rectangle 50">
                  <a:extLst>
                    <a:ext uri="{FF2B5EF4-FFF2-40B4-BE49-F238E27FC236}">
                      <a16:creationId xmlns:a16="http://schemas.microsoft.com/office/drawing/2014/main" id="{D0B40BFF-DD59-4109-B7C5-611637A53B14}"/>
                    </a:ext>
                  </a:extLst>
                </p:cNvPr>
                <p:cNvSpPr>
                  <a:spLocks noChangeArrowheads="1"/>
                </p:cNvSpPr>
                <p:nvPr/>
              </p:nvSpPr>
              <p:spPr bwMode="auto">
                <a:xfrm>
                  <a:off x="727" y="3604"/>
                  <a:ext cx="1605" cy="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800" b="0" i="1" u="none" strike="noStrike" kern="1200" cap="none" spc="0" normalizeH="0" baseline="0" noProof="0" dirty="0" err="1">
                      <a:ln>
                        <a:noFill/>
                      </a:ln>
                      <a:solidFill>
                        <a:prstClr val="black"/>
                      </a:solidFill>
                      <a:effectLst/>
                      <a:uLnTx/>
                      <a:uFillTx/>
                      <a:latin typeface="Times New Roman" panose="02020603050405020304" pitchFamily="18" charset="0"/>
                      <a:ea typeface="MS Mincho" panose="02020609040205080304" pitchFamily="49" charset="-128"/>
                      <a:cs typeface="+mn-cs"/>
                    </a:rPr>
                    <a:t>new_value</a:t>
                  </a:r>
                  <a:r>
                    <a:rPr kumimoji="0" lang="en-US" altLang="es-MX" sz="1800" b="0" i="1" u="none" strike="noStrike" kern="1200" cap="none" spc="0" normalizeH="0" baseline="0" noProof="0" dirty="0">
                      <a:ln>
                        <a:noFill/>
                      </a:ln>
                      <a:solidFill>
                        <a:prstClr val="black"/>
                      </a:solidFill>
                      <a:effectLst/>
                      <a:uLnTx/>
                      <a:uFillTx/>
                      <a:latin typeface="Times New Roman" panose="02020603050405020304" pitchFamily="18" charset="0"/>
                      <a:ea typeface="MS Mincho" panose="02020609040205080304" pitchFamily="49" charset="-128"/>
                      <a:cs typeface="+mn-cs"/>
                    </a:rPr>
                    <a:t> = a * </a:t>
                  </a:r>
                  <a:r>
                    <a:rPr kumimoji="0" lang="en-US" altLang="es-MX" sz="1800" b="0" i="1" u="none" strike="noStrike" kern="1200" cap="none" spc="0" normalizeH="0" baseline="0" noProof="0" dirty="0" err="1">
                      <a:ln>
                        <a:noFill/>
                      </a:ln>
                      <a:solidFill>
                        <a:prstClr val="black"/>
                      </a:solidFill>
                      <a:effectLst/>
                      <a:uLnTx/>
                      <a:uFillTx/>
                      <a:latin typeface="Times New Roman" panose="02020603050405020304" pitchFamily="18" charset="0"/>
                      <a:ea typeface="MS Mincho" panose="02020609040205080304" pitchFamily="49" charset="-128"/>
                      <a:cs typeface="+mn-cs"/>
                    </a:rPr>
                    <a:t>old_value</a:t>
                  </a:r>
                  <a:endParaRPr kumimoji="0" lang="en-US" alt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
              <p:nvSpPr>
                <p:cNvPr id="84" name="Rectangle 51">
                  <a:extLst>
                    <a:ext uri="{FF2B5EF4-FFF2-40B4-BE49-F238E27FC236}">
                      <a16:creationId xmlns:a16="http://schemas.microsoft.com/office/drawing/2014/main" id="{1414D5FE-B399-41A2-81B8-246368DEEB71}"/>
                    </a:ext>
                  </a:extLst>
                </p:cNvPr>
                <p:cNvSpPr>
                  <a:spLocks noChangeArrowheads="1"/>
                </p:cNvSpPr>
                <p:nvPr/>
              </p:nvSpPr>
              <p:spPr bwMode="auto">
                <a:xfrm>
                  <a:off x="684" y="3604"/>
                  <a:ext cx="1691" cy="3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80" name="Group 52">
                <a:extLst>
                  <a:ext uri="{FF2B5EF4-FFF2-40B4-BE49-F238E27FC236}">
                    <a16:creationId xmlns:a16="http://schemas.microsoft.com/office/drawing/2014/main" id="{36465FF2-4BE4-43AF-B008-0A9300AD57BF}"/>
                  </a:ext>
                </a:extLst>
              </p:cNvPr>
              <p:cNvGrpSpPr>
                <a:grpSpLocks/>
              </p:cNvGrpSpPr>
              <p:nvPr/>
            </p:nvGrpSpPr>
            <p:grpSpPr bwMode="auto">
              <a:xfrm>
                <a:off x="2375" y="3604"/>
                <a:ext cx="1382" cy="394"/>
                <a:chOff x="2375" y="3604"/>
                <a:chExt cx="1382" cy="394"/>
              </a:xfrm>
            </p:grpSpPr>
            <p:sp>
              <p:nvSpPr>
                <p:cNvPr id="81" name="Rectangle 53">
                  <a:extLst>
                    <a:ext uri="{FF2B5EF4-FFF2-40B4-BE49-F238E27FC236}">
                      <a16:creationId xmlns:a16="http://schemas.microsoft.com/office/drawing/2014/main" id="{C8E12FBD-1C50-4CBB-BFC5-B7F82BD77843}"/>
                    </a:ext>
                  </a:extLst>
                </p:cNvPr>
                <p:cNvSpPr>
                  <a:spLocks noChangeArrowheads="1"/>
                </p:cNvSpPr>
                <p:nvPr/>
              </p:nvSpPr>
              <p:spPr bwMode="auto">
                <a:xfrm>
                  <a:off x="2418" y="3604"/>
                  <a:ext cx="1296" cy="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Length can be measured in meters or feet.</a:t>
                  </a: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es-MX" sz="18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sp>
              <p:nvSpPr>
                <p:cNvPr id="82" name="Rectangle 54">
                  <a:extLst>
                    <a:ext uri="{FF2B5EF4-FFF2-40B4-BE49-F238E27FC236}">
                      <a16:creationId xmlns:a16="http://schemas.microsoft.com/office/drawing/2014/main" id="{C468E40C-7EAE-4F7F-9CD3-C8604BD2CCF2}"/>
                    </a:ext>
                  </a:extLst>
                </p:cNvPr>
                <p:cNvSpPr>
                  <a:spLocks noChangeArrowheads="1"/>
                </p:cNvSpPr>
                <p:nvPr/>
              </p:nvSpPr>
              <p:spPr bwMode="auto">
                <a:xfrm>
                  <a:off x="2375" y="3604"/>
                  <a:ext cx="1382" cy="3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65" name="Rectangle 55">
              <a:extLst>
                <a:ext uri="{FF2B5EF4-FFF2-40B4-BE49-F238E27FC236}">
                  <a16:creationId xmlns:a16="http://schemas.microsoft.com/office/drawing/2014/main" id="{755CFCFC-C542-4009-A58E-D42F6B8E850E}"/>
                </a:ext>
              </a:extLst>
            </p:cNvPr>
            <p:cNvSpPr>
              <a:spLocks noChangeArrowheads="1"/>
            </p:cNvSpPr>
            <p:nvPr/>
          </p:nvSpPr>
          <p:spPr bwMode="auto">
            <a:xfrm>
              <a:off x="-2" y="-2"/>
              <a:ext cx="3761" cy="4000"/>
            </a:xfrm>
            <a:prstGeom prst="rect">
              <a:avLst/>
            </a:prstGeom>
            <a:noFill/>
            <a:ln w="6350">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9746" name="Rectangle 2">
            <a:extLst>
              <a:ext uri="{FF2B5EF4-FFF2-40B4-BE49-F238E27FC236}">
                <a16:creationId xmlns:a16="http://schemas.microsoft.com/office/drawing/2014/main" id="{8F2520C8-0256-463C-821A-782E0F98C334}"/>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a:t>Discrete and Continuous Attributes </a:t>
            </a:r>
          </a:p>
        </p:txBody>
      </p:sp>
      <p:sp>
        <p:nvSpPr>
          <p:cNvPr id="799747" name="Rectangle 3">
            <a:extLst>
              <a:ext uri="{FF2B5EF4-FFF2-40B4-BE49-F238E27FC236}">
                <a16:creationId xmlns:a16="http://schemas.microsoft.com/office/drawing/2014/main" id="{975E319D-29A9-473B-8D43-11AE6CD17DEB}"/>
              </a:ext>
            </a:extLst>
          </p:cNvPr>
          <p:cNvSpPr>
            <a:spLocks noGrp="1" noChangeArrowheads="1"/>
          </p:cNvSpPr>
          <p:nvPr>
            <p:ph idx="1"/>
          </p:nvPr>
        </p:nvSpPr>
        <p:spPr>
          <a:xfrm>
            <a:off x="4088929" y="962167"/>
            <a:ext cx="6858113" cy="4743174"/>
          </a:xfrm>
        </p:spPr>
        <p:txBody>
          <a:bodyPr anchor="t">
            <a:normAutofit/>
          </a:bodyPr>
          <a:lstStyle/>
          <a:p>
            <a:r>
              <a:rPr lang="en-US" altLang="es-MX" sz="2000"/>
              <a:t>Discrete Attribute</a:t>
            </a:r>
          </a:p>
          <a:p>
            <a:pPr lvl="1"/>
            <a:r>
              <a:rPr lang="en-US" altLang="es-MX" sz="2000"/>
              <a:t>Has only a finite or countably infinite set of values</a:t>
            </a:r>
          </a:p>
          <a:p>
            <a:pPr lvl="1"/>
            <a:r>
              <a:rPr lang="en-US" altLang="es-MX" sz="2000"/>
              <a:t>Examples: zip codes, counts, or the set of words in a collection of documents </a:t>
            </a:r>
          </a:p>
          <a:p>
            <a:pPr lvl="1"/>
            <a:r>
              <a:rPr lang="en-US" altLang="es-MX" sz="2000"/>
              <a:t>Often represented as integer variables.   </a:t>
            </a:r>
          </a:p>
          <a:p>
            <a:pPr lvl="1"/>
            <a:r>
              <a:rPr lang="en-US" altLang="es-MX" sz="2000"/>
              <a:t>Note: binary attributes are a special case of discrete attributes </a:t>
            </a:r>
          </a:p>
          <a:p>
            <a:r>
              <a:rPr lang="en-US" altLang="es-MX" sz="2000"/>
              <a:t>Continuous Attribute</a:t>
            </a:r>
          </a:p>
          <a:p>
            <a:pPr lvl="1"/>
            <a:r>
              <a:rPr lang="en-US" altLang="es-MX" sz="2000"/>
              <a:t>Has real numbers as attribute values</a:t>
            </a:r>
          </a:p>
          <a:p>
            <a:pPr lvl="1"/>
            <a:r>
              <a:rPr lang="en-US" altLang="es-MX" sz="2000"/>
              <a:t>Examples: temperature, height, or weight.  </a:t>
            </a:r>
          </a:p>
          <a:p>
            <a:pPr lvl="1"/>
            <a:r>
              <a:rPr lang="en-US" altLang="es-MX" sz="2000"/>
              <a:t>Practically, real values can only be measured and represented using a finite number of digits.</a:t>
            </a:r>
          </a:p>
          <a:p>
            <a:pPr lvl="1"/>
            <a:r>
              <a:rPr lang="en-US" altLang="es-MX" sz="2000"/>
              <a:t>Continuous attributes are typically represented as floating-point variables.</a:t>
            </a:r>
          </a:p>
        </p:txBody>
      </p:sp>
      <p:sp>
        <p:nvSpPr>
          <p:cNvPr id="74" name="Rectangle 7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1796" name="Rectangle 4">
            <a:extLst>
              <a:ext uri="{FF2B5EF4-FFF2-40B4-BE49-F238E27FC236}">
                <a16:creationId xmlns:a16="http://schemas.microsoft.com/office/drawing/2014/main" id="{10EAF89E-4632-4106-B71F-40A79149F4D5}"/>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a:t>Types of data sets </a:t>
            </a:r>
          </a:p>
        </p:txBody>
      </p:sp>
      <p:sp>
        <p:nvSpPr>
          <p:cNvPr id="801797" name="Rectangle 5">
            <a:extLst>
              <a:ext uri="{FF2B5EF4-FFF2-40B4-BE49-F238E27FC236}">
                <a16:creationId xmlns:a16="http://schemas.microsoft.com/office/drawing/2014/main" id="{63F21766-5C0F-456A-8E86-14CE8A92E916}"/>
              </a:ext>
            </a:extLst>
          </p:cNvPr>
          <p:cNvSpPr>
            <a:spLocks noGrp="1" noChangeArrowheads="1"/>
          </p:cNvSpPr>
          <p:nvPr>
            <p:ph idx="1"/>
          </p:nvPr>
        </p:nvSpPr>
        <p:spPr>
          <a:xfrm>
            <a:off x="4088929" y="962167"/>
            <a:ext cx="6858113" cy="4743174"/>
          </a:xfrm>
        </p:spPr>
        <p:txBody>
          <a:bodyPr anchor="t">
            <a:normAutofit/>
          </a:bodyPr>
          <a:lstStyle/>
          <a:p>
            <a:r>
              <a:rPr lang="en-US" altLang="es-MX" sz="2000"/>
              <a:t>Record</a:t>
            </a:r>
          </a:p>
          <a:p>
            <a:pPr lvl="1"/>
            <a:r>
              <a:rPr lang="en-US" altLang="es-MX" sz="2000"/>
              <a:t>Data Matrix</a:t>
            </a:r>
          </a:p>
          <a:p>
            <a:pPr lvl="1"/>
            <a:r>
              <a:rPr lang="en-US" altLang="es-MX" sz="2000"/>
              <a:t>Document Data</a:t>
            </a:r>
          </a:p>
          <a:p>
            <a:pPr lvl="1"/>
            <a:r>
              <a:rPr lang="en-US" altLang="es-MX" sz="2000"/>
              <a:t>Transaction Data</a:t>
            </a:r>
          </a:p>
          <a:p>
            <a:r>
              <a:rPr lang="en-US" altLang="es-MX" sz="2000"/>
              <a:t>Graph</a:t>
            </a:r>
          </a:p>
          <a:p>
            <a:pPr lvl="1"/>
            <a:r>
              <a:rPr lang="en-US" altLang="es-MX" sz="2000"/>
              <a:t>World Wide Web</a:t>
            </a:r>
          </a:p>
          <a:p>
            <a:pPr lvl="1"/>
            <a:r>
              <a:rPr lang="en-US" altLang="es-MX" sz="2000"/>
              <a:t>Molecular Structures</a:t>
            </a:r>
          </a:p>
          <a:p>
            <a:r>
              <a:rPr lang="en-US" altLang="es-MX" sz="2000"/>
              <a:t>Ordered</a:t>
            </a:r>
          </a:p>
          <a:p>
            <a:pPr lvl="1"/>
            <a:r>
              <a:rPr lang="en-US" altLang="es-MX" sz="2000"/>
              <a:t>Spatial Data</a:t>
            </a:r>
          </a:p>
          <a:p>
            <a:pPr lvl="1"/>
            <a:r>
              <a:rPr lang="en-US" altLang="es-MX" sz="2000"/>
              <a:t>Temporal Data</a:t>
            </a:r>
          </a:p>
          <a:p>
            <a:pPr lvl="1"/>
            <a:r>
              <a:rPr lang="en-US" altLang="es-MX" sz="2000"/>
              <a:t>Sequential Data</a:t>
            </a:r>
          </a:p>
          <a:p>
            <a:pPr lvl="1"/>
            <a:r>
              <a:rPr lang="en-US" altLang="es-MX" sz="2000"/>
              <a:t>Genetic Sequence Data</a:t>
            </a:r>
          </a:p>
        </p:txBody>
      </p:sp>
      <p:sp>
        <p:nvSpPr>
          <p:cNvPr id="76" name="Rectangle 75">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3844" name="Rectangle 4">
            <a:extLst>
              <a:ext uri="{FF2B5EF4-FFF2-40B4-BE49-F238E27FC236}">
                <a16:creationId xmlns:a16="http://schemas.microsoft.com/office/drawing/2014/main" id="{14FC3468-ED78-47CC-BCEA-21AB8A4455A9}"/>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Important Characteristics of Structured Data</a:t>
            </a:r>
          </a:p>
        </p:txBody>
      </p:sp>
      <p:sp>
        <p:nvSpPr>
          <p:cNvPr id="803845" name="Rectangle 5">
            <a:extLst>
              <a:ext uri="{FF2B5EF4-FFF2-40B4-BE49-F238E27FC236}">
                <a16:creationId xmlns:a16="http://schemas.microsoft.com/office/drawing/2014/main" id="{EA447A5F-CD2A-4315-B351-5DDAF471EA43}"/>
              </a:ext>
            </a:extLst>
          </p:cNvPr>
          <p:cNvSpPr>
            <a:spLocks noGrp="1" noChangeArrowheads="1"/>
          </p:cNvSpPr>
          <p:nvPr>
            <p:ph idx="1"/>
          </p:nvPr>
        </p:nvSpPr>
        <p:spPr>
          <a:xfrm>
            <a:off x="1371599" y="2318197"/>
            <a:ext cx="9724031" cy="3683358"/>
          </a:xfrm>
        </p:spPr>
        <p:txBody>
          <a:bodyPr anchor="ctr">
            <a:normAutofit/>
          </a:bodyPr>
          <a:lstStyle/>
          <a:p>
            <a:r>
              <a:rPr lang="en-US" altLang="es-MX" sz="2400" dirty="0"/>
              <a:t>Dimensionality</a:t>
            </a:r>
          </a:p>
          <a:p>
            <a:pPr lvl="1"/>
            <a:r>
              <a:rPr lang="en-US" altLang="es-MX" dirty="0"/>
              <a:t> Curse of Dimensionality</a:t>
            </a:r>
          </a:p>
          <a:p>
            <a:r>
              <a:rPr lang="en-US" altLang="es-MX" sz="2400" dirty="0"/>
              <a:t>Sparsity</a:t>
            </a:r>
          </a:p>
          <a:p>
            <a:pPr lvl="1"/>
            <a:r>
              <a:rPr lang="en-US" altLang="es-MX" dirty="0"/>
              <a:t> Only presence counts</a:t>
            </a:r>
          </a:p>
          <a:p>
            <a:r>
              <a:rPr lang="en-US" altLang="es-MX" sz="2400" dirty="0"/>
              <a:t>Resolution</a:t>
            </a:r>
          </a:p>
          <a:p>
            <a:pPr lvl="1"/>
            <a:r>
              <a:rPr lang="en-US" altLang="es-MX" dirty="0"/>
              <a:t> Patterns depend on the scale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ectangle 8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Rectangle 8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5893" name="Rectangle 5">
            <a:extLst>
              <a:ext uri="{FF2B5EF4-FFF2-40B4-BE49-F238E27FC236}">
                <a16:creationId xmlns:a16="http://schemas.microsoft.com/office/drawing/2014/main" id="{183939A4-3B4D-4356-98C9-734365FD5FBB}"/>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Record Data </a:t>
            </a:r>
          </a:p>
        </p:txBody>
      </p:sp>
      <p:sp>
        <p:nvSpPr>
          <p:cNvPr id="805894" name="Rectangle 6">
            <a:extLst>
              <a:ext uri="{FF2B5EF4-FFF2-40B4-BE49-F238E27FC236}">
                <a16:creationId xmlns:a16="http://schemas.microsoft.com/office/drawing/2014/main" id="{073E75F4-1B90-4CE7-BB2B-48CE9576D859}"/>
              </a:ext>
            </a:extLst>
          </p:cNvPr>
          <p:cNvSpPr>
            <a:spLocks noGrp="1" noChangeArrowheads="1"/>
          </p:cNvSpPr>
          <p:nvPr>
            <p:ph idx="1"/>
          </p:nvPr>
        </p:nvSpPr>
        <p:spPr>
          <a:xfrm>
            <a:off x="1371599" y="2318197"/>
            <a:ext cx="6483531" cy="3683358"/>
          </a:xfrm>
        </p:spPr>
        <p:txBody>
          <a:bodyPr anchor="t">
            <a:normAutofit/>
          </a:bodyPr>
          <a:lstStyle/>
          <a:p>
            <a:r>
              <a:rPr lang="en-US" altLang="es-MX" sz="2000" dirty="0"/>
              <a:t>Data that consists of a collection of records, each of which consists of a fixed set of attributes </a:t>
            </a:r>
          </a:p>
          <a:p>
            <a:pPr lvl="1"/>
            <a:endParaRPr lang="en-US" altLang="es-MX" sz="2000" dirty="0"/>
          </a:p>
          <a:p>
            <a:pPr lvl="1"/>
            <a:endParaRPr lang="en-US" altLang="es-MX" sz="2000" dirty="0"/>
          </a:p>
        </p:txBody>
      </p:sp>
      <p:graphicFrame>
        <p:nvGraphicFramePr>
          <p:cNvPr id="14" name="Object 4">
            <a:extLst>
              <a:ext uri="{FF2B5EF4-FFF2-40B4-BE49-F238E27FC236}">
                <a16:creationId xmlns:a16="http://schemas.microsoft.com/office/drawing/2014/main" id="{9D83CEBC-2ACB-4EF4-B3CF-1879D8613FBA}"/>
              </a:ext>
            </a:extLst>
          </p:cNvPr>
          <p:cNvGraphicFramePr>
            <a:graphicFrameLocks noChangeAspect="1"/>
          </p:cNvGraphicFramePr>
          <p:nvPr/>
        </p:nvGraphicFramePr>
        <p:xfrm>
          <a:off x="7973515" y="2318197"/>
          <a:ext cx="3419475" cy="3656013"/>
        </p:xfrm>
        <a:graphic>
          <a:graphicData uri="http://schemas.openxmlformats.org/presentationml/2006/ole">
            <mc:AlternateContent xmlns:mc="http://schemas.openxmlformats.org/markup-compatibility/2006">
              <mc:Choice xmlns:v="urn:schemas-microsoft-com:vml" Requires="v">
                <p:oleObj name="Document" r:id="rId3" imgW="5405040" imgH="5778360" progId="Word.Document.8">
                  <p:embed/>
                </p:oleObj>
              </mc:Choice>
              <mc:Fallback>
                <p:oleObj name="Document" r:id="rId3" imgW="5405040" imgH="5778360" progId="Word.Document.8">
                  <p:embed/>
                  <p:pic>
                    <p:nvPicPr>
                      <p:cNvPr id="14" name="Object 4">
                        <a:extLst>
                          <a:ext uri="{FF2B5EF4-FFF2-40B4-BE49-F238E27FC236}">
                            <a16:creationId xmlns:a16="http://schemas.microsoft.com/office/drawing/2014/main" id="{9D83CEBC-2ACB-4EF4-B3CF-1879D8613F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3515" y="2318197"/>
                        <a:ext cx="3419475" cy="365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7" name="Rectangle 7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ectangle 8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3" name="Rectangle 8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5" name="Freeform: Shape 8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7" name="Rectangle 8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7941" name="Rectangle 5">
            <a:extLst>
              <a:ext uri="{FF2B5EF4-FFF2-40B4-BE49-F238E27FC236}">
                <a16:creationId xmlns:a16="http://schemas.microsoft.com/office/drawing/2014/main" id="{71E63035-6565-4444-9455-690296F88D67}"/>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Data Matrix </a:t>
            </a:r>
          </a:p>
        </p:txBody>
      </p:sp>
      <p:sp>
        <p:nvSpPr>
          <p:cNvPr id="807942" name="Rectangle 6">
            <a:extLst>
              <a:ext uri="{FF2B5EF4-FFF2-40B4-BE49-F238E27FC236}">
                <a16:creationId xmlns:a16="http://schemas.microsoft.com/office/drawing/2014/main" id="{4910DB87-1770-4ABB-954E-B4496B9AACBB}"/>
              </a:ext>
            </a:extLst>
          </p:cNvPr>
          <p:cNvSpPr>
            <a:spLocks noGrp="1" noChangeArrowheads="1"/>
          </p:cNvSpPr>
          <p:nvPr>
            <p:ph idx="1"/>
          </p:nvPr>
        </p:nvSpPr>
        <p:spPr>
          <a:xfrm>
            <a:off x="4810259" y="649480"/>
            <a:ext cx="6555347" cy="5546047"/>
          </a:xfrm>
        </p:spPr>
        <p:txBody>
          <a:bodyPr anchor="t">
            <a:normAutofit/>
          </a:bodyPr>
          <a:lstStyle/>
          <a:p>
            <a:r>
              <a:rPr lang="en-US" altLang="es-MX" sz="2000" dirty="0"/>
              <a:t>If data objects have the same fixed set of numeric attributes, then the data objects can be thought of as points in a multi-dimensional space, where each dimension represents a distinct attribute </a:t>
            </a:r>
          </a:p>
          <a:p>
            <a:pPr lvl="4"/>
            <a:endParaRPr lang="en-US" altLang="es-MX" sz="2000" dirty="0"/>
          </a:p>
          <a:p>
            <a:r>
              <a:rPr lang="en-US" altLang="es-MX" sz="2000" dirty="0"/>
              <a:t>Such data set can be represented by an m by n matrix, where there are m rows, one for each object, and n columns, one for each attribute</a:t>
            </a:r>
          </a:p>
        </p:txBody>
      </p:sp>
      <p:graphicFrame>
        <p:nvGraphicFramePr>
          <p:cNvPr id="22" name="Object 4">
            <a:extLst>
              <a:ext uri="{FF2B5EF4-FFF2-40B4-BE49-F238E27FC236}">
                <a16:creationId xmlns:a16="http://schemas.microsoft.com/office/drawing/2014/main" id="{6F4830D8-B348-43C9-A879-1211B66EB8E2}"/>
              </a:ext>
            </a:extLst>
          </p:cNvPr>
          <p:cNvGraphicFramePr>
            <a:graphicFrameLocks noChangeAspect="1"/>
          </p:cNvGraphicFramePr>
          <p:nvPr/>
        </p:nvGraphicFramePr>
        <p:xfrm>
          <a:off x="5041907" y="3974352"/>
          <a:ext cx="5705471" cy="1477962"/>
        </p:xfrm>
        <a:graphic>
          <a:graphicData uri="http://schemas.openxmlformats.org/presentationml/2006/ole">
            <mc:AlternateContent xmlns:mc="http://schemas.openxmlformats.org/markup-compatibility/2006">
              <mc:Choice xmlns:v="urn:schemas-microsoft-com:vml" Requires="v">
                <p:oleObj name="VISIO" r:id="rId3" imgW="5705280" imgH="1477440" progId="Visio.Drawing.6">
                  <p:embed/>
                </p:oleObj>
              </mc:Choice>
              <mc:Fallback>
                <p:oleObj name="VISIO" r:id="rId3" imgW="5705280" imgH="1477440" progId="Visio.Drawing.6">
                  <p:embed/>
                  <p:pic>
                    <p:nvPicPr>
                      <p:cNvPr id="22" name="Object 4">
                        <a:extLst>
                          <a:ext uri="{FF2B5EF4-FFF2-40B4-BE49-F238E27FC236}">
                            <a16:creationId xmlns:a16="http://schemas.microsoft.com/office/drawing/2014/main" id="{6F4830D8-B348-43C9-A879-1211B66EB8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1907" y="3974352"/>
                        <a:ext cx="5705471" cy="1477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9986" name="Rectangle 2">
            <a:extLst>
              <a:ext uri="{FF2B5EF4-FFF2-40B4-BE49-F238E27FC236}">
                <a16:creationId xmlns:a16="http://schemas.microsoft.com/office/drawing/2014/main" id="{6426631E-4672-44D8-933F-91BD207CB18E}"/>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Document Data</a:t>
            </a:r>
          </a:p>
        </p:txBody>
      </p:sp>
      <p:sp>
        <p:nvSpPr>
          <p:cNvPr id="809987" name="Rectangle 3">
            <a:extLst>
              <a:ext uri="{FF2B5EF4-FFF2-40B4-BE49-F238E27FC236}">
                <a16:creationId xmlns:a16="http://schemas.microsoft.com/office/drawing/2014/main" id="{59C05020-92E0-464E-91CE-BF81CC36123D}"/>
              </a:ext>
            </a:extLst>
          </p:cNvPr>
          <p:cNvSpPr>
            <a:spLocks noGrp="1" noChangeArrowheads="1"/>
          </p:cNvSpPr>
          <p:nvPr>
            <p:ph idx="1"/>
          </p:nvPr>
        </p:nvSpPr>
        <p:spPr>
          <a:xfrm>
            <a:off x="4810259" y="649480"/>
            <a:ext cx="6555347" cy="5546047"/>
          </a:xfrm>
        </p:spPr>
        <p:txBody>
          <a:bodyPr anchor="t">
            <a:normAutofit/>
          </a:bodyPr>
          <a:lstStyle/>
          <a:p>
            <a:r>
              <a:rPr lang="en-US" altLang="es-MX" sz="2000" dirty="0"/>
              <a:t>Each document becomes a “term” vector:</a:t>
            </a:r>
          </a:p>
          <a:p>
            <a:pPr lvl="1"/>
            <a:r>
              <a:rPr lang="en-US" altLang="es-MX" sz="2000" dirty="0"/>
              <a:t>Each term is a component (attribute) of the vector,</a:t>
            </a:r>
          </a:p>
          <a:p>
            <a:pPr lvl="1"/>
            <a:r>
              <a:rPr lang="en-US" altLang="es-MX" sz="2000" dirty="0"/>
              <a:t>The value of each component is the number of times the corresponding term occurs in the document. </a:t>
            </a:r>
          </a:p>
          <a:p>
            <a:pPr lvl="1"/>
            <a:endParaRPr lang="en-US" altLang="es-MX" sz="2000" dirty="0"/>
          </a:p>
          <a:p>
            <a:pPr lvl="1"/>
            <a:endParaRPr lang="en-US" altLang="es-MX" sz="2000" dirty="0"/>
          </a:p>
        </p:txBody>
      </p:sp>
      <p:graphicFrame>
        <p:nvGraphicFramePr>
          <p:cNvPr id="22" name="Object 4">
            <a:extLst>
              <a:ext uri="{FF2B5EF4-FFF2-40B4-BE49-F238E27FC236}">
                <a16:creationId xmlns:a16="http://schemas.microsoft.com/office/drawing/2014/main" id="{22843FEF-056B-4771-B69E-52E0AE647917}"/>
              </a:ext>
            </a:extLst>
          </p:cNvPr>
          <p:cNvGraphicFramePr>
            <a:graphicFrameLocks noChangeAspect="1"/>
          </p:cNvGraphicFramePr>
          <p:nvPr/>
        </p:nvGraphicFramePr>
        <p:xfrm>
          <a:off x="5257800" y="3511550"/>
          <a:ext cx="5926138" cy="2693988"/>
        </p:xfrm>
        <a:graphic>
          <a:graphicData uri="http://schemas.openxmlformats.org/presentationml/2006/ole">
            <mc:AlternateContent xmlns:mc="http://schemas.openxmlformats.org/markup-compatibility/2006">
              <mc:Choice xmlns:v="urn:schemas-microsoft-com:vml" Requires="v">
                <p:oleObj name="Visio" r:id="rId3" imgW="5925718" imgH="2693902" progId="Visio.Drawing.6">
                  <p:embed/>
                </p:oleObj>
              </mc:Choice>
              <mc:Fallback>
                <p:oleObj name="Visio" r:id="rId3" imgW="5925718" imgH="2693902" progId="Visio.Drawing.6">
                  <p:embed/>
                  <p:pic>
                    <p:nvPicPr>
                      <p:cNvPr id="22" name="Object 4">
                        <a:extLst>
                          <a:ext uri="{FF2B5EF4-FFF2-40B4-BE49-F238E27FC236}">
                            <a16:creationId xmlns:a16="http://schemas.microsoft.com/office/drawing/2014/main" id="{22843FEF-056B-4771-B69E-52E0AE6479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3511550"/>
                        <a:ext cx="5926138" cy="2693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3" name="Rectangle 7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Freeform: Shape 8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3" name="Rectangle 8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2034" name="Rectangle 2">
            <a:extLst>
              <a:ext uri="{FF2B5EF4-FFF2-40B4-BE49-F238E27FC236}">
                <a16:creationId xmlns:a16="http://schemas.microsoft.com/office/drawing/2014/main" id="{1CD34E20-F1D7-4F05-A681-DC414DF32EF5}"/>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Transaction Data</a:t>
            </a:r>
          </a:p>
        </p:txBody>
      </p:sp>
      <p:sp>
        <p:nvSpPr>
          <p:cNvPr id="10" name="Marcador de contenido 9">
            <a:extLst>
              <a:ext uri="{FF2B5EF4-FFF2-40B4-BE49-F238E27FC236}">
                <a16:creationId xmlns:a16="http://schemas.microsoft.com/office/drawing/2014/main" id="{1875BF90-F80B-4750-8731-61EA52CC8E04}"/>
              </a:ext>
            </a:extLst>
          </p:cNvPr>
          <p:cNvSpPr>
            <a:spLocks noGrp="1"/>
          </p:cNvSpPr>
          <p:nvPr>
            <p:ph idx="1"/>
          </p:nvPr>
        </p:nvSpPr>
        <p:spPr>
          <a:xfrm>
            <a:off x="4810259" y="649480"/>
            <a:ext cx="6555347" cy="5546047"/>
          </a:xfrm>
        </p:spPr>
        <p:txBody>
          <a:bodyPr anchor="t">
            <a:normAutofit/>
          </a:bodyPr>
          <a:lstStyle/>
          <a:p>
            <a:r>
              <a:rPr lang="en-US" sz="2000" dirty="0"/>
              <a:t>A special type of record data, where each record (transaction) involves a set of items.  </a:t>
            </a:r>
          </a:p>
          <a:p>
            <a:r>
              <a:rPr lang="en-US" sz="2000" dirty="0"/>
              <a:t>For example, consider a grocery store.  The set of products purchased by a customer during one shopping trip constitute a transaction, while the individual products that were purchased are the items. </a:t>
            </a:r>
          </a:p>
        </p:txBody>
      </p:sp>
      <p:graphicFrame>
        <p:nvGraphicFramePr>
          <p:cNvPr id="23" name="Object 4">
            <a:extLst>
              <a:ext uri="{FF2B5EF4-FFF2-40B4-BE49-F238E27FC236}">
                <a16:creationId xmlns:a16="http://schemas.microsoft.com/office/drawing/2014/main" id="{8ED14592-B124-44FC-ADFC-3CF006005FE3}"/>
              </a:ext>
            </a:extLst>
          </p:cNvPr>
          <p:cNvGraphicFramePr>
            <a:graphicFrameLocks noChangeAspect="1"/>
          </p:cNvGraphicFramePr>
          <p:nvPr/>
        </p:nvGraphicFramePr>
        <p:xfrm>
          <a:off x="5930265" y="3528769"/>
          <a:ext cx="3822700" cy="1998663"/>
        </p:xfrm>
        <a:graphic>
          <a:graphicData uri="http://schemas.openxmlformats.org/presentationml/2006/ole">
            <mc:AlternateContent xmlns:mc="http://schemas.openxmlformats.org/markup-compatibility/2006">
              <mc:Choice xmlns:v="urn:schemas-microsoft-com:vml" Requires="v">
                <p:oleObj name="Document" r:id="rId3" imgW="3823200" imgH="1999080" progId="Word.Document.8">
                  <p:embed/>
                </p:oleObj>
              </mc:Choice>
              <mc:Fallback>
                <p:oleObj name="Document" r:id="rId3" imgW="3823200" imgH="1999080" progId="Word.Document.8">
                  <p:embed/>
                  <p:pic>
                    <p:nvPicPr>
                      <p:cNvPr id="23" name="Object 4">
                        <a:extLst>
                          <a:ext uri="{FF2B5EF4-FFF2-40B4-BE49-F238E27FC236}">
                            <a16:creationId xmlns:a16="http://schemas.microsoft.com/office/drawing/2014/main" id="{8ED14592-B124-44FC-ADFC-3CF006005F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0265" y="3528769"/>
                        <a:ext cx="3822700" cy="199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4082" name="Rectangle 2">
            <a:extLst>
              <a:ext uri="{FF2B5EF4-FFF2-40B4-BE49-F238E27FC236}">
                <a16:creationId xmlns:a16="http://schemas.microsoft.com/office/drawing/2014/main" id="{C2EAB11E-C3D0-4129-87B4-9473193780EB}"/>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dirty="0"/>
              <a:t>Graph Data </a:t>
            </a:r>
          </a:p>
        </p:txBody>
      </p:sp>
      <p:sp>
        <p:nvSpPr>
          <p:cNvPr id="814083" name="Rectangle 3">
            <a:extLst>
              <a:ext uri="{FF2B5EF4-FFF2-40B4-BE49-F238E27FC236}">
                <a16:creationId xmlns:a16="http://schemas.microsoft.com/office/drawing/2014/main" id="{53C295A7-907A-4407-9743-24356575250D}"/>
              </a:ext>
            </a:extLst>
          </p:cNvPr>
          <p:cNvSpPr>
            <a:spLocks noGrp="1" noChangeArrowheads="1"/>
          </p:cNvSpPr>
          <p:nvPr>
            <p:ph idx="1"/>
          </p:nvPr>
        </p:nvSpPr>
        <p:spPr>
          <a:xfrm>
            <a:off x="4088929" y="962167"/>
            <a:ext cx="6858113" cy="4743174"/>
          </a:xfrm>
        </p:spPr>
        <p:txBody>
          <a:bodyPr anchor="t">
            <a:normAutofit/>
          </a:bodyPr>
          <a:lstStyle/>
          <a:p>
            <a:r>
              <a:rPr lang="en-US" altLang="es-MX" sz="2000" dirty="0"/>
              <a:t>Examples: Generic graph and HTML Links </a:t>
            </a:r>
          </a:p>
        </p:txBody>
      </p:sp>
      <p:sp>
        <p:nvSpPr>
          <p:cNvPr id="74" name="Rectangle 7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22" name="Object 5">
            <a:extLst>
              <a:ext uri="{FF2B5EF4-FFF2-40B4-BE49-F238E27FC236}">
                <a16:creationId xmlns:a16="http://schemas.microsoft.com/office/drawing/2014/main" id="{3512145E-4381-41FF-8D76-0CDC77A4178E}"/>
              </a:ext>
            </a:extLst>
          </p:cNvPr>
          <p:cNvGraphicFramePr>
            <a:graphicFrameLocks noChangeAspect="1"/>
          </p:cNvGraphicFramePr>
          <p:nvPr/>
        </p:nvGraphicFramePr>
        <p:xfrm>
          <a:off x="6313646" y="2580517"/>
          <a:ext cx="4235450" cy="2179638"/>
        </p:xfrm>
        <a:graphic>
          <a:graphicData uri="http://schemas.openxmlformats.org/presentationml/2006/ole">
            <mc:AlternateContent xmlns:mc="http://schemas.openxmlformats.org/markup-compatibility/2006">
              <mc:Choice xmlns:v="urn:schemas-microsoft-com:vml" Requires="v">
                <p:oleObj name="VISIO" r:id="rId3" imgW="4234680" imgH="2179800" progId="Visio.Drawing.6">
                  <p:embed/>
                </p:oleObj>
              </mc:Choice>
              <mc:Fallback>
                <p:oleObj name="VISIO" r:id="rId3" imgW="4234680" imgH="2179800" progId="Visio.Drawing.6">
                  <p:embed/>
                  <p:pic>
                    <p:nvPicPr>
                      <p:cNvPr id="22" name="Object 5">
                        <a:extLst>
                          <a:ext uri="{FF2B5EF4-FFF2-40B4-BE49-F238E27FC236}">
                            <a16:creationId xmlns:a16="http://schemas.microsoft.com/office/drawing/2014/main" id="{3512145E-4381-41FF-8D76-0CDC77A417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3646" y="2580517"/>
                        <a:ext cx="4235450" cy="2179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4">
            <a:extLst>
              <a:ext uri="{FF2B5EF4-FFF2-40B4-BE49-F238E27FC236}">
                <a16:creationId xmlns:a16="http://schemas.microsoft.com/office/drawing/2014/main" id="{E30F0B50-75DD-4184-8971-614D94E17339}"/>
              </a:ext>
            </a:extLst>
          </p:cNvPr>
          <p:cNvGraphicFramePr>
            <a:graphicFrameLocks noChangeAspect="1"/>
          </p:cNvGraphicFramePr>
          <p:nvPr/>
        </p:nvGraphicFramePr>
        <p:xfrm>
          <a:off x="1420971" y="2653542"/>
          <a:ext cx="3556000" cy="2730500"/>
        </p:xfrm>
        <a:graphic>
          <a:graphicData uri="http://schemas.openxmlformats.org/presentationml/2006/ole">
            <mc:AlternateContent xmlns:mc="http://schemas.openxmlformats.org/markup-compatibility/2006">
              <mc:Choice xmlns:v="urn:schemas-microsoft-com:vml" Requires="v">
                <p:oleObj name="VISIO" r:id="rId5" imgW="840600" imgH="646200" progId="Visio.Drawing.6">
                  <p:embed/>
                </p:oleObj>
              </mc:Choice>
              <mc:Fallback>
                <p:oleObj name="VISIO" r:id="rId5" imgW="840600" imgH="646200" progId="Visio.Drawing.6">
                  <p:embed/>
                  <p:pic>
                    <p:nvPicPr>
                      <p:cNvPr id="23" name="Object 4">
                        <a:extLst>
                          <a:ext uri="{FF2B5EF4-FFF2-40B4-BE49-F238E27FC236}">
                            <a16:creationId xmlns:a16="http://schemas.microsoft.com/office/drawing/2014/main" id="{E30F0B50-75DD-4184-8971-614D94E1733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0971" y="2653542"/>
                        <a:ext cx="3556000" cy="273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6130" name="Rectangle 2">
            <a:extLst>
              <a:ext uri="{FF2B5EF4-FFF2-40B4-BE49-F238E27FC236}">
                <a16:creationId xmlns:a16="http://schemas.microsoft.com/office/drawing/2014/main" id="{77D9D34D-F582-43F2-861D-1D672E592DC7}"/>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Chemical Data </a:t>
            </a:r>
          </a:p>
        </p:txBody>
      </p:sp>
      <p:sp>
        <p:nvSpPr>
          <p:cNvPr id="816131" name="Rectangle 3">
            <a:extLst>
              <a:ext uri="{FF2B5EF4-FFF2-40B4-BE49-F238E27FC236}">
                <a16:creationId xmlns:a16="http://schemas.microsoft.com/office/drawing/2014/main" id="{B8F4FE03-6378-4F40-8FED-5C0834634D8A}"/>
              </a:ext>
            </a:extLst>
          </p:cNvPr>
          <p:cNvSpPr>
            <a:spLocks noGrp="1" noChangeArrowheads="1"/>
          </p:cNvSpPr>
          <p:nvPr>
            <p:ph type="body" idx="1"/>
          </p:nvPr>
        </p:nvSpPr>
        <p:spPr>
          <a:xfrm>
            <a:off x="1371599" y="2318197"/>
            <a:ext cx="3276601" cy="3683358"/>
          </a:xfrm>
        </p:spPr>
        <p:txBody>
          <a:bodyPr anchor="ctr">
            <a:normAutofit/>
          </a:bodyPr>
          <a:lstStyle/>
          <a:p>
            <a:r>
              <a:rPr lang="en-US" altLang="es-MX" sz="2000" dirty="0"/>
              <a:t>Benzene Molecule: C</a:t>
            </a:r>
            <a:r>
              <a:rPr lang="en-US" altLang="es-MX" sz="2000" baseline="-25000" dirty="0"/>
              <a:t>6</a:t>
            </a:r>
            <a:r>
              <a:rPr lang="en-US" altLang="es-MX" sz="2000" dirty="0"/>
              <a:t>H</a:t>
            </a:r>
            <a:r>
              <a:rPr lang="en-US" altLang="es-MX" sz="2000" baseline="-25000" dirty="0"/>
              <a:t>6</a:t>
            </a:r>
          </a:p>
          <a:p>
            <a:endParaRPr lang="en-US" altLang="es-MX" sz="2000" dirty="0"/>
          </a:p>
        </p:txBody>
      </p:sp>
      <p:graphicFrame>
        <p:nvGraphicFramePr>
          <p:cNvPr id="12" name="Object 4">
            <a:extLst>
              <a:ext uri="{FF2B5EF4-FFF2-40B4-BE49-F238E27FC236}">
                <a16:creationId xmlns:a16="http://schemas.microsoft.com/office/drawing/2014/main" id="{AD6277B9-885F-45AE-8C15-292E32AE8104}"/>
              </a:ext>
            </a:extLst>
          </p:cNvPr>
          <p:cNvGraphicFramePr>
            <a:graphicFrameLocks noChangeAspect="1"/>
          </p:cNvGraphicFramePr>
          <p:nvPr/>
        </p:nvGraphicFramePr>
        <p:xfrm>
          <a:off x="5583239" y="2318197"/>
          <a:ext cx="3921125" cy="3656012"/>
        </p:xfrm>
        <a:graphic>
          <a:graphicData uri="http://schemas.openxmlformats.org/presentationml/2006/ole">
            <mc:AlternateContent xmlns:mc="http://schemas.openxmlformats.org/markup-compatibility/2006">
              <mc:Choice xmlns:v="urn:schemas-microsoft-com:vml" Requires="v">
                <p:oleObj name="VISIO" r:id="rId3" imgW="5801400" imgH="5407920" progId="Visio.Drawing.6">
                  <p:embed/>
                </p:oleObj>
              </mc:Choice>
              <mc:Fallback>
                <p:oleObj name="VISIO" r:id="rId3" imgW="5801400" imgH="5407920" progId="Visio.Drawing.6">
                  <p:embed/>
                  <p:pic>
                    <p:nvPicPr>
                      <p:cNvPr id="12" name="Object 4">
                        <a:extLst>
                          <a:ext uri="{FF2B5EF4-FFF2-40B4-BE49-F238E27FC236}">
                            <a16:creationId xmlns:a16="http://schemas.microsoft.com/office/drawing/2014/main" id="{AD6277B9-885F-45AE-8C15-292E32AE81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3239" y="2318197"/>
                        <a:ext cx="3921125" cy="3656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8178" name="Rectangle 2">
            <a:extLst>
              <a:ext uri="{FF2B5EF4-FFF2-40B4-BE49-F238E27FC236}">
                <a16:creationId xmlns:a16="http://schemas.microsoft.com/office/drawing/2014/main" id="{31CDD091-4B02-4F72-93FA-1E89335C1288}"/>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a:t>Ordered Data </a:t>
            </a:r>
          </a:p>
        </p:txBody>
      </p:sp>
      <p:sp>
        <p:nvSpPr>
          <p:cNvPr id="818179" name="Rectangle 3">
            <a:extLst>
              <a:ext uri="{FF2B5EF4-FFF2-40B4-BE49-F238E27FC236}">
                <a16:creationId xmlns:a16="http://schemas.microsoft.com/office/drawing/2014/main" id="{62CCB99E-FFB6-4CBB-8655-0AF52074EA6E}"/>
              </a:ext>
            </a:extLst>
          </p:cNvPr>
          <p:cNvSpPr>
            <a:spLocks noGrp="1" noChangeArrowheads="1"/>
          </p:cNvSpPr>
          <p:nvPr>
            <p:ph type="body" idx="1"/>
          </p:nvPr>
        </p:nvSpPr>
        <p:spPr>
          <a:xfrm>
            <a:off x="4088929" y="962167"/>
            <a:ext cx="6858113" cy="4743174"/>
          </a:xfrm>
        </p:spPr>
        <p:txBody>
          <a:bodyPr anchor="t">
            <a:normAutofit/>
          </a:bodyPr>
          <a:lstStyle/>
          <a:p>
            <a:r>
              <a:rPr lang="en-US" altLang="es-MX" sz="2000"/>
              <a:t>Sequences of transactions</a:t>
            </a:r>
          </a:p>
          <a:p>
            <a:endParaRPr lang="en-US" altLang="es-MX" sz="2000"/>
          </a:p>
        </p:txBody>
      </p:sp>
      <p:sp>
        <p:nvSpPr>
          <p:cNvPr id="74" name="Rectangle 7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 name="Grupo 15">
            <a:extLst>
              <a:ext uri="{FF2B5EF4-FFF2-40B4-BE49-F238E27FC236}">
                <a16:creationId xmlns:a16="http://schemas.microsoft.com/office/drawing/2014/main" id="{7217A6C2-772E-4DD1-826E-0B921DA75C75}"/>
              </a:ext>
            </a:extLst>
          </p:cNvPr>
          <p:cNvGrpSpPr/>
          <p:nvPr/>
        </p:nvGrpSpPr>
        <p:grpSpPr>
          <a:xfrm>
            <a:off x="5554661" y="1633471"/>
            <a:ext cx="5121275" cy="4419599"/>
            <a:chOff x="3641726" y="2057401"/>
            <a:chExt cx="5121275" cy="4419599"/>
          </a:xfrm>
        </p:grpSpPr>
        <p:pic>
          <p:nvPicPr>
            <p:cNvPr id="17" name="Picture 4">
              <a:extLst>
                <a:ext uri="{FF2B5EF4-FFF2-40B4-BE49-F238E27FC236}">
                  <a16:creationId xmlns:a16="http://schemas.microsoft.com/office/drawing/2014/main" id="{9B08BBDC-24BD-413D-A792-8BC514E9DB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1726" y="2636838"/>
              <a:ext cx="5121275" cy="384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Text Box 5">
              <a:extLst>
                <a:ext uri="{FF2B5EF4-FFF2-40B4-BE49-F238E27FC236}">
                  <a16:creationId xmlns:a16="http://schemas.microsoft.com/office/drawing/2014/main" id="{B9D468CD-E4FC-4615-B123-AEA329CECCA9}"/>
                </a:ext>
              </a:extLst>
            </p:cNvPr>
            <p:cNvSpPr txBox="1">
              <a:spLocks noChangeArrowheads="1"/>
            </p:cNvSpPr>
            <p:nvPr/>
          </p:nvSpPr>
          <p:spPr bwMode="auto">
            <a:xfrm>
              <a:off x="3946525" y="5715001"/>
              <a:ext cx="2057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s-MX" sz="2000" b="1" i="0" u="none" strike="noStrike" kern="1200" cap="none" spc="0" normalizeH="0" baseline="0" noProof="0">
                  <a:ln>
                    <a:noFill/>
                  </a:ln>
                  <a:solidFill>
                    <a:prstClr val="black"/>
                  </a:solidFill>
                  <a:effectLst/>
                  <a:uLnTx/>
                  <a:uFillTx/>
                  <a:latin typeface="Calibri" panose="020F0502020204030204"/>
                  <a:ea typeface="+mn-ea"/>
                  <a:cs typeface="+mn-cs"/>
                </a:rPr>
                <a:t>An element of the sequence</a:t>
              </a:r>
            </a:p>
          </p:txBody>
        </p:sp>
        <p:sp>
          <p:nvSpPr>
            <p:cNvPr id="19" name="AutoShape 6">
              <a:extLst>
                <a:ext uri="{FF2B5EF4-FFF2-40B4-BE49-F238E27FC236}">
                  <a16:creationId xmlns:a16="http://schemas.microsoft.com/office/drawing/2014/main" id="{B2A7DA4B-1E0A-40DA-8BED-22AD5E824EDA}"/>
                </a:ext>
              </a:extLst>
            </p:cNvPr>
            <p:cNvSpPr>
              <a:spLocks/>
            </p:cNvSpPr>
            <p:nvPr/>
          </p:nvSpPr>
          <p:spPr bwMode="auto">
            <a:xfrm rot="16200000">
              <a:off x="4518025" y="4686300"/>
              <a:ext cx="533400" cy="1371600"/>
            </a:xfrm>
            <a:prstGeom prst="leftBrace">
              <a:avLst>
                <a:gd name="adj1" fmla="val 21429"/>
                <a:gd name="adj2" fmla="val 50000"/>
              </a:avLst>
            </a:prstGeom>
            <a:noFill/>
            <a:ln w="254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Box 7">
              <a:extLst>
                <a:ext uri="{FF2B5EF4-FFF2-40B4-BE49-F238E27FC236}">
                  <a16:creationId xmlns:a16="http://schemas.microsoft.com/office/drawing/2014/main" id="{3D0B4203-DA7D-4524-9FD8-1C40EC6C6597}"/>
                </a:ext>
              </a:extLst>
            </p:cNvPr>
            <p:cNvSpPr txBox="1">
              <a:spLocks noChangeArrowheads="1"/>
            </p:cNvSpPr>
            <p:nvPr/>
          </p:nvSpPr>
          <p:spPr bwMode="auto">
            <a:xfrm>
              <a:off x="4038600" y="2057401"/>
              <a:ext cx="2057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s-MX" sz="2000" b="1" i="0" u="none" strike="noStrike" kern="1200" cap="none" spc="0" normalizeH="0" baseline="0" noProof="0" dirty="0">
                  <a:ln>
                    <a:noFill/>
                  </a:ln>
                  <a:solidFill>
                    <a:prstClr val="black"/>
                  </a:solidFill>
                  <a:effectLst/>
                  <a:uLnTx/>
                  <a:uFillTx/>
                  <a:latin typeface="Calibri" panose="020F0502020204030204"/>
                  <a:ea typeface="+mn-ea"/>
                  <a:cs typeface="+mn-cs"/>
                </a:rPr>
                <a:t>Items/Events</a:t>
              </a:r>
            </a:p>
          </p:txBody>
        </p:sp>
        <p:sp>
          <p:nvSpPr>
            <p:cNvPr id="21" name="Line 8">
              <a:extLst>
                <a:ext uri="{FF2B5EF4-FFF2-40B4-BE49-F238E27FC236}">
                  <a16:creationId xmlns:a16="http://schemas.microsoft.com/office/drawing/2014/main" id="{BCB1C2F3-9FED-477B-9908-DB616879B92F}"/>
                </a:ext>
              </a:extLst>
            </p:cNvPr>
            <p:cNvSpPr>
              <a:spLocks noChangeShapeType="1"/>
            </p:cNvSpPr>
            <p:nvPr/>
          </p:nvSpPr>
          <p:spPr bwMode="auto">
            <a:xfrm>
              <a:off x="4648200" y="2514600"/>
              <a:ext cx="0" cy="83820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Line 9">
              <a:extLst>
                <a:ext uri="{FF2B5EF4-FFF2-40B4-BE49-F238E27FC236}">
                  <a16:creationId xmlns:a16="http://schemas.microsoft.com/office/drawing/2014/main" id="{C8051427-3A08-4AAE-822D-428DDAC160CB}"/>
                </a:ext>
              </a:extLst>
            </p:cNvPr>
            <p:cNvSpPr>
              <a:spLocks noChangeShapeType="1"/>
            </p:cNvSpPr>
            <p:nvPr/>
          </p:nvSpPr>
          <p:spPr bwMode="auto">
            <a:xfrm>
              <a:off x="5105400" y="2514600"/>
              <a:ext cx="0" cy="83820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0226" name="Rectangle 2">
            <a:extLst>
              <a:ext uri="{FF2B5EF4-FFF2-40B4-BE49-F238E27FC236}">
                <a16:creationId xmlns:a16="http://schemas.microsoft.com/office/drawing/2014/main" id="{1D4BFF91-41DE-4BE6-A9B3-FBA13BC2B153}"/>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a:t>Ordered Data </a:t>
            </a:r>
          </a:p>
        </p:txBody>
      </p:sp>
      <p:sp>
        <p:nvSpPr>
          <p:cNvPr id="820227" name="Rectangle 3">
            <a:extLst>
              <a:ext uri="{FF2B5EF4-FFF2-40B4-BE49-F238E27FC236}">
                <a16:creationId xmlns:a16="http://schemas.microsoft.com/office/drawing/2014/main" id="{134F0E7F-2168-43AA-9483-3DEDF707979E}"/>
              </a:ext>
            </a:extLst>
          </p:cNvPr>
          <p:cNvSpPr>
            <a:spLocks noGrp="1" noChangeArrowheads="1"/>
          </p:cNvSpPr>
          <p:nvPr>
            <p:ph type="body" idx="1"/>
          </p:nvPr>
        </p:nvSpPr>
        <p:spPr>
          <a:xfrm>
            <a:off x="4088929" y="962167"/>
            <a:ext cx="6858113" cy="4743174"/>
          </a:xfrm>
        </p:spPr>
        <p:txBody>
          <a:bodyPr anchor="t">
            <a:normAutofit/>
          </a:bodyPr>
          <a:lstStyle/>
          <a:p>
            <a:r>
              <a:rPr lang="en-US" altLang="es-MX" sz="2000" dirty="0"/>
              <a:t>Genomic sequence data</a:t>
            </a:r>
          </a:p>
        </p:txBody>
      </p:sp>
      <p:sp>
        <p:nvSpPr>
          <p:cNvPr id="74" name="Rectangle 7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0" name="Object 4">
            <a:extLst>
              <a:ext uri="{FF2B5EF4-FFF2-40B4-BE49-F238E27FC236}">
                <a16:creationId xmlns:a16="http://schemas.microsoft.com/office/drawing/2014/main" id="{3F5F16C3-FF38-4FDD-A355-7E25E91C6468}"/>
              </a:ext>
            </a:extLst>
          </p:cNvPr>
          <p:cNvGraphicFramePr>
            <a:graphicFrameLocks noChangeAspect="1"/>
          </p:cNvGraphicFramePr>
          <p:nvPr/>
        </p:nvGraphicFramePr>
        <p:xfrm>
          <a:off x="4686301" y="1603375"/>
          <a:ext cx="4278313" cy="3651250"/>
        </p:xfrm>
        <a:graphic>
          <a:graphicData uri="http://schemas.openxmlformats.org/presentationml/2006/ole">
            <mc:AlternateContent xmlns:mc="http://schemas.openxmlformats.org/markup-compatibility/2006">
              <mc:Choice xmlns:v="urn:schemas-microsoft-com:vml" Requires="v">
                <p:oleObj name="VISIO" r:id="rId3" imgW="2332800" imgH="1990080" progId="Visio.Drawing.6">
                  <p:embed/>
                </p:oleObj>
              </mc:Choice>
              <mc:Fallback>
                <p:oleObj name="VISIO" r:id="rId3" imgW="2332800" imgH="1990080" progId="Visio.Drawing.6">
                  <p:embed/>
                  <p:pic>
                    <p:nvPicPr>
                      <p:cNvPr id="10" name="Object 4">
                        <a:extLst>
                          <a:ext uri="{FF2B5EF4-FFF2-40B4-BE49-F238E27FC236}">
                            <a16:creationId xmlns:a16="http://schemas.microsoft.com/office/drawing/2014/main" id="{3F5F16C3-FF38-4FDD-A355-7E25E91C6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6301" y="1603375"/>
                        <a:ext cx="4278313" cy="365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8" name="Freeform: Shape 8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2275" name="Rectangle 3">
            <a:extLst>
              <a:ext uri="{FF2B5EF4-FFF2-40B4-BE49-F238E27FC236}">
                <a16:creationId xmlns:a16="http://schemas.microsoft.com/office/drawing/2014/main" id="{222FC4F5-FC55-4424-A326-4BDE4D64F5AD}"/>
              </a:ext>
            </a:extLst>
          </p:cNvPr>
          <p:cNvSpPr>
            <a:spLocks noGrp="1" noChangeArrowheads="1"/>
          </p:cNvSpPr>
          <p:nvPr>
            <p:ph type="title"/>
          </p:nvPr>
        </p:nvSpPr>
        <p:spPr>
          <a:xfrm>
            <a:off x="660041" y="2767106"/>
            <a:ext cx="2880828" cy="3071906"/>
          </a:xfrm>
        </p:spPr>
        <p:txBody>
          <a:bodyPr vert="horz" lIns="91440" tIns="45720" rIns="91440" bIns="45720" rtlCol="0" anchor="t">
            <a:normAutofit/>
          </a:bodyPr>
          <a:lstStyle/>
          <a:p>
            <a:r>
              <a:rPr lang="en-US" altLang="es-MX" sz="4000" kern="1200">
                <a:solidFill>
                  <a:srgbClr val="FFFFFF"/>
                </a:solidFill>
                <a:latin typeface="+mj-lt"/>
                <a:ea typeface="+mj-ea"/>
                <a:cs typeface="+mj-cs"/>
              </a:rPr>
              <a:t>Ordered Data</a:t>
            </a:r>
          </a:p>
        </p:txBody>
      </p:sp>
      <p:sp>
        <p:nvSpPr>
          <p:cNvPr id="822276" name="Rectangle 4">
            <a:extLst>
              <a:ext uri="{FF2B5EF4-FFF2-40B4-BE49-F238E27FC236}">
                <a16:creationId xmlns:a16="http://schemas.microsoft.com/office/drawing/2014/main" id="{9F064DFF-520E-4F0F-B77E-C44CF2F8F108}"/>
              </a:ext>
            </a:extLst>
          </p:cNvPr>
          <p:cNvSpPr>
            <a:spLocks noGrp="1" noChangeArrowheads="1"/>
          </p:cNvSpPr>
          <p:nvPr>
            <p:ph type="body" idx="1"/>
          </p:nvPr>
        </p:nvSpPr>
        <p:spPr>
          <a:xfrm>
            <a:off x="660042" y="806824"/>
            <a:ext cx="2919738" cy="1494117"/>
          </a:xfrm>
        </p:spPr>
        <p:txBody>
          <a:bodyPr vert="horz" lIns="91440" tIns="45720" rIns="91440" bIns="45720" rtlCol="0" anchor="b">
            <a:normAutofit/>
          </a:bodyPr>
          <a:lstStyle/>
          <a:p>
            <a:pPr marL="0" indent="0">
              <a:buNone/>
            </a:pPr>
            <a:r>
              <a:rPr lang="en-US" altLang="es-MX" sz="2000" kern="1200">
                <a:solidFill>
                  <a:srgbClr val="FFFFFF"/>
                </a:solidFill>
                <a:latin typeface="+mn-lt"/>
                <a:ea typeface="+mn-ea"/>
                <a:cs typeface="+mn-cs"/>
              </a:rPr>
              <a:t>Spatio-Temporal Data</a:t>
            </a:r>
          </a:p>
        </p:txBody>
      </p:sp>
      <p:pic>
        <p:nvPicPr>
          <p:cNvPr id="12" name="Picture 2">
            <a:extLst>
              <a:ext uri="{FF2B5EF4-FFF2-40B4-BE49-F238E27FC236}">
                <a16:creationId xmlns:a16="http://schemas.microsoft.com/office/drawing/2014/main" id="{864A45DB-4872-42AE-B765-2225C18F80FB}"/>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tretch>
            <a:fillRect/>
          </a:stretch>
        </p:blipFill>
        <p:spPr>
          <a:xfrm>
            <a:off x="4502428" y="718592"/>
            <a:ext cx="7225748" cy="542081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822277" name="Rectangle 5">
            <a:extLst>
              <a:ext uri="{FF2B5EF4-FFF2-40B4-BE49-F238E27FC236}">
                <a16:creationId xmlns:a16="http://schemas.microsoft.com/office/drawing/2014/main" id="{80C4201A-CDFF-4E0D-815C-FBCF6A9EF339}"/>
              </a:ext>
            </a:extLst>
          </p:cNvPr>
          <p:cNvSpPr>
            <a:spLocks noChangeArrowheads="1"/>
          </p:cNvSpPr>
          <p:nvPr/>
        </p:nvSpPr>
        <p:spPr bwMode="auto">
          <a:xfrm>
            <a:off x="4191000" y="2667000"/>
            <a:ext cx="914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Box 6">
            <a:extLst>
              <a:ext uri="{FF2B5EF4-FFF2-40B4-BE49-F238E27FC236}">
                <a16:creationId xmlns:a16="http://schemas.microsoft.com/office/drawing/2014/main" id="{464B93A6-5EE5-4428-B2DA-2943BC083070}"/>
              </a:ext>
            </a:extLst>
          </p:cNvPr>
          <p:cNvSpPr txBox="1">
            <a:spLocks noChangeArrowheads="1"/>
          </p:cNvSpPr>
          <p:nvPr/>
        </p:nvSpPr>
        <p:spPr bwMode="auto">
          <a:xfrm>
            <a:off x="5638787" y="5612468"/>
            <a:ext cx="548639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s-MX" sz="2000" b="1" i="0" u="none" strike="noStrike" kern="1200" cap="none" spc="0" normalizeH="0" baseline="0" noProof="0" dirty="0">
                <a:ln>
                  <a:noFill/>
                </a:ln>
                <a:solidFill>
                  <a:prstClr val="black"/>
                </a:solidFill>
                <a:effectLst/>
                <a:uLnTx/>
                <a:uFillTx/>
                <a:latin typeface="Calibri" panose="020F0502020204030204"/>
                <a:ea typeface="+mn-ea"/>
                <a:cs typeface="+mn-cs"/>
              </a:rPr>
              <a:t>Average Monthly Temperature of land and ocean</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3300" name="Rectangle 4">
            <a:extLst>
              <a:ext uri="{FF2B5EF4-FFF2-40B4-BE49-F238E27FC236}">
                <a16:creationId xmlns:a16="http://schemas.microsoft.com/office/drawing/2014/main" id="{2ECA7CEF-F656-4D76-A0DE-BC85CE529393}"/>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Data Quality </a:t>
            </a:r>
          </a:p>
        </p:txBody>
      </p:sp>
      <p:sp>
        <p:nvSpPr>
          <p:cNvPr id="823301" name="Rectangle 5">
            <a:extLst>
              <a:ext uri="{FF2B5EF4-FFF2-40B4-BE49-F238E27FC236}">
                <a16:creationId xmlns:a16="http://schemas.microsoft.com/office/drawing/2014/main" id="{0C64FC92-E9DA-48C8-AB47-2A3DB070D64A}"/>
              </a:ext>
            </a:extLst>
          </p:cNvPr>
          <p:cNvSpPr>
            <a:spLocks noGrp="1" noChangeArrowheads="1"/>
          </p:cNvSpPr>
          <p:nvPr>
            <p:ph type="body" idx="1"/>
          </p:nvPr>
        </p:nvSpPr>
        <p:spPr>
          <a:xfrm>
            <a:off x="1371599" y="2318197"/>
            <a:ext cx="9724031" cy="3683358"/>
          </a:xfrm>
        </p:spPr>
        <p:txBody>
          <a:bodyPr anchor="ctr">
            <a:normAutofit/>
          </a:bodyPr>
          <a:lstStyle/>
          <a:p>
            <a:r>
              <a:rPr lang="en-US" altLang="es-MX" sz="2000"/>
              <a:t>What kinds of data quality problems?</a:t>
            </a:r>
          </a:p>
          <a:p>
            <a:r>
              <a:rPr lang="en-US" altLang="es-MX" sz="2000"/>
              <a:t>How can we detect problems with the data? </a:t>
            </a:r>
          </a:p>
          <a:p>
            <a:r>
              <a:rPr lang="en-US" altLang="es-MX" sz="2000"/>
              <a:t>What can we do about these problems? </a:t>
            </a:r>
          </a:p>
          <a:p>
            <a:r>
              <a:rPr lang="en-US" altLang="es-MX" sz="2000"/>
              <a:t>Examples of data quality problems: </a:t>
            </a:r>
          </a:p>
          <a:p>
            <a:pPr lvl="1"/>
            <a:r>
              <a:rPr lang="en-US" altLang="es-MX" sz="2000"/>
              <a:t>Noise and outliers </a:t>
            </a:r>
          </a:p>
          <a:p>
            <a:pPr lvl="1"/>
            <a:r>
              <a:rPr lang="en-US" altLang="es-MX" sz="2000"/>
              <a:t>missing values </a:t>
            </a:r>
          </a:p>
          <a:p>
            <a:pPr lvl="1"/>
            <a:r>
              <a:rPr lang="en-US" altLang="es-MX" sz="2000"/>
              <a:t>duplicate data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5346" name="Rectangle 2">
            <a:extLst>
              <a:ext uri="{FF2B5EF4-FFF2-40B4-BE49-F238E27FC236}">
                <a16:creationId xmlns:a16="http://schemas.microsoft.com/office/drawing/2014/main" id="{1252840E-AE56-4664-9817-F937B903041D}"/>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a:t>Noise</a:t>
            </a:r>
          </a:p>
        </p:txBody>
      </p:sp>
      <p:sp>
        <p:nvSpPr>
          <p:cNvPr id="825347" name="Rectangle 3">
            <a:extLst>
              <a:ext uri="{FF2B5EF4-FFF2-40B4-BE49-F238E27FC236}">
                <a16:creationId xmlns:a16="http://schemas.microsoft.com/office/drawing/2014/main" id="{DAFA7911-3393-40D4-8634-C6C5A6850A40}"/>
              </a:ext>
            </a:extLst>
          </p:cNvPr>
          <p:cNvSpPr>
            <a:spLocks noGrp="1" noChangeArrowheads="1"/>
          </p:cNvSpPr>
          <p:nvPr>
            <p:ph type="body" idx="1"/>
          </p:nvPr>
        </p:nvSpPr>
        <p:spPr>
          <a:xfrm>
            <a:off x="4088929" y="962167"/>
            <a:ext cx="6858113" cy="4743174"/>
          </a:xfrm>
        </p:spPr>
        <p:txBody>
          <a:bodyPr anchor="t">
            <a:normAutofit/>
          </a:bodyPr>
          <a:lstStyle/>
          <a:p>
            <a:r>
              <a:rPr lang="en-US" altLang="es-MX" sz="2000"/>
              <a:t>Noise refers to modification of original values</a:t>
            </a:r>
          </a:p>
          <a:p>
            <a:pPr lvl="1"/>
            <a:r>
              <a:rPr lang="en-US" altLang="es-MX" sz="2000"/>
              <a:t>Examples: distortion of a person’s voice when talking on a poor phone and “snow” on television screen</a:t>
            </a:r>
          </a:p>
          <a:p>
            <a:pPr lvl="1"/>
            <a:endParaRPr lang="en-US" altLang="es-MX" sz="2000"/>
          </a:p>
          <a:p>
            <a:pPr lvl="1"/>
            <a:endParaRPr lang="en-US" altLang="es-MX" sz="2000"/>
          </a:p>
        </p:txBody>
      </p:sp>
      <p:sp>
        <p:nvSpPr>
          <p:cNvPr id="74" name="Rectangle 7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4" name="Grupo 13">
            <a:extLst>
              <a:ext uri="{FF2B5EF4-FFF2-40B4-BE49-F238E27FC236}">
                <a16:creationId xmlns:a16="http://schemas.microsoft.com/office/drawing/2014/main" id="{97A211A7-D6CB-4B14-B3BA-41309D3512D4}"/>
              </a:ext>
            </a:extLst>
          </p:cNvPr>
          <p:cNvGrpSpPr/>
          <p:nvPr/>
        </p:nvGrpSpPr>
        <p:grpSpPr>
          <a:xfrm>
            <a:off x="3467100" y="2155683"/>
            <a:ext cx="7848600" cy="3740150"/>
            <a:chOff x="2133600" y="2660650"/>
            <a:chExt cx="7848600" cy="3740150"/>
          </a:xfrm>
        </p:grpSpPr>
        <p:pic>
          <p:nvPicPr>
            <p:cNvPr id="15" name="Picture 4">
              <a:extLst>
                <a:ext uri="{FF2B5EF4-FFF2-40B4-BE49-F238E27FC236}">
                  <a16:creationId xmlns:a16="http://schemas.microsoft.com/office/drawing/2014/main" id="{AEE5F964-7A25-4ED4-ADC6-9B197B3B15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250"/>
            <a:stretch>
              <a:fillRect/>
            </a:stretch>
          </p:blipFill>
          <p:spPr bwMode="auto">
            <a:xfrm>
              <a:off x="2133600" y="2660650"/>
              <a:ext cx="4103688" cy="328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5">
              <a:extLst>
                <a:ext uri="{FF2B5EF4-FFF2-40B4-BE49-F238E27FC236}">
                  <a16:creationId xmlns:a16="http://schemas.microsoft.com/office/drawing/2014/main" id="{60E521B0-CFE7-4F8E-9991-C03130AD26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8392" r="6250"/>
            <a:stretch>
              <a:fillRect/>
            </a:stretch>
          </p:blipFill>
          <p:spPr bwMode="auto">
            <a:xfrm>
              <a:off x="6243638" y="2667000"/>
              <a:ext cx="3738562" cy="328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 Box 6">
              <a:extLst>
                <a:ext uri="{FF2B5EF4-FFF2-40B4-BE49-F238E27FC236}">
                  <a16:creationId xmlns:a16="http://schemas.microsoft.com/office/drawing/2014/main" id="{1350963A-92D1-4274-BAFA-0E3F34F9A44A}"/>
                </a:ext>
              </a:extLst>
            </p:cNvPr>
            <p:cNvSpPr txBox="1">
              <a:spLocks noChangeArrowheads="1"/>
            </p:cNvSpPr>
            <p:nvPr/>
          </p:nvSpPr>
          <p:spPr bwMode="auto">
            <a:xfrm>
              <a:off x="3200400" y="6096000"/>
              <a:ext cx="1905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s-MX" sz="1400" b="1" i="0" u="none" strike="noStrike" kern="1200" cap="none" spc="0" normalizeH="0" baseline="0" noProof="0">
                  <a:ln>
                    <a:noFill/>
                  </a:ln>
                  <a:solidFill>
                    <a:prstClr val="black"/>
                  </a:solidFill>
                  <a:effectLst/>
                  <a:uLnTx/>
                  <a:uFillTx/>
                  <a:latin typeface="Calibri" panose="020F0502020204030204"/>
                  <a:ea typeface="+mn-ea"/>
                  <a:cs typeface="+mn-cs"/>
                </a:rPr>
                <a:t>Two Sine Waves</a:t>
              </a:r>
            </a:p>
          </p:txBody>
        </p:sp>
        <p:sp>
          <p:nvSpPr>
            <p:cNvPr id="18" name="Text Box 7">
              <a:extLst>
                <a:ext uri="{FF2B5EF4-FFF2-40B4-BE49-F238E27FC236}">
                  <a16:creationId xmlns:a16="http://schemas.microsoft.com/office/drawing/2014/main" id="{6D9AD8FD-6BFB-45DC-8E3F-AA4BA434099F}"/>
                </a:ext>
              </a:extLst>
            </p:cNvPr>
            <p:cNvSpPr txBox="1">
              <a:spLocks noChangeArrowheads="1"/>
            </p:cNvSpPr>
            <p:nvPr/>
          </p:nvSpPr>
          <p:spPr bwMode="auto">
            <a:xfrm>
              <a:off x="6705600" y="6096000"/>
              <a:ext cx="25146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s-MX" sz="1400" b="1" i="0" u="none" strike="noStrike" kern="1200" cap="none" spc="0" normalizeH="0" baseline="0" noProof="0">
                  <a:ln>
                    <a:noFill/>
                  </a:ln>
                  <a:solidFill>
                    <a:prstClr val="black"/>
                  </a:solidFill>
                  <a:effectLst/>
                  <a:uLnTx/>
                  <a:uFillTx/>
                  <a:latin typeface="Calibri" panose="020F0502020204030204"/>
                  <a:ea typeface="+mn-ea"/>
                  <a:cs typeface="+mn-cs"/>
                </a:rPr>
                <a:t>Two Sine Waves + Noise</a:t>
              </a:r>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Rectangle 8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0" name="Rectangle 8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2" name="Freeform: Shape 9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4" name="Rectangle 9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6370" name="Rectangle 2">
            <a:extLst>
              <a:ext uri="{FF2B5EF4-FFF2-40B4-BE49-F238E27FC236}">
                <a16:creationId xmlns:a16="http://schemas.microsoft.com/office/drawing/2014/main" id="{FDB375B1-B53B-4C0A-B019-9403E165D9F1}"/>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Outliers</a:t>
            </a:r>
          </a:p>
        </p:txBody>
      </p:sp>
      <p:sp>
        <p:nvSpPr>
          <p:cNvPr id="826371" name="Rectangle 3">
            <a:extLst>
              <a:ext uri="{FF2B5EF4-FFF2-40B4-BE49-F238E27FC236}">
                <a16:creationId xmlns:a16="http://schemas.microsoft.com/office/drawing/2014/main" id="{460BF71B-4B4F-461A-A9FE-FA3CF41B4936}"/>
              </a:ext>
            </a:extLst>
          </p:cNvPr>
          <p:cNvSpPr>
            <a:spLocks noGrp="1" noChangeArrowheads="1"/>
          </p:cNvSpPr>
          <p:nvPr>
            <p:ph idx="1"/>
          </p:nvPr>
        </p:nvSpPr>
        <p:spPr>
          <a:xfrm>
            <a:off x="4581727" y="649480"/>
            <a:ext cx="3025303" cy="5546047"/>
          </a:xfrm>
        </p:spPr>
        <p:txBody>
          <a:bodyPr anchor="ctr">
            <a:normAutofit/>
          </a:bodyPr>
          <a:lstStyle/>
          <a:p>
            <a:r>
              <a:rPr lang="en-US" altLang="es-MX" sz="2000"/>
              <a:t>Outliers are data objects with characteristics that are considerably different than most of the other data objects in the data set</a:t>
            </a:r>
          </a:p>
          <a:p>
            <a:endParaRPr lang="en-US" altLang="es-MX" sz="2000"/>
          </a:p>
        </p:txBody>
      </p:sp>
      <p:grpSp>
        <p:nvGrpSpPr>
          <p:cNvPr id="826372" name="Group 4">
            <a:extLst>
              <a:ext uri="{FF2B5EF4-FFF2-40B4-BE49-F238E27FC236}">
                <a16:creationId xmlns:a16="http://schemas.microsoft.com/office/drawing/2014/main" id="{9F363434-369F-40B0-B05E-E6976265DF81}"/>
              </a:ext>
            </a:extLst>
          </p:cNvPr>
          <p:cNvGrpSpPr>
            <a:grpSpLocks/>
          </p:cNvGrpSpPr>
          <p:nvPr/>
        </p:nvGrpSpPr>
        <p:grpSpPr bwMode="auto">
          <a:xfrm>
            <a:off x="8109502" y="1949888"/>
            <a:ext cx="3615776" cy="2970102"/>
            <a:chOff x="3648" y="2448"/>
            <a:chExt cx="2112" cy="1872"/>
          </a:xfrm>
        </p:grpSpPr>
        <p:pic>
          <p:nvPicPr>
            <p:cNvPr id="826373" name="Picture 5">
              <a:extLst>
                <a:ext uri="{FF2B5EF4-FFF2-40B4-BE49-F238E27FC236}">
                  <a16:creationId xmlns:a16="http://schemas.microsoft.com/office/drawing/2014/main" id="{DF811141-525A-43C0-B62C-547D33A31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8" y="2448"/>
              <a:ext cx="2112" cy="1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6374" name="Oval 6">
              <a:extLst>
                <a:ext uri="{FF2B5EF4-FFF2-40B4-BE49-F238E27FC236}">
                  <a16:creationId xmlns:a16="http://schemas.microsoft.com/office/drawing/2014/main" id="{FE23E3F4-D35C-4244-94E4-DF73284DC172}"/>
                </a:ext>
              </a:extLst>
            </p:cNvPr>
            <p:cNvSpPr>
              <a:spLocks noChangeArrowheads="1"/>
            </p:cNvSpPr>
            <p:nvPr/>
          </p:nvSpPr>
          <p:spPr bwMode="auto">
            <a:xfrm>
              <a:off x="3766" y="2961"/>
              <a:ext cx="86" cy="84"/>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6375" name="Oval 7">
              <a:extLst>
                <a:ext uri="{FF2B5EF4-FFF2-40B4-BE49-F238E27FC236}">
                  <a16:creationId xmlns:a16="http://schemas.microsoft.com/office/drawing/2014/main" id="{E8B59C02-9FD1-4DE2-A839-E19658C0D412}"/>
                </a:ext>
              </a:extLst>
            </p:cNvPr>
            <p:cNvSpPr>
              <a:spLocks noChangeArrowheads="1"/>
            </p:cNvSpPr>
            <p:nvPr/>
          </p:nvSpPr>
          <p:spPr bwMode="auto">
            <a:xfrm>
              <a:off x="3907" y="3224"/>
              <a:ext cx="86" cy="84"/>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6376" name="Oval 8">
              <a:extLst>
                <a:ext uri="{FF2B5EF4-FFF2-40B4-BE49-F238E27FC236}">
                  <a16:creationId xmlns:a16="http://schemas.microsoft.com/office/drawing/2014/main" id="{1B893C04-7AB0-436F-B60F-B0D69ED75A34}"/>
                </a:ext>
              </a:extLst>
            </p:cNvPr>
            <p:cNvSpPr>
              <a:spLocks noChangeArrowheads="1"/>
            </p:cNvSpPr>
            <p:nvPr/>
          </p:nvSpPr>
          <p:spPr bwMode="auto">
            <a:xfrm>
              <a:off x="5612" y="3871"/>
              <a:ext cx="86" cy="85"/>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6377" name="Oval 9">
              <a:extLst>
                <a:ext uri="{FF2B5EF4-FFF2-40B4-BE49-F238E27FC236}">
                  <a16:creationId xmlns:a16="http://schemas.microsoft.com/office/drawing/2014/main" id="{F73CF7F0-AB29-4735-8D92-D8C0E38FEC07}"/>
                </a:ext>
              </a:extLst>
            </p:cNvPr>
            <p:cNvSpPr>
              <a:spLocks noChangeArrowheads="1"/>
            </p:cNvSpPr>
            <p:nvPr/>
          </p:nvSpPr>
          <p:spPr bwMode="auto">
            <a:xfrm>
              <a:off x="4319" y="3937"/>
              <a:ext cx="86" cy="84"/>
            </a:xfrm>
            <a:prstGeom prst="ellipse">
              <a:avLst/>
            </a:prstGeom>
            <a:noFill/>
            <a:ln w="19050">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6378" name="Rectangle 10">
              <a:extLst>
                <a:ext uri="{FF2B5EF4-FFF2-40B4-BE49-F238E27FC236}">
                  <a16:creationId xmlns:a16="http://schemas.microsoft.com/office/drawing/2014/main" id="{7D4B9EA5-3911-4FC6-8810-D5D719A2257F}"/>
                </a:ext>
              </a:extLst>
            </p:cNvPr>
            <p:cNvSpPr>
              <a:spLocks noChangeArrowheads="1"/>
            </p:cNvSpPr>
            <p:nvPr/>
          </p:nvSpPr>
          <p:spPr bwMode="auto">
            <a:xfrm>
              <a:off x="4944" y="3072"/>
              <a:ext cx="192" cy="24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6379" name="Rectangle 11">
              <a:extLst>
                <a:ext uri="{FF2B5EF4-FFF2-40B4-BE49-F238E27FC236}">
                  <a16:creationId xmlns:a16="http://schemas.microsoft.com/office/drawing/2014/main" id="{E35D37CE-4095-4C61-8EAF-95322A94D1DB}"/>
                </a:ext>
              </a:extLst>
            </p:cNvPr>
            <p:cNvSpPr>
              <a:spLocks noChangeArrowheads="1"/>
            </p:cNvSpPr>
            <p:nvPr/>
          </p:nvSpPr>
          <p:spPr bwMode="auto">
            <a:xfrm>
              <a:off x="3888" y="3120"/>
              <a:ext cx="192" cy="24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7396" name="Rectangle 4">
            <a:extLst>
              <a:ext uri="{FF2B5EF4-FFF2-40B4-BE49-F238E27FC236}">
                <a16:creationId xmlns:a16="http://schemas.microsoft.com/office/drawing/2014/main" id="{F466861D-E855-45A0-8EC5-C5CD30741A83}"/>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Missing Values</a:t>
            </a:r>
          </a:p>
        </p:txBody>
      </p:sp>
      <p:sp>
        <p:nvSpPr>
          <p:cNvPr id="827397" name="Rectangle 5">
            <a:extLst>
              <a:ext uri="{FF2B5EF4-FFF2-40B4-BE49-F238E27FC236}">
                <a16:creationId xmlns:a16="http://schemas.microsoft.com/office/drawing/2014/main" id="{6FDCC622-FEEB-431D-A875-A978E80840BC}"/>
              </a:ext>
            </a:extLst>
          </p:cNvPr>
          <p:cNvSpPr>
            <a:spLocks noGrp="1" noChangeArrowheads="1"/>
          </p:cNvSpPr>
          <p:nvPr>
            <p:ph idx="1"/>
          </p:nvPr>
        </p:nvSpPr>
        <p:spPr>
          <a:xfrm>
            <a:off x="1371599" y="2318197"/>
            <a:ext cx="9724031" cy="3683358"/>
          </a:xfrm>
        </p:spPr>
        <p:txBody>
          <a:bodyPr anchor="ctr">
            <a:normAutofit/>
          </a:bodyPr>
          <a:lstStyle/>
          <a:p>
            <a:r>
              <a:rPr lang="en-US" altLang="es-MX" sz="2000"/>
              <a:t>Reasons for missing values</a:t>
            </a:r>
          </a:p>
          <a:p>
            <a:pPr lvl="1"/>
            <a:r>
              <a:rPr lang="en-US" altLang="es-MX" sz="2000"/>
              <a:t>Information is not collected </a:t>
            </a:r>
            <a:br>
              <a:rPr lang="en-US" altLang="es-MX" sz="2000"/>
            </a:br>
            <a:r>
              <a:rPr lang="en-US" altLang="es-MX" sz="2000"/>
              <a:t>(e.g., people decline to give their age and weight)</a:t>
            </a:r>
          </a:p>
          <a:p>
            <a:pPr lvl="1"/>
            <a:r>
              <a:rPr lang="en-US" altLang="es-MX" sz="2000"/>
              <a:t>Attributes may not be applicable to all cases </a:t>
            </a:r>
            <a:br>
              <a:rPr lang="en-US" altLang="es-MX" sz="2000"/>
            </a:br>
            <a:r>
              <a:rPr lang="en-US" altLang="es-MX" sz="2000"/>
              <a:t>(e.g., annual income is not applicable to children)</a:t>
            </a:r>
          </a:p>
          <a:p>
            <a:r>
              <a:rPr lang="en-US" altLang="es-MX" sz="2000"/>
              <a:t>Handling missing values</a:t>
            </a:r>
          </a:p>
          <a:p>
            <a:pPr lvl="1"/>
            <a:r>
              <a:rPr lang="en-US" altLang="es-MX" sz="2000"/>
              <a:t>Eliminate Data Objects</a:t>
            </a:r>
          </a:p>
          <a:p>
            <a:pPr lvl="1"/>
            <a:r>
              <a:rPr lang="en-US" altLang="es-MX" sz="2000"/>
              <a:t>Estimate Missing Values</a:t>
            </a:r>
          </a:p>
          <a:p>
            <a:pPr lvl="1"/>
            <a:r>
              <a:rPr lang="en-US" altLang="es-MX" sz="2000"/>
              <a:t>Ignore the Missing Value During Analysis</a:t>
            </a:r>
          </a:p>
          <a:p>
            <a:pPr lvl="1"/>
            <a:r>
              <a:rPr lang="en-US" altLang="es-MX" sz="2000"/>
              <a:t>Replace with all possible values (weighted by their probabilities)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9442" name="Rectangle 2">
            <a:extLst>
              <a:ext uri="{FF2B5EF4-FFF2-40B4-BE49-F238E27FC236}">
                <a16:creationId xmlns:a16="http://schemas.microsoft.com/office/drawing/2014/main" id="{7A7F7F81-ED05-429A-8856-75E76694C16C}"/>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Duplicate Data</a:t>
            </a:r>
          </a:p>
        </p:txBody>
      </p:sp>
      <p:sp>
        <p:nvSpPr>
          <p:cNvPr id="829443" name="Rectangle 3">
            <a:extLst>
              <a:ext uri="{FF2B5EF4-FFF2-40B4-BE49-F238E27FC236}">
                <a16:creationId xmlns:a16="http://schemas.microsoft.com/office/drawing/2014/main" id="{19A5FF0B-F998-4A24-8EEB-2F00777E118D}"/>
              </a:ext>
            </a:extLst>
          </p:cNvPr>
          <p:cNvSpPr>
            <a:spLocks noGrp="1" noChangeArrowheads="1"/>
          </p:cNvSpPr>
          <p:nvPr>
            <p:ph idx="1"/>
          </p:nvPr>
        </p:nvSpPr>
        <p:spPr>
          <a:xfrm>
            <a:off x="1371599" y="2318197"/>
            <a:ext cx="9724031" cy="3683358"/>
          </a:xfrm>
        </p:spPr>
        <p:txBody>
          <a:bodyPr anchor="t">
            <a:normAutofit/>
          </a:bodyPr>
          <a:lstStyle/>
          <a:p>
            <a:r>
              <a:rPr lang="en-US" altLang="es-MX" sz="2000" dirty="0"/>
              <a:t>Data set may include data objects that are duplicates, or almost duplicates of one another</a:t>
            </a:r>
          </a:p>
          <a:p>
            <a:pPr lvl="1"/>
            <a:r>
              <a:rPr lang="en-US" altLang="es-MX" sz="2000" dirty="0"/>
              <a:t>Major issue when merging data from heterogenous sources</a:t>
            </a:r>
          </a:p>
          <a:p>
            <a:r>
              <a:rPr lang="en-US" altLang="es-MX" sz="2000" dirty="0"/>
              <a:t>Examples:</a:t>
            </a:r>
          </a:p>
          <a:p>
            <a:pPr lvl="1"/>
            <a:r>
              <a:rPr lang="en-US" altLang="es-MX" sz="2000" dirty="0"/>
              <a:t>Same person with multiple email addresses</a:t>
            </a:r>
          </a:p>
          <a:p>
            <a:r>
              <a:rPr lang="en-US" altLang="es-MX" sz="2000" dirty="0"/>
              <a:t>Data cleaning</a:t>
            </a:r>
          </a:p>
          <a:p>
            <a:pPr lvl="1"/>
            <a:r>
              <a:rPr lang="en-US" altLang="es-MX" sz="2000" dirty="0"/>
              <a:t>Process of dealing with duplicate data issues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8" name="Rectangle 13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0" name="Rectangle 13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Rectangle 14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Rectangle 14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 name="Rectangle 14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8" name="Freeform: Shape 14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0" name="Rectangle 14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1044" name="Rectangle 4">
            <a:extLst>
              <a:ext uri="{FF2B5EF4-FFF2-40B4-BE49-F238E27FC236}">
                <a16:creationId xmlns:a16="http://schemas.microsoft.com/office/drawing/2014/main" id="{BFEB7EE1-BE32-4810-9646-8950B0C886A9}"/>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Noisy Data</a:t>
            </a:r>
          </a:p>
        </p:txBody>
      </p:sp>
      <p:sp>
        <p:nvSpPr>
          <p:cNvPr id="471045" name="Rectangle 5">
            <a:extLst>
              <a:ext uri="{FF2B5EF4-FFF2-40B4-BE49-F238E27FC236}">
                <a16:creationId xmlns:a16="http://schemas.microsoft.com/office/drawing/2014/main" id="{0CF0E9C1-1C30-4CB7-B559-B4C004B20C66}"/>
              </a:ext>
            </a:extLst>
          </p:cNvPr>
          <p:cNvSpPr>
            <a:spLocks noGrp="1" noChangeArrowheads="1"/>
          </p:cNvSpPr>
          <p:nvPr>
            <p:ph idx="1"/>
          </p:nvPr>
        </p:nvSpPr>
        <p:spPr>
          <a:xfrm>
            <a:off x="4810259" y="649480"/>
            <a:ext cx="6555347" cy="5546047"/>
          </a:xfrm>
        </p:spPr>
        <p:txBody>
          <a:bodyPr anchor="ctr">
            <a:normAutofit/>
          </a:bodyPr>
          <a:lstStyle/>
          <a:p>
            <a:r>
              <a:rPr lang="en-US" altLang="es-MX" sz="2000" dirty="0"/>
              <a:t>Noise: random error or variance in a measured variable</a:t>
            </a:r>
          </a:p>
          <a:p>
            <a:r>
              <a:rPr lang="en-US" altLang="es-MX" sz="2000" dirty="0"/>
              <a:t>Incorrect attribute values may be due to</a:t>
            </a:r>
          </a:p>
          <a:p>
            <a:pPr lvl="1"/>
            <a:r>
              <a:rPr lang="en-US" altLang="es-MX" sz="2000" dirty="0"/>
              <a:t>faulty data collection instruments</a:t>
            </a:r>
          </a:p>
          <a:p>
            <a:pPr lvl="1"/>
            <a:r>
              <a:rPr lang="en-US" altLang="es-MX" sz="2000" dirty="0"/>
              <a:t>data entry problems</a:t>
            </a:r>
          </a:p>
          <a:p>
            <a:pPr lvl="1"/>
            <a:r>
              <a:rPr lang="en-US" altLang="es-MX" sz="2000" dirty="0"/>
              <a:t>data transmission problems</a:t>
            </a:r>
          </a:p>
          <a:p>
            <a:pPr lvl="1"/>
            <a:r>
              <a:rPr lang="en-US" altLang="es-MX" sz="2000" dirty="0"/>
              <a:t>technology limitation</a:t>
            </a:r>
          </a:p>
          <a:p>
            <a:pPr lvl="1"/>
            <a:r>
              <a:rPr lang="en-US" altLang="es-MX" sz="2000" dirty="0"/>
              <a:t>inconsistency in naming convention </a:t>
            </a:r>
          </a:p>
          <a:p>
            <a:r>
              <a:rPr lang="en-US" altLang="es-MX" sz="2000" dirty="0"/>
              <a:t>Other data problems which requires data cleaning</a:t>
            </a:r>
          </a:p>
          <a:p>
            <a:pPr lvl="1"/>
            <a:r>
              <a:rPr lang="en-US" altLang="es-MX" sz="2000" dirty="0"/>
              <a:t>duplicate records</a:t>
            </a:r>
          </a:p>
          <a:p>
            <a:pPr lvl="1"/>
            <a:r>
              <a:rPr lang="en-US" altLang="es-MX" sz="2000" dirty="0"/>
              <a:t>incomplete data</a:t>
            </a:r>
          </a:p>
          <a:p>
            <a:pPr lvl="1"/>
            <a:r>
              <a:rPr lang="en-US" altLang="es-MX" sz="2000" dirty="0"/>
              <a:t>inconsistent data</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6" name="Rectangle 7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Freeform: Shape 8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2068" name="Rectangle 4">
            <a:extLst>
              <a:ext uri="{FF2B5EF4-FFF2-40B4-BE49-F238E27FC236}">
                <a16:creationId xmlns:a16="http://schemas.microsoft.com/office/drawing/2014/main" id="{51421774-A24B-4689-96AE-3BC23DED8980}"/>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How to Handle Noisy Data?</a:t>
            </a:r>
          </a:p>
        </p:txBody>
      </p:sp>
      <p:sp>
        <p:nvSpPr>
          <p:cNvPr id="472069" name="Rectangle 5">
            <a:extLst>
              <a:ext uri="{FF2B5EF4-FFF2-40B4-BE49-F238E27FC236}">
                <a16:creationId xmlns:a16="http://schemas.microsoft.com/office/drawing/2014/main" id="{FBEED5BE-E3AB-43E2-81A9-651126D547B4}"/>
              </a:ext>
            </a:extLst>
          </p:cNvPr>
          <p:cNvSpPr>
            <a:spLocks noGrp="1" noChangeArrowheads="1"/>
          </p:cNvSpPr>
          <p:nvPr>
            <p:ph idx="1"/>
          </p:nvPr>
        </p:nvSpPr>
        <p:spPr>
          <a:xfrm>
            <a:off x="4810259" y="649480"/>
            <a:ext cx="6555347" cy="5546047"/>
          </a:xfrm>
        </p:spPr>
        <p:txBody>
          <a:bodyPr anchor="ctr">
            <a:normAutofit/>
          </a:bodyPr>
          <a:lstStyle/>
          <a:p>
            <a:r>
              <a:rPr lang="en-US" altLang="es-MX" sz="2000"/>
              <a:t>Binning method:</a:t>
            </a:r>
          </a:p>
          <a:p>
            <a:pPr lvl="1"/>
            <a:r>
              <a:rPr lang="en-US" altLang="es-MX" sz="2000"/>
              <a:t>First sort data and partition into (equi-depth) bins</a:t>
            </a:r>
          </a:p>
          <a:p>
            <a:pPr lvl="1"/>
            <a:r>
              <a:rPr lang="en-US" altLang="es-MX" sz="2000"/>
              <a:t>Then one can smooth by bin means,  smooth by bin median, smooth by bin boundaries, etc.</a:t>
            </a:r>
          </a:p>
          <a:p>
            <a:r>
              <a:rPr lang="en-US" altLang="es-MX" sz="2000"/>
              <a:t>Clustering</a:t>
            </a:r>
          </a:p>
          <a:p>
            <a:pPr lvl="1"/>
            <a:r>
              <a:rPr lang="en-US" altLang="es-MX" sz="2000"/>
              <a:t>Detect and remove outliers</a:t>
            </a:r>
          </a:p>
          <a:p>
            <a:r>
              <a:rPr lang="en-US" altLang="es-MX" sz="2000"/>
              <a:t>Combined computer and human inspection</a:t>
            </a:r>
          </a:p>
          <a:p>
            <a:pPr lvl="1"/>
            <a:r>
              <a:rPr lang="en-US" altLang="es-MX" sz="2000"/>
              <a:t>Detect suspicious values and check by human (e.g., deal with possible outliers)</a:t>
            </a:r>
          </a:p>
          <a:p>
            <a:r>
              <a:rPr lang="en-US" altLang="es-MX" sz="2000"/>
              <a:t>Regression</a:t>
            </a:r>
          </a:p>
          <a:p>
            <a:pPr lvl="1"/>
            <a:r>
              <a:rPr lang="en-US" altLang="es-MX" sz="2000"/>
              <a:t>Smooth by fitting the data into regression functions</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3092" name="Rectangle 4">
            <a:extLst>
              <a:ext uri="{FF2B5EF4-FFF2-40B4-BE49-F238E27FC236}">
                <a16:creationId xmlns:a16="http://schemas.microsoft.com/office/drawing/2014/main" id="{E4E08575-747D-4E9A-80AE-73314D3E0FD0}"/>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Simple Discretization Methods: Binning</a:t>
            </a:r>
          </a:p>
        </p:txBody>
      </p:sp>
      <p:sp>
        <p:nvSpPr>
          <p:cNvPr id="473093" name="Rectangle 5">
            <a:extLst>
              <a:ext uri="{FF2B5EF4-FFF2-40B4-BE49-F238E27FC236}">
                <a16:creationId xmlns:a16="http://schemas.microsoft.com/office/drawing/2014/main" id="{16B3CA11-BC25-414F-91D5-03ECB05FB5BD}"/>
              </a:ext>
            </a:extLst>
          </p:cNvPr>
          <p:cNvSpPr>
            <a:spLocks noGrp="1" noChangeArrowheads="1"/>
          </p:cNvSpPr>
          <p:nvPr>
            <p:ph idx="1"/>
          </p:nvPr>
        </p:nvSpPr>
        <p:spPr>
          <a:xfrm>
            <a:off x="1371599" y="2318197"/>
            <a:ext cx="9724031" cy="3683358"/>
          </a:xfrm>
        </p:spPr>
        <p:txBody>
          <a:bodyPr anchor="ctr">
            <a:normAutofit/>
          </a:bodyPr>
          <a:lstStyle/>
          <a:p>
            <a:r>
              <a:rPr lang="en-US" altLang="es-MX" sz="2000"/>
              <a:t>Equal-width (distance) partitioning:</a:t>
            </a:r>
          </a:p>
          <a:p>
            <a:pPr lvl="1"/>
            <a:r>
              <a:rPr lang="en-US" altLang="es-MX" sz="2000"/>
              <a:t>Divides the range into N intervals of equal size: uniform grid</a:t>
            </a:r>
          </a:p>
          <a:p>
            <a:pPr lvl="1"/>
            <a:r>
              <a:rPr lang="en-US" altLang="es-MX" sz="2000"/>
              <a:t>if A and B are the lowest and highest values of the attribute, the width of intervals will be: W = (B –A)/N.</a:t>
            </a:r>
          </a:p>
          <a:p>
            <a:pPr lvl="1"/>
            <a:r>
              <a:rPr lang="en-US" altLang="es-MX" sz="2000"/>
              <a:t>The most straightforward, but outliers may dominate presentation</a:t>
            </a:r>
          </a:p>
          <a:p>
            <a:pPr lvl="1"/>
            <a:r>
              <a:rPr lang="en-US" altLang="es-MX" sz="2000"/>
              <a:t>Skewed data is not handled well.</a:t>
            </a:r>
          </a:p>
          <a:p>
            <a:r>
              <a:rPr lang="en-US" altLang="es-MX" sz="2000"/>
              <a:t>Equal-depth (frequency) partitioning:</a:t>
            </a:r>
          </a:p>
          <a:p>
            <a:pPr lvl="1"/>
            <a:r>
              <a:rPr lang="en-US" altLang="es-MX" sz="2000"/>
              <a:t>Divides the range into N intervals, each containing approximately same number of samples</a:t>
            </a:r>
          </a:p>
          <a:p>
            <a:pPr lvl="1"/>
            <a:r>
              <a:rPr lang="en-US" altLang="es-MX" sz="2000"/>
              <a:t>Good data scaling</a:t>
            </a:r>
          </a:p>
          <a:p>
            <a:pPr lvl="1"/>
            <a:r>
              <a:rPr lang="en-US" altLang="es-MX" sz="2000"/>
              <a:t>Managing categorical attributes can be tricky.</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4116" name="Rectangle 4">
            <a:extLst>
              <a:ext uri="{FF2B5EF4-FFF2-40B4-BE49-F238E27FC236}">
                <a16:creationId xmlns:a16="http://schemas.microsoft.com/office/drawing/2014/main" id="{A2206EEA-C7B5-46AD-8B19-F6C4DF4DFD69}"/>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a:t>Binning Methods for Data Smoothing</a:t>
            </a:r>
          </a:p>
        </p:txBody>
      </p:sp>
      <p:sp>
        <p:nvSpPr>
          <p:cNvPr id="474117" name="Rectangle 5">
            <a:extLst>
              <a:ext uri="{FF2B5EF4-FFF2-40B4-BE49-F238E27FC236}">
                <a16:creationId xmlns:a16="http://schemas.microsoft.com/office/drawing/2014/main" id="{FA82D293-0478-4937-AC8A-2819A4C2A2E5}"/>
              </a:ext>
            </a:extLst>
          </p:cNvPr>
          <p:cNvSpPr>
            <a:spLocks noGrp="1" noChangeArrowheads="1"/>
          </p:cNvSpPr>
          <p:nvPr>
            <p:ph idx="1"/>
          </p:nvPr>
        </p:nvSpPr>
        <p:spPr>
          <a:xfrm>
            <a:off x="4088929" y="962167"/>
            <a:ext cx="6858113" cy="4743174"/>
          </a:xfrm>
        </p:spPr>
        <p:txBody>
          <a:bodyPr anchor="t">
            <a:normAutofit/>
          </a:bodyPr>
          <a:lstStyle/>
          <a:p>
            <a:r>
              <a:rPr lang="en-US" altLang="es-MX" sz="1700"/>
              <a:t>Sorted data (e.g., by price)</a:t>
            </a:r>
          </a:p>
          <a:p>
            <a:pPr lvl="1"/>
            <a:r>
              <a:rPr lang="en-US" altLang="es-MX" sz="1700"/>
              <a:t>4, 8, 9, 15, 21, 21, 24, 25, 26, 28, 29, 34</a:t>
            </a:r>
          </a:p>
          <a:p>
            <a:r>
              <a:rPr lang="en-US" altLang="es-MX" sz="1700"/>
              <a:t>Partition into (equi-depth) bins:</a:t>
            </a:r>
          </a:p>
          <a:p>
            <a:pPr lvl="1"/>
            <a:r>
              <a:rPr lang="en-US" altLang="es-MX" sz="1700"/>
              <a:t>Bin 1: 4, 8, 9, 15</a:t>
            </a:r>
          </a:p>
          <a:p>
            <a:pPr lvl="1"/>
            <a:r>
              <a:rPr lang="en-US" altLang="es-MX" sz="1700"/>
              <a:t>Bin 2: 21, 21, 24, 25</a:t>
            </a:r>
          </a:p>
          <a:p>
            <a:pPr lvl="1"/>
            <a:r>
              <a:rPr lang="en-US" altLang="es-MX" sz="1700"/>
              <a:t>Bin 3: 26, 28, 29, 34</a:t>
            </a:r>
          </a:p>
          <a:p>
            <a:r>
              <a:rPr lang="en-US" altLang="es-MX" sz="1700"/>
              <a:t>Smoothing by bin means:</a:t>
            </a:r>
          </a:p>
          <a:p>
            <a:pPr lvl="1"/>
            <a:r>
              <a:rPr lang="en-US" altLang="es-MX" sz="1700"/>
              <a:t>Bin 1: 9, 9, 9, 9</a:t>
            </a:r>
          </a:p>
          <a:p>
            <a:pPr lvl="1"/>
            <a:r>
              <a:rPr lang="en-US" altLang="es-MX" sz="1700"/>
              <a:t>Bin 2: 23, 23, 23, 23</a:t>
            </a:r>
          </a:p>
          <a:p>
            <a:pPr lvl="1"/>
            <a:r>
              <a:rPr lang="en-US" altLang="es-MX" sz="1700"/>
              <a:t>Bin 3: 29, 29, 29, 29</a:t>
            </a:r>
          </a:p>
          <a:p>
            <a:r>
              <a:rPr lang="en-US" altLang="es-MX" sz="1700"/>
              <a:t>Smoothing by bin boundaries:</a:t>
            </a:r>
          </a:p>
          <a:p>
            <a:pPr lvl="1"/>
            <a:r>
              <a:rPr lang="en-US" altLang="es-MX" sz="1700"/>
              <a:t>Bin 1: 4, 4, 4, 15</a:t>
            </a:r>
          </a:p>
          <a:p>
            <a:pPr lvl="1"/>
            <a:r>
              <a:rPr lang="en-US" altLang="es-MX" sz="1700"/>
              <a:t>Bin 2: 21, 21, 25, 25</a:t>
            </a:r>
          </a:p>
          <a:p>
            <a:pPr lvl="1"/>
            <a:r>
              <a:rPr lang="en-US" altLang="es-MX" sz="1700"/>
              <a:t>Bin 3: 26, 26, 26, 34</a:t>
            </a:r>
          </a:p>
        </p:txBody>
      </p:sp>
      <p:sp>
        <p:nvSpPr>
          <p:cNvPr id="76" name="Rectangle 75">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6" name="Rectangle 115">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5183" name="Rectangle 47">
            <a:extLst>
              <a:ext uri="{FF2B5EF4-FFF2-40B4-BE49-F238E27FC236}">
                <a16:creationId xmlns:a16="http://schemas.microsoft.com/office/drawing/2014/main" id="{B7C47484-964E-489E-80AE-56972F7B5D73}"/>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a:t>Cluster Analysis</a:t>
            </a:r>
          </a:p>
        </p:txBody>
      </p:sp>
      <p:sp>
        <p:nvSpPr>
          <p:cNvPr id="118" name="Rectangle 117">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0" name="Rectangle 119">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56" name="Grupo 55">
            <a:extLst>
              <a:ext uri="{FF2B5EF4-FFF2-40B4-BE49-F238E27FC236}">
                <a16:creationId xmlns:a16="http://schemas.microsoft.com/office/drawing/2014/main" id="{B31383CC-237F-4BF8-960E-939D06D608FD}"/>
              </a:ext>
            </a:extLst>
          </p:cNvPr>
          <p:cNvGrpSpPr/>
          <p:nvPr/>
        </p:nvGrpSpPr>
        <p:grpSpPr>
          <a:xfrm>
            <a:off x="4968003" y="1270829"/>
            <a:ext cx="6016625" cy="4113213"/>
            <a:chOff x="2895601" y="1828801"/>
            <a:chExt cx="6016625" cy="4113213"/>
          </a:xfrm>
        </p:grpSpPr>
        <p:sp>
          <p:nvSpPr>
            <p:cNvPr id="57" name="AutoShape 3">
              <a:extLst>
                <a:ext uri="{FF2B5EF4-FFF2-40B4-BE49-F238E27FC236}">
                  <a16:creationId xmlns:a16="http://schemas.microsoft.com/office/drawing/2014/main" id="{C316C8F8-DB0D-4CF7-A9EA-78D9C8C69563}"/>
                </a:ext>
              </a:extLst>
            </p:cNvPr>
            <p:cNvSpPr>
              <a:spLocks noChangeArrowheads="1"/>
            </p:cNvSpPr>
            <p:nvPr/>
          </p:nvSpPr>
          <p:spPr bwMode="auto">
            <a:xfrm>
              <a:off x="8153401" y="5334000"/>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AutoShape 4">
              <a:extLst>
                <a:ext uri="{FF2B5EF4-FFF2-40B4-BE49-F238E27FC236}">
                  <a16:creationId xmlns:a16="http://schemas.microsoft.com/office/drawing/2014/main" id="{F061B3C4-7633-45F4-A6EC-E7706117DD21}"/>
                </a:ext>
              </a:extLst>
            </p:cNvPr>
            <p:cNvSpPr>
              <a:spLocks noChangeArrowheads="1"/>
            </p:cNvSpPr>
            <p:nvPr/>
          </p:nvSpPr>
          <p:spPr bwMode="auto">
            <a:xfrm>
              <a:off x="4800601" y="5257800"/>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AutoShape 5">
              <a:extLst>
                <a:ext uri="{FF2B5EF4-FFF2-40B4-BE49-F238E27FC236}">
                  <a16:creationId xmlns:a16="http://schemas.microsoft.com/office/drawing/2014/main" id="{6E0328D3-66F8-47FB-BD75-703E12C7BCC9}"/>
                </a:ext>
              </a:extLst>
            </p:cNvPr>
            <p:cNvSpPr>
              <a:spLocks noChangeArrowheads="1"/>
            </p:cNvSpPr>
            <p:nvPr/>
          </p:nvSpPr>
          <p:spPr bwMode="auto">
            <a:xfrm>
              <a:off x="7772401" y="2362200"/>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60" name="Group 6">
              <a:extLst>
                <a:ext uri="{FF2B5EF4-FFF2-40B4-BE49-F238E27FC236}">
                  <a16:creationId xmlns:a16="http://schemas.microsoft.com/office/drawing/2014/main" id="{73A2D5EF-4408-42EA-AB4E-EC36822F5DF4}"/>
                </a:ext>
              </a:extLst>
            </p:cNvPr>
            <p:cNvGrpSpPr>
              <a:grpSpLocks/>
            </p:cNvGrpSpPr>
            <p:nvPr/>
          </p:nvGrpSpPr>
          <p:grpSpPr bwMode="auto">
            <a:xfrm>
              <a:off x="5665789" y="4845050"/>
              <a:ext cx="173037" cy="173038"/>
              <a:chOff x="1900" y="3589"/>
              <a:chExt cx="109" cy="109"/>
            </a:xfrm>
          </p:grpSpPr>
          <p:sp>
            <p:nvSpPr>
              <p:cNvPr id="99" name="Line 7">
                <a:extLst>
                  <a:ext uri="{FF2B5EF4-FFF2-40B4-BE49-F238E27FC236}">
                    <a16:creationId xmlns:a16="http://schemas.microsoft.com/office/drawing/2014/main" id="{112D8C4F-9E25-4229-922E-4DB50AA76894}"/>
                  </a:ext>
                </a:extLst>
              </p:cNvPr>
              <p:cNvSpPr>
                <a:spLocks noChangeShapeType="1"/>
              </p:cNvSpPr>
              <p:nvPr/>
            </p:nvSpPr>
            <p:spPr bwMode="auto">
              <a:xfrm>
                <a:off x="1900" y="3637"/>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Line 8">
                <a:extLst>
                  <a:ext uri="{FF2B5EF4-FFF2-40B4-BE49-F238E27FC236}">
                    <a16:creationId xmlns:a16="http://schemas.microsoft.com/office/drawing/2014/main" id="{C7CE93F5-A582-4B84-973C-30EE2BA6C8AA}"/>
                  </a:ext>
                </a:extLst>
              </p:cNvPr>
              <p:cNvSpPr>
                <a:spLocks noChangeShapeType="1"/>
              </p:cNvSpPr>
              <p:nvPr/>
            </p:nvSpPr>
            <p:spPr bwMode="auto">
              <a:xfrm rot="-5400000">
                <a:off x="1896" y="3644"/>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1" name="Group 9">
              <a:extLst>
                <a:ext uri="{FF2B5EF4-FFF2-40B4-BE49-F238E27FC236}">
                  <a16:creationId xmlns:a16="http://schemas.microsoft.com/office/drawing/2014/main" id="{5C9E66C7-F727-4C67-96F9-3B61B800C20A}"/>
                </a:ext>
              </a:extLst>
            </p:cNvPr>
            <p:cNvGrpSpPr>
              <a:grpSpLocks/>
            </p:cNvGrpSpPr>
            <p:nvPr/>
          </p:nvGrpSpPr>
          <p:grpSpPr bwMode="auto">
            <a:xfrm>
              <a:off x="6684964" y="3625850"/>
              <a:ext cx="173037" cy="173038"/>
              <a:chOff x="1900" y="3589"/>
              <a:chExt cx="109" cy="109"/>
            </a:xfrm>
          </p:grpSpPr>
          <p:sp>
            <p:nvSpPr>
              <p:cNvPr id="97" name="Line 10">
                <a:extLst>
                  <a:ext uri="{FF2B5EF4-FFF2-40B4-BE49-F238E27FC236}">
                    <a16:creationId xmlns:a16="http://schemas.microsoft.com/office/drawing/2014/main" id="{09EFE8EE-C1C3-4D14-B93C-189687A9879D}"/>
                  </a:ext>
                </a:extLst>
              </p:cNvPr>
              <p:cNvSpPr>
                <a:spLocks noChangeShapeType="1"/>
              </p:cNvSpPr>
              <p:nvPr/>
            </p:nvSpPr>
            <p:spPr bwMode="auto">
              <a:xfrm>
                <a:off x="1900" y="3637"/>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Line 11">
                <a:extLst>
                  <a:ext uri="{FF2B5EF4-FFF2-40B4-BE49-F238E27FC236}">
                    <a16:creationId xmlns:a16="http://schemas.microsoft.com/office/drawing/2014/main" id="{0F177615-0E86-440A-BBA3-C1D88A5313A7}"/>
                  </a:ext>
                </a:extLst>
              </p:cNvPr>
              <p:cNvSpPr>
                <a:spLocks noChangeShapeType="1"/>
              </p:cNvSpPr>
              <p:nvPr/>
            </p:nvSpPr>
            <p:spPr bwMode="auto">
              <a:xfrm rot="-5400000">
                <a:off x="1896" y="3644"/>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2" name="Group 12">
              <a:extLst>
                <a:ext uri="{FF2B5EF4-FFF2-40B4-BE49-F238E27FC236}">
                  <a16:creationId xmlns:a16="http://schemas.microsoft.com/office/drawing/2014/main" id="{0BAFD841-B948-4771-9F5D-09FB0FE41563}"/>
                </a:ext>
              </a:extLst>
            </p:cNvPr>
            <p:cNvGrpSpPr>
              <a:grpSpLocks/>
            </p:cNvGrpSpPr>
            <p:nvPr/>
          </p:nvGrpSpPr>
          <p:grpSpPr bwMode="auto">
            <a:xfrm>
              <a:off x="4448175" y="3959225"/>
              <a:ext cx="173038" cy="173038"/>
              <a:chOff x="1900" y="3589"/>
              <a:chExt cx="109" cy="109"/>
            </a:xfrm>
          </p:grpSpPr>
          <p:sp>
            <p:nvSpPr>
              <p:cNvPr id="95" name="Line 13">
                <a:extLst>
                  <a:ext uri="{FF2B5EF4-FFF2-40B4-BE49-F238E27FC236}">
                    <a16:creationId xmlns:a16="http://schemas.microsoft.com/office/drawing/2014/main" id="{EF071A7A-0F3D-46D3-97EB-998E8F56A7B6}"/>
                  </a:ext>
                </a:extLst>
              </p:cNvPr>
              <p:cNvSpPr>
                <a:spLocks noChangeShapeType="1"/>
              </p:cNvSpPr>
              <p:nvPr/>
            </p:nvSpPr>
            <p:spPr bwMode="auto">
              <a:xfrm>
                <a:off x="1900" y="3637"/>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Line 14">
                <a:extLst>
                  <a:ext uri="{FF2B5EF4-FFF2-40B4-BE49-F238E27FC236}">
                    <a16:creationId xmlns:a16="http://schemas.microsoft.com/office/drawing/2014/main" id="{CA75E288-63C0-4307-AD03-00989CE490B8}"/>
                  </a:ext>
                </a:extLst>
              </p:cNvPr>
              <p:cNvSpPr>
                <a:spLocks noChangeShapeType="1"/>
              </p:cNvSpPr>
              <p:nvPr/>
            </p:nvSpPr>
            <p:spPr bwMode="auto">
              <a:xfrm rot="-5400000">
                <a:off x="1896" y="3644"/>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3" name="Group 15">
              <a:extLst>
                <a:ext uri="{FF2B5EF4-FFF2-40B4-BE49-F238E27FC236}">
                  <a16:creationId xmlns:a16="http://schemas.microsoft.com/office/drawing/2014/main" id="{D61F6421-4540-4001-9B87-8578DFFE94FC}"/>
                </a:ext>
              </a:extLst>
            </p:cNvPr>
            <p:cNvGrpSpPr>
              <a:grpSpLocks/>
            </p:cNvGrpSpPr>
            <p:nvPr/>
          </p:nvGrpSpPr>
          <p:grpSpPr bwMode="auto">
            <a:xfrm>
              <a:off x="2895601" y="1828801"/>
              <a:ext cx="6016625" cy="4113213"/>
              <a:chOff x="1028" y="1418"/>
              <a:chExt cx="3790" cy="2591"/>
            </a:xfrm>
          </p:grpSpPr>
          <p:sp>
            <p:nvSpPr>
              <p:cNvPr id="64" name="AutoShape 16">
                <a:extLst>
                  <a:ext uri="{FF2B5EF4-FFF2-40B4-BE49-F238E27FC236}">
                    <a16:creationId xmlns:a16="http://schemas.microsoft.com/office/drawing/2014/main" id="{C4991F3C-95E7-41E9-8EA5-AA147D5C99C5}"/>
                  </a:ext>
                </a:extLst>
              </p:cNvPr>
              <p:cNvSpPr>
                <a:spLocks noChangeArrowheads="1"/>
              </p:cNvSpPr>
              <p:nvPr/>
            </p:nvSpPr>
            <p:spPr bwMode="auto">
              <a:xfrm>
                <a:off x="1755" y="2737"/>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AutoShape 17">
                <a:extLst>
                  <a:ext uri="{FF2B5EF4-FFF2-40B4-BE49-F238E27FC236}">
                    <a16:creationId xmlns:a16="http://schemas.microsoft.com/office/drawing/2014/main" id="{0D36DD45-FBA5-47C0-8A37-677DBAC4C1F9}"/>
                  </a:ext>
                </a:extLst>
              </p:cNvPr>
              <p:cNvSpPr>
                <a:spLocks noChangeArrowheads="1"/>
              </p:cNvSpPr>
              <p:nvPr/>
            </p:nvSpPr>
            <p:spPr bwMode="auto">
              <a:xfrm>
                <a:off x="1633" y="2615"/>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AutoShape 18">
                <a:extLst>
                  <a:ext uri="{FF2B5EF4-FFF2-40B4-BE49-F238E27FC236}">
                    <a16:creationId xmlns:a16="http://schemas.microsoft.com/office/drawing/2014/main" id="{946F47B5-E15B-4E50-9A82-7DC071DE72B3}"/>
                  </a:ext>
                </a:extLst>
              </p:cNvPr>
              <p:cNvSpPr>
                <a:spLocks noChangeArrowheads="1"/>
              </p:cNvSpPr>
              <p:nvPr/>
            </p:nvSpPr>
            <p:spPr bwMode="auto">
              <a:xfrm>
                <a:off x="1948" y="2630"/>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AutoShape 19">
                <a:extLst>
                  <a:ext uri="{FF2B5EF4-FFF2-40B4-BE49-F238E27FC236}">
                    <a16:creationId xmlns:a16="http://schemas.microsoft.com/office/drawing/2014/main" id="{5CCF0483-9C0A-42A8-8885-07FAD6E7349F}"/>
                  </a:ext>
                </a:extLst>
              </p:cNvPr>
              <p:cNvSpPr>
                <a:spLocks noChangeArrowheads="1"/>
              </p:cNvSpPr>
              <p:nvPr/>
            </p:nvSpPr>
            <p:spPr bwMode="auto">
              <a:xfrm>
                <a:off x="1797" y="2416"/>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AutoShape 20">
                <a:extLst>
                  <a:ext uri="{FF2B5EF4-FFF2-40B4-BE49-F238E27FC236}">
                    <a16:creationId xmlns:a16="http://schemas.microsoft.com/office/drawing/2014/main" id="{6D36D2A9-61EE-4C9D-A7E1-4710A7DA28F5}"/>
                  </a:ext>
                </a:extLst>
              </p:cNvPr>
              <p:cNvSpPr>
                <a:spLocks noChangeArrowheads="1"/>
              </p:cNvSpPr>
              <p:nvPr/>
            </p:nvSpPr>
            <p:spPr bwMode="auto">
              <a:xfrm>
                <a:off x="1575" y="2757"/>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AutoShape 21">
                <a:extLst>
                  <a:ext uri="{FF2B5EF4-FFF2-40B4-BE49-F238E27FC236}">
                    <a16:creationId xmlns:a16="http://schemas.microsoft.com/office/drawing/2014/main" id="{1762F6FC-D018-4EB3-ADFC-C874EA75FA80}"/>
                  </a:ext>
                </a:extLst>
              </p:cNvPr>
              <p:cNvSpPr>
                <a:spLocks noChangeArrowheads="1"/>
              </p:cNvSpPr>
              <p:nvPr/>
            </p:nvSpPr>
            <p:spPr bwMode="auto">
              <a:xfrm>
                <a:off x="1662" y="246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AutoShape 22">
                <a:extLst>
                  <a:ext uri="{FF2B5EF4-FFF2-40B4-BE49-F238E27FC236}">
                    <a16:creationId xmlns:a16="http://schemas.microsoft.com/office/drawing/2014/main" id="{5DDE488E-9D2E-4CAA-A5B5-7EB6BD0BD68E}"/>
                  </a:ext>
                </a:extLst>
              </p:cNvPr>
              <p:cNvSpPr>
                <a:spLocks noChangeArrowheads="1"/>
              </p:cNvSpPr>
              <p:nvPr/>
            </p:nvSpPr>
            <p:spPr bwMode="auto">
              <a:xfrm>
                <a:off x="3169" y="2124"/>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AutoShape 23">
                <a:extLst>
                  <a:ext uri="{FF2B5EF4-FFF2-40B4-BE49-F238E27FC236}">
                    <a16:creationId xmlns:a16="http://schemas.microsoft.com/office/drawing/2014/main" id="{88B97958-5B4C-4D1F-AA22-38947B23FD6B}"/>
                  </a:ext>
                </a:extLst>
              </p:cNvPr>
              <p:cNvSpPr>
                <a:spLocks noChangeArrowheads="1"/>
              </p:cNvSpPr>
              <p:nvPr/>
            </p:nvSpPr>
            <p:spPr bwMode="auto">
              <a:xfrm>
                <a:off x="3100" y="2521"/>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AutoShape 24">
                <a:extLst>
                  <a:ext uri="{FF2B5EF4-FFF2-40B4-BE49-F238E27FC236}">
                    <a16:creationId xmlns:a16="http://schemas.microsoft.com/office/drawing/2014/main" id="{EF3C0102-40A7-42FF-A64C-E9DB9F20F05C}"/>
                  </a:ext>
                </a:extLst>
              </p:cNvPr>
              <p:cNvSpPr>
                <a:spLocks noChangeArrowheads="1"/>
              </p:cNvSpPr>
              <p:nvPr/>
            </p:nvSpPr>
            <p:spPr bwMode="auto">
              <a:xfrm>
                <a:off x="3333" y="229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AutoShape 25">
                <a:extLst>
                  <a:ext uri="{FF2B5EF4-FFF2-40B4-BE49-F238E27FC236}">
                    <a16:creationId xmlns:a16="http://schemas.microsoft.com/office/drawing/2014/main" id="{A3C7DAF8-364A-4D42-984A-FA13AE9EFB68}"/>
                  </a:ext>
                </a:extLst>
              </p:cNvPr>
              <p:cNvSpPr>
                <a:spLocks noChangeArrowheads="1"/>
              </p:cNvSpPr>
              <p:nvPr/>
            </p:nvSpPr>
            <p:spPr bwMode="auto">
              <a:xfrm>
                <a:off x="3010" y="2339"/>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AutoShape 26">
                <a:extLst>
                  <a:ext uri="{FF2B5EF4-FFF2-40B4-BE49-F238E27FC236}">
                    <a16:creationId xmlns:a16="http://schemas.microsoft.com/office/drawing/2014/main" id="{123E4F00-64F1-4C7B-B05B-826395144F25}"/>
                  </a:ext>
                </a:extLst>
              </p:cNvPr>
              <p:cNvSpPr>
                <a:spLocks noChangeArrowheads="1"/>
              </p:cNvSpPr>
              <p:nvPr/>
            </p:nvSpPr>
            <p:spPr bwMode="auto">
              <a:xfrm>
                <a:off x="3706" y="237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AutoShape 27">
                <a:extLst>
                  <a:ext uri="{FF2B5EF4-FFF2-40B4-BE49-F238E27FC236}">
                    <a16:creationId xmlns:a16="http://schemas.microsoft.com/office/drawing/2014/main" id="{241FB73E-C5BF-4E99-955E-3A4948A672DE}"/>
                  </a:ext>
                </a:extLst>
              </p:cNvPr>
              <p:cNvSpPr>
                <a:spLocks noChangeArrowheads="1"/>
              </p:cNvSpPr>
              <p:nvPr/>
            </p:nvSpPr>
            <p:spPr bwMode="auto">
              <a:xfrm>
                <a:off x="3594" y="256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Rectangle 28">
                <a:extLst>
                  <a:ext uri="{FF2B5EF4-FFF2-40B4-BE49-F238E27FC236}">
                    <a16:creationId xmlns:a16="http://schemas.microsoft.com/office/drawing/2014/main" id="{2E5B057F-A533-48F2-8564-7FC5C3DA24C5}"/>
                  </a:ext>
                </a:extLst>
              </p:cNvPr>
              <p:cNvSpPr>
                <a:spLocks noChangeArrowheads="1"/>
              </p:cNvSpPr>
              <p:nvPr/>
            </p:nvSpPr>
            <p:spPr bwMode="auto">
              <a:xfrm>
                <a:off x="1028" y="1418"/>
                <a:ext cx="3790" cy="259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AutoShape 29">
                <a:extLst>
                  <a:ext uri="{FF2B5EF4-FFF2-40B4-BE49-F238E27FC236}">
                    <a16:creationId xmlns:a16="http://schemas.microsoft.com/office/drawing/2014/main" id="{EF340DF0-3A55-4FFD-94C9-148AE86F6036}"/>
                  </a:ext>
                </a:extLst>
              </p:cNvPr>
              <p:cNvSpPr>
                <a:spLocks noChangeArrowheads="1"/>
              </p:cNvSpPr>
              <p:nvPr/>
            </p:nvSpPr>
            <p:spPr bwMode="auto">
              <a:xfrm>
                <a:off x="1963" y="282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AutoShape 30">
                <a:extLst>
                  <a:ext uri="{FF2B5EF4-FFF2-40B4-BE49-F238E27FC236}">
                    <a16:creationId xmlns:a16="http://schemas.microsoft.com/office/drawing/2014/main" id="{3E750D3B-52BF-4C47-9279-62E168F85437}"/>
                  </a:ext>
                </a:extLst>
              </p:cNvPr>
              <p:cNvSpPr>
                <a:spLocks noChangeArrowheads="1"/>
              </p:cNvSpPr>
              <p:nvPr/>
            </p:nvSpPr>
            <p:spPr bwMode="auto">
              <a:xfrm>
                <a:off x="2359" y="2851"/>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AutoShape 31">
                <a:extLst>
                  <a:ext uri="{FF2B5EF4-FFF2-40B4-BE49-F238E27FC236}">
                    <a16:creationId xmlns:a16="http://schemas.microsoft.com/office/drawing/2014/main" id="{D06D9179-7401-461F-AA30-46F1A9536B0B}"/>
                  </a:ext>
                </a:extLst>
              </p:cNvPr>
              <p:cNvSpPr>
                <a:spLocks noChangeArrowheads="1"/>
              </p:cNvSpPr>
              <p:nvPr/>
            </p:nvSpPr>
            <p:spPr bwMode="auto">
              <a:xfrm>
                <a:off x="3380" y="2616"/>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AutoShape 32">
                <a:extLst>
                  <a:ext uri="{FF2B5EF4-FFF2-40B4-BE49-F238E27FC236}">
                    <a16:creationId xmlns:a16="http://schemas.microsoft.com/office/drawing/2014/main" id="{59CA039E-3C8A-45AE-AB2A-1F9E3CD01926}"/>
                  </a:ext>
                </a:extLst>
              </p:cNvPr>
              <p:cNvSpPr>
                <a:spLocks noChangeArrowheads="1"/>
              </p:cNvSpPr>
              <p:nvPr/>
            </p:nvSpPr>
            <p:spPr bwMode="auto">
              <a:xfrm>
                <a:off x="2819" y="292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AutoShape 33">
                <a:extLst>
                  <a:ext uri="{FF2B5EF4-FFF2-40B4-BE49-F238E27FC236}">
                    <a16:creationId xmlns:a16="http://schemas.microsoft.com/office/drawing/2014/main" id="{1DC3A22E-E4C9-4934-8C01-82C76F753297}"/>
                  </a:ext>
                </a:extLst>
              </p:cNvPr>
              <p:cNvSpPr>
                <a:spLocks noChangeArrowheads="1"/>
              </p:cNvSpPr>
              <p:nvPr/>
            </p:nvSpPr>
            <p:spPr bwMode="auto">
              <a:xfrm>
                <a:off x="2651" y="324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AutoShape 34">
                <a:extLst>
                  <a:ext uri="{FF2B5EF4-FFF2-40B4-BE49-F238E27FC236}">
                    <a16:creationId xmlns:a16="http://schemas.microsoft.com/office/drawing/2014/main" id="{D7B5E332-112F-442E-8707-0452A53E8CB8}"/>
                  </a:ext>
                </a:extLst>
              </p:cNvPr>
              <p:cNvSpPr>
                <a:spLocks noChangeArrowheads="1"/>
              </p:cNvSpPr>
              <p:nvPr/>
            </p:nvSpPr>
            <p:spPr bwMode="auto">
              <a:xfrm>
                <a:off x="2746" y="3110"/>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3" name="AutoShape 35">
                <a:extLst>
                  <a:ext uri="{FF2B5EF4-FFF2-40B4-BE49-F238E27FC236}">
                    <a16:creationId xmlns:a16="http://schemas.microsoft.com/office/drawing/2014/main" id="{A74D5B1D-BBFE-41E7-A109-8156164D4E61}"/>
                  </a:ext>
                </a:extLst>
              </p:cNvPr>
              <p:cNvSpPr>
                <a:spLocks noChangeArrowheads="1"/>
              </p:cNvSpPr>
              <p:nvPr/>
            </p:nvSpPr>
            <p:spPr bwMode="auto">
              <a:xfrm>
                <a:off x="2070" y="245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4" name="AutoShape 36">
                <a:extLst>
                  <a:ext uri="{FF2B5EF4-FFF2-40B4-BE49-F238E27FC236}">
                    <a16:creationId xmlns:a16="http://schemas.microsoft.com/office/drawing/2014/main" id="{590298E7-978A-4760-BC8E-46948ACE66B4}"/>
                  </a:ext>
                </a:extLst>
              </p:cNvPr>
              <p:cNvSpPr>
                <a:spLocks noChangeArrowheads="1"/>
              </p:cNvSpPr>
              <p:nvPr/>
            </p:nvSpPr>
            <p:spPr bwMode="auto">
              <a:xfrm>
                <a:off x="2466" y="3057"/>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AutoShape 37">
                <a:extLst>
                  <a:ext uri="{FF2B5EF4-FFF2-40B4-BE49-F238E27FC236}">
                    <a16:creationId xmlns:a16="http://schemas.microsoft.com/office/drawing/2014/main" id="{1938B55B-3529-4034-8E9E-5EF6A872152F}"/>
                  </a:ext>
                </a:extLst>
              </p:cNvPr>
              <p:cNvSpPr>
                <a:spLocks noChangeArrowheads="1"/>
              </p:cNvSpPr>
              <p:nvPr/>
            </p:nvSpPr>
            <p:spPr bwMode="auto">
              <a:xfrm>
                <a:off x="2462" y="3208"/>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AutoShape 38">
                <a:extLst>
                  <a:ext uri="{FF2B5EF4-FFF2-40B4-BE49-F238E27FC236}">
                    <a16:creationId xmlns:a16="http://schemas.microsoft.com/office/drawing/2014/main" id="{8B87D8D2-D115-4F7D-941A-E8FA74393448}"/>
                  </a:ext>
                </a:extLst>
              </p:cNvPr>
              <p:cNvSpPr>
                <a:spLocks noChangeArrowheads="1"/>
              </p:cNvSpPr>
              <p:nvPr/>
            </p:nvSpPr>
            <p:spPr bwMode="auto">
              <a:xfrm>
                <a:off x="2082" y="2246"/>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7" name="AutoShape 39">
                <a:extLst>
                  <a:ext uri="{FF2B5EF4-FFF2-40B4-BE49-F238E27FC236}">
                    <a16:creationId xmlns:a16="http://schemas.microsoft.com/office/drawing/2014/main" id="{94BF2803-D12D-4B9F-A9E6-4E84CEC01D08}"/>
                  </a:ext>
                </a:extLst>
              </p:cNvPr>
              <p:cNvSpPr>
                <a:spLocks noChangeArrowheads="1"/>
              </p:cNvSpPr>
              <p:nvPr/>
            </p:nvSpPr>
            <p:spPr bwMode="auto">
              <a:xfrm>
                <a:off x="2887" y="194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AutoShape 40">
                <a:extLst>
                  <a:ext uri="{FF2B5EF4-FFF2-40B4-BE49-F238E27FC236}">
                    <a16:creationId xmlns:a16="http://schemas.microsoft.com/office/drawing/2014/main" id="{BB8702D9-7500-4337-83C8-792CC092ED92}"/>
                  </a:ext>
                </a:extLst>
              </p:cNvPr>
              <p:cNvSpPr>
                <a:spLocks noChangeArrowheads="1"/>
              </p:cNvSpPr>
              <p:nvPr/>
            </p:nvSpPr>
            <p:spPr bwMode="auto">
              <a:xfrm>
                <a:off x="2001" y="2066"/>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AutoShape 41">
                <a:extLst>
                  <a:ext uri="{FF2B5EF4-FFF2-40B4-BE49-F238E27FC236}">
                    <a16:creationId xmlns:a16="http://schemas.microsoft.com/office/drawing/2014/main" id="{557309BB-637C-43D6-908B-6473128D191D}"/>
                  </a:ext>
                </a:extLst>
              </p:cNvPr>
              <p:cNvSpPr>
                <a:spLocks noChangeArrowheads="1"/>
              </p:cNvSpPr>
              <p:nvPr/>
            </p:nvSpPr>
            <p:spPr bwMode="auto">
              <a:xfrm>
                <a:off x="2552" y="2752"/>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AutoShape 42">
                <a:extLst>
                  <a:ext uri="{FF2B5EF4-FFF2-40B4-BE49-F238E27FC236}">
                    <a16:creationId xmlns:a16="http://schemas.microsoft.com/office/drawing/2014/main" id="{4D11D183-4A4A-4997-B8A3-12D46CD63B83}"/>
                  </a:ext>
                </a:extLst>
              </p:cNvPr>
              <p:cNvSpPr>
                <a:spLocks noChangeArrowheads="1"/>
              </p:cNvSpPr>
              <p:nvPr/>
            </p:nvSpPr>
            <p:spPr bwMode="auto">
              <a:xfrm>
                <a:off x="2656" y="2904"/>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AutoShape 43">
                <a:extLst>
                  <a:ext uri="{FF2B5EF4-FFF2-40B4-BE49-F238E27FC236}">
                    <a16:creationId xmlns:a16="http://schemas.microsoft.com/office/drawing/2014/main" id="{0A510E50-E294-4850-8442-300F5DBD09DA}"/>
                  </a:ext>
                </a:extLst>
              </p:cNvPr>
              <p:cNvSpPr>
                <a:spLocks noChangeArrowheads="1"/>
              </p:cNvSpPr>
              <p:nvPr/>
            </p:nvSpPr>
            <p:spPr bwMode="auto">
              <a:xfrm>
                <a:off x="2880" y="3217"/>
                <a:ext cx="90" cy="92"/>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44">
                <a:extLst>
                  <a:ext uri="{FF2B5EF4-FFF2-40B4-BE49-F238E27FC236}">
                    <a16:creationId xmlns:a16="http://schemas.microsoft.com/office/drawing/2014/main" id="{CB1207D7-E3D7-4C46-B366-BFD55D96310C}"/>
                  </a:ext>
                </a:extLst>
              </p:cNvPr>
              <p:cNvSpPr>
                <a:spLocks/>
              </p:cNvSpPr>
              <p:nvPr/>
            </p:nvSpPr>
            <p:spPr bwMode="auto">
              <a:xfrm>
                <a:off x="2795" y="1842"/>
                <a:ext cx="1101" cy="1077"/>
              </a:xfrm>
              <a:custGeom>
                <a:avLst/>
                <a:gdLst>
                  <a:gd name="T0" fmla="*/ 1041 w 1101"/>
                  <a:gd name="T1" fmla="*/ 294 h 1077"/>
                  <a:gd name="T2" fmla="*/ 1077 w 1101"/>
                  <a:gd name="T3" fmla="*/ 485 h 1077"/>
                  <a:gd name="T4" fmla="*/ 1013 w 1101"/>
                  <a:gd name="T5" fmla="*/ 930 h 1077"/>
                  <a:gd name="T6" fmla="*/ 950 w 1101"/>
                  <a:gd name="T7" fmla="*/ 1040 h 1077"/>
                  <a:gd name="T8" fmla="*/ 850 w 1101"/>
                  <a:gd name="T9" fmla="*/ 1076 h 1077"/>
                  <a:gd name="T10" fmla="*/ 595 w 1101"/>
                  <a:gd name="T11" fmla="*/ 1040 h 1077"/>
                  <a:gd name="T12" fmla="*/ 486 w 1101"/>
                  <a:gd name="T13" fmla="*/ 994 h 1077"/>
                  <a:gd name="T14" fmla="*/ 459 w 1101"/>
                  <a:gd name="T15" fmla="*/ 985 h 1077"/>
                  <a:gd name="T16" fmla="*/ 322 w 1101"/>
                  <a:gd name="T17" fmla="*/ 876 h 1077"/>
                  <a:gd name="T18" fmla="*/ 232 w 1101"/>
                  <a:gd name="T19" fmla="*/ 803 h 1077"/>
                  <a:gd name="T20" fmla="*/ 104 w 1101"/>
                  <a:gd name="T21" fmla="*/ 685 h 1077"/>
                  <a:gd name="T22" fmla="*/ 4 w 1101"/>
                  <a:gd name="T23" fmla="*/ 449 h 1077"/>
                  <a:gd name="T24" fmla="*/ 13 w 1101"/>
                  <a:gd name="T25" fmla="*/ 130 h 1077"/>
                  <a:gd name="T26" fmla="*/ 186 w 1101"/>
                  <a:gd name="T27" fmla="*/ 21 h 1077"/>
                  <a:gd name="T28" fmla="*/ 222 w 1101"/>
                  <a:gd name="T29" fmla="*/ 12 h 1077"/>
                  <a:gd name="T30" fmla="*/ 422 w 1101"/>
                  <a:gd name="T31" fmla="*/ 30 h 1077"/>
                  <a:gd name="T32" fmla="*/ 577 w 1101"/>
                  <a:gd name="T33" fmla="*/ 103 h 1077"/>
                  <a:gd name="T34" fmla="*/ 695 w 1101"/>
                  <a:gd name="T35" fmla="*/ 176 h 1077"/>
                  <a:gd name="T36" fmla="*/ 768 w 1101"/>
                  <a:gd name="T37" fmla="*/ 203 h 1077"/>
                  <a:gd name="T38" fmla="*/ 1041 w 1101"/>
                  <a:gd name="T39" fmla="*/ 294 h 10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45">
                <a:extLst>
                  <a:ext uri="{FF2B5EF4-FFF2-40B4-BE49-F238E27FC236}">
                    <a16:creationId xmlns:a16="http://schemas.microsoft.com/office/drawing/2014/main" id="{57EFF0C0-E019-481B-AFFF-C00A1E11ACE7}"/>
                  </a:ext>
                </a:extLst>
              </p:cNvPr>
              <p:cNvSpPr>
                <a:spLocks/>
              </p:cNvSpPr>
              <p:nvPr/>
            </p:nvSpPr>
            <p:spPr bwMode="auto">
              <a:xfrm>
                <a:off x="2291" y="2591"/>
                <a:ext cx="918" cy="965"/>
              </a:xfrm>
              <a:custGeom>
                <a:avLst/>
                <a:gdLst>
                  <a:gd name="T0" fmla="*/ 227 w 918"/>
                  <a:gd name="T1" fmla="*/ 818 h 965"/>
                  <a:gd name="T2" fmla="*/ 191 w 918"/>
                  <a:gd name="T3" fmla="*/ 782 h 965"/>
                  <a:gd name="T4" fmla="*/ 118 w 918"/>
                  <a:gd name="T5" fmla="*/ 737 h 965"/>
                  <a:gd name="T6" fmla="*/ 81 w 918"/>
                  <a:gd name="T7" fmla="*/ 700 h 965"/>
                  <a:gd name="T8" fmla="*/ 45 w 918"/>
                  <a:gd name="T9" fmla="*/ 646 h 965"/>
                  <a:gd name="T10" fmla="*/ 0 w 918"/>
                  <a:gd name="T11" fmla="*/ 464 h 965"/>
                  <a:gd name="T12" fmla="*/ 9 w 918"/>
                  <a:gd name="T13" fmla="*/ 200 h 965"/>
                  <a:gd name="T14" fmla="*/ 81 w 918"/>
                  <a:gd name="T15" fmla="*/ 136 h 965"/>
                  <a:gd name="T16" fmla="*/ 291 w 918"/>
                  <a:gd name="T17" fmla="*/ 0 h 965"/>
                  <a:gd name="T18" fmla="*/ 391 w 918"/>
                  <a:gd name="T19" fmla="*/ 18 h 965"/>
                  <a:gd name="T20" fmla="*/ 491 w 918"/>
                  <a:gd name="T21" fmla="*/ 55 h 965"/>
                  <a:gd name="T22" fmla="*/ 691 w 918"/>
                  <a:gd name="T23" fmla="*/ 164 h 965"/>
                  <a:gd name="T24" fmla="*/ 718 w 918"/>
                  <a:gd name="T25" fmla="*/ 218 h 965"/>
                  <a:gd name="T26" fmla="*/ 745 w 918"/>
                  <a:gd name="T27" fmla="*/ 246 h 965"/>
                  <a:gd name="T28" fmla="*/ 809 w 918"/>
                  <a:gd name="T29" fmla="*/ 346 h 965"/>
                  <a:gd name="T30" fmla="*/ 845 w 918"/>
                  <a:gd name="T31" fmla="*/ 427 h 965"/>
                  <a:gd name="T32" fmla="*/ 863 w 918"/>
                  <a:gd name="T33" fmla="*/ 518 h 965"/>
                  <a:gd name="T34" fmla="*/ 890 w 918"/>
                  <a:gd name="T35" fmla="*/ 609 h 965"/>
                  <a:gd name="T36" fmla="*/ 918 w 918"/>
                  <a:gd name="T37" fmla="*/ 773 h 965"/>
                  <a:gd name="T38" fmla="*/ 827 w 918"/>
                  <a:gd name="T39" fmla="*/ 927 h 965"/>
                  <a:gd name="T40" fmla="*/ 754 w 918"/>
                  <a:gd name="T41" fmla="*/ 946 h 965"/>
                  <a:gd name="T42" fmla="*/ 718 w 918"/>
                  <a:gd name="T43" fmla="*/ 955 h 965"/>
                  <a:gd name="T44" fmla="*/ 354 w 918"/>
                  <a:gd name="T45" fmla="*/ 937 h 965"/>
                  <a:gd name="T46" fmla="*/ 245 w 918"/>
                  <a:gd name="T47" fmla="*/ 864 h 965"/>
                  <a:gd name="T48" fmla="*/ 227 w 918"/>
                  <a:gd name="T49" fmla="*/ 818 h 9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46">
                <a:extLst>
                  <a:ext uri="{FF2B5EF4-FFF2-40B4-BE49-F238E27FC236}">
                    <a16:creationId xmlns:a16="http://schemas.microsoft.com/office/drawing/2014/main" id="{AE93B8CD-D908-40C8-B713-B0A103E882E0}"/>
                  </a:ext>
                </a:extLst>
              </p:cNvPr>
              <p:cNvSpPr>
                <a:spLocks/>
              </p:cNvSpPr>
              <p:nvPr/>
            </p:nvSpPr>
            <p:spPr bwMode="auto">
              <a:xfrm>
                <a:off x="1473" y="1882"/>
                <a:ext cx="869" cy="1173"/>
              </a:xfrm>
              <a:custGeom>
                <a:avLst/>
                <a:gdLst>
                  <a:gd name="T0" fmla="*/ 754 w 869"/>
                  <a:gd name="T1" fmla="*/ 791 h 1173"/>
                  <a:gd name="T2" fmla="*/ 699 w 869"/>
                  <a:gd name="T3" fmla="*/ 945 h 1173"/>
                  <a:gd name="T4" fmla="*/ 654 w 869"/>
                  <a:gd name="T5" fmla="*/ 1082 h 1173"/>
                  <a:gd name="T6" fmla="*/ 636 w 869"/>
                  <a:gd name="T7" fmla="*/ 1136 h 1173"/>
                  <a:gd name="T8" fmla="*/ 618 w 869"/>
                  <a:gd name="T9" fmla="*/ 1155 h 1173"/>
                  <a:gd name="T10" fmla="*/ 563 w 869"/>
                  <a:gd name="T11" fmla="*/ 1173 h 1173"/>
                  <a:gd name="T12" fmla="*/ 290 w 869"/>
                  <a:gd name="T13" fmla="*/ 1145 h 1173"/>
                  <a:gd name="T14" fmla="*/ 127 w 869"/>
                  <a:gd name="T15" fmla="*/ 1073 h 1173"/>
                  <a:gd name="T16" fmla="*/ 36 w 869"/>
                  <a:gd name="T17" fmla="*/ 1009 h 1173"/>
                  <a:gd name="T18" fmla="*/ 0 w 869"/>
                  <a:gd name="T19" fmla="*/ 955 h 1173"/>
                  <a:gd name="T20" fmla="*/ 81 w 869"/>
                  <a:gd name="T21" fmla="*/ 500 h 1173"/>
                  <a:gd name="T22" fmla="*/ 109 w 869"/>
                  <a:gd name="T23" fmla="*/ 236 h 1173"/>
                  <a:gd name="T24" fmla="*/ 154 w 869"/>
                  <a:gd name="T25" fmla="*/ 164 h 1173"/>
                  <a:gd name="T26" fmla="*/ 200 w 869"/>
                  <a:gd name="T27" fmla="*/ 136 h 1173"/>
                  <a:gd name="T28" fmla="*/ 309 w 869"/>
                  <a:gd name="T29" fmla="*/ 73 h 1173"/>
                  <a:gd name="T30" fmla="*/ 354 w 869"/>
                  <a:gd name="T31" fmla="*/ 45 h 1173"/>
                  <a:gd name="T32" fmla="*/ 427 w 869"/>
                  <a:gd name="T33" fmla="*/ 0 h 1173"/>
                  <a:gd name="T34" fmla="*/ 709 w 869"/>
                  <a:gd name="T35" fmla="*/ 82 h 1173"/>
                  <a:gd name="T36" fmla="*/ 809 w 869"/>
                  <a:gd name="T37" fmla="*/ 200 h 1173"/>
                  <a:gd name="T38" fmla="*/ 845 w 869"/>
                  <a:gd name="T39" fmla="*/ 255 h 1173"/>
                  <a:gd name="T40" fmla="*/ 863 w 869"/>
                  <a:gd name="T41" fmla="*/ 309 h 1173"/>
                  <a:gd name="T42" fmla="*/ 790 w 869"/>
                  <a:gd name="T43" fmla="*/ 709 h 1173"/>
                  <a:gd name="T44" fmla="*/ 754 w 869"/>
                  <a:gd name="T45" fmla="*/ 791 h 1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7" name="Rectangle 96">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6188" name="Rectangle 28">
            <a:extLst>
              <a:ext uri="{FF2B5EF4-FFF2-40B4-BE49-F238E27FC236}">
                <a16:creationId xmlns:a16="http://schemas.microsoft.com/office/drawing/2014/main" id="{B204BE24-B6FC-47CA-A1AA-D6188A31C05C}"/>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a:t>Regression</a:t>
            </a:r>
          </a:p>
        </p:txBody>
      </p:sp>
      <p:sp>
        <p:nvSpPr>
          <p:cNvPr id="99" name="Rectangle 98">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1" name="Rectangle 100">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7" name="Grupo 36">
            <a:extLst>
              <a:ext uri="{FF2B5EF4-FFF2-40B4-BE49-F238E27FC236}">
                <a16:creationId xmlns:a16="http://schemas.microsoft.com/office/drawing/2014/main" id="{FD3B330D-E848-470B-AEF7-9A90B9BD8581}"/>
              </a:ext>
            </a:extLst>
          </p:cNvPr>
          <p:cNvGrpSpPr/>
          <p:nvPr/>
        </p:nvGrpSpPr>
        <p:grpSpPr>
          <a:xfrm>
            <a:off x="4116389" y="1012445"/>
            <a:ext cx="7134224" cy="4879976"/>
            <a:chOff x="2830514" y="1455738"/>
            <a:chExt cx="7134224" cy="4879976"/>
          </a:xfrm>
        </p:grpSpPr>
        <p:sp>
          <p:nvSpPr>
            <p:cNvPr id="38" name="Line 3">
              <a:extLst>
                <a:ext uri="{FF2B5EF4-FFF2-40B4-BE49-F238E27FC236}">
                  <a16:creationId xmlns:a16="http://schemas.microsoft.com/office/drawing/2014/main" id="{4A7331C5-2209-4BAF-8D86-5E67CD71ACB4}"/>
                </a:ext>
              </a:extLst>
            </p:cNvPr>
            <p:cNvSpPr>
              <a:spLocks noChangeShapeType="1"/>
            </p:cNvSpPr>
            <p:nvPr/>
          </p:nvSpPr>
          <p:spPr bwMode="auto">
            <a:xfrm>
              <a:off x="2830514" y="4392613"/>
              <a:ext cx="692308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Line 4">
              <a:extLst>
                <a:ext uri="{FF2B5EF4-FFF2-40B4-BE49-F238E27FC236}">
                  <a16:creationId xmlns:a16="http://schemas.microsoft.com/office/drawing/2014/main" id="{9D204CB5-F723-4F4D-899A-8F9F0A7AB13B}"/>
                </a:ext>
              </a:extLst>
            </p:cNvPr>
            <p:cNvSpPr>
              <a:spLocks noChangeShapeType="1"/>
            </p:cNvSpPr>
            <p:nvPr/>
          </p:nvSpPr>
          <p:spPr bwMode="auto">
            <a:xfrm flipV="1">
              <a:off x="6080125" y="1633539"/>
              <a:ext cx="0" cy="47021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Oval 5">
              <a:extLst>
                <a:ext uri="{FF2B5EF4-FFF2-40B4-BE49-F238E27FC236}">
                  <a16:creationId xmlns:a16="http://schemas.microsoft.com/office/drawing/2014/main" id="{C89A3950-FA59-4326-90C7-F7532DE57E70}"/>
                </a:ext>
              </a:extLst>
            </p:cNvPr>
            <p:cNvSpPr>
              <a:spLocks noChangeArrowheads="1"/>
            </p:cNvSpPr>
            <p:nvPr/>
          </p:nvSpPr>
          <p:spPr bwMode="auto">
            <a:xfrm flipV="1">
              <a:off x="7466013" y="3303588"/>
              <a:ext cx="42862"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Oval 6">
              <a:extLst>
                <a:ext uri="{FF2B5EF4-FFF2-40B4-BE49-F238E27FC236}">
                  <a16:creationId xmlns:a16="http://schemas.microsoft.com/office/drawing/2014/main" id="{A03628AE-5219-47D5-97F6-1E8BCEE298EE}"/>
                </a:ext>
              </a:extLst>
            </p:cNvPr>
            <p:cNvSpPr>
              <a:spLocks noChangeArrowheads="1"/>
            </p:cNvSpPr>
            <p:nvPr/>
          </p:nvSpPr>
          <p:spPr bwMode="auto">
            <a:xfrm flipV="1">
              <a:off x="7048501" y="3408363"/>
              <a:ext cx="42863"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Oval 7">
              <a:extLst>
                <a:ext uri="{FF2B5EF4-FFF2-40B4-BE49-F238E27FC236}">
                  <a16:creationId xmlns:a16="http://schemas.microsoft.com/office/drawing/2014/main" id="{E1BFFEBB-71C4-4525-90EF-FAEFEA303C7A}"/>
                </a:ext>
              </a:extLst>
            </p:cNvPr>
            <p:cNvSpPr>
              <a:spLocks noChangeArrowheads="1"/>
            </p:cNvSpPr>
            <p:nvPr/>
          </p:nvSpPr>
          <p:spPr bwMode="auto">
            <a:xfrm flipV="1">
              <a:off x="6873876" y="2484438"/>
              <a:ext cx="42863"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Oval 8">
              <a:extLst>
                <a:ext uri="{FF2B5EF4-FFF2-40B4-BE49-F238E27FC236}">
                  <a16:creationId xmlns:a16="http://schemas.microsoft.com/office/drawing/2014/main" id="{677A663D-57F5-4BE9-8B96-435D65B1F39F}"/>
                </a:ext>
              </a:extLst>
            </p:cNvPr>
            <p:cNvSpPr>
              <a:spLocks noChangeArrowheads="1"/>
            </p:cNvSpPr>
            <p:nvPr/>
          </p:nvSpPr>
          <p:spPr bwMode="auto">
            <a:xfrm flipV="1">
              <a:off x="6699251" y="3876676"/>
              <a:ext cx="42863" cy="428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val 9">
              <a:extLst>
                <a:ext uri="{FF2B5EF4-FFF2-40B4-BE49-F238E27FC236}">
                  <a16:creationId xmlns:a16="http://schemas.microsoft.com/office/drawing/2014/main" id="{C3DB19C6-C714-4F0B-A9E5-72F07BED8E18}"/>
                </a:ext>
              </a:extLst>
            </p:cNvPr>
            <p:cNvSpPr>
              <a:spLocks noChangeArrowheads="1"/>
            </p:cNvSpPr>
            <p:nvPr/>
          </p:nvSpPr>
          <p:spPr bwMode="auto">
            <a:xfrm flipV="1">
              <a:off x="7570788" y="2951163"/>
              <a:ext cx="42862"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Oval 10">
              <a:extLst>
                <a:ext uri="{FF2B5EF4-FFF2-40B4-BE49-F238E27FC236}">
                  <a16:creationId xmlns:a16="http://schemas.microsoft.com/office/drawing/2014/main" id="{2167542E-BEDD-4CE6-8E79-5EACFCDDAA07}"/>
                </a:ext>
              </a:extLst>
            </p:cNvPr>
            <p:cNvSpPr>
              <a:spLocks noChangeArrowheads="1"/>
            </p:cNvSpPr>
            <p:nvPr/>
          </p:nvSpPr>
          <p:spPr bwMode="auto">
            <a:xfrm flipV="1">
              <a:off x="7772401" y="2678113"/>
              <a:ext cx="42863"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Oval 11">
              <a:extLst>
                <a:ext uri="{FF2B5EF4-FFF2-40B4-BE49-F238E27FC236}">
                  <a16:creationId xmlns:a16="http://schemas.microsoft.com/office/drawing/2014/main" id="{24557D75-AE3E-4DB5-AA3C-B69C7BB27911}"/>
                </a:ext>
              </a:extLst>
            </p:cNvPr>
            <p:cNvSpPr>
              <a:spLocks noChangeArrowheads="1"/>
            </p:cNvSpPr>
            <p:nvPr/>
          </p:nvSpPr>
          <p:spPr bwMode="auto">
            <a:xfrm flipV="1">
              <a:off x="6340476" y="3973513"/>
              <a:ext cx="42863"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Oval 12">
              <a:extLst>
                <a:ext uri="{FF2B5EF4-FFF2-40B4-BE49-F238E27FC236}">
                  <a16:creationId xmlns:a16="http://schemas.microsoft.com/office/drawing/2014/main" id="{2F48D3F9-1331-43BD-9E27-B4FFD4D1AA54}"/>
                </a:ext>
              </a:extLst>
            </p:cNvPr>
            <p:cNvSpPr>
              <a:spLocks noChangeArrowheads="1"/>
            </p:cNvSpPr>
            <p:nvPr/>
          </p:nvSpPr>
          <p:spPr bwMode="auto">
            <a:xfrm flipV="1">
              <a:off x="8093076" y="2673351"/>
              <a:ext cx="42863" cy="428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Oval 13">
              <a:extLst>
                <a:ext uri="{FF2B5EF4-FFF2-40B4-BE49-F238E27FC236}">
                  <a16:creationId xmlns:a16="http://schemas.microsoft.com/office/drawing/2014/main" id="{7DCC2F89-18D2-40E3-86A4-C1EBF1E659F5}"/>
                </a:ext>
              </a:extLst>
            </p:cNvPr>
            <p:cNvSpPr>
              <a:spLocks noChangeArrowheads="1"/>
            </p:cNvSpPr>
            <p:nvPr/>
          </p:nvSpPr>
          <p:spPr bwMode="auto">
            <a:xfrm flipV="1">
              <a:off x="8113713" y="2433638"/>
              <a:ext cx="42862"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Oval 14">
              <a:extLst>
                <a:ext uri="{FF2B5EF4-FFF2-40B4-BE49-F238E27FC236}">
                  <a16:creationId xmlns:a16="http://schemas.microsoft.com/office/drawing/2014/main" id="{82A9635E-BDAB-4CB5-ADED-59B4A63F259F}"/>
                </a:ext>
              </a:extLst>
            </p:cNvPr>
            <p:cNvSpPr>
              <a:spLocks noChangeArrowheads="1"/>
            </p:cNvSpPr>
            <p:nvPr/>
          </p:nvSpPr>
          <p:spPr bwMode="auto">
            <a:xfrm flipV="1">
              <a:off x="8528051" y="2406651"/>
              <a:ext cx="42863" cy="428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Oval 15">
              <a:extLst>
                <a:ext uri="{FF2B5EF4-FFF2-40B4-BE49-F238E27FC236}">
                  <a16:creationId xmlns:a16="http://schemas.microsoft.com/office/drawing/2014/main" id="{41D3C923-42D9-4333-B876-F4C7030F8187}"/>
                </a:ext>
              </a:extLst>
            </p:cNvPr>
            <p:cNvSpPr>
              <a:spLocks noChangeArrowheads="1"/>
            </p:cNvSpPr>
            <p:nvPr/>
          </p:nvSpPr>
          <p:spPr bwMode="auto">
            <a:xfrm flipV="1">
              <a:off x="6296026" y="4240213"/>
              <a:ext cx="42863"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Oval 16">
              <a:extLst>
                <a:ext uri="{FF2B5EF4-FFF2-40B4-BE49-F238E27FC236}">
                  <a16:creationId xmlns:a16="http://schemas.microsoft.com/office/drawing/2014/main" id="{A16B1C8C-6BB7-42A9-8DAD-0A96547918F5}"/>
                </a:ext>
              </a:extLst>
            </p:cNvPr>
            <p:cNvSpPr>
              <a:spLocks noChangeArrowheads="1"/>
            </p:cNvSpPr>
            <p:nvPr/>
          </p:nvSpPr>
          <p:spPr bwMode="auto">
            <a:xfrm flipV="1">
              <a:off x="8507413" y="2155826"/>
              <a:ext cx="42862" cy="42863"/>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Oval 17">
              <a:extLst>
                <a:ext uri="{FF2B5EF4-FFF2-40B4-BE49-F238E27FC236}">
                  <a16:creationId xmlns:a16="http://schemas.microsoft.com/office/drawing/2014/main" id="{FF06747A-C371-459E-95C7-A509BFBDBA33}"/>
                </a:ext>
              </a:extLst>
            </p:cNvPr>
            <p:cNvSpPr>
              <a:spLocks noChangeArrowheads="1"/>
            </p:cNvSpPr>
            <p:nvPr/>
          </p:nvSpPr>
          <p:spPr bwMode="auto">
            <a:xfrm flipV="1">
              <a:off x="8837613" y="2030413"/>
              <a:ext cx="42862" cy="428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Line 18">
              <a:extLst>
                <a:ext uri="{FF2B5EF4-FFF2-40B4-BE49-F238E27FC236}">
                  <a16:creationId xmlns:a16="http://schemas.microsoft.com/office/drawing/2014/main" id="{447E27C2-00D1-45A1-A5B2-A874F9EA88AE}"/>
                </a:ext>
              </a:extLst>
            </p:cNvPr>
            <p:cNvSpPr>
              <a:spLocks noChangeShapeType="1"/>
            </p:cNvSpPr>
            <p:nvPr/>
          </p:nvSpPr>
          <p:spPr bwMode="auto">
            <a:xfrm flipV="1">
              <a:off x="6062663" y="1943101"/>
              <a:ext cx="2906712" cy="2270125"/>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Text Box 19">
              <a:extLst>
                <a:ext uri="{FF2B5EF4-FFF2-40B4-BE49-F238E27FC236}">
                  <a16:creationId xmlns:a16="http://schemas.microsoft.com/office/drawing/2014/main" id="{72849B13-54F6-4370-85D9-829DFAE84371}"/>
                </a:ext>
              </a:extLst>
            </p:cNvPr>
            <p:cNvSpPr txBox="1">
              <a:spLocks noChangeArrowheads="1"/>
            </p:cNvSpPr>
            <p:nvPr/>
          </p:nvSpPr>
          <p:spPr bwMode="auto">
            <a:xfrm>
              <a:off x="9628188" y="4379913"/>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x</a:t>
              </a:r>
            </a:p>
          </p:txBody>
        </p:sp>
        <p:sp>
          <p:nvSpPr>
            <p:cNvPr id="55" name="Text Box 20">
              <a:extLst>
                <a:ext uri="{FF2B5EF4-FFF2-40B4-BE49-F238E27FC236}">
                  <a16:creationId xmlns:a16="http://schemas.microsoft.com/office/drawing/2014/main" id="{EFFDA8BE-277F-4A0C-BA58-63AC21B51352}"/>
                </a:ext>
              </a:extLst>
            </p:cNvPr>
            <p:cNvSpPr txBox="1">
              <a:spLocks noChangeArrowheads="1"/>
            </p:cNvSpPr>
            <p:nvPr/>
          </p:nvSpPr>
          <p:spPr bwMode="auto">
            <a:xfrm>
              <a:off x="6281738" y="1455738"/>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y</a:t>
              </a:r>
            </a:p>
          </p:txBody>
        </p:sp>
        <p:sp>
          <p:nvSpPr>
            <p:cNvPr id="56" name="Text Box 21">
              <a:extLst>
                <a:ext uri="{FF2B5EF4-FFF2-40B4-BE49-F238E27FC236}">
                  <a16:creationId xmlns:a16="http://schemas.microsoft.com/office/drawing/2014/main" id="{8677E38D-C50C-430D-ADD0-8AF6163A90B4}"/>
                </a:ext>
              </a:extLst>
            </p:cNvPr>
            <p:cNvSpPr txBox="1">
              <a:spLocks noChangeArrowheads="1"/>
            </p:cNvSpPr>
            <p:nvPr/>
          </p:nvSpPr>
          <p:spPr bwMode="auto">
            <a:xfrm>
              <a:off x="7848600" y="3219450"/>
              <a:ext cx="1289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y = x + 1</a:t>
              </a:r>
            </a:p>
          </p:txBody>
        </p:sp>
        <p:sp>
          <p:nvSpPr>
            <p:cNvPr id="57" name="Line 22">
              <a:extLst>
                <a:ext uri="{FF2B5EF4-FFF2-40B4-BE49-F238E27FC236}">
                  <a16:creationId xmlns:a16="http://schemas.microsoft.com/office/drawing/2014/main" id="{E824D5BE-A28E-4710-A072-526493F71081}"/>
                </a:ext>
              </a:extLst>
            </p:cNvPr>
            <p:cNvSpPr>
              <a:spLocks noChangeShapeType="1"/>
            </p:cNvSpPr>
            <p:nvPr/>
          </p:nvSpPr>
          <p:spPr bwMode="auto">
            <a:xfrm>
              <a:off x="6896100" y="2498726"/>
              <a:ext cx="0" cy="1909763"/>
            </a:xfrm>
            <a:prstGeom prst="line">
              <a:avLst/>
            </a:prstGeom>
            <a:noFill/>
            <a:ln w="9525">
              <a:solidFill>
                <a:srgbClr val="0066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Line 23">
              <a:extLst>
                <a:ext uri="{FF2B5EF4-FFF2-40B4-BE49-F238E27FC236}">
                  <a16:creationId xmlns:a16="http://schemas.microsoft.com/office/drawing/2014/main" id="{60AB8022-B9FF-4FD8-808F-F71BF6B94882}"/>
                </a:ext>
              </a:extLst>
            </p:cNvPr>
            <p:cNvSpPr>
              <a:spLocks noChangeShapeType="1"/>
            </p:cNvSpPr>
            <p:nvPr/>
          </p:nvSpPr>
          <p:spPr bwMode="auto">
            <a:xfrm flipH="1">
              <a:off x="6080125" y="2514600"/>
              <a:ext cx="800100" cy="0"/>
            </a:xfrm>
            <a:prstGeom prst="line">
              <a:avLst/>
            </a:prstGeom>
            <a:noFill/>
            <a:ln w="9525">
              <a:solidFill>
                <a:srgbClr val="0066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Line 24">
              <a:extLst>
                <a:ext uri="{FF2B5EF4-FFF2-40B4-BE49-F238E27FC236}">
                  <a16:creationId xmlns:a16="http://schemas.microsoft.com/office/drawing/2014/main" id="{FB7AE0D0-7618-4CE9-BCE9-1A1B2D80503C}"/>
                </a:ext>
              </a:extLst>
            </p:cNvPr>
            <p:cNvSpPr>
              <a:spLocks noChangeShapeType="1"/>
            </p:cNvSpPr>
            <p:nvPr/>
          </p:nvSpPr>
          <p:spPr bwMode="auto">
            <a:xfrm flipH="1">
              <a:off x="6064251" y="3525838"/>
              <a:ext cx="815975" cy="0"/>
            </a:xfrm>
            <a:prstGeom prst="line">
              <a:avLst/>
            </a:prstGeom>
            <a:noFill/>
            <a:ln w="9525">
              <a:solidFill>
                <a:srgbClr val="0066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 Box 25">
              <a:extLst>
                <a:ext uri="{FF2B5EF4-FFF2-40B4-BE49-F238E27FC236}">
                  <a16:creationId xmlns:a16="http://schemas.microsoft.com/office/drawing/2014/main" id="{07865522-5F75-43E7-8EA8-00436BD6691E}"/>
                </a:ext>
              </a:extLst>
            </p:cNvPr>
            <p:cNvSpPr txBox="1">
              <a:spLocks noChangeArrowheads="1"/>
            </p:cNvSpPr>
            <p:nvPr/>
          </p:nvSpPr>
          <p:spPr bwMode="auto">
            <a:xfrm>
              <a:off x="6819900" y="4411664"/>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es-MX"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X1</a:t>
              </a:r>
            </a:p>
          </p:txBody>
        </p:sp>
        <p:sp>
          <p:nvSpPr>
            <p:cNvPr id="61" name="Text Box 26">
              <a:extLst>
                <a:ext uri="{FF2B5EF4-FFF2-40B4-BE49-F238E27FC236}">
                  <a16:creationId xmlns:a16="http://schemas.microsoft.com/office/drawing/2014/main" id="{0775D7AB-3DBE-413F-95C7-280FB67A5698}"/>
                </a:ext>
              </a:extLst>
            </p:cNvPr>
            <p:cNvSpPr txBox="1">
              <a:spLocks noChangeArrowheads="1"/>
            </p:cNvSpPr>
            <p:nvPr/>
          </p:nvSpPr>
          <p:spPr bwMode="auto">
            <a:xfrm>
              <a:off x="5595938" y="2322514"/>
              <a:ext cx="495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es-MX"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Y1</a:t>
              </a:r>
            </a:p>
          </p:txBody>
        </p:sp>
        <p:sp>
          <p:nvSpPr>
            <p:cNvPr id="62" name="Text Box 27">
              <a:extLst>
                <a:ext uri="{FF2B5EF4-FFF2-40B4-BE49-F238E27FC236}">
                  <a16:creationId xmlns:a16="http://schemas.microsoft.com/office/drawing/2014/main" id="{4C60E10A-F69C-4713-B21C-1BBFA5DD4CEE}"/>
                </a:ext>
              </a:extLst>
            </p:cNvPr>
            <p:cNvSpPr txBox="1">
              <a:spLocks noChangeArrowheads="1"/>
            </p:cNvSpPr>
            <p:nvPr/>
          </p:nvSpPr>
          <p:spPr bwMode="auto">
            <a:xfrm>
              <a:off x="5595939" y="3268664"/>
              <a:ext cx="5794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es-MX" sz="20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Y1’</a:t>
              </a:r>
            </a:p>
          </p:txBody>
        </p: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8212" name="Rectangle 4">
            <a:extLst>
              <a:ext uri="{FF2B5EF4-FFF2-40B4-BE49-F238E27FC236}">
                <a16:creationId xmlns:a16="http://schemas.microsoft.com/office/drawing/2014/main" id="{E3BF9B12-BF4A-47F2-86F7-858881CD321D}"/>
              </a:ext>
            </a:extLst>
          </p:cNvPr>
          <p:cNvSpPr>
            <a:spLocks noGrp="1" noChangeArrowheads="1"/>
          </p:cNvSpPr>
          <p:nvPr>
            <p:ph type="title"/>
          </p:nvPr>
        </p:nvSpPr>
        <p:spPr>
          <a:xfrm>
            <a:off x="656823" y="962166"/>
            <a:ext cx="3103808" cy="4421876"/>
          </a:xfrm>
        </p:spPr>
        <p:txBody>
          <a:bodyPr anchor="t">
            <a:normAutofit/>
          </a:bodyPr>
          <a:lstStyle/>
          <a:p>
            <a:pPr algn="r"/>
            <a:r>
              <a:rPr lang="en-US" altLang="es-MX" sz="4000"/>
              <a:t>Data Integration</a:t>
            </a:r>
          </a:p>
        </p:txBody>
      </p:sp>
      <p:sp>
        <p:nvSpPr>
          <p:cNvPr id="478213" name="Rectangle 5">
            <a:extLst>
              <a:ext uri="{FF2B5EF4-FFF2-40B4-BE49-F238E27FC236}">
                <a16:creationId xmlns:a16="http://schemas.microsoft.com/office/drawing/2014/main" id="{9CCBDA47-C01E-4817-83E7-5D1E08F2B533}"/>
              </a:ext>
            </a:extLst>
          </p:cNvPr>
          <p:cNvSpPr>
            <a:spLocks noGrp="1" noChangeArrowheads="1"/>
          </p:cNvSpPr>
          <p:nvPr>
            <p:ph idx="1"/>
          </p:nvPr>
        </p:nvSpPr>
        <p:spPr>
          <a:xfrm>
            <a:off x="4088929" y="962167"/>
            <a:ext cx="6858113" cy="4743174"/>
          </a:xfrm>
        </p:spPr>
        <p:txBody>
          <a:bodyPr anchor="t">
            <a:normAutofit/>
          </a:bodyPr>
          <a:lstStyle/>
          <a:p>
            <a:r>
              <a:rPr lang="en-US" altLang="es-MX" sz="2000" dirty="0"/>
              <a:t>Data integration: </a:t>
            </a:r>
          </a:p>
          <a:p>
            <a:pPr lvl="1"/>
            <a:r>
              <a:rPr lang="en-US" altLang="es-MX" sz="2000" dirty="0"/>
              <a:t>combines data from multiple sources into a coherent store</a:t>
            </a:r>
          </a:p>
          <a:p>
            <a:r>
              <a:rPr lang="en-US" altLang="es-MX" sz="2000" dirty="0"/>
              <a:t>Schema integration</a:t>
            </a:r>
          </a:p>
          <a:p>
            <a:pPr lvl="1"/>
            <a:r>
              <a:rPr lang="en-US" altLang="es-MX" sz="2000" dirty="0"/>
              <a:t>integrate metadata from different sources</a:t>
            </a:r>
          </a:p>
          <a:p>
            <a:pPr lvl="1"/>
            <a:r>
              <a:rPr lang="en-US" altLang="es-MX" sz="2000" dirty="0"/>
              <a:t>Entity identification problem: identify real world entities from multiple data sources, e.g., </a:t>
            </a:r>
            <a:r>
              <a:rPr lang="en-US" altLang="es-MX" sz="2000" dirty="0" err="1"/>
              <a:t>A.cust</a:t>
            </a:r>
            <a:r>
              <a:rPr lang="en-US" altLang="es-MX" sz="2000" dirty="0"/>
              <a:t>-id </a:t>
            </a:r>
            <a:r>
              <a:rPr lang="en-US" altLang="es-MX" sz="2000" dirty="0">
                <a:sym typeface="Symbol" panose="05050102010706020507" pitchFamily="18" charset="2"/>
              </a:rPr>
              <a:t> </a:t>
            </a:r>
            <a:r>
              <a:rPr lang="en-US" altLang="es-MX" sz="2000" dirty="0" err="1">
                <a:sym typeface="Symbol" panose="05050102010706020507" pitchFamily="18" charset="2"/>
              </a:rPr>
              <a:t>B.</a:t>
            </a:r>
            <a:r>
              <a:rPr lang="en-US" altLang="es-MX" sz="2000" dirty="0" err="1"/>
              <a:t>cust</a:t>
            </a:r>
            <a:r>
              <a:rPr lang="en-US" altLang="es-MX" sz="2000" dirty="0"/>
              <a:t>-#</a:t>
            </a:r>
          </a:p>
          <a:p>
            <a:r>
              <a:rPr lang="en-US" altLang="es-MX" sz="2000" dirty="0"/>
              <a:t>Detecting and resolving data value conflicts</a:t>
            </a:r>
          </a:p>
          <a:p>
            <a:pPr lvl="1"/>
            <a:r>
              <a:rPr lang="en-US" altLang="es-MX" sz="2000" dirty="0"/>
              <a:t>for the same real-world entity, attribute values from different sources are different</a:t>
            </a:r>
          </a:p>
          <a:p>
            <a:pPr lvl="1"/>
            <a:r>
              <a:rPr lang="en-US" altLang="es-MX" sz="2000" dirty="0"/>
              <a:t>possible reasons: different representations, different scales, e.g., metric vs. British units</a:t>
            </a:r>
          </a:p>
        </p:txBody>
      </p:sp>
      <p:sp>
        <p:nvSpPr>
          <p:cNvPr id="76" name="Rectangle 75">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9236" name="Rectangle 4">
            <a:extLst>
              <a:ext uri="{FF2B5EF4-FFF2-40B4-BE49-F238E27FC236}">
                <a16:creationId xmlns:a16="http://schemas.microsoft.com/office/drawing/2014/main" id="{79D68325-B22F-4A8C-929B-9ABD0D34E7D6}"/>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Handling Redundancy in Data Integration</a:t>
            </a:r>
          </a:p>
        </p:txBody>
      </p:sp>
      <p:sp>
        <p:nvSpPr>
          <p:cNvPr id="479237" name="Rectangle 5">
            <a:extLst>
              <a:ext uri="{FF2B5EF4-FFF2-40B4-BE49-F238E27FC236}">
                <a16:creationId xmlns:a16="http://schemas.microsoft.com/office/drawing/2014/main" id="{54F9B5F8-4328-4504-9169-EC747AE1E275}"/>
              </a:ext>
            </a:extLst>
          </p:cNvPr>
          <p:cNvSpPr>
            <a:spLocks noGrp="1" noChangeArrowheads="1"/>
          </p:cNvSpPr>
          <p:nvPr>
            <p:ph idx="1"/>
          </p:nvPr>
        </p:nvSpPr>
        <p:spPr>
          <a:xfrm>
            <a:off x="1371599" y="2318197"/>
            <a:ext cx="9724031" cy="3683358"/>
          </a:xfrm>
        </p:spPr>
        <p:txBody>
          <a:bodyPr anchor="ctr">
            <a:normAutofit/>
          </a:bodyPr>
          <a:lstStyle/>
          <a:p>
            <a:r>
              <a:rPr lang="en-US" altLang="es-MX" sz="2000" dirty="0"/>
              <a:t>Redundant data occur often when integration of multiple databases</a:t>
            </a:r>
          </a:p>
          <a:p>
            <a:pPr lvl="1"/>
            <a:r>
              <a:rPr lang="en-US" altLang="es-MX" sz="2000" dirty="0"/>
              <a:t>The same attribute may have different names in different databases</a:t>
            </a:r>
          </a:p>
          <a:p>
            <a:pPr lvl="1"/>
            <a:r>
              <a:rPr lang="en-US" altLang="es-MX" sz="2000" dirty="0"/>
              <a:t>One attribute may be a “derived” attribute in another table, e.g., annual revenue</a:t>
            </a:r>
          </a:p>
          <a:p>
            <a:r>
              <a:rPr lang="en-US" altLang="es-MX" sz="2000" dirty="0"/>
              <a:t>Redundant data may be able to be detected by correlational analysis</a:t>
            </a:r>
          </a:p>
          <a:p>
            <a:r>
              <a:rPr lang="en-US" altLang="es-MX" sz="2000" dirty="0"/>
              <a:t>Careful integration of the data from multiple sources may help reduce/avoid redundancies and inconsistencies and improve mining speed and quality</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0260" name="Rectangle 4">
            <a:extLst>
              <a:ext uri="{FF2B5EF4-FFF2-40B4-BE49-F238E27FC236}">
                <a16:creationId xmlns:a16="http://schemas.microsoft.com/office/drawing/2014/main" id="{3DC228C5-D537-40FA-8DA7-A8B7C69F0677}"/>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Data Transformation</a:t>
            </a:r>
          </a:p>
        </p:txBody>
      </p:sp>
      <p:sp>
        <p:nvSpPr>
          <p:cNvPr id="480261" name="Rectangle 5">
            <a:extLst>
              <a:ext uri="{FF2B5EF4-FFF2-40B4-BE49-F238E27FC236}">
                <a16:creationId xmlns:a16="http://schemas.microsoft.com/office/drawing/2014/main" id="{EB52E590-8B75-4168-9ADC-2E385B81FFBF}"/>
              </a:ext>
            </a:extLst>
          </p:cNvPr>
          <p:cNvSpPr>
            <a:spLocks noGrp="1" noChangeArrowheads="1"/>
          </p:cNvSpPr>
          <p:nvPr>
            <p:ph idx="1"/>
          </p:nvPr>
        </p:nvSpPr>
        <p:spPr>
          <a:xfrm>
            <a:off x="1371599" y="2318197"/>
            <a:ext cx="9724031" cy="3683358"/>
          </a:xfrm>
        </p:spPr>
        <p:txBody>
          <a:bodyPr anchor="ctr">
            <a:normAutofit/>
          </a:bodyPr>
          <a:lstStyle/>
          <a:p>
            <a:r>
              <a:rPr lang="en-US" altLang="es-MX" sz="2000"/>
              <a:t>Smoothing: remove noise from data</a:t>
            </a:r>
          </a:p>
          <a:p>
            <a:r>
              <a:rPr lang="en-US" altLang="es-MX" sz="2000"/>
              <a:t>Aggregation: summarization, data cube construction</a:t>
            </a:r>
          </a:p>
          <a:p>
            <a:r>
              <a:rPr lang="en-US" altLang="es-MX" sz="2000"/>
              <a:t>Generalization: concept hierarchy climbing</a:t>
            </a:r>
          </a:p>
          <a:p>
            <a:r>
              <a:rPr lang="en-US" altLang="es-MX" sz="2000"/>
              <a:t>Normalization: scaled to fall within a small, specified range</a:t>
            </a:r>
          </a:p>
          <a:p>
            <a:pPr lvl="1"/>
            <a:r>
              <a:rPr lang="en-US" altLang="es-MX" sz="2000"/>
              <a:t>min-max normalization</a:t>
            </a:r>
          </a:p>
          <a:p>
            <a:pPr lvl="1"/>
            <a:r>
              <a:rPr lang="en-US" altLang="es-MX" sz="2000"/>
              <a:t>z-score normalization</a:t>
            </a:r>
          </a:p>
          <a:p>
            <a:pPr lvl="1"/>
            <a:r>
              <a:rPr lang="en-US" altLang="es-MX" sz="2000"/>
              <a:t>normalization by decimal scaling</a:t>
            </a:r>
          </a:p>
          <a:p>
            <a:r>
              <a:rPr lang="en-US" altLang="es-MX" sz="2000"/>
              <a:t>Attribute/feature construction</a:t>
            </a:r>
          </a:p>
          <a:p>
            <a:pPr lvl="1"/>
            <a:r>
              <a:rPr lang="en-US" altLang="es-MX" sz="2000"/>
              <a:t>New attributes constructed from the given ones</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Rectangle 8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81290" name="Rectangle 10">
            <a:extLst>
              <a:ext uri="{FF2B5EF4-FFF2-40B4-BE49-F238E27FC236}">
                <a16:creationId xmlns:a16="http://schemas.microsoft.com/office/drawing/2014/main" id="{C8FF8D0D-0790-4B51-B42A-6A4F8B0E5881}"/>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Data Transformation: Normalization</a:t>
            </a:r>
          </a:p>
        </p:txBody>
      </p:sp>
      <p:sp>
        <p:nvSpPr>
          <p:cNvPr id="481291" name="Rectangle 11">
            <a:extLst>
              <a:ext uri="{FF2B5EF4-FFF2-40B4-BE49-F238E27FC236}">
                <a16:creationId xmlns:a16="http://schemas.microsoft.com/office/drawing/2014/main" id="{BA4210AB-A69F-4D16-B881-39D8A03E6AC7}"/>
              </a:ext>
            </a:extLst>
          </p:cNvPr>
          <p:cNvSpPr>
            <a:spLocks noGrp="1" noChangeArrowheads="1"/>
          </p:cNvSpPr>
          <p:nvPr>
            <p:ph type="body" idx="1"/>
          </p:nvPr>
        </p:nvSpPr>
        <p:spPr>
          <a:xfrm>
            <a:off x="1371599" y="2318197"/>
            <a:ext cx="9724031" cy="3683358"/>
          </a:xfrm>
        </p:spPr>
        <p:txBody>
          <a:bodyPr anchor="ctr">
            <a:normAutofit/>
          </a:bodyPr>
          <a:lstStyle/>
          <a:p>
            <a:r>
              <a:rPr lang="en-US" altLang="es-MX" sz="2000" dirty="0"/>
              <a:t>min-max normalization</a:t>
            </a:r>
          </a:p>
          <a:p>
            <a:pPr lvl="1"/>
            <a:endParaRPr lang="en-US" altLang="es-MX" sz="2000" dirty="0"/>
          </a:p>
          <a:p>
            <a:pPr lvl="1"/>
            <a:endParaRPr lang="en-US" altLang="es-MX" sz="2000" dirty="0"/>
          </a:p>
          <a:p>
            <a:r>
              <a:rPr lang="en-US" altLang="es-MX" sz="2000" dirty="0"/>
              <a:t>z-score normalization</a:t>
            </a:r>
          </a:p>
          <a:p>
            <a:pPr lvl="1"/>
            <a:endParaRPr lang="en-US" altLang="es-MX" sz="2000" dirty="0"/>
          </a:p>
          <a:p>
            <a:pPr lvl="1"/>
            <a:endParaRPr lang="en-US" altLang="es-MX" sz="2000" dirty="0"/>
          </a:p>
          <a:p>
            <a:r>
              <a:rPr lang="en-US" altLang="es-MX" sz="2000" dirty="0"/>
              <a:t>normalization by decimal scaling</a:t>
            </a:r>
          </a:p>
          <a:p>
            <a:pPr lvl="1"/>
            <a:endParaRPr lang="en-US" altLang="es-MX" sz="2000" dirty="0"/>
          </a:p>
          <a:p>
            <a:pPr lvl="1"/>
            <a:endParaRPr lang="en-US" altLang="es-MX" sz="2000" dirty="0"/>
          </a:p>
        </p:txBody>
      </p:sp>
      <p:graphicFrame>
        <p:nvGraphicFramePr>
          <p:cNvPr id="17" name="Object 4">
            <a:extLst>
              <a:ext uri="{FF2B5EF4-FFF2-40B4-BE49-F238E27FC236}">
                <a16:creationId xmlns:a16="http://schemas.microsoft.com/office/drawing/2014/main" id="{BB4C2E6D-2C9E-4A9F-900B-6387279E1B2A}"/>
              </a:ext>
            </a:extLst>
          </p:cNvPr>
          <p:cNvGraphicFramePr>
            <a:graphicFrameLocks noChangeAspect="1"/>
          </p:cNvGraphicFramePr>
          <p:nvPr/>
        </p:nvGraphicFramePr>
        <p:xfrm>
          <a:off x="3946000" y="2779713"/>
          <a:ext cx="7321550" cy="873125"/>
        </p:xfrm>
        <a:graphic>
          <a:graphicData uri="http://schemas.openxmlformats.org/presentationml/2006/ole">
            <mc:AlternateContent xmlns:mc="http://schemas.openxmlformats.org/markup-compatibility/2006">
              <mc:Choice xmlns:v="urn:schemas-microsoft-com:vml" Requires="v">
                <p:oleObj name="Equation" r:id="rId2" imgW="3340080" imgH="393480" progId="Equation.3">
                  <p:embed/>
                </p:oleObj>
              </mc:Choice>
              <mc:Fallback>
                <p:oleObj name="Equation" r:id="rId2" imgW="3340080" imgH="393480" progId="Equation.3">
                  <p:embed/>
                  <p:pic>
                    <p:nvPicPr>
                      <p:cNvPr id="17" name="Object 4">
                        <a:extLst>
                          <a:ext uri="{FF2B5EF4-FFF2-40B4-BE49-F238E27FC236}">
                            <a16:creationId xmlns:a16="http://schemas.microsoft.com/office/drawing/2014/main" id="{BB4C2E6D-2C9E-4A9F-900B-6387279E1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6000" y="2779713"/>
                        <a:ext cx="7321550" cy="873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5">
            <a:extLst>
              <a:ext uri="{FF2B5EF4-FFF2-40B4-BE49-F238E27FC236}">
                <a16:creationId xmlns:a16="http://schemas.microsoft.com/office/drawing/2014/main" id="{D9A67081-601D-44F9-BB72-B3C2063CCFFC}"/>
              </a:ext>
            </a:extLst>
          </p:cNvPr>
          <p:cNvGraphicFramePr>
            <a:graphicFrameLocks noChangeAspect="1"/>
          </p:cNvGraphicFramePr>
          <p:nvPr/>
        </p:nvGraphicFramePr>
        <p:xfrm>
          <a:off x="5650976" y="3904398"/>
          <a:ext cx="2860675" cy="939800"/>
        </p:xfrm>
        <a:graphic>
          <a:graphicData uri="http://schemas.openxmlformats.org/presentationml/2006/ole">
            <mc:AlternateContent xmlns:mc="http://schemas.openxmlformats.org/markup-compatibility/2006">
              <mc:Choice xmlns:v="urn:schemas-microsoft-com:vml" Requires="v">
                <p:oleObj name="Equation" r:id="rId4" imgW="965160" imgH="419040" progId="Equation.3">
                  <p:embed/>
                </p:oleObj>
              </mc:Choice>
              <mc:Fallback>
                <p:oleObj name="Equation" r:id="rId4" imgW="965160" imgH="419040" progId="Equation.3">
                  <p:embed/>
                  <p:pic>
                    <p:nvPicPr>
                      <p:cNvPr id="18" name="Object 5">
                        <a:extLst>
                          <a:ext uri="{FF2B5EF4-FFF2-40B4-BE49-F238E27FC236}">
                            <a16:creationId xmlns:a16="http://schemas.microsoft.com/office/drawing/2014/main" id="{D9A67081-601D-44F9-BB72-B3C2063CCFF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0976" y="3904398"/>
                        <a:ext cx="2860675"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6">
            <a:extLst>
              <a:ext uri="{FF2B5EF4-FFF2-40B4-BE49-F238E27FC236}">
                <a16:creationId xmlns:a16="http://schemas.microsoft.com/office/drawing/2014/main" id="{C86CB176-3881-463B-955D-94CF832AB38D}"/>
              </a:ext>
            </a:extLst>
          </p:cNvPr>
          <p:cNvGraphicFramePr>
            <a:graphicFrameLocks noChangeAspect="1"/>
          </p:cNvGraphicFramePr>
          <p:nvPr/>
        </p:nvGraphicFramePr>
        <p:xfrm>
          <a:off x="3756816" y="5376080"/>
          <a:ext cx="1066800" cy="847725"/>
        </p:xfrm>
        <a:graphic>
          <a:graphicData uri="http://schemas.openxmlformats.org/presentationml/2006/ole">
            <mc:AlternateContent xmlns:mc="http://schemas.openxmlformats.org/markup-compatibility/2006">
              <mc:Choice xmlns:v="urn:schemas-microsoft-com:vml" Requires="v">
                <p:oleObj name="Equation" r:id="rId6" imgW="495000" imgH="393480" progId="Equation.3">
                  <p:embed/>
                </p:oleObj>
              </mc:Choice>
              <mc:Fallback>
                <p:oleObj name="Equation" r:id="rId6" imgW="495000" imgH="393480" progId="Equation.3">
                  <p:embed/>
                  <p:pic>
                    <p:nvPicPr>
                      <p:cNvPr id="19" name="Object 6">
                        <a:extLst>
                          <a:ext uri="{FF2B5EF4-FFF2-40B4-BE49-F238E27FC236}">
                            <a16:creationId xmlns:a16="http://schemas.microsoft.com/office/drawing/2014/main" id="{C86CB176-3881-463B-955D-94CF832AB38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56816" y="5376080"/>
                        <a:ext cx="1066800" cy="84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 name="Text Box 8">
            <a:extLst>
              <a:ext uri="{FF2B5EF4-FFF2-40B4-BE49-F238E27FC236}">
                <a16:creationId xmlns:a16="http://schemas.microsoft.com/office/drawing/2014/main" id="{FCBEC597-6F25-4596-97F0-0D2DE4C0C075}"/>
              </a:ext>
            </a:extLst>
          </p:cNvPr>
          <p:cNvSpPr txBox="1">
            <a:spLocks noChangeArrowheads="1"/>
          </p:cNvSpPr>
          <p:nvPr/>
        </p:nvSpPr>
        <p:spPr bwMode="auto">
          <a:xfrm>
            <a:off x="5052217" y="5604680"/>
            <a:ext cx="61261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es-MX"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Where </a:t>
            </a:r>
            <a:r>
              <a:rPr kumimoji="0" lang="en-US" altLang="es-MX"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j</a:t>
            </a:r>
            <a:r>
              <a:rPr kumimoji="0" lang="en-US" altLang="es-MX"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 is the smallest integer such that Max(|     |)&lt;1</a:t>
            </a:r>
            <a:endParaRPr kumimoji="0" lang="en-US" altLang="es-MX"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endParaRPr>
          </a:p>
        </p:txBody>
      </p:sp>
      <p:graphicFrame>
        <p:nvGraphicFramePr>
          <p:cNvPr id="21" name="Object 9">
            <a:extLst>
              <a:ext uri="{FF2B5EF4-FFF2-40B4-BE49-F238E27FC236}">
                <a16:creationId xmlns:a16="http://schemas.microsoft.com/office/drawing/2014/main" id="{701DD371-303F-474F-BE58-62FDF6ECA93B}"/>
              </a:ext>
            </a:extLst>
          </p:cNvPr>
          <p:cNvGraphicFramePr>
            <a:graphicFrameLocks noChangeAspect="1"/>
          </p:cNvGraphicFramePr>
          <p:nvPr/>
        </p:nvGraphicFramePr>
        <p:xfrm>
          <a:off x="9852817" y="5604680"/>
          <a:ext cx="320675" cy="404813"/>
        </p:xfrm>
        <a:graphic>
          <a:graphicData uri="http://schemas.openxmlformats.org/presentationml/2006/ole">
            <mc:AlternateContent xmlns:mc="http://schemas.openxmlformats.org/markup-compatibility/2006">
              <mc:Choice xmlns:v="urn:schemas-microsoft-com:vml" Requires="v">
                <p:oleObj name="Equation" r:id="rId8" imgW="139680" imgH="177480" progId="Equation.3">
                  <p:embed/>
                </p:oleObj>
              </mc:Choice>
              <mc:Fallback>
                <p:oleObj name="Equation" r:id="rId8" imgW="139680" imgH="177480" progId="Equation.3">
                  <p:embed/>
                  <p:pic>
                    <p:nvPicPr>
                      <p:cNvPr id="21" name="Object 9">
                        <a:extLst>
                          <a:ext uri="{FF2B5EF4-FFF2-40B4-BE49-F238E27FC236}">
                            <a16:creationId xmlns:a16="http://schemas.microsoft.com/office/drawing/2014/main" id="{701DD371-303F-474F-BE58-62FDF6ECA93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52817" y="5604680"/>
                        <a:ext cx="320675" cy="40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1362" name="Rectangle 2">
            <a:extLst>
              <a:ext uri="{FF2B5EF4-FFF2-40B4-BE49-F238E27FC236}">
                <a16:creationId xmlns:a16="http://schemas.microsoft.com/office/drawing/2014/main" id="{B4250EBB-6FF3-4061-A1F9-1F535516B2E6}"/>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Data Preprocessing</a:t>
            </a:r>
          </a:p>
        </p:txBody>
      </p:sp>
      <p:sp>
        <p:nvSpPr>
          <p:cNvPr id="911363" name="Rectangle 3">
            <a:extLst>
              <a:ext uri="{FF2B5EF4-FFF2-40B4-BE49-F238E27FC236}">
                <a16:creationId xmlns:a16="http://schemas.microsoft.com/office/drawing/2014/main" id="{A91699FC-7B19-4B08-94FB-BAF79AA26A8B}"/>
              </a:ext>
            </a:extLst>
          </p:cNvPr>
          <p:cNvSpPr>
            <a:spLocks noGrp="1" noChangeArrowheads="1"/>
          </p:cNvSpPr>
          <p:nvPr>
            <p:ph idx="1"/>
          </p:nvPr>
        </p:nvSpPr>
        <p:spPr>
          <a:xfrm>
            <a:off x="1371599" y="2318197"/>
            <a:ext cx="9724031" cy="3683358"/>
          </a:xfrm>
        </p:spPr>
        <p:txBody>
          <a:bodyPr anchor="ctr">
            <a:normAutofit/>
          </a:bodyPr>
          <a:lstStyle/>
          <a:p>
            <a:r>
              <a:rPr lang="en-US" altLang="es-MX" sz="2000"/>
              <a:t>Aggregation</a:t>
            </a:r>
          </a:p>
          <a:p>
            <a:r>
              <a:rPr lang="en-US" altLang="es-MX" sz="2000"/>
              <a:t>Sampling</a:t>
            </a:r>
          </a:p>
          <a:p>
            <a:r>
              <a:rPr lang="en-US" altLang="es-MX" sz="2000"/>
              <a:t>Dimensionality Reduction</a:t>
            </a:r>
          </a:p>
          <a:p>
            <a:r>
              <a:rPr lang="en-US" altLang="es-MX" sz="2000"/>
              <a:t>Feature subset selection</a:t>
            </a:r>
          </a:p>
          <a:p>
            <a:r>
              <a:rPr lang="en-US" altLang="es-MX" sz="2000"/>
              <a:t>Feature creation</a:t>
            </a:r>
          </a:p>
          <a:p>
            <a:r>
              <a:rPr lang="en-US" altLang="es-MX" sz="2000"/>
              <a:t>Discretization and Binarization</a:t>
            </a:r>
          </a:p>
          <a:p>
            <a:r>
              <a:rPr lang="en-US" altLang="es-MX" sz="2000"/>
              <a:t>Attribute Transformation</a:t>
            </a:r>
          </a:p>
          <a:p>
            <a:endParaRPr lang="en-US" altLang="es-MX" sz="20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12389" name="Rectangle 7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2386" name="Rectangle 2">
            <a:extLst>
              <a:ext uri="{FF2B5EF4-FFF2-40B4-BE49-F238E27FC236}">
                <a16:creationId xmlns:a16="http://schemas.microsoft.com/office/drawing/2014/main" id="{3622430A-91EB-487D-83F2-1F186F454E19}"/>
              </a:ext>
            </a:extLst>
          </p:cNvPr>
          <p:cNvSpPr>
            <a:spLocks noGrp="1" noChangeArrowheads="1"/>
          </p:cNvSpPr>
          <p:nvPr>
            <p:ph type="title"/>
          </p:nvPr>
        </p:nvSpPr>
        <p:spPr>
          <a:xfrm>
            <a:off x="1136397" y="502021"/>
            <a:ext cx="9688296" cy="1642969"/>
          </a:xfrm>
        </p:spPr>
        <p:txBody>
          <a:bodyPr anchor="b">
            <a:normAutofit/>
          </a:bodyPr>
          <a:lstStyle/>
          <a:p>
            <a:r>
              <a:rPr lang="en-US" altLang="es-MX" sz="4000"/>
              <a:t>Aggregation</a:t>
            </a:r>
          </a:p>
        </p:txBody>
      </p:sp>
      <p:sp>
        <p:nvSpPr>
          <p:cNvPr id="912387" name="Rectangle 3">
            <a:extLst>
              <a:ext uri="{FF2B5EF4-FFF2-40B4-BE49-F238E27FC236}">
                <a16:creationId xmlns:a16="http://schemas.microsoft.com/office/drawing/2014/main" id="{AFA63418-DD90-4610-A036-A299528638D1}"/>
              </a:ext>
            </a:extLst>
          </p:cNvPr>
          <p:cNvSpPr>
            <a:spLocks noGrp="1" noChangeArrowheads="1"/>
          </p:cNvSpPr>
          <p:nvPr>
            <p:ph idx="1"/>
          </p:nvPr>
        </p:nvSpPr>
        <p:spPr>
          <a:xfrm>
            <a:off x="1136397" y="2418409"/>
            <a:ext cx="9688296" cy="3454358"/>
          </a:xfrm>
        </p:spPr>
        <p:txBody>
          <a:bodyPr anchor="t">
            <a:normAutofit/>
          </a:bodyPr>
          <a:lstStyle/>
          <a:p>
            <a:r>
              <a:rPr lang="en-US" altLang="es-MX" sz="2000"/>
              <a:t>Combining two or more attributes (or objects) into a single attribute (or object)</a:t>
            </a:r>
          </a:p>
          <a:p>
            <a:r>
              <a:rPr lang="en-US" altLang="es-MX" sz="2000"/>
              <a:t>Purpose</a:t>
            </a:r>
          </a:p>
          <a:p>
            <a:pPr lvl="1"/>
            <a:r>
              <a:rPr lang="en-US" altLang="es-MX" sz="2000"/>
              <a:t>Data reduction</a:t>
            </a:r>
          </a:p>
          <a:p>
            <a:pPr lvl="2"/>
            <a:r>
              <a:rPr lang="en-US" altLang="es-MX"/>
              <a:t> Reduce the number of attributes or objects</a:t>
            </a:r>
          </a:p>
          <a:p>
            <a:pPr lvl="1"/>
            <a:r>
              <a:rPr lang="en-US" altLang="es-MX" sz="2000"/>
              <a:t>Change of scale</a:t>
            </a:r>
          </a:p>
          <a:p>
            <a:pPr lvl="2"/>
            <a:r>
              <a:rPr lang="en-US" altLang="es-MX"/>
              <a:t> Cities aggregated into regions, states, countries, etc</a:t>
            </a:r>
          </a:p>
          <a:p>
            <a:pPr lvl="1"/>
            <a:r>
              <a:rPr lang="en-US" altLang="es-MX" sz="2000"/>
              <a:t>More “stable” data</a:t>
            </a:r>
          </a:p>
          <a:p>
            <a:pPr lvl="2"/>
            <a:r>
              <a:rPr lang="en-US" altLang="es-MX"/>
              <a:t> Aggregated data tends to have less variability </a:t>
            </a:r>
          </a:p>
        </p:txBody>
      </p:sp>
      <p:sp>
        <p:nvSpPr>
          <p:cNvPr id="912390" name="Rectangle 7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2391" name="Rectangle 7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3" name="Rectangle 19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4" name="Rectangle 19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5" name="Rectangle 19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6" name="Freeform: Shape 195">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7" name="Rectangle 196">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3410" name="Rectangle 2">
            <a:extLst>
              <a:ext uri="{FF2B5EF4-FFF2-40B4-BE49-F238E27FC236}">
                <a16:creationId xmlns:a16="http://schemas.microsoft.com/office/drawing/2014/main" id="{483E5046-32FA-4286-AFCC-F81053BD4D3A}"/>
              </a:ext>
            </a:extLst>
          </p:cNvPr>
          <p:cNvSpPr>
            <a:spLocks noGrp="1" noChangeArrowheads="1"/>
          </p:cNvSpPr>
          <p:nvPr>
            <p:ph type="title"/>
          </p:nvPr>
        </p:nvSpPr>
        <p:spPr>
          <a:xfrm>
            <a:off x="586478" y="1683756"/>
            <a:ext cx="3115265" cy="2396359"/>
          </a:xfrm>
        </p:spPr>
        <p:txBody>
          <a:bodyPr anchor="b">
            <a:normAutofit/>
          </a:bodyPr>
          <a:lstStyle/>
          <a:p>
            <a:pPr algn="r"/>
            <a:r>
              <a:rPr lang="en-US" altLang="es-MX" sz="4000">
                <a:solidFill>
                  <a:srgbClr val="FFFFFF"/>
                </a:solidFill>
              </a:rPr>
              <a:t>Aggregation</a:t>
            </a:r>
          </a:p>
        </p:txBody>
      </p:sp>
      <p:grpSp>
        <p:nvGrpSpPr>
          <p:cNvPr id="17" name="Grupo 16">
            <a:extLst>
              <a:ext uri="{FF2B5EF4-FFF2-40B4-BE49-F238E27FC236}">
                <a16:creationId xmlns:a16="http://schemas.microsoft.com/office/drawing/2014/main" id="{76A38296-1001-46B5-958E-807FE9469D80}"/>
              </a:ext>
            </a:extLst>
          </p:cNvPr>
          <p:cNvGrpSpPr/>
          <p:nvPr/>
        </p:nvGrpSpPr>
        <p:grpSpPr>
          <a:xfrm>
            <a:off x="4905052" y="1746198"/>
            <a:ext cx="6666832" cy="3462401"/>
            <a:chOff x="1676400" y="1508126"/>
            <a:chExt cx="8991600" cy="4669769"/>
          </a:xfrm>
        </p:grpSpPr>
        <p:sp>
          <p:nvSpPr>
            <p:cNvPr id="18" name="Text Box 3">
              <a:extLst>
                <a:ext uri="{FF2B5EF4-FFF2-40B4-BE49-F238E27FC236}">
                  <a16:creationId xmlns:a16="http://schemas.microsoft.com/office/drawing/2014/main" id="{E0668F32-60F8-409C-AEE0-99906249D6A8}"/>
                </a:ext>
              </a:extLst>
            </p:cNvPr>
            <p:cNvSpPr txBox="1">
              <a:spLocks noChangeArrowheads="1"/>
            </p:cNvSpPr>
            <p:nvPr/>
          </p:nvSpPr>
          <p:spPr bwMode="auto">
            <a:xfrm>
              <a:off x="3200400" y="3657600"/>
              <a:ext cx="160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endParaRPr kumimoji="0" lang="es-MX" altLang="es-MX" sz="14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Box 4">
              <a:extLst>
                <a:ext uri="{FF2B5EF4-FFF2-40B4-BE49-F238E27FC236}">
                  <a16:creationId xmlns:a16="http://schemas.microsoft.com/office/drawing/2014/main" id="{97EB706C-5005-450D-A04D-73CC40A2C482}"/>
                </a:ext>
              </a:extLst>
            </p:cNvPr>
            <p:cNvSpPr txBox="1">
              <a:spLocks noChangeArrowheads="1"/>
            </p:cNvSpPr>
            <p:nvPr/>
          </p:nvSpPr>
          <p:spPr bwMode="auto">
            <a:xfrm>
              <a:off x="2362200" y="5654675"/>
              <a:ext cx="2895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rmAutofit/>
            </a:bodyPr>
            <a:lstStyle/>
            <a:p>
              <a:pPr marL="0" marR="0" lvl="0" indent="0" algn="l" defTabSz="914400" rtl="0" eaLnBrk="0" fontAlgn="auto" latinLnBrk="0" hangingPunct="0">
                <a:lnSpc>
                  <a:spcPct val="90000"/>
                </a:lnSpc>
                <a:spcBef>
                  <a:spcPct val="50000"/>
                </a:spcBef>
                <a:spcAft>
                  <a:spcPts val="0"/>
                </a:spcAft>
                <a:buClrTx/>
                <a:buSzTx/>
                <a:buFontTx/>
                <a:buNone/>
                <a:tabLst/>
                <a:defRPr/>
              </a:pPr>
              <a:r>
                <a:rPr kumimoji="0" lang="en-US" altLang="es-MX" sz="900" b="1" i="0" u="none" strike="noStrike" kern="1200" cap="none" spc="0" normalizeH="0" baseline="0" noProof="0">
                  <a:ln>
                    <a:noFill/>
                  </a:ln>
                  <a:solidFill>
                    <a:prstClr val="black"/>
                  </a:solidFill>
                  <a:effectLst/>
                  <a:uLnTx/>
                  <a:uFillTx/>
                  <a:latin typeface="Calibri" panose="020F0502020204030204"/>
                  <a:ea typeface="+mn-ea"/>
                  <a:cs typeface="+mn-cs"/>
                </a:rPr>
                <a:t>Standard Deviation of Average Monthly Precipitation</a:t>
              </a:r>
            </a:p>
          </p:txBody>
        </p:sp>
        <p:sp>
          <p:nvSpPr>
            <p:cNvPr id="20" name="Text Box 6">
              <a:extLst>
                <a:ext uri="{FF2B5EF4-FFF2-40B4-BE49-F238E27FC236}">
                  <a16:creationId xmlns:a16="http://schemas.microsoft.com/office/drawing/2014/main" id="{55BA8B94-A9C7-44EE-8676-772F8D57762C}"/>
                </a:ext>
              </a:extLst>
            </p:cNvPr>
            <p:cNvSpPr txBox="1">
              <a:spLocks noChangeArrowheads="1"/>
            </p:cNvSpPr>
            <p:nvPr/>
          </p:nvSpPr>
          <p:spPr bwMode="auto">
            <a:xfrm>
              <a:off x="6934200" y="5654675"/>
              <a:ext cx="2895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rmAutofit/>
            </a:bodyPr>
            <a:lstStyle/>
            <a:p>
              <a:pPr marL="0" marR="0" lvl="0" indent="0" algn="l" defTabSz="914400" rtl="0" eaLnBrk="0" fontAlgn="auto" latinLnBrk="0" hangingPunct="0">
                <a:lnSpc>
                  <a:spcPct val="90000"/>
                </a:lnSpc>
                <a:spcBef>
                  <a:spcPct val="50000"/>
                </a:spcBef>
                <a:spcAft>
                  <a:spcPts val="0"/>
                </a:spcAft>
                <a:buClrTx/>
                <a:buSzTx/>
                <a:buFontTx/>
                <a:buNone/>
                <a:tabLst/>
                <a:defRPr/>
              </a:pPr>
              <a:r>
                <a:rPr kumimoji="0" lang="en-US" altLang="es-MX" sz="900" b="1" i="0" u="none" strike="noStrike" kern="1200" cap="none" spc="0" normalizeH="0" baseline="0" noProof="0">
                  <a:ln>
                    <a:noFill/>
                  </a:ln>
                  <a:solidFill>
                    <a:prstClr val="black"/>
                  </a:solidFill>
                  <a:effectLst/>
                  <a:uLnTx/>
                  <a:uFillTx/>
                  <a:latin typeface="Calibri" panose="020F0502020204030204"/>
                  <a:ea typeface="+mn-ea"/>
                  <a:cs typeface="+mn-cs"/>
                </a:rPr>
                <a:t>Standard Deviation of Average Yearly Precipitation</a:t>
              </a:r>
            </a:p>
          </p:txBody>
        </p:sp>
        <p:pic>
          <p:nvPicPr>
            <p:cNvPr id="21" name="Picture 7">
              <a:extLst>
                <a:ext uri="{FF2B5EF4-FFF2-40B4-BE49-F238E27FC236}">
                  <a16:creationId xmlns:a16="http://schemas.microsoft.com/office/drawing/2014/main" id="{AD77A87C-AE5B-44C2-92EC-BAB5566BA5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75" r="18164"/>
            <a:stretch>
              <a:fillRect/>
            </a:stretch>
          </p:blipFill>
          <p:spPr bwMode="auto">
            <a:xfrm>
              <a:off x="1676400" y="1768476"/>
              <a:ext cx="4038600" cy="384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8">
              <a:extLst>
                <a:ext uri="{FF2B5EF4-FFF2-40B4-BE49-F238E27FC236}">
                  <a16:creationId xmlns:a16="http://schemas.microsoft.com/office/drawing/2014/main" id="{44454026-C466-4118-ABAC-E30DE8F9F8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861" r="5850"/>
            <a:stretch>
              <a:fillRect/>
            </a:stretch>
          </p:blipFill>
          <p:spPr bwMode="auto">
            <a:xfrm>
              <a:off x="6172200" y="1768476"/>
              <a:ext cx="4495800" cy="384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 Box 9">
              <a:extLst>
                <a:ext uri="{FF2B5EF4-FFF2-40B4-BE49-F238E27FC236}">
                  <a16:creationId xmlns:a16="http://schemas.microsoft.com/office/drawing/2014/main" id="{DA078EF4-3C41-4C90-BD32-10958C730A96}"/>
                </a:ext>
              </a:extLst>
            </p:cNvPr>
            <p:cNvSpPr txBox="1">
              <a:spLocks noChangeArrowheads="1"/>
            </p:cNvSpPr>
            <p:nvPr/>
          </p:nvSpPr>
          <p:spPr bwMode="auto">
            <a:xfrm>
              <a:off x="2057400" y="1508126"/>
              <a:ext cx="480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ormAutofit/>
            </a:bodyPr>
            <a:lstStyle/>
            <a:p>
              <a:pPr marL="0" marR="0" lvl="0" indent="0" algn="l" defTabSz="914400" rtl="0" eaLnBrk="0" fontAlgn="auto" latinLnBrk="0" hangingPunct="0">
                <a:lnSpc>
                  <a:spcPct val="90000"/>
                </a:lnSpc>
                <a:spcBef>
                  <a:spcPct val="50000"/>
                </a:spcBef>
                <a:spcAft>
                  <a:spcPts val="0"/>
                </a:spcAft>
                <a:buClrTx/>
                <a:buSzTx/>
                <a:buFontTx/>
                <a:buNone/>
                <a:tabLst/>
                <a:defRPr/>
              </a:pPr>
              <a:r>
                <a:rPr kumimoji="0" lang="en-US" altLang="es-MX" sz="1300" b="1" i="0" u="none" strike="noStrike" kern="1200" cap="none" spc="0" normalizeH="0" baseline="0" noProof="0">
                  <a:ln>
                    <a:noFill/>
                  </a:ln>
                  <a:solidFill>
                    <a:prstClr val="black"/>
                  </a:solidFill>
                  <a:effectLst/>
                  <a:uLnTx/>
                  <a:uFillTx/>
                  <a:latin typeface="Calibri" panose="020F0502020204030204"/>
                  <a:ea typeface="+mn-ea"/>
                  <a:cs typeface="+mn-cs"/>
                </a:rPr>
                <a:t>Variation of Precipitation in Australia</a:t>
              </a:r>
            </a:p>
          </p:txBody>
        </p:sp>
      </p:gr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8706" name="Rectangle 2">
            <a:extLst>
              <a:ext uri="{FF2B5EF4-FFF2-40B4-BE49-F238E27FC236}">
                <a16:creationId xmlns:a16="http://schemas.microsoft.com/office/drawing/2014/main" id="{851401BA-D640-4E63-83BA-B9D7B7E472EF}"/>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Data Reduction Strategies</a:t>
            </a:r>
          </a:p>
        </p:txBody>
      </p:sp>
      <p:sp>
        <p:nvSpPr>
          <p:cNvPr id="968707" name="Rectangle 3">
            <a:extLst>
              <a:ext uri="{FF2B5EF4-FFF2-40B4-BE49-F238E27FC236}">
                <a16:creationId xmlns:a16="http://schemas.microsoft.com/office/drawing/2014/main" id="{18388F7A-BCB2-45FD-B65E-3C48A9142A97}"/>
              </a:ext>
            </a:extLst>
          </p:cNvPr>
          <p:cNvSpPr>
            <a:spLocks noGrp="1" noChangeArrowheads="1"/>
          </p:cNvSpPr>
          <p:nvPr>
            <p:ph idx="1"/>
          </p:nvPr>
        </p:nvSpPr>
        <p:spPr>
          <a:xfrm>
            <a:off x="1371599" y="2318197"/>
            <a:ext cx="9724031" cy="3683358"/>
          </a:xfrm>
        </p:spPr>
        <p:txBody>
          <a:bodyPr anchor="ctr">
            <a:normAutofit/>
          </a:bodyPr>
          <a:lstStyle/>
          <a:p>
            <a:r>
              <a:rPr lang="en-US" altLang="es-MX" sz="1900"/>
              <a:t>A data warehouse may store terabytes of data</a:t>
            </a:r>
          </a:p>
          <a:p>
            <a:pPr lvl="1"/>
            <a:r>
              <a:rPr lang="en-US" altLang="es-MX" sz="1900"/>
              <a:t>Complex data analysis/mining may take a very long time to run on the complete data set</a:t>
            </a:r>
          </a:p>
          <a:p>
            <a:r>
              <a:rPr lang="en-US" altLang="es-MX" sz="1900"/>
              <a:t>Data reduction </a:t>
            </a:r>
          </a:p>
          <a:p>
            <a:pPr lvl="1"/>
            <a:r>
              <a:rPr lang="en-US" altLang="es-MX" sz="1900"/>
              <a:t>Obtain a reduced representation of the data set that is much smaller in volume but yet produce the same (or almost the same) analytical results</a:t>
            </a:r>
          </a:p>
          <a:p>
            <a:r>
              <a:rPr lang="en-US" altLang="es-MX" sz="1900"/>
              <a:t>Data reduction strategies</a:t>
            </a:r>
          </a:p>
          <a:p>
            <a:pPr lvl="1"/>
            <a:r>
              <a:rPr lang="en-US" altLang="es-MX" sz="1900"/>
              <a:t>Data cube aggregation</a:t>
            </a:r>
          </a:p>
          <a:p>
            <a:pPr lvl="1"/>
            <a:r>
              <a:rPr lang="en-US" altLang="es-MX" sz="1900"/>
              <a:t>Dimensionality reduction — remove unimportant attributes</a:t>
            </a:r>
          </a:p>
          <a:p>
            <a:pPr lvl="1"/>
            <a:r>
              <a:rPr lang="en-US" altLang="es-MX" sz="1900"/>
              <a:t>Data Compression</a:t>
            </a:r>
          </a:p>
          <a:p>
            <a:pPr lvl="1"/>
            <a:r>
              <a:rPr lang="en-US" altLang="es-MX" sz="1900"/>
              <a:t>Numerosity reduction — fit data into models</a:t>
            </a:r>
          </a:p>
          <a:p>
            <a:pPr lvl="1"/>
            <a:r>
              <a:rPr lang="en-US" altLang="es-MX" sz="1900"/>
              <a:t>Discretization and concept hierarchy generation</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69730" name="Rectangle 2">
            <a:extLst>
              <a:ext uri="{FF2B5EF4-FFF2-40B4-BE49-F238E27FC236}">
                <a16:creationId xmlns:a16="http://schemas.microsoft.com/office/drawing/2014/main" id="{92AB52C4-8C28-48F2-8D65-B2FFBD06D1F0}"/>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Data Cube Aggregation</a:t>
            </a:r>
          </a:p>
        </p:txBody>
      </p:sp>
      <p:sp>
        <p:nvSpPr>
          <p:cNvPr id="969731" name="Rectangle 3">
            <a:extLst>
              <a:ext uri="{FF2B5EF4-FFF2-40B4-BE49-F238E27FC236}">
                <a16:creationId xmlns:a16="http://schemas.microsoft.com/office/drawing/2014/main" id="{33985A6D-2B37-441F-B959-CB0147B13370}"/>
              </a:ext>
            </a:extLst>
          </p:cNvPr>
          <p:cNvSpPr>
            <a:spLocks noGrp="1" noChangeArrowheads="1"/>
          </p:cNvSpPr>
          <p:nvPr>
            <p:ph idx="1"/>
          </p:nvPr>
        </p:nvSpPr>
        <p:spPr>
          <a:xfrm>
            <a:off x="1371599" y="2318197"/>
            <a:ext cx="9724031" cy="3683358"/>
          </a:xfrm>
        </p:spPr>
        <p:txBody>
          <a:bodyPr anchor="ctr">
            <a:normAutofit/>
          </a:bodyPr>
          <a:lstStyle/>
          <a:p>
            <a:r>
              <a:rPr lang="en-US" altLang="es-MX" sz="2000"/>
              <a:t>The lowest level of a data cube</a:t>
            </a:r>
          </a:p>
          <a:p>
            <a:pPr lvl="1"/>
            <a:r>
              <a:rPr lang="en-US" altLang="es-MX" sz="2000"/>
              <a:t>The aggregated data for an individual entity of interest</a:t>
            </a:r>
          </a:p>
          <a:p>
            <a:pPr lvl="1"/>
            <a:r>
              <a:rPr lang="en-US" altLang="es-MX" sz="2000"/>
              <a:t>E.g., a customer in a phone calling data warehouse.</a:t>
            </a:r>
          </a:p>
          <a:p>
            <a:r>
              <a:rPr lang="en-US" altLang="es-MX" sz="2000"/>
              <a:t>Multiple levels of aggregation in data cubes</a:t>
            </a:r>
          </a:p>
          <a:p>
            <a:pPr lvl="1"/>
            <a:r>
              <a:rPr lang="en-US" altLang="es-MX" sz="2000"/>
              <a:t>Further reduce the size of data to deal with</a:t>
            </a:r>
          </a:p>
          <a:p>
            <a:r>
              <a:rPr lang="en-US" altLang="es-MX" sz="2000"/>
              <a:t>Reference appropriate levels</a:t>
            </a:r>
          </a:p>
          <a:p>
            <a:pPr lvl="1"/>
            <a:r>
              <a:rPr lang="en-US" altLang="es-MX" sz="2000"/>
              <a:t>Use the smallest representation which is enough to solve the task</a:t>
            </a:r>
          </a:p>
          <a:p>
            <a:r>
              <a:rPr lang="en-US" altLang="es-MX" sz="2000"/>
              <a:t>Queries regarding aggregated information should be answered using data cube, when possible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0754" name="Rectangle 2">
            <a:extLst>
              <a:ext uri="{FF2B5EF4-FFF2-40B4-BE49-F238E27FC236}">
                <a16:creationId xmlns:a16="http://schemas.microsoft.com/office/drawing/2014/main" id="{AF9437D3-AC08-4390-A1A9-DEFC3417C222}"/>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Dimensionality Reduction</a:t>
            </a:r>
          </a:p>
        </p:txBody>
      </p:sp>
      <p:sp>
        <p:nvSpPr>
          <p:cNvPr id="970755" name="Rectangle 3">
            <a:extLst>
              <a:ext uri="{FF2B5EF4-FFF2-40B4-BE49-F238E27FC236}">
                <a16:creationId xmlns:a16="http://schemas.microsoft.com/office/drawing/2014/main" id="{C7D1099F-64ED-4EE0-8DAB-3561CFC21E4B}"/>
              </a:ext>
            </a:extLst>
          </p:cNvPr>
          <p:cNvSpPr>
            <a:spLocks noGrp="1" noChangeArrowheads="1"/>
          </p:cNvSpPr>
          <p:nvPr>
            <p:ph idx="1"/>
          </p:nvPr>
        </p:nvSpPr>
        <p:spPr>
          <a:xfrm>
            <a:off x="1371599" y="2318197"/>
            <a:ext cx="9724031" cy="3683358"/>
          </a:xfrm>
        </p:spPr>
        <p:txBody>
          <a:bodyPr anchor="ctr">
            <a:normAutofit/>
          </a:bodyPr>
          <a:lstStyle/>
          <a:p>
            <a:r>
              <a:rPr lang="en-US" altLang="es-MX" sz="2000"/>
              <a:t>Feature selection (i.e., attribute subset selection):</a:t>
            </a:r>
          </a:p>
          <a:p>
            <a:pPr lvl="1"/>
            <a:r>
              <a:rPr lang="en-US" altLang="es-MX" sz="2000"/>
              <a:t>Select a minimum set of features </a:t>
            </a:r>
            <a:r>
              <a:rPr lang="en-US" altLang="es-MX" sz="2000">
                <a:sym typeface="Symbol" panose="05050102010706020507" pitchFamily="18" charset="2"/>
              </a:rPr>
              <a:t>such that the probability distribution of different classes given the values for those features is as close as possible to the original distribution given the values of all features</a:t>
            </a:r>
          </a:p>
          <a:p>
            <a:pPr lvl="1"/>
            <a:r>
              <a:rPr lang="en-US" altLang="es-MX" sz="2000">
                <a:sym typeface="Symbol" panose="05050102010706020507" pitchFamily="18" charset="2"/>
              </a:rPr>
              <a:t>reduce # of patterns in the patterns, easier to understand</a:t>
            </a:r>
          </a:p>
          <a:p>
            <a:r>
              <a:rPr lang="en-US" altLang="es-MX" sz="2000">
                <a:sym typeface="Symbol" panose="05050102010706020507" pitchFamily="18" charset="2"/>
              </a:rPr>
              <a:t>Heuristic methods (due to exponential # of choices):</a:t>
            </a:r>
          </a:p>
          <a:p>
            <a:pPr lvl="1"/>
            <a:r>
              <a:rPr lang="en-US" altLang="es-MX" sz="2000">
                <a:sym typeface="Symbol" panose="05050102010706020507" pitchFamily="18" charset="2"/>
              </a:rPr>
              <a:t>step-wise forward selection</a:t>
            </a:r>
          </a:p>
          <a:p>
            <a:pPr lvl="1"/>
            <a:r>
              <a:rPr lang="en-US" altLang="es-MX" sz="2000">
                <a:sym typeface="Symbol" panose="05050102010706020507" pitchFamily="18" charset="2"/>
              </a:rPr>
              <a:t>step-wise backward elimination</a:t>
            </a:r>
          </a:p>
          <a:p>
            <a:pPr lvl="1"/>
            <a:r>
              <a:rPr lang="en-US" altLang="es-MX" sz="2000">
                <a:sym typeface="Symbol" panose="05050102010706020507" pitchFamily="18" charset="2"/>
              </a:rPr>
              <a:t>combining forward selection and backward elimination</a:t>
            </a:r>
          </a:p>
          <a:p>
            <a:pPr lvl="1"/>
            <a:r>
              <a:rPr lang="en-US" altLang="es-MX" sz="2000">
                <a:sym typeface="Symbol" panose="05050102010706020507" pitchFamily="18" charset="2"/>
              </a:rPr>
              <a:t>decision-tree induction</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3826" name="Rectangle 2">
            <a:extLst>
              <a:ext uri="{FF2B5EF4-FFF2-40B4-BE49-F238E27FC236}">
                <a16:creationId xmlns:a16="http://schemas.microsoft.com/office/drawing/2014/main" id="{E33FDBD9-8AB0-45DE-86D4-17E9C45E9E3A}"/>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Data Compression</a:t>
            </a:r>
          </a:p>
        </p:txBody>
      </p:sp>
      <p:sp>
        <p:nvSpPr>
          <p:cNvPr id="973827" name="Rectangle 3">
            <a:extLst>
              <a:ext uri="{FF2B5EF4-FFF2-40B4-BE49-F238E27FC236}">
                <a16:creationId xmlns:a16="http://schemas.microsoft.com/office/drawing/2014/main" id="{EE531181-9E9D-4F08-9EA0-5B10DD5598D2}"/>
              </a:ext>
            </a:extLst>
          </p:cNvPr>
          <p:cNvSpPr>
            <a:spLocks noGrp="1" noChangeArrowheads="1"/>
          </p:cNvSpPr>
          <p:nvPr>
            <p:ph idx="1"/>
          </p:nvPr>
        </p:nvSpPr>
        <p:spPr>
          <a:xfrm>
            <a:off x="1371599" y="2318197"/>
            <a:ext cx="9724031" cy="3683358"/>
          </a:xfrm>
        </p:spPr>
        <p:txBody>
          <a:bodyPr anchor="ctr">
            <a:normAutofit/>
          </a:bodyPr>
          <a:lstStyle/>
          <a:p>
            <a:r>
              <a:rPr lang="en-US" altLang="es-MX" sz="2000" dirty="0"/>
              <a:t>String compression</a:t>
            </a:r>
          </a:p>
          <a:p>
            <a:pPr lvl="1"/>
            <a:r>
              <a:rPr lang="en-US" altLang="es-MX" sz="2000" dirty="0"/>
              <a:t>There are extensive theories and well-tuned algorithms</a:t>
            </a:r>
          </a:p>
          <a:p>
            <a:pPr lvl="1"/>
            <a:r>
              <a:rPr lang="en-US" altLang="es-MX" sz="2000" dirty="0"/>
              <a:t>Typically, lossless</a:t>
            </a:r>
          </a:p>
          <a:p>
            <a:pPr lvl="1"/>
            <a:r>
              <a:rPr lang="en-US" altLang="es-MX" sz="2000" dirty="0"/>
              <a:t>But only limited manipulation is possible without expansion</a:t>
            </a:r>
            <a:endParaRPr lang="en-US" altLang="es-MX" sz="2000" dirty="0">
              <a:sym typeface="Symbol" panose="05050102010706020507" pitchFamily="18" charset="2"/>
            </a:endParaRPr>
          </a:p>
          <a:p>
            <a:r>
              <a:rPr lang="en-US" altLang="es-MX" sz="2000" dirty="0">
                <a:sym typeface="Symbol" panose="05050102010706020507" pitchFamily="18" charset="2"/>
              </a:rPr>
              <a:t>Audio/video compression</a:t>
            </a:r>
          </a:p>
          <a:p>
            <a:pPr lvl="1"/>
            <a:r>
              <a:rPr lang="en-US" altLang="es-MX" sz="2000" dirty="0">
                <a:sym typeface="Symbol" panose="05050102010706020507" pitchFamily="18" charset="2"/>
              </a:rPr>
              <a:t>Typically, lossy compression, with progressive refinement</a:t>
            </a:r>
          </a:p>
          <a:p>
            <a:pPr lvl="1"/>
            <a:r>
              <a:rPr lang="en-US" altLang="es-MX" sz="2000" dirty="0">
                <a:sym typeface="Symbol" panose="05050102010706020507" pitchFamily="18" charset="2"/>
              </a:rPr>
              <a:t>Sometimes small fragments of signal can be reconstructed without reconstructing the whole</a:t>
            </a:r>
          </a:p>
          <a:p>
            <a:r>
              <a:rPr lang="en-US" altLang="es-MX" sz="2000" dirty="0">
                <a:sym typeface="Symbol" panose="05050102010706020507" pitchFamily="18" charset="2"/>
              </a:rPr>
              <a:t>Time sequence is not audio</a:t>
            </a:r>
          </a:p>
          <a:p>
            <a:pPr lvl="1"/>
            <a:r>
              <a:rPr lang="en-US" altLang="es-MX" sz="2000" dirty="0">
                <a:sym typeface="Symbol" panose="05050102010706020507" pitchFamily="18" charset="2"/>
              </a:rPr>
              <a:t>Typically, short and vary slowly with time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3" name="Rectangle 7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4850" name="Rectangle 2">
            <a:extLst>
              <a:ext uri="{FF2B5EF4-FFF2-40B4-BE49-F238E27FC236}">
                <a16:creationId xmlns:a16="http://schemas.microsoft.com/office/drawing/2014/main" id="{CD5D2744-3C0B-4853-B4C9-37A5B60BFD3F}"/>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Data Compression</a:t>
            </a:r>
          </a:p>
        </p:txBody>
      </p:sp>
      <p:grpSp>
        <p:nvGrpSpPr>
          <p:cNvPr id="22" name="Grupo 21">
            <a:extLst>
              <a:ext uri="{FF2B5EF4-FFF2-40B4-BE49-F238E27FC236}">
                <a16:creationId xmlns:a16="http://schemas.microsoft.com/office/drawing/2014/main" id="{D25C7FA4-73B2-4668-8614-F8084C55D14B}"/>
              </a:ext>
            </a:extLst>
          </p:cNvPr>
          <p:cNvGrpSpPr/>
          <p:nvPr/>
        </p:nvGrpSpPr>
        <p:grpSpPr>
          <a:xfrm>
            <a:off x="2657475" y="2143123"/>
            <a:ext cx="6877049" cy="4351339"/>
            <a:chOff x="2362201" y="1625601"/>
            <a:chExt cx="7519988" cy="4926012"/>
          </a:xfrm>
        </p:grpSpPr>
        <p:sp>
          <p:nvSpPr>
            <p:cNvPr id="23" name="AutoShape 3">
              <a:extLst>
                <a:ext uri="{FF2B5EF4-FFF2-40B4-BE49-F238E27FC236}">
                  <a16:creationId xmlns:a16="http://schemas.microsoft.com/office/drawing/2014/main" id="{2EAB7698-ABBA-41BB-9DC4-1A9D76F57410}"/>
                </a:ext>
              </a:extLst>
            </p:cNvPr>
            <p:cNvSpPr>
              <a:spLocks noChangeArrowheads="1"/>
            </p:cNvSpPr>
            <p:nvPr/>
          </p:nvSpPr>
          <p:spPr bwMode="auto">
            <a:xfrm>
              <a:off x="2362201" y="1625601"/>
              <a:ext cx="3446463" cy="2595563"/>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Original Data</a:t>
              </a:r>
            </a:p>
          </p:txBody>
        </p:sp>
        <p:sp>
          <p:nvSpPr>
            <p:cNvPr id="24" name="AutoShape 4">
              <a:extLst>
                <a:ext uri="{FF2B5EF4-FFF2-40B4-BE49-F238E27FC236}">
                  <a16:creationId xmlns:a16="http://schemas.microsoft.com/office/drawing/2014/main" id="{C5E90BCC-673A-4C5C-9D7F-6266829AFFD3}"/>
                </a:ext>
              </a:extLst>
            </p:cNvPr>
            <p:cNvSpPr>
              <a:spLocks noChangeArrowheads="1"/>
            </p:cNvSpPr>
            <p:nvPr/>
          </p:nvSpPr>
          <p:spPr bwMode="auto">
            <a:xfrm>
              <a:off x="7699376" y="2249489"/>
              <a:ext cx="2182813" cy="1608137"/>
            </a:xfrm>
            <a:prstGeom prst="cube">
              <a:avLst>
                <a:gd name="adj" fmla="val 25000"/>
              </a:avLst>
            </a:prstGeom>
            <a:solidFill>
              <a:srgbClr val="F6E6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Compressed </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Data</a:t>
              </a:r>
            </a:p>
          </p:txBody>
        </p:sp>
        <p:sp>
          <p:nvSpPr>
            <p:cNvPr id="25" name="Line 5">
              <a:extLst>
                <a:ext uri="{FF2B5EF4-FFF2-40B4-BE49-F238E27FC236}">
                  <a16:creationId xmlns:a16="http://schemas.microsoft.com/office/drawing/2014/main" id="{563C791E-5BCD-488E-A963-9727FB10B1C1}"/>
                </a:ext>
              </a:extLst>
            </p:cNvPr>
            <p:cNvSpPr>
              <a:spLocks noChangeShapeType="1"/>
            </p:cNvSpPr>
            <p:nvPr/>
          </p:nvSpPr>
          <p:spPr bwMode="auto">
            <a:xfrm>
              <a:off x="5843589" y="3005138"/>
              <a:ext cx="18383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Line 6">
              <a:extLst>
                <a:ext uri="{FF2B5EF4-FFF2-40B4-BE49-F238E27FC236}">
                  <a16:creationId xmlns:a16="http://schemas.microsoft.com/office/drawing/2014/main" id="{E989194C-40B8-47B0-812C-D5225A9E20DA}"/>
                </a:ext>
              </a:extLst>
            </p:cNvPr>
            <p:cNvSpPr>
              <a:spLocks noChangeShapeType="1"/>
            </p:cNvSpPr>
            <p:nvPr/>
          </p:nvSpPr>
          <p:spPr bwMode="auto">
            <a:xfrm flipH="1">
              <a:off x="5843589" y="3579813"/>
              <a:ext cx="18383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Box 7">
              <a:extLst>
                <a:ext uri="{FF2B5EF4-FFF2-40B4-BE49-F238E27FC236}">
                  <a16:creationId xmlns:a16="http://schemas.microsoft.com/office/drawing/2014/main" id="{F54D8837-3EC4-43A7-905A-6E6FCA0655DF}"/>
                </a:ext>
              </a:extLst>
            </p:cNvPr>
            <p:cNvSpPr txBox="1">
              <a:spLocks noChangeArrowheads="1"/>
            </p:cNvSpPr>
            <p:nvPr/>
          </p:nvSpPr>
          <p:spPr bwMode="auto">
            <a:xfrm>
              <a:off x="6161088" y="3665538"/>
              <a:ext cx="1116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lossless</a:t>
              </a:r>
            </a:p>
          </p:txBody>
        </p:sp>
        <p:sp>
          <p:nvSpPr>
            <p:cNvPr id="28" name="AutoShape 8">
              <a:extLst>
                <a:ext uri="{FF2B5EF4-FFF2-40B4-BE49-F238E27FC236}">
                  <a16:creationId xmlns:a16="http://schemas.microsoft.com/office/drawing/2014/main" id="{0C8132EB-FB81-4BC8-BABF-0B91031A287C}"/>
                </a:ext>
              </a:extLst>
            </p:cNvPr>
            <p:cNvSpPr>
              <a:spLocks noChangeArrowheads="1"/>
            </p:cNvSpPr>
            <p:nvPr/>
          </p:nvSpPr>
          <p:spPr bwMode="auto">
            <a:xfrm>
              <a:off x="2474914" y="4367213"/>
              <a:ext cx="3286125" cy="2184400"/>
            </a:xfrm>
            <a:prstGeom prst="can">
              <a:avLst>
                <a:gd name="adj" fmla="val 25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Original Data</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Approximated </a:t>
              </a:r>
            </a:p>
          </p:txBody>
        </p:sp>
        <p:sp>
          <p:nvSpPr>
            <p:cNvPr id="29" name="Line 9">
              <a:extLst>
                <a:ext uri="{FF2B5EF4-FFF2-40B4-BE49-F238E27FC236}">
                  <a16:creationId xmlns:a16="http://schemas.microsoft.com/office/drawing/2014/main" id="{61000206-C8CB-4A17-A8DD-376F9649DCB3}"/>
                </a:ext>
              </a:extLst>
            </p:cNvPr>
            <p:cNvSpPr>
              <a:spLocks noChangeShapeType="1"/>
            </p:cNvSpPr>
            <p:nvPr/>
          </p:nvSpPr>
          <p:spPr bwMode="auto">
            <a:xfrm flipH="1">
              <a:off x="5776913" y="3875089"/>
              <a:ext cx="2743200" cy="18065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10">
              <a:extLst>
                <a:ext uri="{FF2B5EF4-FFF2-40B4-BE49-F238E27FC236}">
                  <a16:creationId xmlns:a16="http://schemas.microsoft.com/office/drawing/2014/main" id="{AF752B7A-D047-4988-86E4-0A8101793BD1}"/>
                </a:ext>
              </a:extLst>
            </p:cNvPr>
            <p:cNvSpPr txBox="1">
              <a:spLocks noChangeArrowheads="1"/>
            </p:cNvSpPr>
            <p:nvPr/>
          </p:nvSpPr>
          <p:spPr bwMode="auto">
            <a:xfrm rot="-1797028">
              <a:off x="6751638" y="4783138"/>
              <a:ext cx="811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lossy</a:t>
              </a:r>
            </a:p>
          </p:txBody>
        </p:sp>
      </p:gr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2258" name="Rectangle 2">
            <a:extLst>
              <a:ext uri="{FF2B5EF4-FFF2-40B4-BE49-F238E27FC236}">
                <a16:creationId xmlns:a16="http://schemas.microsoft.com/office/drawing/2014/main" id="{8C1938E0-E9B9-4B77-9A1A-888FF03CEA95}"/>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Curse of Dimensionality</a:t>
            </a:r>
          </a:p>
        </p:txBody>
      </p:sp>
      <p:sp>
        <p:nvSpPr>
          <p:cNvPr id="992259" name="Rectangle 3">
            <a:extLst>
              <a:ext uri="{FF2B5EF4-FFF2-40B4-BE49-F238E27FC236}">
                <a16:creationId xmlns:a16="http://schemas.microsoft.com/office/drawing/2014/main" id="{3ADF8EC8-0413-4A08-B857-BDFC61F4926B}"/>
              </a:ext>
            </a:extLst>
          </p:cNvPr>
          <p:cNvSpPr>
            <a:spLocks noGrp="1" noChangeArrowheads="1"/>
          </p:cNvSpPr>
          <p:nvPr>
            <p:ph idx="1"/>
          </p:nvPr>
        </p:nvSpPr>
        <p:spPr>
          <a:xfrm>
            <a:off x="1371600" y="2318197"/>
            <a:ext cx="5448300" cy="3683358"/>
          </a:xfrm>
        </p:spPr>
        <p:txBody>
          <a:bodyPr anchor="ctr">
            <a:normAutofit/>
          </a:bodyPr>
          <a:lstStyle/>
          <a:p>
            <a:r>
              <a:rPr lang="en-US" altLang="es-MX" sz="2000" dirty="0"/>
              <a:t>When dimensionality increases, data becomes increasingly sparse in the space that it occupies</a:t>
            </a:r>
          </a:p>
          <a:p>
            <a:r>
              <a:rPr lang="en-US" altLang="es-MX" sz="2000" dirty="0"/>
              <a:t>Definitions of density and distance between points, which is critical for clustering and outlier detection, become less meaningful</a:t>
            </a:r>
          </a:p>
        </p:txBody>
      </p:sp>
      <p:sp>
        <p:nvSpPr>
          <p:cNvPr id="992260" name="Text Box 4">
            <a:extLst>
              <a:ext uri="{FF2B5EF4-FFF2-40B4-BE49-F238E27FC236}">
                <a16:creationId xmlns:a16="http://schemas.microsoft.com/office/drawing/2014/main" id="{6152F4B5-AC20-4F89-8D26-285012E80AFF}"/>
              </a:ext>
            </a:extLst>
          </p:cNvPr>
          <p:cNvSpPr txBox="1">
            <a:spLocks noChangeArrowheads="1"/>
          </p:cNvSpPr>
          <p:nvPr/>
        </p:nvSpPr>
        <p:spPr bwMode="auto">
          <a:xfrm>
            <a:off x="3200400" y="3657600"/>
            <a:ext cx="160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endParaRPr kumimoji="0" lang="es-MX" altLang="es-MX" sz="14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92261" name="Rectangle 5">
            <a:extLst>
              <a:ext uri="{FF2B5EF4-FFF2-40B4-BE49-F238E27FC236}">
                <a16:creationId xmlns:a16="http://schemas.microsoft.com/office/drawing/2014/main" id="{D52B6EF5-7DD8-495C-A409-E2136886081C}"/>
              </a:ext>
            </a:extLst>
          </p:cNvPr>
          <p:cNvSpPr>
            <a:spLocks noChangeArrowheads="1"/>
          </p:cNvSpPr>
          <p:nvPr/>
        </p:nvSpPr>
        <p:spPr bwMode="auto">
          <a:xfrm>
            <a:off x="3241675" y="5984875"/>
            <a:ext cx="1841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endParaRPr kumimoji="0" lang="es-MX" altLang="es-MX" sz="1400" b="1"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9" name="Picture 6">
            <a:extLst>
              <a:ext uri="{FF2B5EF4-FFF2-40B4-BE49-F238E27FC236}">
                <a16:creationId xmlns:a16="http://schemas.microsoft.com/office/drawing/2014/main" id="{B1A15483-1776-46A5-8771-95F5BAB4B6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7680591" y="2318197"/>
            <a:ext cx="4266667" cy="3200677"/>
          </a:xfrm>
          <a:prstGeom prst="rect">
            <a:avLst/>
          </a:prstGeom>
          <a:noFill/>
          <a:ln/>
          <a:extLst>
            <a:ext uri="{91240B29-F687-4F45-9708-019B960494DF}">
              <a14:hiddenLine xmlns:a14="http://schemas.microsoft.com/office/drawing/2010/main" w="12700">
                <a:solidFill>
                  <a:schemeClr val="tx1"/>
                </a:solidFill>
                <a:miter lim="800000"/>
                <a:headEnd/>
                <a:tailEnd/>
              </a14:hiddenLine>
            </a:ext>
          </a:extLst>
        </p:spPr>
      </p:pic>
      <p:sp>
        <p:nvSpPr>
          <p:cNvPr id="20" name="Text Box 7">
            <a:extLst>
              <a:ext uri="{FF2B5EF4-FFF2-40B4-BE49-F238E27FC236}">
                <a16:creationId xmlns:a16="http://schemas.microsoft.com/office/drawing/2014/main" id="{D6D619DC-6A6A-4B00-95C1-1A39B350A943}"/>
              </a:ext>
            </a:extLst>
          </p:cNvPr>
          <p:cNvSpPr txBox="1">
            <a:spLocks noChangeArrowheads="1"/>
          </p:cNvSpPr>
          <p:nvPr/>
        </p:nvSpPr>
        <p:spPr bwMode="auto">
          <a:xfrm>
            <a:off x="8001816" y="5617036"/>
            <a:ext cx="4038600" cy="846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4300" indent="-114300">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marL="114300" marR="0" lvl="0" indent="-114300" algn="l" defTabSz="914400" rtl="0" eaLnBrk="0" fontAlgn="auto" latinLnBrk="0" hangingPunct="0">
              <a:lnSpc>
                <a:spcPct val="100000"/>
              </a:lnSpc>
              <a:spcBef>
                <a:spcPct val="50000"/>
              </a:spcBef>
              <a:spcAft>
                <a:spcPts val="0"/>
              </a:spcAft>
              <a:buClrTx/>
              <a:buSzTx/>
              <a:buFontTx/>
              <a:buChar char="•"/>
              <a:tabLst/>
              <a:defRPr/>
            </a:pPr>
            <a:r>
              <a:rPr kumimoji="0" lang="en-US" altLang="es-MX" sz="14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Randomly generate 500 points</a:t>
            </a:r>
          </a:p>
          <a:p>
            <a:pPr marL="114300" marR="0" lvl="0" indent="-114300" algn="l" defTabSz="914400" rtl="0" eaLnBrk="0" fontAlgn="auto" latinLnBrk="0" hangingPunct="0">
              <a:lnSpc>
                <a:spcPct val="100000"/>
              </a:lnSpc>
              <a:spcBef>
                <a:spcPct val="50000"/>
              </a:spcBef>
              <a:spcAft>
                <a:spcPts val="0"/>
              </a:spcAft>
              <a:buClrTx/>
              <a:buSzTx/>
              <a:buFontTx/>
              <a:buChar char="•"/>
              <a:tabLst/>
              <a:defRPr/>
            </a:pPr>
            <a:r>
              <a:rPr kumimoji="0" lang="en-US" altLang="es-MX" sz="1400" b="1"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Compute difference between max and min distance between any pair of points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94306" name="Rectangle 2">
            <a:extLst>
              <a:ext uri="{FF2B5EF4-FFF2-40B4-BE49-F238E27FC236}">
                <a16:creationId xmlns:a16="http://schemas.microsoft.com/office/drawing/2014/main" id="{EBBA9FA3-EC1E-4368-84B3-1D43F5661F61}"/>
              </a:ext>
            </a:extLst>
          </p:cNvPr>
          <p:cNvSpPr>
            <a:spLocks noGrp="1" noChangeArrowheads="1"/>
          </p:cNvSpPr>
          <p:nvPr>
            <p:ph type="title"/>
          </p:nvPr>
        </p:nvSpPr>
        <p:spPr>
          <a:xfrm>
            <a:off x="1371597" y="348865"/>
            <a:ext cx="10044023" cy="877729"/>
          </a:xfrm>
        </p:spPr>
        <p:txBody>
          <a:bodyPr anchor="ctr">
            <a:normAutofit/>
          </a:bodyPr>
          <a:lstStyle/>
          <a:p>
            <a:r>
              <a:rPr lang="en-US" altLang="es-MX" sz="4000">
                <a:solidFill>
                  <a:srgbClr val="FFFFFF"/>
                </a:solidFill>
              </a:rPr>
              <a:t>Dimensionality Reduction</a:t>
            </a:r>
          </a:p>
        </p:txBody>
      </p:sp>
      <p:graphicFrame>
        <p:nvGraphicFramePr>
          <p:cNvPr id="994309" name="Rectangle 3">
            <a:extLst>
              <a:ext uri="{FF2B5EF4-FFF2-40B4-BE49-F238E27FC236}">
                <a16:creationId xmlns:a16="http://schemas.microsoft.com/office/drawing/2014/main" id="{F2EC2E72-CC47-4E23-BDD5-BF335FB8A131}"/>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Rectangle 8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8955" name="Rectangle 11">
            <a:extLst>
              <a:ext uri="{FF2B5EF4-FFF2-40B4-BE49-F238E27FC236}">
                <a16:creationId xmlns:a16="http://schemas.microsoft.com/office/drawing/2014/main" id="{96CE76A4-EE6A-499B-8C93-BDEE36DD9612}"/>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Principal Component Analysis</a:t>
            </a:r>
          </a:p>
        </p:txBody>
      </p:sp>
      <p:grpSp>
        <p:nvGrpSpPr>
          <p:cNvPr id="23" name="Grupo 22">
            <a:extLst>
              <a:ext uri="{FF2B5EF4-FFF2-40B4-BE49-F238E27FC236}">
                <a16:creationId xmlns:a16="http://schemas.microsoft.com/office/drawing/2014/main" id="{79181005-AE01-44DC-9B30-566E41939CD5}"/>
              </a:ext>
            </a:extLst>
          </p:cNvPr>
          <p:cNvGrpSpPr/>
          <p:nvPr/>
        </p:nvGrpSpPr>
        <p:grpSpPr>
          <a:xfrm>
            <a:off x="2552701" y="2038350"/>
            <a:ext cx="6455065" cy="4572000"/>
            <a:chOff x="2552700" y="1431925"/>
            <a:chExt cx="7560884" cy="5178425"/>
          </a:xfrm>
        </p:grpSpPr>
        <p:sp>
          <p:nvSpPr>
            <p:cNvPr id="24" name="Line 2">
              <a:extLst>
                <a:ext uri="{FF2B5EF4-FFF2-40B4-BE49-F238E27FC236}">
                  <a16:creationId xmlns:a16="http://schemas.microsoft.com/office/drawing/2014/main" id="{3AD467D8-9371-4877-8CE2-9220D12F90F6}"/>
                </a:ext>
              </a:extLst>
            </p:cNvPr>
            <p:cNvSpPr>
              <a:spLocks noChangeShapeType="1"/>
            </p:cNvSpPr>
            <p:nvPr/>
          </p:nvSpPr>
          <p:spPr bwMode="auto">
            <a:xfrm>
              <a:off x="2552700" y="4362450"/>
              <a:ext cx="71056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Line 3">
              <a:extLst>
                <a:ext uri="{FF2B5EF4-FFF2-40B4-BE49-F238E27FC236}">
                  <a16:creationId xmlns:a16="http://schemas.microsoft.com/office/drawing/2014/main" id="{E3033C81-B0B1-494A-9A36-92D49ABC93EB}"/>
                </a:ext>
              </a:extLst>
            </p:cNvPr>
            <p:cNvSpPr>
              <a:spLocks noChangeShapeType="1"/>
            </p:cNvSpPr>
            <p:nvPr/>
          </p:nvSpPr>
          <p:spPr bwMode="auto">
            <a:xfrm rot="-10800000">
              <a:off x="5753100" y="1619250"/>
              <a:ext cx="0" cy="49911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Oval 4">
              <a:extLst>
                <a:ext uri="{FF2B5EF4-FFF2-40B4-BE49-F238E27FC236}">
                  <a16:creationId xmlns:a16="http://schemas.microsoft.com/office/drawing/2014/main" id="{6E210791-04BA-47D1-AE37-8BD84DEE1B29}"/>
                </a:ext>
              </a:extLst>
            </p:cNvPr>
            <p:cNvSpPr>
              <a:spLocks noChangeArrowheads="1"/>
            </p:cNvSpPr>
            <p:nvPr/>
          </p:nvSpPr>
          <p:spPr bwMode="auto">
            <a:xfrm rot="-1868112">
              <a:off x="3886200" y="3333750"/>
              <a:ext cx="4095750" cy="1809750"/>
            </a:xfrm>
            <a:prstGeom prst="ellipse">
              <a:avLst/>
            </a:prstGeom>
            <a:noFill/>
            <a:ln w="9525">
              <a:solidFill>
                <a:schemeClr val="tx1"/>
              </a:solidFill>
              <a:round/>
              <a:headEnd/>
              <a:tailEnd/>
            </a:ln>
            <a:effectLst/>
            <a:extLst>
              <a:ext uri="{909E8E84-426E-40DD-AFC4-6F175D3DCCD1}">
                <a14:hiddenFill xmlns:a14="http://schemas.microsoft.com/office/drawing/2010/main">
                  <a:solidFill>
                    <a:srgbClr val="FEFFD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Line 5">
              <a:extLst>
                <a:ext uri="{FF2B5EF4-FFF2-40B4-BE49-F238E27FC236}">
                  <a16:creationId xmlns:a16="http://schemas.microsoft.com/office/drawing/2014/main" id="{183DF384-DF55-4FC1-B011-A0EE7C992C14}"/>
                </a:ext>
              </a:extLst>
            </p:cNvPr>
            <p:cNvSpPr>
              <a:spLocks noChangeShapeType="1"/>
            </p:cNvSpPr>
            <p:nvPr/>
          </p:nvSpPr>
          <p:spPr bwMode="auto">
            <a:xfrm rot="406919" flipV="1">
              <a:off x="3524250" y="2076450"/>
              <a:ext cx="5124450" cy="413385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Line 6">
              <a:extLst>
                <a:ext uri="{FF2B5EF4-FFF2-40B4-BE49-F238E27FC236}">
                  <a16:creationId xmlns:a16="http://schemas.microsoft.com/office/drawing/2014/main" id="{262C305C-1AB3-406E-80BD-96EF2AC0A71F}"/>
                </a:ext>
              </a:extLst>
            </p:cNvPr>
            <p:cNvSpPr>
              <a:spLocks noChangeShapeType="1"/>
            </p:cNvSpPr>
            <p:nvPr/>
          </p:nvSpPr>
          <p:spPr bwMode="auto">
            <a:xfrm flipH="1" flipV="1">
              <a:off x="4210050" y="2800350"/>
              <a:ext cx="3124200" cy="314325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Box 7">
              <a:extLst>
                <a:ext uri="{FF2B5EF4-FFF2-40B4-BE49-F238E27FC236}">
                  <a16:creationId xmlns:a16="http://schemas.microsoft.com/office/drawing/2014/main" id="{2FF9C1EC-3876-454D-8F07-56FB215369D2}"/>
                </a:ext>
              </a:extLst>
            </p:cNvPr>
            <p:cNvSpPr txBox="1">
              <a:spLocks noChangeArrowheads="1"/>
            </p:cNvSpPr>
            <p:nvPr/>
          </p:nvSpPr>
          <p:spPr bwMode="auto">
            <a:xfrm>
              <a:off x="9604376" y="4403725"/>
              <a:ext cx="509208" cy="383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es-MX"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X1</a:t>
              </a:r>
            </a:p>
          </p:txBody>
        </p:sp>
        <p:sp>
          <p:nvSpPr>
            <p:cNvPr id="30" name="Text Box 8">
              <a:extLst>
                <a:ext uri="{FF2B5EF4-FFF2-40B4-BE49-F238E27FC236}">
                  <a16:creationId xmlns:a16="http://schemas.microsoft.com/office/drawing/2014/main" id="{00AEFD0A-5433-4F23-A66F-FC193A1E74A2}"/>
                </a:ext>
              </a:extLst>
            </p:cNvPr>
            <p:cNvSpPr txBox="1">
              <a:spLocks noChangeArrowheads="1"/>
            </p:cNvSpPr>
            <p:nvPr/>
          </p:nvSpPr>
          <p:spPr bwMode="auto">
            <a:xfrm>
              <a:off x="5832477" y="1431925"/>
              <a:ext cx="509208" cy="383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es-MX" sz="16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X2</a:t>
              </a:r>
            </a:p>
          </p:txBody>
        </p:sp>
        <p:sp>
          <p:nvSpPr>
            <p:cNvPr id="31" name="Text Box 9">
              <a:extLst>
                <a:ext uri="{FF2B5EF4-FFF2-40B4-BE49-F238E27FC236}">
                  <a16:creationId xmlns:a16="http://schemas.microsoft.com/office/drawing/2014/main" id="{D61DA369-95DB-4746-8E55-8CF2C145A0F2}"/>
                </a:ext>
              </a:extLst>
            </p:cNvPr>
            <p:cNvSpPr txBox="1">
              <a:spLocks noChangeArrowheads="1"/>
            </p:cNvSpPr>
            <p:nvPr/>
          </p:nvSpPr>
          <p:spPr bwMode="auto">
            <a:xfrm>
              <a:off x="9013826" y="2117725"/>
              <a:ext cx="509208" cy="383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es-MX" sz="1600" b="0" i="0" u="none" strike="noStrike" kern="1200" cap="none" spc="0" normalizeH="0" baseline="0" noProof="0">
                  <a:ln>
                    <a:noFill/>
                  </a:ln>
                  <a:solidFill>
                    <a:srgbClr val="44546A"/>
                  </a:solidFill>
                  <a:effectLst/>
                  <a:uLnTx/>
                  <a:uFillTx/>
                  <a:latin typeface="Times New Roman" panose="02020603050405020304" pitchFamily="18" charset="0"/>
                  <a:ea typeface="+mn-ea"/>
                  <a:cs typeface="+mn-cs"/>
                </a:rPr>
                <a:t>Y1</a:t>
              </a:r>
            </a:p>
          </p:txBody>
        </p:sp>
        <p:sp>
          <p:nvSpPr>
            <p:cNvPr id="32" name="Text Box 10">
              <a:extLst>
                <a:ext uri="{FF2B5EF4-FFF2-40B4-BE49-F238E27FC236}">
                  <a16:creationId xmlns:a16="http://schemas.microsoft.com/office/drawing/2014/main" id="{16A21071-35F1-4C9B-A2E8-86CCBA470E0E}"/>
                </a:ext>
              </a:extLst>
            </p:cNvPr>
            <p:cNvSpPr txBox="1">
              <a:spLocks noChangeArrowheads="1"/>
            </p:cNvSpPr>
            <p:nvPr/>
          </p:nvSpPr>
          <p:spPr bwMode="auto">
            <a:xfrm>
              <a:off x="3546476" y="2574925"/>
              <a:ext cx="557213" cy="383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es-MX" sz="1600" b="0" i="0" u="none" strike="noStrike" kern="1200" cap="none" spc="0" normalizeH="0" baseline="0" noProof="0">
                  <a:ln>
                    <a:noFill/>
                  </a:ln>
                  <a:solidFill>
                    <a:srgbClr val="44546A"/>
                  </a:solidFill>
                  <a:effectLst/>
                  <a:uLnTx/>
                  <a:uFillTx/>
                  <a:latin typeface="Times New Roman" panose="02020603050405020304" pitchFamily="18" charset="0"/>
                  <a:ea typeface="+mn-ea"/>
                  <a:cs typeface="+mn-cs"/>
                </a:rPr>
                <a:t>Y2</a:t>
              </a:r>
            </a:p>
          </p:txBody>
        </p:sp>
      </p:gr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5330" name="Rectangle 2">
            <a:extLst>
              <a:ext uri="{FF2B5EF4-FFF2-40B4-BE49-F238E27FC236}">
                <a16:creationId xmlns:a16="http://schemas.microsoft.com/office/drawing/2014/main" id="{E2F8221D-DD35-4584-96FA-CE1798EDCD54}"/>
              </a:ext>
            </a:extLst>
          </p:cNvPr>
          <p:cNvSpPr>
            <a:spLocks noGrp="1" noChangeArrowheads="1"/>
          </p:cNvSpPr>
          <p:nvPr>
            <p:ph type="title"/>
          </p:nvPr>
        </p:nvSpPr>
        <p:spPr>
          <a:xfrm>
            <a:off x="656823" y="962166"/>
            <a:ext cx="3103808" cy="4421876"/>
          </a:xfrm>
        </p:spPr>
        <p:txBody>
          <a:bodyPr anchor="t">
            <a:normAutofit/>
          </a:bodyPr>
          <a:lstStyle/>
          <a:p>
            <a:pPr algn="r"/>
            <a:r>
              <a:rPr lang="en-US" altLang="es-MX" sz="3700"/>
              <a:t>Dimensionality Reduction: PCA</a:t>
            </a:r>
          </a:p>
        </p:txBody>
      </p:sp>
      <p:sp>
        <p:nvSpPr>
          <p:cNvPr id="995331" name="Rectangle 3">
            <a:extLst>
              <a:ext uri="{FF2B5EF4-FFF2-40B4-BE49-F238E27FC236}">
                <a16:creationId xmlns:a16="http://schemas.microsoft.com/office/drawing/2014/main" id="{2D9E2825-B961-4A9F-8DA1-FCC2ED50073C}"/>
              </a:ext>
            </a:extLst>
          </p:cNvPr>
          <p:cNvSpPr>
            <a:spLocks noGrp="1" noChangeArrowheads="1"/>
          </p:cNvSpPr>
          <p:nvPr>
            <p:ph idx="1"/>
          </p:nvPr>
        </p:nvSpPr>
        <p:spPr>
          <a:xfrm>
            <a:off x="4088929" y="962167"/>
            <a:ext cx="6858113" cy="4743174"/>
          </a:xfrm>
        </p:spPr>
        <p:txBody>
          <a:bodyPr anchor="t">
            <a:normAutofit/>
          </a:bodyPr>
          <a:lstStyle/>
          <a:p>
            <a:r>
              <a:rPr lang="en-US" altLang="es-MX" sz="2000"/>
              <a:t>Goal is to find a projection that captures the largest  amount of variation in data</a:t>
            </a:r>
          </a:p>
          <a:p>
            <a:endParaRPr lang="en-US" altLang="es-MX" sz="2000"/>
          </a:p>
        </p:txBody>
      </p:sp>
      <p:sp>
        <p:nvSpPr>
          <p:cNvPr id="74" name="Rectangle 7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7" name="Grupo 36">
            <a:extLst>
              <a:ext uri="{FF2B5EF4-FFF2-40B4-BE49-F238E27FC236}">
                <a16:creationId xmlns:a16="http://schemas.microsoft.com/office/drawing/2014/main" id="{A2D00628-EECA-4492-9C02-FA29D40CB75A}"/>
              </a:ext>
            </a:extLst>
          </p:cNvPr>
          <p:cNvGrpSpPr/>
          <p:nvPr/>
        </p:nvGrpSpPr>
        <p:grpSpPr>
          <a:xfrm>
            <a:off x="6654800" y="2600325"/>
            <a:ext cx="3546475" cy="3200400"/>
            <a:chOff x="3902075" y="2590800"/>
            <a:chExt cx="3546475" cy="3200400"/>
          </a:xfrm>
        </p:grpSpPr>
        <p:sp>
          <p:nvSpPr>
            <p:cNvPr id="38" name="Line 4">
              <a:extLst>
                <a:ext uri="{FF2B5EF4-FFF2-40B4-BE49-F238E27FC236}">
                  <a16:creationId xmlns:a16="http://schemas.microsoft.com/office/drawing/2014/main" id="{78F6B1FA-F40A-4A40-9955-DBB18C768C10}"/>
                </a:ext>
              </a:extLst>
            </p:cNvPr>
            <p:cNvSpPr>
              <a:spLocks noChangeShapeType="1"/>
            </p:cNvSpPr>
            <p:nvPr/>
          </p:nvSpPr>
          <p:spPr bwMode="auto">
            <a:xfrm flipV="1">
              <a:off x="4413250" y="2641600"/>
              <a:ext cx="0" cy="26289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Line 5">
              <a:extLst>
                <a:ext uri="{FF2B5EF4-FFF2-40B4-BE49-F238E27FC236}">
                  <a16:creationId xmlns:a16="http://schemas.microsoft.com/office/drawing/2014/main" id="{38D211FC-234B-4730-82CF-6886A385AD9C}"/>
                </a:ext>
              </a:extLst>
            </p:cNvPr>
            <p:cNvSpPr>
              <a:spLocks noChangeShapeType="1"/>
            </p:cNvSpPr>
            <p:nvPr/>
          </p:nvSpPr>
          <p:spPr bwMode="auto">
            <a:xfrm>
              <a:off x="4413250" y="5270500"/>
              <a:ext cx="27178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Line 6">
              <a:extLst>
                <a:ext uri="{FF2B5EF4-FFF2-40B4-BE49-F238E27FC236}">
                  <a16:creationId xmlns:a16="http://schemas.microsoft.com/office/drawing/2014/main" id="{8BE80AD2-DE26-4E55-B6CA-CEABAFDC9ADF}"/>
                </a:ext>
              </a:extLst>
            </p:cNvPr>
            <p:cNvSpPr>
              <a:spLocks noChangeShapeType="1"/>
            </p:cNvSpPr>
            <p:nvPr/>
          </p:nvSpPr>
          <p:spPr bwMode="auto">
            <a:xfrm flipV="1">
              <a:off x="4425950" y="3856039"/>
              <a:ext cx="2590800" cy="1400175"/>
            </a:xfrm>
            <a:prstGeom prst="line">
              <a:avLst/>
            </a:prstGeom>
            <a:noFill/>
            <a:ln w="28575">
              <a:solidFill>
                <a:schemeClr val="tx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Oval 7">
              <a:extLst>
                <a:ext uri="{FF2B5EF4-FFF2-40B4-BE49-F238E27FC236}">
                  <a16:creationId xmlns:a16="http://schemas.microsoft.com/office/drawing/2014/main" id="{F49234DA-E06B-4256-AACC-8BE56C1EB436}"/>
                </a:ext>
              </a:extLst>
            </p:cNvPr>
            <p:cNvSpPr>
              <a:spLocks noChangeArrowheads="1"/>
            </p:cNvSpPr>
            <p:nvPr/>
          </p:nvSpPr>
          <p:spPr bwMode="auto">
            <a:xfrm>
              <a:off x="4959351" y="46767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Oval 8">
              <a:extLst>
                <a:ext uri="{FF2B5EF4-FFF2-40B4-BE49-F238E27FC236}">
                  <a16:creationId xmlns:a16="http://schemas.microsoft.com/office/drawing/2014/main" id="{C85BFB86-160F-47C1-8FE5-5D83516E8CC9}"/>
                </a:ext>
              </a:extLst>
            </p:cNvPr>
            <p:cNvSpPr>
              <a:spLocks noChangeArrowheads="1"/>
            </p:cNvSpPr>
            <p:nvPr/>
          </p:nvSpPr>
          <p:spPr bwMode="auto">
            <a:xfrm>
              <a:off x="5238751" y="4452939"/>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Oval 9">
              <a:extLst>
                <a:ext uri="{FF2B5EF4-FFF2-40B4-BE49-F238E27FC236}">
                  <a16:creationId xmlns:a16="http://schemas.microsoft.com/office/drawing/2014/main" id="{27BE31F9-6DD9-4C48-9CA3-E6AAE0AEBF73}"/>
                </a:ext>
              </a:extLst>
            </p:cNvPr>
            <p:cNvSpPr>
              <a:spLocks noChangeArrowheads="1"/>
            </p:cNvSpPr>
            <p:nvPr/>
          </p:nvSpPr>
          <p:spPr bwMode="auto">
            <a:xfrm>
              <a:off x="4768851" y="4967289"/>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val 10">
              <a:extLst>
                <a:ext uri="{FF2B5EF4-FFF2-40B4-BE49-F238E27FC236}">
                  <a16:creationId xmlns:a16="http://schemas.microsoft.com/office/drawing/2014/main" id="{161CB88D-C8E0-4EC0-B619-F429DA8BC0D0}"/>
                </a:ext>
              </a:extLst>
            </p:cNvPr>
            <p:cNvSpPr>
              <a:spLocks noChangeArrowheads="1"/>
            </p:cNvSpPr>
            <p:nvPr/>
          </p:nvSpPr>
          <p:spPr bwMode="auto">
            <a:xfrm>
              <a:off x="5378451" y="4559300"/>
              <a:ext cx="74613" cy="76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Oval 11">
              <a:extLst>
                <a:ext uri="{FF2B5EF4-FFF2-40B4-BE49-F238E27FC236}">
                  <a16:creationId xmlns:a16="http://schemas.microsoft.com/office/drawing/2014/main" id="{6FAA2066-EF07-45B3-8C3A-E12ACF646D96}"/>
                </a:ext>
              </a:extLst>
            </p:cNvPr>
            <p:cNvSpPr>
              <a:spLocks noChangeArrowheads="1"/>
            </p:cNvSpPr>
            <p:nvPr/>
          </p:nvSpPr>
          <p:spPr bwMode="auto">
            <a:xfrm>
              <a:off x="5226051" y="46640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Oval 12">
              <a:extLst>
                <a:ext uri="{FF2B5EF4-FFF2-40B4-BE49-F238E27FC236}">
                  <a16:creationId xmlns:a16="http://schemas.microsoft.com/office/drawing/2014/main" id="{5B72ECF6-D63E-4AAF-B99D-39DF105F8830}"/>
                </a:ext>
              </a:extLst>
            </p:cNvPr>
            <p:cNvSpPr>
              <a:spLocks noChangeArrowheads="1"/>
            </p:cNvSpPr>
            <p:nvPr/>
          </p:nvSpPr>
          <p:spPr bwMode="auto">
            <a:xfrm>
              <a:off x="5797551" y="46513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Oval 13">
              <a:extLst>
                <a:ext uri="{FF2B5EF4-FFF2-40B4-BE49-F238E27FC236}">
                  <a16:creationId xmlns:a16="http://schemas.microsoft.com/office/drawing/2014/main" id="{89FD723B-D12F-407B-80CE-E27704E5F7F7}"/>
                </a:ext>
              </a:extLst>
            </p:cNvPr>
            <p:cNvSpPr>
              <a:spLocks noChangeArrowheads="1"/>
            </p:cNvSpPr>
            <p:nvPr/>
          </p:nvSpPr>
          <p:spPr bwMode="auto">
            <a:xfrm>
              <a:off x="5670551" y="49815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Oval 14">
              <a:extLst>
                <a:ext uri="{FF2B5EF4-FFF2-40B4-BE49-F238E27FC236}">
                  <a16:creationId xmlns:a16="http://schemas.microsoft.com/office/drawing/2014/main" id="{DCDC0CB8-8BF2-49FC-ABCA-229D1057EDCE}"/>
                </a:ext>
              </a:extLst>
            </p:cNvPr>
            <p:cNvSpPr>
              <a:spLocks noChangeArrowheads="1"/>
            </p:cNvSpPr>
            <p:nvPr/>
          </p:nvSpPr>
          <p:spPr bwMode="auto">
            <a:xfrm>
              <a:off x="5441951" y="4875214"/>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Oval 15">
              <a:extLst>
                <a:ext uri="{FF2B5EF4-FFF2-40B4-BE49-F238E27FC236}">
                  <a16:creationId xmlns:a16="http://schemas.microsoft.com/office/drawing/2014/main" id="{30215B70-307B-46CE-B073-5BC7AEF50AE8}"/>
                </a:ext>
              </a:extLst>
            </p:cNvPr>
            <p:cNvSpPr>
              <a:spLocks noChangeArrowheads="1"/>
            </p:cNvSpPr>
            <p:nvPr/>
          </p:nvSpPr>
          <p:spPr bwMode="auto">
            <a:xfrm>
              <a:off x="5632451" y="43338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Oval 16">
              <a:extLst>
                <a:ext uri="{FF2B5EF4-FFF2-40B4-BE49-F238E27FC236}">
                  <a16:creationId xmlns:a16="http://schemas.microsoft.com/office/drawing/2014/main" id="{47C1F6CF-F255-4C07-9CAB-C6332566F10E}"/>
                </a:ext>
              </a:extLst>
            </p:cNvPr>
            <p:cNvSpPr>
              <a:spLocks noChangeArrowheads="1"/>
            </p:cNvSpPr>
            <p:nvPr/>
          </p:nvSpPr>
          <p:spPr bwMode="auto">
            <a:xfrm>
              <a:off x="6229351" y="4452939"/>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Oval 17">
              <a:extLst>
                <a:ext uri="{FF2B5EF4-FFF2-40B4-BE49-F238E27FC236}">
                  <a16:creationId xmlns:a16="http://schemas.microsoft.com/office/drawing/2014/main" id="{549A789C-2087-45D9-80C4-7BB6DA0F17FC}"/>
                </a:ext>
              </a:extLst>
            </p:cNvPr>
            <p:cNvSpPr>
              <a:spLocks noChangeArrowheads="1"/>
            </p:cNvSpPr>
            <p:nvPr/>
          </p:nvSpPr>
          <p:spPr bwMode="auto">
            <a:xfrm>
              <a:off x="6610351" y="3937000"/>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Oval 18">
              <a:extLst>
                <a:ext uri="{FF2B5EF4-FFF2-40B4-BE49-F238E27FC236}">
                  <a16:creationId xmlns:a16="http://schemas.microsoft.com/office/drawing/2014/main" id="{CE046D38-944E-4C3F-9C6C-13671A20B4FE}"/>
                </a:ext>
              </a:extLst>
            </p:cNvPr>
            <p:cNvSpPr>
              <a:spLocks noChangeArrowheads="1"/>
            </p:cNvSpPr>
            <p:nvPr/>
          </p:nvSpPr>
          <p:spPr bwMode="auto">
            <a:xfrm>
              <a:off x="5073651" y="50069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Oval 19">
              <a:extLst>
                <a:ext uri="{FF2B5EF4-FFF2-40B4-BE49-F238E27FC236}">
                  <a16:creationId xmlns:a16="http://schemas.microsoft.com/office/drawing/2014/main" id="{D4EFD8F8-99B6-45F6-80DD-ADC147245889}"/>
                </a:ext>
              </a:extLst>
            </p:cNvPr>
            <p:cNvSpPr>
              <a:spLocks noChangeArrowheads="1"/>
            </p:cNvSpPr>
            <p:nvPr/>
          </p:nvSpPr>
          <p:spPr bwMode="auto">
            <a:xfrm>
              <a:off x="5899151" y="4306889"/>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Oval 20">
              <a:extLst>
                <a:ext uri="{FF2B5EF4-FFF2-40B4-BE49-F238E27FC236}">
                  <a16:creationId xmlns:a16="http://schemas.microsoft.com/office/drawing/2014/main" id="{EF393B3E-EC20-4DB0-B6B2-918292B9FBD9}"/>
                </a:ext>
              </a:extLst>
            </p:cNvPr>
            <p:cNvSpPr>
              <a:spLocks noChangeArrowheads="1"/>
            </p:cNvSpPr>
            <p:nvPr/>
          </p:nvSpPr>
          <p:spPr bwMode="auto">
            <a:xfrm>
              <a:off x="6178551" y="40163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Oval 21">
              <a:extLst>
                <a:ext uri="{FF2B5EF4-FFF2-40B4-BE49-F238E27FC236}">
                  <a16:creationId xmlns:a16="http://schemas.microsoft.com/office/drawing/2014/main" id="{B52EC467-B2F0-4488-A3DB-C26F0EF13106}"/>
                </a:ext>
              </a:extLst>
            </p:cNvPr>
            <p:cNvSpPr>
              <a:spLocks noChangeArrowheads="1"/>
            </p:cNvSpPr>
            <p:nvPr/>
          </p:nvSpPr>
          <p:spPr bwMode="auto">
            <a:xfrm>
              <a:off x="5416551" y="43465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Oval 22">
              <a:extLst>
                <a:ext uri="{FF2B5EF4-FFF2-40B4-BE49-F238E27FC236}">
                  <a16:creationId xmlns:a16="http://schemas.microsoft.com/office/drawing/2014/main" id="{FC13B144-7055-4D5F-BEAD-8EEF67592C14}"/>
                </a:ext>
              </a:extLst>
            </p:cNvPr>
            <p:cNvSpPr>
              <a:spLocks noChangeArrowheads="1"/>
            </p:cNvSpPr>
            <p:nvPr/>
          </p:nvSpPr>
          <p:spPr bwMode="auto">
            <a:xfrm>
              <a:off x="6026151" y="4149725"/>
              <a:ext cx="74613" cy="76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Oval 23">
              <a:extLst>
                <a:ext uri="{FF2B5EF4-FFF2-40B4-BE49-F238E27FC236}">
                  <a16:creationId xmlns:a16="http://schemas.microsoft.com/office/drawing/2014/main" id="{4A37DCCA-64AD-421D-95F0-03D697F18B3B}"/>
                </a:ext>
              </a:extLst>
            </p:cNvPr>
            <p:cNvSpPr>
              <a:spLocks noChangeArrowheads="1"/>
            </p:cNvSpPr>
            <p:nvPr/>
          </p:nvSpPr>
          <p:spPr bwMode="auto">
            <a:xfrm>
              <a:off x="6140451" y="4691064"/>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Freeform 24">
              <a:extLst>
                <a:ext uri="{FF2B5EF4-FFF2-40B4-BE49-F238E27FC236}">
                  <a16:creationId xmlns:a16="http://schemas.microsoft.com/office/drawing/2014/main" id="{26B47EAA-4ADB-4053-97D3-0AC3F5003B31}"/>
                </a:ext>
              </a:extLst>
            </p:cNvPr>
            <p:cNvSpPr>
              <a:spLocks/>
            </p:cNvSpPr>
            <p:nvPr/>
          </p:nvSpPr>
          <p:spPr bwMode="auto">
            <a:xfrm>
              <a:off x="4584700" y="3824289"/>
              <a:ext cx="2312988" cy="1597025"/>
            </a:xfrm>
            <a:custGeom>
              <a:avLst/>
              <a:gdLst>
                <a:gd name="T0" fmla="*/ 4 w 1457"/>
                <a:gd name="T1" fmla="*/ 796 h 968"/>
                <a:gd name="T2" fmla="*/ 212 w 1457"/>
                <a:gd name="T3" fmla="*/ 388 h 968"/>
                <a:gd name="T4" fmla="*/ 716 w 1457"/>
                <a:gd name="T5" fmla="*/ 132 h 968"/>
                <a:gd name="T6" fmla="*/ 1356 w 1457"/>
                <a:gd name="T7" fmla="*/ 20 h 968"/>
                <a:gd name="T8" fmla="*/ 1324 w 1457"/>
                <a:gd name="T9" fmla="*/ 252 h 968"/>
                <a:gd name="T10" fmla="*/ 940 w 1457"/>
                <a:gd name="T11" fmla="*/ 700 h 968"/>
                <a:gd name="T12" fmla="*/ 188 w 1457"/>
                <a:gd name="T13" fmla="*/ 948 h 968"/>
                <a:gd name="T14" fmla="*/ 4 w 1457"/>
                <a:gd name="T15" fmla="*/ 796 h 9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57" h="968">
                  <a:moveTo>
                    <a:pt x="4" y="796"/>
                  </a:moveTo>
                  <a:cubicBezTo>
                    <a:pt x="8" y="703"/>
                    <a:pt x="93" y="499"/>
                    <a:pt x="212" y="388"/>
                  </a:cubicBezTo>
                  <a:cubicBezTo>
                    <a:pt x="331" y="277"/>
                    <a:pt x="525" y="193"/>
                    <a:pt x="716" y="132"/>
                  </a:cubicBezTo>
                  <a:cubicBezTo>
                    <a:pt x="907" y="71"/>
                    <a:pt x="1255" y="0"/>
                    <a:pt x="1356" y="20"/>
                  </a:cubicBezTo>
                  <a:cubicBezTo>
                    <a:pt x="1457" y="40"/>
                    <a:pt x="1393" y="139"/>
                    <a:pt x="1324" y="252"/>
                  </a:cubicBezTo>
                  <a:cubicBezTo>
                    <a:pt x="1255" y="365"/>
                    <a:pt x="1129" y="584"/>
                    <a:pt x="940" y="700"/>
                  </a:cubicBezTo>
                  <a:cubicBezTo>
                    <a:pt x="751" y="816"/>
                    <a:pt x="344" y="928"/>
                    <a:pt x="188" y="948"/>
                  </a:cubicBezTo>
                  <a:cubicBezTo>
                    <a:pt x="32" y="968"/>
                    <a:pt x="0" y="889"/>
                    <a:pt x="4" y="796"/>
                  </a:cubicBezTo>
                  <a:close/>
                </a:path>
              </a:pathLst>
            </a:custGeom>
            <a:noFill/>
            <a:ln w="19050" cap="flat" cmpd="sng">
              <a:solidFill>
                <a:srgbClr val="FF0000"/>
              </a:solidFill>
              <a:prstDash val="dash"/>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Oval 25">
              <a:extLst>
                <a:ext uri="{FF2B5EF4-FFF2-40B4-BE49-F238E27FC236}">
                  <a16:creationId xmlns:a16="http://schemas.microsoft.com/office/drawing/2014/main" id="{31503A55-9F53-4BB9-B408-77149000D47F}"/>
                </a:ext>
              </a:extLst>
            </p:cNvPr>
            <p:cNvSpPr>
              <a:spLocks noChangeArrowheads="1"/>
            </p:cNvSpPr>
            <p:nvPr/>
          </p:nvSpPr>
          <p:spPr bwMode="auto">
            <a:xfrm>
              <a:off x="4895851" y="5192714"/>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 Box 26">
              <a:extLst>
                <a:ext uri="{FF2B5EF4-FFF2-40B4-BE49-F238E27FC236}">
                  <a16:creationId xmlns:a16="http://schemas.microsoft.com/office/drawing/2014/main" id="{DF5E8023-7D5A-4490-9EA8-A6D733824D7F}"/>
                </a:ext>
              </a:extLst>
            </p:cNvPr>
            <p:cNvSpPr txBox="1">
              <a:spLocks noChangeArrowheads="1"/>
            </p:cNvSpPr>
            <p:nvPr/>
          </p:nvSpPr>
          <p:spPr bwMode="auto">
            <a:xfrm>
              <a:off x="3902075" y="2590800"/>
              <a:ext cx="438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x</a:t>
              </a:r>
              <a:r>
                <a:rPr kumimoji="0" lang="en-US" altLang="es-MX" sz="2400" b="0" i="0" u="none" strike="noStrike" kern="1200" cap="none" spc="0" normalizeH="0" baseline="-25000" noProof="0">
                  <a:ln>
                    <a:noFill/>
                  </a:ln>
                  <a:solidFill>
                    <a:prstClr val="black"/>
                  </a:solidFill>
                  <a:effectLst/>
                  <a:uLnTx/>
                  <a:uFillTx/>
                  <a:latin typeface="Times New Roman" panose="02020603050405020304" pitchFamily="18" charset="0"/>
                  <a:ea typeface="+mn-ea"/>
                  <a:cs typeface="+mn-cs"/>
                </a:rPr>
                <a:t>2</a:t>
              </a:r>
            </a:p>
          </p:txBody>
        </p:sp>
        <p:sp>
          <p:nvSpPr>
            <p:cNvPr id="61" name="Text Box 27">
              <a:extLst>
                <a:ext uri="{FF2B5EF4-FFF2-40B4-BE49-F238E27FC236}">
                  <a16:creationId xmlns:a16="http://schemas.microsoft.com/office/drawing/2014/main" id="{FFC92AE2-7DC6-4F07-A652-12FC127ACEAF}"/>
                </a:ext>
              </a:extLst>
            </p:cNvPr>
            <p:cNvSpPr txBox="1">
              <a:spLocks noChangeArrowheads="1"/>
            </p:cNvSpPr>
            <p:nvPr/>
          </p:nvSpPr>
          <p:spPr bwMode="auto">
            <a:xfrm>
              <a:off x="7010400" y="5334000"/>
              <a:ext cx="438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x</a:t>
              </a:r>
              <a:r>
                <a:rPr kumimoji="0" lang="en-US" altLang="es-MX" sz="2400" b="0" i="0" u="none" strike="noStrike" kern="1200" cap="none" spc="0" normalizeH="0" baseline="-25000" noProof="0">
                  <a:ln>
                    <a:noFill/>
                  </a:ln>
                  <a:solidFill>
                    <a:prstClr val="black"/>
                  </a:solidFill>
                  <a:effectLst/>
                  <a:uLnTx/>
                  <a:uFillTx/>
                  <a:latin typeface="Times New Roman" panose="02020603050405020304" pitchFamily="18" charset="0"/>
                  <a:ea typeface="+mn-ea"/>
                  <a:cs typeface="+mn-cs"/>
                </a:rPr>
                <a:t>1</a:t>
              </a:r>
            </a:p>
          </p:txBody>
        </p:sp>
        <p:sp>
          <p:nvSpPr>
            <p:cNvPr id="62" name="Text Box 28">
              <a:extLst>
                <a:ext uri="{FF2B5EF4-FFF2-40B4-BE49-F238E27FC236}">
                  <a16:creationId xmlns:a16="http://schemas.microsoft.com/office/drawing/2014/main" id="{EDABB2C0-5A9C-421F-9A37-7F622C9223AB}"/>
                </a:ext>
              </a:extLst>
            </p:cNvPr>
            <p:cNvSpPr txBox="1">
              <a:spLocks noChangeArrowheads="1"/>
            </p:cNvSpPr>
            <p:nvPr/>
          </p:nvSpPr>
          <p:spPr bwMode="auto">
            <a:xfrm>
              <a:off x="7086600" y="3505200"/>
              <a:ext cx="3190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e</a:t>
              </a:r>
              <a:endParaRPr kumimoji="0" lang="en-US" altLang="es-MX" sz="2400" b="0" i="0" u="none" strike="noStrike" kern="1200" cap="none" spc="0" normalizeH="0" baseline="-25000" noProof="0">
                <a:ln>
                  <a:noFill/>
                </a:ln>
                <a:solidFill>
                  <a:prstClr val="black"/>
                </a:solidFill>
                <a:effectLst/>
                <a:uLnTx/>
                <a:uFillTx/>
                <a:latin typeface="Times New Roman" panose="02020603050405020304" pitchFamily="18" charset="0"/>
                <a:ea typeface="+mn-ea"/>
                <a:cs typeface="+mn-cs"/>
              </a:endParaRPr>
            </a:p>
          </p:txBody>
        </p:sp>
      </p:gr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6354" name="Rectangle 2">
            <a:extLst>
              <a:ext uri="{FF2B5EF4-FFF2-40B4-BE49-F238E27FC236}">
                <a16:creationId xmlns:a16="http://schemas.microsoft.com/office/drawing/2014/main" id="{4E06C4E7-B159-4E9C-B315-2E2165D800C6}"/>
              </a:ext>
            </a:extLst>
          </p:cNvPr>
          <p:cNvSpPr>
            <a:spLocks noGrp="1" noChangeArrowheads="1"/>
          </p:cNvSpPr>
          <p:nvPr>
            <p:ph type="title"/>
          </p:nvPr>
        </p:nvSpPr>
        <p:spPr>
          <a:xfrm>
            <a:off x="656823" y="962166"/>
            <a:ext cx="3103808" cy="4421876"/>
          </a:xfrm>
        </p:spPr>
        <p:txBody>
          <a:bodyPr anchor="t">
            <a:normAutofit/>
          </a:bodyPr>
          <a:lstStyle/>
          <a:p>
            <a:pPr algn="r"/>
            <a:r>
              <a:rPr lang="en-US" altLang="es-MX" sz="3700"/>
              <a:t>Dimensionality Reduction: PCA</a:t>
            </a:r>
          </a:p>
        </p:txBody>
      </p:sp>
      <p:sp>
        <p:nvSpPr>
          <p:cNvPr id="996355" name="Rectangle 3">
            <a:extLst>
              <a:ext uri="{FF2B5EF4-FFF2-40B4-BE49-F238E27FC236}">
                <a16:creationId xmlns:a16="http://schemas.microsoft.com/office/drawing/2014/main" id="{A0F055B5-8686-4936-B737-0115C7806E99}"/>
              </a:ext>
            </a:extLst>
          </p:cNvPr>
          <p:cNvSpPr>
            <a:spLocks noGrp="1" noChangeArrowheads="1"/>
          </p:cNvSpPr>
          <p:nvPr>
            <p:ph type="body" idx="1"/>
          </p:nvPr>
        </p:nvSpPr>
        <p:spPr>
          <a:xfrm>
            <a:off x="4088929" y="962167"/>
            <a:ext cx="6858113" cy="4743174"/>
          </a:xfrm>
        </p:spPr>
        <p:txBody>
          <a:bodyPr anchor="t">
            <a:normAutofit/>
          </a:bodyPr>
          <a:lstStyle/>
          <a:p>
            <a:r>
              <a:rPr lang="en-US" altLang="es-MX" sz="2000"/>
              <a:t>Find the eigenvectors of the covariance matrix</a:t>
            </a:r>
          </a:p>
          <a:p>
            <a:r>
              <a:rPr lang="en-US" altLang="es-MX" sz="2000"/>
              <a:t>The eigenvectors define the new space</a:t>
            </a:r>
          </a:p>
        </p:txBody>
      </p:sp>
      <p:sp>
        <p:nvSpPr>
          <p:cNvPr id="74" name="Rectangle 73">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100000">
                <a:schemeClr val="accent1">
                  <a:lumMod val="50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76000"/>
                </a:srgbClr>
              </a:gs>
              <a:gs pos="100000">
                <a:schemeClr val="accent1"/>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35" name="Grupo 34">
            <a:extLst>
              <a:ext uri="{FF2B5EF4-FFF2-40B4-BE49-F238E27FC236}">
                <a16:creationId xmlns:a16="http://schemas.microsoft.com/office/drawing/2014/main" id="{E6D5595B-13FE-4CBC-9467-B19F908D1E51}"/>
              </a:ext>
            </a:extLst>
          </p:cNvPr>
          <p:cNvGrpSpPr/>
          <p:nvPr/>
        </p:nvGrpSpPr>
        <p:grpSpPr>
          <a:xfrm>
            <a:off x="5997575" y="2504942"/>
            <a:ext cx="3546475" cy="3200400"/>
            <a:chOff x="3902075" y="3048000"/>
            <a:chExt cx="3546475" cy="3200400"/>
          </a:xfrm>
        </p:grpSpPr>
        <p:sp>
          <p:nvSpPr>
            <p:cNvPr id="36" name="Line 4">
              <a:extLst>
                <a:ext uri="{FF2B5EF4-FFF2-40B4-BE49-F238E27FC236}">
                  <a16:creationId xmlns:a16="http://schemas.microsoft.com/office/drawing/2014/main" id="{7ACD5B3C-EABC-496A-8E31-F983CA4BA905}"/>
                </a:ext>
              </a:extLst>
            </p:cNvPr>
            <p:cNvSpPr>
              <a:spLocks noChangeShapeType="1"/>
            </p:cNvSpPr>
            <p:nvPr/>
          </p:nvSpPr>
          <p:spPr bwMode="auto">
            <a:xfrm flipV="1">
              <a:off x="4413250" y="3098800"/>
              <a:ext cx="0" cy="262890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Line 5">
              <a:extLst>
                <a:ext uri="{FF2B5EF4-FFF2-40B4-BE49-F238E27FC236}">
                  <a16:creationId xmlns:a16="http://schemas.microsoft.com/office/drawing/2014/main" id="{4535F878-DC0A-4767-8BC7-500D4D0FAED0}"/>
                </a:ext>
              </a:extLst>
            </p:cNvPr>
            <p:cNvSpPr>
              <a:spLocks noChangeShapeType="1"/>
            </p:cNvSpPr>
            <p:nvPr/>
          </p:nvSpPr>
          <p:spPr bwMode="auto">
            <a:xfrm>
              <a:off x="4413250" y="5727700"/>
              <a:ext cx="2717800" cy="0"/>
            </a:xfrm>
            <a:prstGeom prst="line">
              <a:avLst/>
            </a:prstGeom>
            <a:noFill/>
            <a:ln w="12700">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Line 6">
              <a:extLst>
                <a:ext uri="{FF2B5EF4-FFF2-40B4-BE49-F238E27FC236}">
                  <a16:creationId xmlns:a16="http://schemas.microsoft.com/office/drawing/2014/main" id="{E6E3F8EF-D002-4D19-9020-4114C0B9584C}"/>
                </a:ext>
              </a:extLst>
            </p:cNvPr>
            <p:cNvSpPr>
              <a:spLocks noChangeShapeType="1"/>
            </p:cNvSpPr>
            <p:nvPr/>
          </p:nvSpPr>
          <p:spPr bwMode="auto">
            <a:xfrm flipV="1">
              <a:off x="4425950" y="4313239"/>
              <a:ext cx="2590800" cy="1400175"/>
            </a:xfrm>
            <a:prstGeom prst="line">
              <a:avLst/>
            </a:prstGeom>
            <a:noFill/>
            <a:ln w="28575">
              <a:solidFill>
                <a:schemeClr val="tx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Oval 7">
              <a:extLst>
                <a:ext uri="{FF2B5EF4-FFF2-40B4-BE49-F238E27FC236}">
                  <a16:creationId xmlns:a16="http://schemas.microsoft.com/office/drawing/2014/main" id="{B6F465B5-A2A4-464D-BD0C-974AD0799E71}"/>
                </a:ext>
              </a:extLst>
            </p:cNvPr>
            <p:cNvSpPr>
              <a:spLocks noChangeArrowheads="1"/>
            </p:cNvSpPr>
            <p:nvPr/>
          </p:nvSpPr>
          <p:spPr bwMode="auto">
            <a:xfrm>
              <a:off x="4959351" y="51339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Oval 8">
              <a:extLst>
                <a:ext uri="{FF2B5EF4-FFF2-40B4-BE49-F238E27FC236}">
                  <a16:creationId xmlns:a16="http://schemas.microsoft.com/office/drawing/2014/main" id="{62A28E1F-F4FA-4DFC-B9B9-3CCFEC214CF8}"/>
                </a:ext>
              </a:extLst>
            </p:cNvPr>
            <p:cNvSpPr>
              <a:spLocks noChangeArrowheads="1"/>
            </p:cNvSpPr>
            <p:nvPr/>
          </p:nvSpPr>
          <p:spPr bwMode="auto">
            <a:xfrm>
              <a:off x="5238751" y="4910139"/>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Oval 9">
              <a:extLst>
                <a:ext uri="{FF2B5EF4-FFF2-40B4-BE49-F238E27FC236}">
                  <a16:creationId xmlns:a16="http://schemas.microsoft.com/office/drawing/2014/main" id="{F8DB0277-C609-45D8-A3EA-163958327432}"/>
                </a:ext>
              </a:extLst>
            </p:cNvPr>
            <p:cNvSpPr>
              <a:spLocks noChangeArrowheads="1"/>
            </p:cNvSpPr>
            <p:nvPr/>
          </p:nvSpPr>
          <p:spPr bwMode="auto">
            <a:xfrm>
              <a:off x="4768851" y="5424489"/>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Oval 10">
              <a:extLst>
                <a:ext uri="{FF2B5EF4-FFF2-40B4-BE49-F238E27FC236}">
                  <a16:creationId xmlns:a16="http://schemas.microsoft.com/office/drawing/2014/main" id="{5CF96531-7E2C-4609-B8AB-99E7B7986B79}"/>
                </a:ext>
              </a:extLst>
            </p:cNvPr>
            <p:cNvSpPr>
              <a:spLocks noChangeArrowheads="1"/>
            </p:cNvSpPr>
            <p:nvPr/>
          </p:nvSpPr>
          <p:spPr bwMode="auto">
            <a:xfrm>
              <a:off x="5378451" y="5016500"/>
              <a:ext cx="74613" cy="76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Oval 11">
              <a:extLst>
                <a:ext uri="{FF2B5EF4-FFF2-40B4-BE49-F238E27FC236}">
                  <a16:creationId xmlns:a16="http://schemas.microsoft.com/office/drawing/2014/main" id="{CA789535-7D55-45C6-A2FB-6B07A3E446AB}"/>
                </a:ext>
              </a:extLst>
            </p:cNvPr>
            <p:cNvSpPr>
              <a:spLocks noChangeArrowheads="1"/>
            </p:cNvSpPr>
            <p:nvPr/>
          </p:nvSpPr>
          <p:spPr bwMode="auto">
            <a:xfrm>
              <a:off x="5226051" y="51212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val 12">
              <a:extLst>
                <a:ext uri="{FF2B5EF4-FFF2-40B4-BE49-F238E27FC236}">
                  <a16:creationId xmlns:a16="http://schemas.microsoft.com/office/drawing/2014/main" id="{CC0CE578-FB55-4A15-91BA-D42FE4DE83CF}"/>
                </a:ext>
              </a:extLst>
            </p:cNvPr>
            <p:cNvSpPr>
              <a:spLocks noChangeArrowheads="1"/>
            </p:cNvSpPr>
            <p:nvPr/>
          </p:nvSpPr>
          <p:spPr bwMode="auto">
            <a:xfrm>
              <a:off x="5797551" y="51085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Oval 13">
              <a:extLst>
                <a:ext uri="{FF2B5EF4-FFF2-40B4-BE49-F238E27FC236}">
                  <a16:creationId xmlns:a16="http://schemas.microsoft.com/office/drawing/2014/main" id="{FB5167DA-58DB-4FE7-8762-DB9E3DBAC537}"/>
                </a:ext>
              </a:extLst>
            </p:cNvPr>
            <p:cNvSpPr>
              <a:spLocks noChangeArrowheads="1"/>
            </p:cNvSpPr>
            <p:nvPr/>
          </p:nvSpPr>
          <p:spPr bwMode="auto">
            <a:xfrm>
              <a:off x="5670551" y="54387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Oval 14">
              <a:extLst>
                <a:ext uri="{FF2B5EF4-FFF2-40B4-BE49-F238E27FC236}">
                  <a16:creationId xmlns:a16="http://schemas.microsoft.com/office/drawing/2014/main" id="{A8E04F25-8ACA-4B7C-8391-113CA7F041CB}"/>
                </a:ext>
              </a:extLst>
            </p:cNvPr>
            <p:cNvSpPr>
              <a:spLocks noChangeArrowheads="1"/>
            </p:cNvSpPr>
            <p:nvPr/>
          </p:nvSpPr>
          <p:spPr bwMode="auto">
            <a:xfrm>
              <a:off x="5441951" y="5332414"/>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Oval 15">
              <a:extLst>
                <a:ext uri="{FF2B5EF4-FFF2-40B4-BE49-F238E27FC236}">
                  <a16:creationId xmlns:a16="http://schemas.microsoft.com/office/drawing/2014/main" id="{00F5FC4E-E273-4B4F-ADFF-5534EBF95014}"/>
                </a:ext>
              </a:extLst>
            </p:cNvPr>
            <p:cNvSpPr>
              <a:spLocks noChangeArrowheads="1"/>
            </p:cNvSpPr>
            <p:nvPr/>
          </p:nvSpPr>
          <p:spPr bwMode="auto">
            <a:xfrm>
              <a:off x="5632451" y="47910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Oval 16">
              <a:extLst>
                <a:ext uri="{FF2B5EF4-FFF2-40B4-BE49-F238E27FC236}">
                  <a16:creationId xmlns:a16="http://schemas.microsoft.com/office/drawing/2014/main" id="{090F19D7-A0C5-4792-B26D-D7907E9B510B}"/>
                </a:ext>
              </a:extLst>
            </p:cNvPr>
            <p:cNvSpPr>
              <a:spLocks noChangeArrowheads="1"/>
            </p:cNvSpPr>
            <p:nvPr/>
          </p:nvSpPr>
          <p:spPr bwMode="auto">
            <a:xfrm>
              <a:off x="6229351" y="4910139"/>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Oval 17">
              <a:extLst>
                <a:ext uri="{FF2B5EF4-FFF2-40B4-BE49-F238E27FC236}">
                  <a16:creationId xmlns:a16="http://schemas.microsoft.com/office/drawing/2014/main" id="{CA4B56D5-7CD6-40EA-B4B1-1D4FF86117AC}"/>
                </a:ext>
              </a:extLst>
            </p:cNvPr>
            <p:cNvSpPr>
              <a:spLocks noChangeArrowheads="1"/>
            </p:cNvSpPr>
            <p:nvPr/>
          </p:nvSpPr>
          <p:spPr bwMode="auto">
            <a:xfrm>
              <a:off x="6610351" y="4394200"/>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Oval 18">
              <a:extLst>
                <a:ext uri="{FF2B5EF4-FFF2-40B4-BE49-F238E27FC236}">
                  <a16:creationId xmlns:a16="http://schemas.microsoft.com/office/drawing/2014/main" id="{4918CA82-C3E3-40F0-BF5B-65337700B999}"/>
                </a:ext>
              </a:extLst>
            </p:cNvPr>
            <p:cNvSpPr>
              <a:spLocks noChangeArrowheads="1"/>
            </p:cNvSpPr>
            <p:nvPr/>
          </p:nvSpPr>
          <p:spPr bwMode="auto">
            <a:xfrm>
              <a:off x="5073651" y="54641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Oval 19">
              <a:extLst>
                <a:ext uri="{FF2B5EF4-FFF2-40B4-BE49-F238E27FC236}">
                  <a16:creationId xmlns:a16="http://schemas.microsoft.com/office/drawing/2014/main" id="{E8743F3B-FAE8-4CF8-BACD-7CD8DB33446A}"/>
                </a:ext>
              </a:extLst>
            </p:cNvPr>
            <p:cNvSpPr>
              <a:spLocks noChangeArrowheads="1"/>
            </p:cNvSpPr>
            <p:nvPr/>
          </p:nvSpPr>
          <p:spPr bwMode="auto">
            <a:xfrm>
              <a:off x="5899151" y="4764089"/>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Oval 20">
              <a:extLst>
                <a:ext uri="{FF2B5EF4-FFF2-40B4-BE49-F238E27FC236}">
                  <a16:creationId xmlns:a16="http://schemas.microsoft.com/office/drawing/2014/main" id="{A4D63EC5-41C9-4559-856F-40CC36B57767}"/>
                </a:ext>
              </a:extLst>
            </p:cNvPr>
            <p:cNvSpPr>
              <a:spLocks noChangeArrowheads="1"/>
            </p:cNvSpPr>
            <p:nvPr/>
          </p:nvSpPr>
          <p:spPr bwMode="auto">
            <a:xfrm>
              <a:off x="6178551" y="44735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Oval 21">
              <a:extLst>
                <a:ext uri="{FF2B5EF4-FFF2-40B4-BE49-F238E27FC236}">
                  <a16:creationId xmlns:a16="http://schemas.microsoft.com/office/drawing/2014/main" id="{311323B0-8249-451D-BAD7-6C6A1B9E3777}"/>
                </a:ext>
              </a:extLst>
            </p:cNvPr>
            <p:cNvSpPr>
              <a:spLocks noChangeArrowheads="1"/>
            </p:cNvSpPr>
            <p:nvPr/>
          </p:nvSpPr>
          <p:spPr bwMode="auto">
            <a:xfrm>
              <a:off x="5416551" y="4803775"/>
              <a:ext cx="74613" cy="77788"/>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Oval 22">
              <a:extLst>
                <a:ext uri="{FF2B5EF4-FFF2-40B4-BE49-F238E27FC236}">
                  <a16:creationId xmlns:a16="http://schemas.microsoft.com/office/drawing/2014/main" id="{D57D2E1C-CEE0-4AF0-83C2-6AE97558C0BB}"/>
                </a:ext>
              </a:extLst>
            </p:cNvPr>
            <p:cNvSpPr>
              <a:spLocks noChangeArrowheads="1"/>
            </p:cNvSpPr>
            <p:nvPr/>
          </p:nvSpPr>
          <p:spPr bwMode="auto">
            <a:xfrm>
              <a:off x="6026151" y="4606925"/>
              <a:ext cx="74613" cy="76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Oval 23">
              <a:extLst>
                <a:ext uri="{FF2B5EF4-FFF2-40B4-BE49-F238E27FC236}">
                  <a16:creationId xmlns:a16="http://schemas.microsoft.com/office/drawing/2014/main" id="{CC4E136F-3045-4894-A734-14517114D552}"/>
                </a:ext>
              </a:extLst>
            </p:cNvPr>
            <p:cNvSpPr>
              <a:spLocks noChangeArrowheads="1"/>
            </p:cNvSpPr>
            <p:nvPr/>
          </p:nvSpPr>
          <p:spPr bwMode="auto">
            <a:xfrm>
              <a:off x="6140451" y="5148264"/>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Freeform 24">
              <a:extLst>
                <a:ext uri="{FF2B5EF4-FFF2-40B4-BE49-F238E27FC236}">
                  <a16:creationId xmlns:a16="http://schemas.microsoft.com/office/drawing/2014/main" id="{FA8B7D9D-36F7-4EFB-A0BD-A0D0941766BE}"/>
                </a:ext>
              </a:extLst>
            </p:cNvPr>
            <p:cNvSpPr>
              <a:spLocks/>
            </p:cNvSpPr>
            <p:nvPr/>
          </p:nvSpPr>
          <p:spPr bwMode="auto">
            <a:xfrm>
              <a:off x="4584700" y="4281489"/>
              <a:ext cx="2312988" cy="1597025"/>
            </a:xfrm>
            <a:custGeom>
              <a:avLst/>
              <a:gdLst>
                <a:gd name="T0" fmla="*/ 4 w 1457"/>
                <a:gd name="T1" fmla="*/ 796 h 968"/>
                <a:gd name="T2" fmla="*/ 212 w 1457"/>
                <a:gd name="T3" fmla="*/ 388 h 968"/>
                <a:gd name="T4" fmla="*/ 716 w 1457"/>
                <a:gd name="T5" fmla="*/ 132 h 968"/>
                <a:gd name="T6" fmla="*/ 1356 w 1457"/>
                <a:gd name="T7" fmla="*/ 20 h 968"/>
                <a:gd name="T8" fmla="*/ 1324 w 1457"/>
                <a:gd name="T9" fmla="*/ 252 h 968"/>
                <a:gd name="T10" fmla="*/ 940 w 1457"/>
                <a:gd name="T11" fmla="*/ 700 h 968"/>
                <a:gd name="T12" fmla="*/ 188 w 1457"/>
                <a:gd name="T13" fmla="*/ 948 h 968"/>
                <a:gd name="T14" fmla="*/ 4 w 1457"/>
                <a:gd name="T15" fmla="*/ 796 h 9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57" h="968">
                  <a:moveTo>
                    <a:pt x="4" y="796"/>
                  </a:moveTo>
                  <a:cubicBezTo>
                    <a:pt x="8" y="703"/>
                    <a:pt x="93" y="499"/>
                    <a:pt x="212" y="388"/>
                  </a:cubicBezTo>
                  <a:cubicBezTo>
                    <a:pt x="331" y="277"/>
                    <a:pt x="525" y="193"/>
                    <a:pt x="716" y="132"/>
                  </a:cubicBezTo>
                  <a:cubicBezTo>
                    <a:pt x="907" y="71"/>
                    <a:pt x="1255" y="0"/>
                    <a:pt x="1356" y="20"/>
                  </a:cubicBezTo>
                  <a:cubicBezTo>
                    <a:pt x="1457" y="40"/>
                    <a:pt x="1393" y="139"/>
                    <a:pt x="1324" y="252"/>
                  </a:cubicBezTo>
                  <a:cubicBezTo>
                    <a:pt x="1255" y="365"/>
                    <a:pt x="1129" y="584"/>
                    <a:pt x="940" y="700"/>
                  </a:cubicBezTo>
                  <a:cubicBezTo>
                    <a:pt x="751" y="816"/>
                    <a:pt x="344" y="928"/>
                    <a:pt x="188" y="948"/>
                  </a:cubicBezTo>
                  <a:cubicBezTo>
                    <a:pt x="32" y="968"/>
                    <a:pt x="0" y="889"/>
                    <a:pt x="4" y="796"/>
                  </a:cubicBezTo>
                  <a:close/>
                </a:path>
              </a:pathLst>
            </a:custGeom>
            <a:noFill/>
            <a:ln w="19050" cap="flat" cmpd="sng">
              <a:solidFill>
                <a:srgbClr val="FF0000"/>
              </a:solidFill>
              <a:prstDash val="dash"/>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Oval 25">
              <a:extLst>
                <a:ext uri="{FF2B5EF4-FFF2-40B4-BE49-F238E27FC236}">
                  <a16:creationId xmlns:a16="http://schemas.microsoft.com/office/drawing/2014/main" id="{57DFAD97-5755-4CEB-9D78-E6A48F1304D1}"/>
                </a:ext>
              </a:extLst>
            </p:cNvPr>
            <p:cNvSpPr>
              <a:spLocks noChangeArrowheads="1"/>
            </p:cNvSpPr>
            <p:nvPr/>
          </p:nvSpPr>
          <p:spPr bwMode="auto">
            <a:xfrm>
              <a:off x="4895851" y="5649914"/>
              <a:ext cx="74613" cy="77787"/>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MX"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Box 26">
              <a:extLst>
                <a:ext uri="{FF2B5EF4-FFF2-40B4-BE49-F238E27FC236}">
                  <a16:creationId xmlns:a16="http://schemas.microsoft.com/office/drawing/2014/main" id="{6B9C245E-09E8-4350-A793-054A8874107F}"/>
                </a:ext>
              </a:extLst>
            </p:cNvPr>
            <p:cNvSpPr txBox="1">
              <a:spLocks noChangeArrowheads="1"/>
            </p:cNvSpPr>
            <p:nvPr/>
          </p:nvSpPr>
          <p:spPr bwMode="auto">
            <a:xfrm>
              <a:off x="3902075" y="3048000"/>
              <a:ext cx="438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x</a:t>
              </a:r>
              <a:r>
                <a:rPr kumimoji="0" lang="en-US" altLang="es-MX" sz="2400" b="0" i="0" u="none" strike="noStrike" kern="1200" cap="none" spc="0" normalizeH="0" baseline="-25000" noProof="0">
                  <a:ln>
                    <a:noFill/>
                  </a:ln>
                  <a:solidFill>
                    <a:prstClr val="black"/>
                  </a:solidFill>
                  <a:effectLst/>
                  <a:uLnTx/>
                  <a:uFillTx/>
                  <a:latin typeface="Times New Roman" panose="02020603050405020304" pitchFamily="18" charset="0"/>
                  <a:ea typeface="+mn-ea"/>
                  <a:cs typeface="+mn-cs"/>
                </a:rPr>
                <a:t>2</a:t>
              </a:r>
            </a:p>
          </p:txBody>
        </p:sp>
        <p:sp>
          <p:nvSpPr>
            <p:cNvPr id="59" name="Text Box 27">
              <a:extLst>
                <a:ext uri="{FF2B5EF4-FFF2-40B4-BE49-F238E27FC236}">
                  <a16:creationId xmlns:a16="http://schemas.microsoft.com/office/drawing/2014/main" id="{D36DD1A1-D331-48F0-AB68-410AB46D5457}"/>
                </a:ext>
              </a:extLst>
            </p:cNvPr>
            <p:cNvSpPr txBox="1">
              <a:spLocks noChangeArrowheads="1"/>
            </p:cNvSpPr>
            <p:nvPr/>
          </p:nvSpPr>
          <p:spPr bwMode="auto">
            <a:xfrm>
              <a:off x="7010400" y="5791200"/>
              <a:ext cx="438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x</a:t>
              </a:r>
              <a:r>
                <a:rPr kumimoji="0" lang="en-US" altLang="es-MX" sz="2400" b="0" i="0" u="none" strike="noStrike" kern="1200" cap="none" spc="0" normalizeH="0" baseline="-25000" noProof="0">
                  <a:ln>
                    <a:noFill/>
                  </a:ln>
                  <a:solidFill>
                    <a:prstClr val="black"/>
                  </a:solidFill>
                  <a:effectLst/>
                  <a:uLnTx/>
                  <a:uFillTx/>
                  <a:latin typeface="Times New Roman" panose="02020603050405020304" pitchFamily="18" charset="0"/>
                  <a:ea typeface="+mn-ea"/>
                  <a:cs typeface="+mn-cs"/>
                </a:rPr>
                <a:t>1</a:t>
              </a:r>
            </a:p>
          </p:txBody>
        </p:sp>
        <p:sp>
          <p:nvSpPr>
            <p:cNvPr id="60" name="Text Box 28">
              <a:extLst>
                <a:ext uri="{FF2B5EF4-FFF2-40B4-BE49-F238E27FC236}">
                  <a16:creationId xmlns:a16="http://schemas.microsoft.com/office/drawing/2014/main" id="{3942B2A8-1C06-4F3A-9BE6-84E9494E73EC}"/>
                </a:ext>
              </a:extLst>
            </p:cNvPr>
            <p:cNvSpPr txBox="1">
              <a:spLocks noChangeArrowheads="1"/>
            </p:cNvSpPr>
            <p:nvPr/>
          </p:nvSpPr>
          <p:spPr bwMode="auto">
            <a:xfrm>
              <a:off x="7086600" y="3962400"/>
              <a:ext cx="3190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chemeClr val="tx1"/>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es-MX"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mn-cs"/>
                </a:rPr>
                <a:t>e</a:t>
              </a:r>
              <a:endParaRPr kumimoji="0" lang="en-US" altLang="es-MX" sz="2400" b="0" i="0" u="none" strike="noStrike" kern="1200" cap="none" spc="0" normalizeH="0" baseline="-25000" noProof="0">
                <a:ln>
                  <a:noFill/>
                </a:ln>
                <a:solidFill>
                  <a:prstClr val="black"/>
                </a:solidFill>
                <a:effectLst/>
                <a:uLnTx/>
                <a:uFillTx/>
                <a:latin typeface="Times New Roman" panose="02020603050405020304" pitchFamily="18" charset="0"/>
                <a:ea typeface="+mn-ea"/>
                <a:cs typeface="+mn-cs"/>
              </a:endParaRPr>
            </a:p>
          </p:txBody>
        </p:sp>
      </p:gr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77922" name="Rectangle 2">
            <a:extLst>
              <a:ext uri="{FF2B5EF4-FFF2-40B4-BE49-F238E27FC236}">
                <a16:creationId xmlns:a16="http://schemas.microsoft.com/office/drawing/2014/main" id="{AC644CCB-F9B4-44F6-8630-78B91B03A385}"/>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Principal Component Analysis </a:t>
            </a:r>
          </a:p>
        </p:txBody>
      </p:sp>
      <p:sp>
        <p:nvSpPr>
          <p:cNvPr id="977923" name="Rectangle 3">
            <a:extLst>
              <a:ext uri="{FF2B5EF4-FFF2-40B4-BE49-F238E27FC236}">
                <a16:creationId xmlns:a16="http://schemas.microsoft.com/office/drawing/2014/main" id="{E44508AB-B58A-4B70-A6D9-8D84D09AD656}"/>
              </a:ext>
            </a:extLst>
          </p:cNvPr>
          <p:cNvSpPr>
            <a:spLocks noGrp="1" noChangeArrowheads="1"/>
          </p:cNvSpPr>
          <p:nvPr>
            <p:ph idx="1"/>
          </p:nvPr>
        </p:nvSpPr>
        <p:spPr>
          <a:xfrm>
            <a:off x="4810259" y="649480"/>
            <a:ext cx="6555347" cy="5546047"/>
          </a:xfrm>
        </p:spPr>
        <p:txBody>
          <a:bodyPr anchor="ctr">
            <a:normAutofit/>
          </a:bodyPr>
          <a:lstStyle/>
          <a:p>
            <a:r>
              <a:rPr lang="en-US" altLang="es-MX" sz="2000"/>
              <a:t>Given N data vectors from k-dimensions, find c ≤  k  orthogonal vectors that can be best used to represent data </a:t>
            </a:r>
          </a:p>
          <a:p>
            <a:pPr lvl="1"/>
            <a:r>
              <a:rPr lang="en-US" altLang="es-MX" sz="2000">
                <a:sym typeface="Symbol" panose="05050102010706020507" pitchFamily="18" charset="2"/>
              </a:rPr>
              <a:t>The original data set is reduced to one consisting of N data vectors on c principal components (reduced dimensions) </a:t>
            </a:r>
            <a:endParaRPr lang="en-US" altLang="es-MX" sz="2000"/>
          </a:p>
          <a:p>
            <a:r>
              <a:rPr lang="en-US" altLang="es-MX" sz="2000"/>
              <a:t>Each data vector is a linear combination of the c principal component vectors</a:t>
            </a:r>
          </a:p>
          <a:p>
            <a:r>
              <a:rPr lang="en-US" altLang="es-MX" sz="2000"/>
              <a:t>Works for numeric data only</a:t>
            </a:r>
          </a:p>
          <a:p>
            <a:r>
              <a:rPr lang="en-US" altLang="es-MX" sz="2000"/>
              <a:t>Used when the number of dimensions is large</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ítulo 3">
            <a:extLst>
              <a:ext uri="{FF2B5EF4-FFF2-40B4-BE49-F238E27FC236}">
                <a16:creationId xmlns:a16="http://schemas.microsoft.com/office/drawing/2014/main" id="{41599F09-CC33-42DB-8096-7564921E4AF9}"/>
              </a:ext>
            </a:extLst>
          </p:cNvPr>
          <p:cNvSpPr>
            <a:spLocks noGrp="1"/>
          </p:cNvSpPr>
          <p:nvPr>
            <p:ph type="title"/>
          </p:nvPr>
        </p:nvSpPr>
        <p:spPr>
          <a:xfrm>
            <a:off x="586478" y="1683756"/>
            <a:ext cx="3115265" cy="2396359"/>
          </a:xfrm>
        </p:spPr>
        <p:txBody>
          <a:bodyPr anchor="b">
            <a:normAutofit/>
          </a:bodyPr>
          <a:lstStyle/>
          <a:p>
            <a:pPr algn="r"/>
            <a:r>
              <a:rPr lang="es-MX" sz="3700">
                <a:solidFill>
                  <a:srgbClr val="FFFFFF"/>
                </a:solidFill>
              </a:rPr>
              <a:t>Dimensionality reduction: PCA</a:t>
            </a:r>
          </a:p>
        </p:txBody>
      </p:sp>
      <p:pic>
        <p:nvPicPr>
          <p:cNvPr id="24" name="Picture 2">
            <a:extLst>
              <a:ext uri="{FF2B5EF4-FFF2-40B4-BE49-F238E27FC236}">
                <a16:creationId xmlns:a16="http://schemas.microsoft.com/office/drawing/2014/main" id="{21221ADF-9168-4536-AD52-9C385D7B9B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7662" y="1276350"/>
            <a:ext cx="6300787" cy="47244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3">
            <a:extLst>
              <a:ext uri="{FF2B5EF4-FFF2-40B4-BE49-F238E27FC236}">
                <a16:creationId xmlns:a16="http://schemas.microsoft.com/office/drawing/2014/main" id="{6921AE65-D9ED-4DC4-9D1D-B699D6272A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7662" y="1276350"/>
            <a:ext cx="6300787" cy="47244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4">
            <a:extLst>
              <a:ext uri="{FF2B5EF4-FFF2-40B4-BE49-F238E27FC236}">
                <a16:creationId xmlns:a16="http://schemas.microsoft.com/office/drawing/2014/main" id="{372E984C-7BED-43D7-A102-8D32ADB25E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7662" y="1276350"/>
            <a:ext cx="6300787" cy="47244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5">
            <a:extLst>
              <a:ext uri="{FF2B5EF4-FFF2-40B4-BE49-F238E27FC236}">
                <a16:creationId xmlns:a16="http://schemas.microsoft.com/office/drawing/2014/main" id="{755DFDB5-8287-4C1D-8551-5305BE9736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27662" y="1276350"/>
            <a:ext cx="6300787" cy="47244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6">
            <a:extLst>
              <a:ext uri="{FF2B5EF4-FFF2-40B4-BE49-F238E27FC236}">
                <a16:creationId xmlns:a16="http://schemas.microsoft.com/office/drawing/2014/main" id="{E0B9AE68-A111-4008-B494-213E1722F9A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27662" y="1276350"/>
            <a:ext cx="6300787" cy="47244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7">
            <a:extLst>
              <a:ext uri="{FF2B5EF4-FFF2-40B4-BE49-F238E27FC236}">
                <a16:creationId xmlns:a16="http://schemas.microsoft.com/office/drawing/2014/main" id="{0927713A-8D53-444D-B4A8-BD0A1513F3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27662" y="1276350"/>
            <a:ext cx="6300787" cy="4724400"/>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98402" name="Rectangle 2">
            <a:extLst>
              <a:ext uri="{FF2B5EF4-FFF2-40B4-BE49-F238E27FC236}">
                <a16:creationId xmlns:a16="http://schemas.microsoft.com/office/drawing/2014/main" id="{AF06854E-3D60-4CB3-A10D-E99864AA4820}"/>
              </a:ext>
            </a:extLst>
          </p:cNvPr>
          <p:cNvSpPr>
            <a:spLocks noGrp="1" noChangeArrowheads="1"/>
          </p:cNvSpPr>
          <p:nvPr>
            <p:ph type="title"/>
          </p:nvPr>
        </p:nvSpPr>
        <p:spPr>
          <a:xfrm>
            <a:off x="466722" y="586855"/>
            <a:ext cx="3201366" cy="3387497"/>
          </a:xfrm>
        </p:spPr>
        <p:txBody>
          <a:bodyPr anchor="b">
            <a:normAutofit/>
          </a:bodyPr>
          <a:lstStyle/>
          <a:p>
            <a:pPr algn="r"/>
            <a:r>
              <a:rPr lang="en-CA" altLang="zh-CN" sz="3700">
                <a:solidFill>
                  <a:srgbClr val="FFFFFF"/>
                </a:solidFill>
                <a:ea typeface="SimSun" panose="02010600030101010101" pitchFamily="2" charset="-122"/>
              </a:rPr>
              <a:t>Dimensionality Reduction: ISOMAP</a:t>
            </a:r>
            <a:endParaRPr lang="en-US" altLang="es-MX" sz="3700">
              <a:solidFill>
                <a:srgbClr val="FFFFFF"/>
              </a:solidFill>
            </a:endParaRPr>
          </a:p>
        </p:txBody>
      </p:sp>
      <p:sp>
        <p:nvSpPr>
          <p:cNvPr id="998403" name="Rectangle 3">
            <a:extLst>
              <a:ext uri="{FF2B5EF4-FFF2-40B4-BE49-F238E27FC236}">
                <a16:creationId xmlns:a16="http://schemas.microsoft.com/office/drawing/2014/main" id="{06B64FAE-DC34-49DA-BFFE-87BBE2BE0A4D}"/>
              </a:ext>
            </a:extLst>
          </p:cNvPr>
          <p:cNvSpPr>
            <a:spLocks noGrp="1" noChangeArrowheads="1"/>
          </p:cNvSpPr>
          <p:nvPr>
            <p:ph idx="1"/>
          </p:nvPr>
        </p:nvSpPr>
        <p:spPr>
          <a:xfrm>
            <a:off x="4810259" y="649480"/>
            <a:ext cx="6555347" cy="5546047"/>
          </a:xfrm>
        </p:spPr>
        <p:txBody>
          <a:bodyPr anchor="t">
            <a:normAutofit/>
          </a:bodyPr>
          <a:lstStyle/>
          <a:p>
            <a:r>
              <a:rPr lang="en-CA" altLang="zh-CN" sz="2000" dirty="0">
                <a:ea typeface="SimSun" panose="02010600030101010101" pitchFamily="2" charset="-122"/>
              </a:rPr>
              <a:t>Construct a neighbourhood graph</a:t>
            </a:r>
          </a:p>
          <a:p>
            <a:r>
              <a:rPr lang="en-CA" altLang="zh-CN" sz="2000" dirty="0">
                <a:ea typeface="SimSun" panose="02010600030101010101" pitchFamily="2" charset="-122"/>
              </a:rPr>
              <a:t>For each pair of points in the graph, compute the shortest path distances – geodesic distances</a:t>
            </a:r>
          </a:p>
        </p:txBody>
      </p:sp>
      <p:sp>
        <p:nvSpPr>
          <p:cNvPr id="15" name="Rectangle 4">
            <a:extLst>
              <a:ext uri="{FF2B5EF4-FFF2-40B4-BE49-F238E27FC236}">
                <a16:creationId xmlns:a16="http://schemas.microsoft.com/office/drawing/2014/main" id="{6661EC61-32EA-4B93-92D4-444120CDCB33}"/>
              </a:ext>
            </a:extLst>
          </p:cNvPr>
          <p:cNvSpPr>
            <a:spLocks noChangeArrowheads="1"/>
          </p:cNvSpPr>
          <p:nvPr/>
        </p:nvSpPr>
        <p:spPr bwMode="auto">
          <a:xfrm>
            <a:off x="5880730" y="2319469"/>
            <a:ext cx="35052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marL="342900" marR="0" lvl="0" indent="-342900" algn="r" defTabSz="914400" rtl="0" eaLnBrk="1" fontAlgn="auto" latinLnBrk="0" hangingPunct="1">
              <a:lnSpc>
                <a:spcPct val="100000"/>
              </a:lnSpc>
              <a:spcBef>
                <a:spcPct val="20000"/>
              </a:spcBef>
              <a:spcAft>
                <a:spcPts val="0"/>
              </a:spcAft>
              <a:buClrTx/>
              <a:buSzTx/>
              <a:buFontTx/>
              <a:buNone/>
              <a:tabLst/>
              <a:defRPr/>
            </a:pPr>
            <a:r>
              <a:rPr kumimoji="0" lang="en-US" altLang="es-MX"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mn-cs"/>
              </a:rPr>
              <a:t>By: Tenenbaum, de Silva, Langford (2000)</a:t>
            </a:r>
          </a:p>
        </p:txBody>
      </p:sp>
      <p:pic>
        <p:nvPicPr>
          <p:cNvPr id="16" name="Picture 5">
            <a:extLst>
              <a:ext uri="{FF2B5EF4-FFF2-40B4-BE49-F238E27FC236}">
                <a16:creationId xmlns:a16="http://schemas.microsoft.com/office/drawing/2014/main" id="{5A131F11-3BC8-414E-A1ED-20FBB8E5F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2130" y="3233869"/>
            <a:ext cx="38100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6" name="Rectangle 7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Freeform: Shape 8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0450" name="Rectangle 2">
            <a:extLst>
              <a:ext uri="{FF2B5EF4-FFF2-40B4-BE49-F238E27FC236}">
                <a16:creationId xmlns:a16="http://schemas.microsoft.com/office/drawing/2014/main" id="{F5C7EA8A-2EB1-4FE3-95E7-D5C89C785511}"/>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Feature Subset Selection</a:t>
            </a:r>
          </a:p>
        </p:txBody>
      </p:sp>
      <p:sp>
        <p:nvSpPr>
          <p:cNvPr id="1000451" name="Rectangle 3">
            <a:extLst>
              <a:ext uri="{FF2B5EF4-FFF2-40B4-BE49-F238E27FC236}">
                <a16:creationId xmlns:a16="http://schemas.microsoft.com/office/drawing/2014/main" id="{F22A8D1E-756C-45F6-B3F6-DE729010E96B}"/>
              </a:ext>
            </a:extLst>
          </p:cNvPr>
          <p:cNvSpPr>
            <a:spLocks noGrp="1" noChangeArrowheads="1"/>
          </p:cNvSpPr>
          <p:nvPr>
            <p:ph idx="1"/>
          </p:nvPr>
        </p:nvSpPr>
        <p:spPr>
          <a:xfrm>
            <a:off x="4810259" y="649480"/>
            <a:ext cx="6555347" cy="5546047"/>
          </a:xfrm>
        </p:spPr>
        <p:txBody>
          <a:bodyPr anchor="ctr">
            <a:normAutofit/>
          </a:bodyPr>
          <a:lstStyle/>
          <a:p>
            <a:r>
              <a:rPr lang="en-US" altLang="es-MX" sz="2000"/>
              <a:t>Another way to reduce dimensionality of data</a:t>
            </a:r>
          </a:p>
          <a:p>
            <a:r>
              <a:rPr lang="en-US" altLang="es-MX" sz="2000"/>
              <a:t>Redundant features </a:t>
            </a:r>
          </a:p>
          <a:p>
            <a:pPr lvl="1"/>
            <a:r>
              <a:rPr lang="en-US" altLang="es-MX" sz="2000"/>
              <a:t>duplicate much or all of the information contained in one or more other attributes</a:t>
            </a:r>
          </a:p>
          <a:p>
            <a:pPr lvl="1"/>
            <a:r>
              <a:rPr lang="en-US" altLang="es-MX" sz="2000"/>
              <a:t>Example: purchase price of a product and the amount of sales tax paid</a:t>
            </a:r>
          </a:p>
          <a:p>
            <a:r>
              <a:rPr lang="en-US" altLang="es-MX" sz="2000"/>
              <a:t>Irrelevant features</a:t>
            </a:r>
          </a:p>
          <a:p>
            <a:pPr lvl="1"/>
            <a:r>
              <a:rPr lang="en-US" altLang="es-MX" sz="2000"/>
              <a:t>contain no information that is useful for the data mining task at hand</a:t>
            </a:r>
          </a:p>
          <a:p>
            <a:pPr lvl="1"/>
            <a:r>
              <a:rPr lang="en-US" altLang="es-MX" sz="2000"/>
              <a:t>Example: students' ID is often irrelevant to the task of predicting students' GPA</a:t>
            </a:r>
          </a:p>
        </p:txBody>
      </p:sp>
      <p:sp>
        <p:nvSpPr>
          <p:cNvPr id="1000452" name="Text Box 4">
            <a:extLst>
              <a:ext uri="{FF2B5EF4-FFF2-40B4-BE49-F238E27FC236}">
                <a16:creationId xmlns:a16="http://schemas.microsoft.com/office/drawing/2014/main" id="{45FC4B18-1028-489F-B388-7738C324AB4A}"/>
              </a:ext>
            </a:extLst>
          </p:cNvPr>
          <p:cNvSpPr txBox="1">
            <a:spLocks noChangeArrowheads="1"/>
          </p:cNvSpPr>
          <p:nvPr/>
        </p:nvSpPr>
        <p:spPr bwMode="auto">
          <a:xfrm>
            <a:off x="3200400" y="3657600"/>
            <a:ext cx="1600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endParaRPr kumimoji="0" lang="es-MX" altLang="es-MX" sz="14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0453" name="Rectangle 5">
            <a:extLst>
              <a:ext uri="{FF2B5EF4-FFF2-40B4-BE49-F238E27FC236}">
                <a16:creationId xmlns:a16="http://schemas.microsoft.com/office/drawing/2014/main" id="{239B325A-DAE5-44A7-AC46-488C6FDB796C}"/>
              </a:ext>
            </a:extLst>
          </p:cNvPr>
          <p:cNvSpPr>
            <a:spLocks noChangeArrowheads="1"/>
          </p:cNvSpPr>
          <p:nvPr/>
        </p:nvSpPr>
        <p:spPr bwMode="auto">
          <a:xfrm>
            <a:off x="3241675" y="5984875"/>
            <a:ext cx="1841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endParaRPr kumimoji="0" lang="es-MX" altLang="es-MX" sz="1400" b="1"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2498" name="Rectangle 2">
            <a:extLst>
              <a:ext uri="{FF2B5EF4-FFF2-40B4-BE49-F238E27FC236}">
                <a16:creationId xmlns:a16="http://schemas.microsoft.com/office/drawing/2014/main" id="{7D673264-7D7F-4C09-B1B6-81AA6423C98A}"/>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Feature Subset Selection</a:t>
            </a:r>
          </a:p>
        </p:txBody>
      </p:sp>
      <p:sp>
        <p:nvSpPr>
          <p:cNvPr id="1002499" name="Rectangle 3">
            <a:extLst>
              <a:ext uri="{FF2B5EF4-FFF2-40B4-BE49-F238E27FC236}">
                <a16:creationId xmlns:a16="http://schemas.microsoft.com/office/drawing/2014/main" id="{243ECBA5-B3BF-4B86-B2E5-180B6843344E}"/>
              </a:ext>
            </a:extLst>
          </p:cNvPr>
          <p:cNvSpPr>
            <a:spLocks noGrp="1" noChangeArrowheads="1"/>
          </p:cNvSpPr>
          <p:nvPr>
            <p:ph idx="1"/>
          </p:nvPr>
        </p:nvSpPr>
        <p:spPr>
          <a:xfrm>
            <a:off x="1371599" y="2318197"/>
            <a:ext cx="9724031" cy="3683358"/>
          </a:xfrm>
        </p:spPr>
        <p:txBody>
          <a:bodyPr anchor="ctr">
            <a:normAutofit/>
          </a:bodyPr>
          <a:lstStyle/>
          <a:p>
            <a:r>
              <a:rPr lang="en-US" altLang="es-MX" sz="2000"/>
              <a:t>Techniques:</a:t>
            </a:r>
          </a:p>
          <a:p>
            <a:pPr lvl="1"/>
            <a:r>
              <a:rPr lang="en-US" altLang="es-MX" sz="2000"/>
              <a:t>Brute-force approch:</a:t>
            </a:r>
          </a:p>
          <a:p>
            <a:pPr lvl="2"/>
            <a:r>
              <a:rPr lang="en-US" altLang="es-MX"/>
              <a:t>Try all possible feature subsets as input to data mining algorithm</a:t>
            </a:r>
          </a:p>
          <a:p>
            <a:pPr lvl="1"/>
            <a:r>
              <a:rPr lang="en-US" altLang="es-MX" sz="2000"/>
              <a:t>Embedded approaches:</a:t>
            </a:r>
          </a:p>
          <a:p>
            <a:pPr lvl="2"/>
            <a:r>
              <a:rPr lang="en-US" altLang="es-MX"/>
              <a:t> Feature selection occurs naturally as part of the data mining algorithm</a:t>
            </a:r>
          </a:p>
          <a:p>
            <a:pPr lvl="1"/>
            <a:r>
              <a:rPr lang="en-US" altLang="es-MX" sz="2000"/>
              <a:t>Filter approaches:</a:t>
            </a:r>
          </a:p>
          <a:p>
            <a:pPr lvl="2"/>
            <a:r>
              <a:rPr lang="en-US" altLang="es-MX"/>
              <a:t> Features are selected before data mining algorithm is run</a:t>
            </a:r>
          </a:p>
          <a:p>
            <a:pPr lvl="1"/>
            <a:r>
              <a:rPr lang="en-US" altLang="es-MX" sz="2000"/>
              <a:t>Wrapper approaches:</a:t>
            </a:r>
          </a:p>
          <a:p>
            <a:pPr lvl="2"/>
            <a:r>
              <a:rPr lang="en-US" altLang="es-MX"/>
              <a:t> Use the data mining algorithm as a black box to find best subset of attributes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03522" name="Rectangle 2">
            <a:extLst>
              <a:ext uri="{FF2B5EF4-FFF2-40B4-BE49-F238E27FC236}">
                <a16:creationId xmlns:a16="http://schemas.microsoft.com/office/drawing/2014/main" id="{5B29A16F-48E6-4BE7-96B8-0CFE33000486}"/>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Feature Creation</a:t>
            </a:r>
          </a:p>
        </p:txBody>
      </p:sp>
      <p:sp>
        <p:nvSpPr>
          <p:cNvPr id="1003523" name="Rectangle 3">
            <a:extLst>
              <a:ext uri="{FF2B5EF4-FFF2-40B4-BE49-F238E27FC236}">
                <a16:creationId xmlns:a16="http://schemas.microsoft.com/office/drawing/2014/main" id="{E51FAAFC-30D5-4922-9DE8-3113B16350AB}"/>
              </a:ext>
            </a:extLst>
          </p:cNvPr>
          <p:cNvSpPr>
            <a:spLocks noGrp="1" noChangeArrowheads="1"/>
          </p:cNvSpPr>
          <p:nvPr>
            <p:ph idx="1"/>
          </p:nvPr>
        </p:nvSpPr>
        <p:spPr>
          <a:xfrm>
            <a:off x="1371599" y="2318197"/>
            <a:ext cx="9724031" cy="3683358"/>
          </a:xfrm>
        </p:spPr>
        <p:txBody>
          <a:bodyPr anchor="ctr">
            <a:normAutofit/>
          </a:bodyPr>
          <a:lstStyle/>
          <a:p>
            <a:r>
              <a:rPr lang="en-US" altLang="es-MX" sz="2000"/>
              <a:t>Create new attributes that can capture the important information in a data set much more efficiently than the original attributes</a:t>
            </a:r>
          </a:p>
          <a:p>
            <a:r>
              <a:rPr lang="en-US" altLang="es-MX" sz="2000"/>
              <a:t>Three general methodologies:</a:t>
            </a:r>
          </a:p>
          <a:p>
            <a:pPr lvl="1"/>
            <a:r>
              <a:rPr lang="en-US" altLang="es-MX" sz="2000"/>
              <a:t>Feature Extraction</a:t>
            </a:r>
          </a:p>
          <a:p>
            <a:pPr lvl="2"/>
            <a:r>
              <a:rPr lang="en-US" altLang="es-MX"/>
              <a:t> domain-specific</a:t>
            </a:r>
          </a:p>
          <a:p>
            <a:pPr lvl="1"/>
            <a:r>
              <a:rPr lang="en-US" altLang="es-MX" sz="2000"/>
              <a:t>Mapping Data to New Space</a:t>
            </a:r>
          </a:p>
          <a:p>
            <a:pPr lvl="1"/>
            <a:r>
              <a:rPr lang="en-US" altLang="es-MX" sz="2000"/>
              <a:t>Feature Construction</a:t>
            </a:r>
          </a:p>
          <a:p>
            <a:pPr lvl="2"/>
            <a:r>
              <a:rPr lang="en-US" altLang="es-MX"/>
              <a:t> combining features </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Rectangle 7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85090" name="Rectangle 2">
            <a:extLst>
              <a:ext uri="{FF2B5EF4-FFF2-40B4-BE49-F238E27FC236}">
                <a16:creationId xmlns:a16="http://schemas.microsoft.com/office/drawing/2014/main" id="{11F68EBE-9969-47AB-95FF-7CEF76012EF7}"/>
              </a:ext>
            </a:extLst>
          </p:cNvPr>
          <p:cNvSpPr>
            <a:spLocks noGrp="1" noChangeArrowheads="1"/>
          </p:cNvSpPr>
          <p:nvPr>
            <p:ph type="title"/>
          </p:nvPr>
        </p:nvSpPr>
        <p:spPr>
          <a:xfrm>
            <a:off x="1371599" y="294538"/>
            <a:ext cx="9895951" cy="1033669"/>
          </a:xfrm>
        </p:spPr>
        <p:txBody>
          <a:bodyPr>
            <a:normAutofit/>
          </a:bodyPr>
          <a:lstStyle/>
          <a:p>
            <a:r>
              <a:rPr lang="en-US" altLang="es-MX" sz="4000">
                <a:solidFill>
                  <a:srgbClr val="FFFFFF"/>
                </a:solidFill>
              </a:rPr>
              <a:t>Sampling</a:t>
            </a:r>
          </a:p>
        </p:txBody>
      </p:sp>
      <p:sp>
        <p:nvSpPr>
          <p:cNvPr id="985091" name="Rectangle 3">
            <a:extLst>
              <a:ext uri="{FF2B5EF4-FFF2-40B4-BE49-F238E27FC236}">
                <a16:creationId xmlns:a16="http://schemas.microsoft.com/office/drawing/2014/main" id="{731678EC-CB20-4AD2-9AD9-08A018689B86}"/>
              </a:ext>
            </a:extLst>
          </p:cNvPr>
          <p:cNvSpPr>
            <a:spLocks noGrp="1" noChangeArrowheads="1"/>
          </p:cNvSpPr>
          <p:nvPr>
            <p:ph type="body" idx="1"/>
          </p:nvPr>
        </p:nvSpPr>
        <p:spPr>
          <a:xfrm>
            <a:off x="1371599" y="2318197"/>
            <a:ext cx="9724031" cy="3683358"/>
          </a:xfrm>
        </p:spPr>
        <p:txBody>
          <a:bodyPr anchor="ctr">
            <a:normAutofit/>
          </a:bodyPr>
          <a:lstStyle/>
          <a:p>
            <a:r>
              <a:rPr lang="en-US" altLang="es-MX" sz="2000"/>
              <a:t>Allow a mining algorithm to run in complexity that is potentially sub-linear to the size of the data</a:t>
            </a:r>
          </a:p>
          <a:p>
            <a:r>
              <a:rPr lang="en-US" altLang="es-MX" sz="2000"/>
              <a:t>Choose a representative subset of the data</a:t>
            </a:r>
          </a:p>
          <a:p>
            <a:pPr lvl="1"/>
            <a:r>
              <a:rPr lang="en-US" altLang="es-MX" sz="2000"/>
              <a:t>Simple random sampling may have very poor performance in the presence of skew</a:t>
            </a:r>
          </a:p>
          <a:p>
            <a:r>
              <a:rPr lang="en-US" altLang="es-MX" sz="2000"/>
              <a:t>Develop adaptive sampling methods</a:t>
            </a:r>
          </a:p>
          <a:p>
            <a:pPr lvl="1"/>
            <a:r>
              <a:rPr lang="en-US" altLang="es-MX" sz="2000"/>
              <a:t>Stratified sampling: </a:t>
            </a:r>
          </a:p>
          <a:p>
            <a:pPr lvl="2"/>
            <a:r>
              <a:rPr lang="en-US" altLang="es-MX"/>
              <a:t>Approximate the percentage of each class (or subpopulation of interest) in the overall database </a:t>
            </a:r>
          </a:p>
          <a:p>
            <a:pPr lvl="2"/>
            <a:r>
              <a:rPr lang="en-US" altLang="es-MX"/>
              <a:t>Used in conjunction with skewed data</a:t>
            </a:r>
          </a:p>
          <a:p>
            <a:r>
              <a:rPr lang="en-US" altLang="es-MX" sz="2000"/>
              <a:t>Sampling may not reduce database I/Os (page at a time).</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5458" name="Rectangle 2">
            <a:extLst>
              <a:ext uri="{FF2B5EF4-FFF2-40B4-BE49-F238E27FC236}">
                <a16:creationId xmlns:a16="http://schemas.microsoft.com/office/drawing/2014/main" id="{154B45AA-63E7-44EB-9E3D-9114DF14E2F9}"/>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Sampling </a:t>
            </a:r>
          </a:p>
        </p:txBody>
      </p:sp>
      <p:sp>
        <p:nvSpPr>
          <p:cNvPr id="915459" name="Rectangle 3">
            <a:extLst>
              <a:ext uri="{FF2B5EF4-FFF2-40B4-BE49-F238E27FC236}">
                <a16:creationId xmlns:a16="http://schemas.microsoft.com/office/drawing/2014/main" id="{55108897-B1D0-4F44-B967-7CC57091D783}"/>
              </a:ext>
            </a:extLst>
          </p:cNvPr>
          <p:cNvSpPr>
            <a:spLocks noGrp="1" noChangeArrowheads="1"/>
          </p:cNvSpPr>
          <p:nvPr>
            <p:ph type="body" idx="1"/>
          </p:nvPr>
        </p:nvSpPr>
        <p:spPr>
          <a:xfrm>
            <a:off x="4810259" y="649480"/>
            <a:ext cx="6555347" cy="5546047"/>
          </a:xfrm>
        </p:spPr>
        <p:txBody>
          <a:bodyPr anchor="ctr">
            <a:normAutofit/>
          </a:bodyPr>
          <a:lstStyle/>
          <a:p>
            <a:r>
              <a:rPr lang="en-US" altLang="es-MX" sz="2000"/>
              <a:t>Sampling is the main technique employed for data selection.</a:t>
            </a:r>
          </a:p>
          <a:p>
            <a:pPr lvl="1"/>
            <a:r>
              <a:rPr lang="en-US" altLang="es-MX" sz="2000"/>
              <a:t>It is often used for both the preliminary investigation of the data and the final data analysis.</a:t>
            </a:r>
          </a:p>
          <a:p>
            <a:r>
              <a:rPr lang="en-US" altLang="es-MX" sz="2000"/>
              <a:t>Statisticians sample because obtaining the entire set of data of interest is too expensive or time consuming.</a:t>
            </a:r>
          </a:p>
          <a:p>
            <a:r>
              <a:rPr lang="en-US" altLang="es-MX" sz="2000"/>
              <a:t>Sampling is used in data mining because processing the entire set of data of interest is too expensive or time consuming.</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2E17E911-875F-4DE5-8699-99D9F1805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1" name="Freeform: Shape 80">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3" name="Rectangle 82">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7506" name="Rectangle 2">
            <a:extLst>
              <a:ext uri="{FF2B5EF4-FFF2-40B4-BE49-F238E27FC236}">
                <a16:creationId xmlns:a16="http://schemas.microsoft.com/office/drawing/2014/main" id="{F975984F-38B3-4D83-8087-546E0E040EEA}"/>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Sampling</a:t>
            </a:r>
          </a:p>
        </p:txBody>
      </p:sp>
      <p:sp>
        <p:nvSpPr>
          <p:cNvPr id="917507" name="Rectangle 3">
            <a:extLst>
              <a:ext uri="{FF2B5EF4-FFF2-40B4-BE49-F238E27FC236}">
                <a16:creationId xmlns:a16="http://schemas.microsoft.com/office/drawing/2014/main" id="{8737CC07-F53A-461C-AE83-2682AF5EC173}"/>
              </a:ext>
            </a:extLst>
          </p:cNvPr>
          <p:cNvSpPr>
            <a:spLocks noGrp="1" noChangeArrowheads="1"/>
          </p:cNvSpPr>
          <p:nvPr>
            <p:ph type="body" idx="1"/>
          </p:nvPr>
        </p:nvSpPr>
        <p:spPr>
          <a:xfrm>
            <a:off x="4581727" y="649480"/>
            <a:ext cx="3025303" cy="5546047"/>
          </a:xfrm>
        </p:spPr>
        <p:txBody>
          <a:bodyPr anchor="ctr">
            <a:normAutofit/>
          </a:bodyPr>
          <a:lstStyle/>
          <a:p>
            <a:r>
              <a:rPr lang="en-US" altLang="es-MX" sz="2000"/>
              <a:t>The key principle for effective sampling is the following: </a:t>
            </a:r>
          </a:p>
          <a:p>
            <a:pPr lvl="1"/>
            <a:r>
              <a:rPr lang="en-US" altLang="es-MX" sz="2000"/>
              <a:t>using a sample will work almost as well as using the entire data sets, if the sample is representative</a:t>
            </a:r>
          </a:p>
          <a:p>
            <a:pPr lvl="1"/>
            <a:r>
              <a:rPr lang="en-US" altLang="es-MX" sz="2000"/>
              <a:t>A sample is representative if it has approximately the same property (of interest) as the original set of data  </a:t>
            </a:r>
          </a:p>
        </p:txBody>
      </p:sp>
      <p:pic>
        <p:nvPicPr>
          <p:cNvPr id="917509" name="Picture 917508" descr="Magnifying glass showing decling performance">
            <a:extLst>
              <a:ext uri="{FF2B5EF4-FFF2-40B4-BE49-F238E27FC236}">
                <a16:creationId xmlns:a16="http://schemas.microsoft.com/office/drawing/2014/main" id="{8E198C65-21C6-4ADF-8433-80837336A96A}"/>
              </a:ext>
            </a:extLst>
          </p:cNvPr>
          <p:cNvPicPr>
            <a:picLocks noChangeAspect="1"/>
          </p:cNvPicPr>
          <p:nvPr/>
        </p:nvPicPr>
        <p:blipFill rotWithShape="1">
          <a:blip r:embed="rId3"/>
          <a:srcRect l="14850" r="45414" b="-1"/>
          <a:stretch/>
        </p:blipFill>
        <p:spPr>
          <a:xfrm>
            <a:off x="8109502" y="10"/>
            <a:ext cx="4082498" cy="685799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19554" name="Rectangle 2">
            <a:extLst>
              <a:ext uri="{FF2B5EF4-FFF2-40B4-BE49-F238E27FC236}">
                <a16:creationId xmlns:a16="http://schemas.microsoft.com/office/drawing/2014/main" id="{DC653016-6049-41B0-9657-D990264F0698}"/>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Types of Sampling</a:t>
            </a:r>
          </a:p>
        </p:txBody>
      </p:sp>
      <p:sp>
        <p:nvSpPr>
          <p:cNvPr id="919555" name="Rectangle 3">
            <a:extLst>
              <a:ext uri="{FF2B5EF4-FFF2-40B4-BE49-F238E27FC236}">
                <a16:creationId xmlns:a16="http://schemas.microsoft.com/office/drawing/2014/main" id="{252A1C93-0C21-41AE-907A-6DAD1FF82C66}"/>
              </a:ext>
            </a:extLst>
          </p:cNvPr>
          <p:cNvSpPr>
            <a:spLocks noGrp="1" noChangeArrowheads="1"/>
          </p:cNvSpPr>
          <p:nvPr>
            <p:ph type="body" idx="1"/>
          </p:nvPr>
        </p:nvSpPr>
        <p:spPr>
          <a:xfrm>
            <a:off x="4810259" y="649480"/>
            <a:ext cx="6555347" cy="5546047"/>
          </a:xfrm>
        </p:spPr>
        <p:txBody>
          <a:bodyPr anchor="ctr">
            <a:normAutofit/>
          </a:bodyPr>
          <a:lstStyle/>
          <a:p>
            <a:r>
              <a:rPr lang="en-US" altLang="es-MX" sz="2000"/>
              <a:t>Simple Random Sampling</a:t>
            </a:r>
          </a:p>
          <a:p>
            <a:pPr lvl="1"/>
            <a:r>
              <a:rPr lang="en-US" altLang="es-MX" sz="2000"/>
              <a:t>There is an equal probability of selecting any particular item</a:t>
            </a:r>
          </a:p>
          <a:p>
            <a:r>
              <a:rPr lang="en-US" altLang="es-MX" sz="2000"/>
              <a:t>Sampling without replacement</a:t>
            </a:r>
          </a:p>
          <a:p>
            <a:pPr lvl="1"/>
            <a:r>
              <a:rPr lang="en-US" altLang="es-MX" sz="2000"/>
              <a:t>As each item is selected, it is removed from the population</a:t>
            </a:r>
          </a:p>
          <a:p>
            <a:r>
              <a:rPr lang="en-US" altLang="es-MX" sz="2000"/>
              <a:t>Sampling with replacement</a:t>
            </a:r>
          </a:p>
          <a:p>
            <a:pPr lvl="1"/>
            <a:r>
              <a:rPr lang="en-US" altLang="es-MX" sz="2000"/>
              <a:t>Objects are not removed from the population as they are selected for the sample.   </a:t>
            </a:r>
          </a:p>
          <a:p>
            <a:pPr lvl="2"/>
            <a:r>
              <a:rPr lang="en-US" altLang="es-MX"/>
              <a:t>In sampling with replacement, the same object can be picked up more than once</a:t>
            </a:r>
          </a:p>
          <a:p>
            <a:r>
              <a:rPr lang="en-US" altLang="es-MX" sz="2000"/>
              <a:t>Stratified sampling</a:t>
            </a:r>
          </a:p>
          <a:p>
            <a:pPr lvl="1"/>
            <a:r>
              <a:rPr lang="en-US" altLang="es-MX" sz="2000"/>
              <a:t>Split the data into several partitions; then draw random samples from each partition</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1602" name="Rectangle 2">
            <a:extLst>
              <a:ext uri="{FF2B5EF4-FFF2-40B4-BE49-F238E27FC236}">
                <a16:creationId xmlns:a16="http://schemas.microsoft.com/office/drawing/2014/main" id="{6F46C3F5-8FCE-4565-9F41-E864C0F5FB70}"/>
              </a:ext>
            </a:extLst>
          </p:cNvPr>
          <p:cNvSpPr>
            <a:spLocks noGrp="1" noChangeArrowheads="1"/>
          </p:cNvSpPr>
          <p:nvPr>
            <p:ph type="title"/>
          </p:nvPr>
        </p:nvSpPr>
        <p:spPr>
          <a:xfrm>
            <a:off x="1136397" y="502021"/>
            <a:ext cx="4959603" cy="1642969"/>
          </a:xfrm>
        </p:spPr>
        <p:txBody>
          <a:bodyPr anchor="b">
            <a:normAutofit/>
          </a:bodyPr>
          <a:lstStyle/>
          <a:p>
            <a:r>
              <a:rPr lang="en-US" altLang="es-MX" sz="4000"/>
              <a:t>Sample Size</a:t>
            </a:r>
          </a:p>
        </p:txBody>
      </p:sp>
      <p:sp>
        <p:nvSpPr>
          <p:cNvPr id="137" name="Rectangle 136">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9" name="Rectangle 138">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9" name="Grupo 28">
            <a:extLst>
              <a:ext uri="{FF2B5EF4-FFF2-40B4-BE49-F238E27FC236}">
                <a16:creationId xmlns:a16="http://schemas.microsoft.com/office/drawing/2014/main" id="{4D6C4462-F4BA-42ED-B97F-62D229A998B7}"/>
              </a:ext>
            </a:extLst>
          </p:cNvPr>
          <p:cNvGrpSpPr/>
          <p:nvPr/>
        </p:nvGrpSpPr>
        <p:grpSpPr>
          <a:xfrm>
            <a:off x="2019300" y="2371726"/>
            <a:ext cx="8534400" cy="3047999"/>
            <a:chOff x="1981200" y="1752601"/>
            <a:chExt cx="8534400" cy="3047999"/>
          </a:xfrm>
        </p:grpSpPr>
        <p:pic>
          <p:nvPicPr>
            <p:cNvPr id="30" name="Picture 4">
              <a:extLst>
                <a:ext uri="{FF2B5EF4-FFF2-40B4-BE49-F238E27FC236}">
                  <a16:creationId xmlns:a16="http://schemas.microsoft.com/office/drawing/2014/main" id="{E6150860-1BEF-403E-85AF-905D2EF652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422" r="12462"/>
            <a:stretch>
              <a:fillRect/>
            </a:stretch>
          </p:blipFill>
          <p:spPr bwMode="auto">
            <a:xfrm>
              <a:off x="1981200" y="1752601"/>
              <a:ext cx="2819400" cy="274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5">
              <a:extLst>
                <a:ext uri="{FF2B5EF4-FFF2-40B4-BE49-F238E27FC236}">
                  <a16:creationId xmlns:a16="http://schemas.microsoft.com/office/drawing/2014/main" id="{A095658E-D691-4466-B2E7-3AECB62833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0422" t="13898" r="14546" b="11060"/>
            <a:stretch>
              <a:fillRect/>
            </a:stretch>
          </p:blipFill>
          <p:spPr bwMode="auto">
            <a:xfrm>
              <a:off x="4800600" y="2209800"/>
              <a:ext cx="27432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 name="Picture 6">
              <a:extLst>
                <a:ext uri="{FF2B5EF4-FFF2-40B4-BE49-F238E27FC236}">
                  <a16:creationId xmlns:a16="http://schemas.microsoft.com/office/drawing/2014/main" id="{8388462D-3D49-4908-BAD2-823DA96419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1681" r="13287"/>
            <a:stretch>
              <a:fillRect/>
            </a:stretch>
          </p:blipFill>
          <p:spPr bwMode="auto">
            <a:xfrm>
              <a:off x="7620000" y="1828801"/>
              <a:ext cx="2743200" cy="274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3" name="Text Box 7">
              <a:extLst>
                <a:ext uri="{FF2B5EF4-FFF2-40B4-BE49-F238E27FC236}">
                  <a16:creationId xmlns:a16="http://schemas.microsoft.com/office/drawing/2014/main" id="{C0F49F2D-E6DC-4B0B-8A86-4145F0C9F6FC}"/>
                </a:ext>
              </a:extLst>
            </p:cNvPr>
            <p:cNvSpPr txBox="1">
              <a:spLocks noChangeArrowheads="1"/>
            </p:cNvSpPr>
            <p:nvPr/>
          </p:nvSpPr>
          <p:spPr bwMode="auto">
            <a:xfrm>
              <a:off x="2438400" y="4495800"/>
              <a:ext cx="80772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0" fontAlgn="auto" latinLnBrk="0" hangingPunct="0">
                <a:lnSpc>
                  <a:spcPct val="100000"/>
                </a:lnSpc>
                <a:spcBef>
                  <a:spcPct val="50000"/>
                </a:spcBef>
                <a:spcAft>
                  <a:spcPts val="0"/>
                </a:spcAft>
                <a:buClrTx/>
                <a:buSzTx/>
                <a:buFontTx/>
                <a:buNone/>
                <a:tabLst/>
                <a:defRPr/>
              </a:pPr>
              <a:r>
                <a:rPr kumimoji="0" lang="en-US" altLang="es-MX" sz="1400" b="1" i="0" u="none" strike="noStrike" kern="1200" cap="none" spc="0" normalizeH="0" baseline="0" noProof="0" dirty="0">
                  <a:ln>
                    <a:noFill/>
                  </a:ln>
                  <a:solidFill>
                    <a:prstClr val="black"/>
                  </a:solidFill>
                  <a:effectLst/>
                  <a:uLnTx/>
                  <a:uFillTx/>
                  <a:latin typeface="Calibri" panose="020F0502020204030204"/>
                  <a:ea typeface="+mn-ea"/>
                  <a:cs typeface="+mn-cs"/>
                </a:rPr>
                <a:t>8000 points		                           2000 Points		            500 Points</a:t>
              </a:r>
            </a:p>
          </p:txBody>
        </p:sp>
      </p:gr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3650" name="Rectangle 2">
            <a:extLst>
              <a:ext uri="{FF2B5EF4-FFF2-40B4-BE49-F238E27FC236}">
                <a16:creationId xmlns:a16="http://schemas.microsoft.com/office/drawing/2014/main" id="{6892CFE7-2015-425E-9E8A-6F8D1EFCF4AA}"/>
              </a:ext>
            </a:extLst>
          </p:cNvPr>
          <p:cNvSpPr>
            <a:spLocks noGrp="1" noChangeArrowheads="1"/>
          </p:cNvSpPr>
          <p:nvPr>
            <p:ph type="title"/>
          </p:nvPr>
        </p:nvSpPr>
        <p:spPr>
          <a:xfrm>
            <a:off x="699714" y="353160"/>
            <a:ext cx="7091300" cy="898581"/>
          </a:xfrm>
        </p:spPr>
        <p:txBody>
          <a:bodyPr vert="horz" lIns="91440" tIns="45720" rIns="91440" bIns="45720" rtlCol="0" anchor="ctr">
            <a:normAutofit/>
          </a:bodyPr>
          <a:lstStyle/>
          <a:p>
            <a:r>
              <a:rPr lang="en-US" altLang="es-MX" sz="4000">
                <a:solidFill>
                  <a:srgbClr val="FFFFFF"/>
                </a:solidFill>
              </a:rPr>
              <a:t>Sample Size</a:t>
            </a:r>
          </a:p>
        </p:txBody>
      </p:sp>
      <p:sp>
        <p:nvSpPr>
          <p:cNvPr id="923651" name="Rectangle 3">
            <a:extLst>
              <a:ext uri="{FF2B5EF4-FFF2-40B4-BE49-F238E27FC236}">
                <a16:creationId xmlns:a16="http://schemas.microsoft.com/office/drawing/2014/main" id="{6925C65A-30D0-4FFC-963B-2C6603D56ED7}"/>
              </a:ext>
            </a:extLst>
          </p:cNvPr>
          <p:cNvSpPr>
            <a:spLocks noGrp="1" noChangeArrowheads="1"/>
          </p:cNvSpPr>
          <p:nvPr>
            <p:ph type="body" idx="1"/>
          </p:nvPr>
        </p:nvSpPr>
        <p:spPr>
          <a:xfrm>
            <a:off x="8571507" y="387224"/>
            <a:ext cx="3291839" cy="830453"/>
          </a:xfrm>
        </p:spPr>
        <p:txBody>
          <a:bodyPr vert="horz" lIns="91440" tIns="45720" rIns="91440" bIns="45720" rtlCol="0" anchor="ctr">
            <a:normAutofit/>
          </a:bodyPr>
          <a:lstStyle/>
          <a:p>
            <a:pPr marL="0" indent="0">
              <a:buNone/>
            </a:pPr>
            <a:r>
              <a:rPr lang="en-US" altLang="es-MX" sz="1700">
                <a:solidFill>
                  <a:srgbClr val="FFFFFF"/>
                </a:solidFill>
              </a:rPr>
              <a:t>What sample size is necessary to get at least one object from each of 10 groups.</a:t>
            </a:r>
          </a:p>
        </p:txBody>
      </p:sp>
      <p:pic>
        <p:nvPicPr>
          <p:cNvPr id="923653" name="Picture 5">
            <a:extLst>
              <a:ext uri="{FF2B5EF4-FFF2-40B4-BE49-F238E27FC236}">
                <a16:creationId xmlns:a16="http://schemas.microsoft.com/office/drawing/2014/main" id="{B3F0723B-6646-4E01-A7CB-DEB6B18D8F3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15748" y="2256086"/>
            <a:ext cx="5131088" cy="3848316"/>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3652" name="Picture 4">
            <a:extLst>
              <a:ext uri="{FF2B5EF4-FFF2-40B4-BE49-F238E27FC236}">
                <a16:creationId xmlns:a16="http://schemas.microsoft.com/office/drawing/2014/main" id="{D7B747AD-BF1A-47BB-8DDC-19FEDA0B79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4552"/>
          <a:stretch>
            <a:fillRect/>
          </a:stretch>
        </p:blipFill>
        <p:spPr bwMode="auto">
          <a:xfrm>
            <a:off x="6345165" y="2217815"/>
            <a:ext cx="4554756" cy="3997831"/>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6" name="Rectangle 7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Freeform: Shape 8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4836" name="Rectangle 4">
            <a:extLst>
              <a:ext uri="{FF2B5EF4-FFF2-40B4-BE49-F238E27FC236}">
                <a16:creationId xmlns:a16="http://schemas.microsoft.com/office/drawing/2014/main" id="{2A7555CB-1A14-4C85-BA09-359460BE3A76}"/>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Discretization</a:t>
            </a:r>
          </a:p>
        </p:txBody>
      </p:sp>
      <p:sp>
        <p:nvSpPr>
          <p:cNvPr id="504837" name="Rectangle 5">
            <a:extLst>
              <a:ext uri="{FF2B5EF4-FFF2-40B4-BE49-F238E27FC236}">
                <a16:creationId xmlns:a16="http://schemas.microsoft.com/office/drawing/2014/main" id="{CB5D342F-77CD-4DB4-B830-7E2D89BB42EC}"/>
              </a:ext>
            </a:extLst>
          </p:cNvPr>
          <p:cNvSpPr>
            <a:spLocks noGrp="1" noChangeArrowheads="1"/>
          </p:cNvSpPr>
          <p:nvPr>
            <p:ph idx="1"/>
          </p:nvPr>
        </p:nvSpPr>
        <p:spPr>
          <a:xfrm>
            <a:off x="4810259" y="649480"/>
            <a:ext cx="6555347" cy="5546047"/>
          </a:xfrm>
        </p:spPr>
        <p:txBody>
          <a:bodyPr anchor="ctr">
            <a:normAutofit/>
          </a:bodyPr>
          <a:lstStyle/>
          <a:p>
            <a:r>
              <a:rPr lang="en-US" altLang="es-MX" sz="2000"/>
              <a:t>Three types of attributes:</a:t>
            </a:r>
          </a:p>
          <a:p>
            <a:pPr lvl="1"/>
            <a:r>
              <a:rPr lang="en-US" altLang="es-MX" sz="2000"/>
              <a:t>Nominal — values from an unordered set</a:t>
            </a:r>
          </a:p>
          <a:p>
            <a:pPr lvl="1"/>
            <a:r>
              <a:rPr lang="en-US" altLang="es-MX" sz="2000"/>
              <a:t>Ordinal — values from an ordered set</a:t>
            </a:r>
          </a:p>
          <a:p>
            <a:pPr lvl="1"/>
            <a:r>
              <a:rPr lang="en-US" altLang="es-MX" sz="2000"/>
              <a:t>Continuous — real numbers</a:t>
            </a:r>
          </a:p>
          <a:p>
            <a:r>
              <a:rPr lang="en-US" altLang="es-MX" sz="2000"/>
              <a:t>Discretization: </a:t>
            </a:r>
          </a:p>
          <a:p>
            <a:pPr lvl="1"/>
            <a:r>
              <a:rPr lang="en-US" altLang="es-MX" sz="2000"/>
              <a:t>divide the range of a continuous attribute into intervals</a:t>
            </a:r>
          </a:p>
          <a:p>
            <a:pPr lvl="1"/>
            <a:r>
              <a:rPr lang="en-US" altLang="es-MX" sz="2000"/>
              <a:t>Some classification algorithms only accept categorical attributes.</a:t>
            </a:r>
          </a:p>
          <a:p>
            <a:pPr lvl="1"/>
            <a:r>
              <a:rPr lang="en-US" altLang="es-MX" sz="2000"/>
              <a:t>Reduce data size by discretization</a:t>
            </a:r>
          </a:p>
          <a:p>
            <a:pPr lvl="1"/>
            <a:r>
              <a:rPr lang="en-US" altLang="es-MX" sz="2000"/>
              <a:t>Prepare for further analysis</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6" name="Rectangle 7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Freeform: Shape 8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5860" name="Rectangle 4">
            <a:extLst>
              <a:ext uri="{FF2B5EF4-FFF2-40B4-BE49-F238E27FC236}">
                <a16:creationId xmlns:a16="http://schemas.microsoft.com/office/drawing/2014/main" id="{0A46DFCC-F93C-4091-B511-E447B8BCCAD0}"/>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Discretization and Concept hierachy</a:t>
            </a:r>
          </a:p>
        </p:txBody>
      </p:sp>
      <p:sp>
        <p:nvSpPr>
          <p:cNvPr id="505861" name="Rectangle 5">
            <a:extLst>
              <a:ext uri="{FF2B5EF4-FFF2-40B4-BE49-F238E27FC236}">
                <a16:creationId xmlns:a16="http://schemas.microsoft.com/office/drawing/2014/main" id="{03527041-47BB-4B63-9E41-469CE30E2613}"/>
              </a:ext>
            </a:extLst>
          </p:cNvPr>
          <p:cNvSpPr>
            <a:spLocks noGrp="1" noChangeArrowheads="1"/>
          </p:cNvSpPr>
          <p:nvPr>
            <p:ph idx="1"/>
          </p:nvPr>
        </p:nvSpPr>
        <p:spPr>
          <a:xfrm>
            <a:off x="4810259" y="649480"/>
            <a:ext cx="6555347" cy="5546047"/>
          </a:xfrm>
        </p:spPr>
        <p:txBody>
          <a:bodyPr anchor="ctr">
            <a:normAutofit/>
          </a:bodyPr>
          <a:lstStyle/>
          <a:p>
            <a:r>
              <a:rPr lang="en-US" altLang="es-MX" sz="2000"/>
              <a:t>Discretization </a:t>
            </a:r>
          </a:p>
          <a:p>
            <a:pPr lvl="1"/>
            <a:r>
              <a:rPr lang="en-US" altLang="es-MX" sz="2000"/>
              <a:t>reduce the number of values for a given continuous attribute by dividing the range of the attribute into intervals. Interval labels can then be used to replace actual data values</a:t>
            </a:r>
          </a:p>
          <a:p>
            <a:r>
              <a:rPr lang="en-US" altLang="es-MX" sz="2000"/>
              <a:t>Concept hierarchies </a:t>
            </a:r>
          </a:p>
          <a:p>
            <a:pPr lvl="1"/>
            <a:r>
              <a:rPr lang="en-US" altLang="es-MX" sz="2000"/>
              <a:t>reduce the data by collecting and replacing low level concepts (such as numeric values for the attribute age) by higher level concepts (such as young, middle-aged, or senior)</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6" name="Rectangle 7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Freeform: Shape 8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6884" name="Rectangle 4">
            <a:extLst>
              <a:ext uri="{FF2B5EF4-FFF2-40B4-BE49-F238E27FC236}">
                <a16:creationId xmlns:a16="http://schemas.microsoft.com/office/drawing/2014/main" id="{DE7AC7A4-7C31-4977-8B02-4D93FDB86E57}"/>
              </a:ext>
            </a:extLst>
          </p:cNvPr>
          <p:cNvSpPr>
            <a:spLocks noGrp="1" noChangeArrowheads="1"/>
          </p:cNvSpPr>
          <p:nvPr>
            <p:ph type="title"/>
          </p:nvPr>
        </p:nvSpPr>
        <p:spPr>
          <a:xfrm>
            <a:off x="466722" y="586855"/>
            <a:ext cx="3201366" cy="3387497"/>
          </a:xfrm>
        </p:spPr>
        <p:txBody>
          <a:bodyPr anchor="b">
            <a:normAutofit/>
          </a:bodyPr>
          <a:lstStyle/>
          <a:p>
            <a:pPr algn="r"/>
            <a:r>
              <a:rPr lang="en-US" altLang="es-MX" sz="4000">
                <a:solidFill>
                  <a:srgbClr val="FFFFFF"/>
                </a:solidFill>
              </a:rPr>
              <a:t>Discretization and Concept Hierarchy Generation for Numeric Data</a:t>
            </a:r>
          </a:p>
        </p:txBody>
      </p:sp>
      <p:sp>
        <p:nvSpPr>
          <p:cNvPr id="506885" name="Rectangle 5">
            <a:extLst>
              <a:ext uri="{FF2B5EF4-FFF2-40B4-BE49-F238E27FC236}">
                <a16:creationId xmlns:a16="http://schemas.microsoft.com/office/drawing/2014/main" id="{099613A3-F21E-45E9-92FB-CEFF8E8BF142}"/>
              </a:ext>
            </a:extLst>
          </p:cNvPr>
          <p:cNvSpPr>
            <a:spLocks noGrp="1" noChangeArrowheads="1"/>
          </p:cNvSpPr>
          <p:nvPr>
            <p:ph idx="1"/>
          </p:nvPr>
        </p:nvSpPr>
        <p:spPr>
          <a:xfrm>
            <a:off x="4810259" y="649480"/>
            <a:ext cx="6555347" cy="5546047"/>
          </a:xfrm>
        </p:spPr>
        <p:txBody>
          <a:bodyPr anchor="ctr">
            <a:normAutofit/>
          </a:bodyPr>
          <a:lstStyle/>
          <a:p>
            <a:r>
              <a:rPr lang="en-US" altLang="es-MX" sz="2000"/>
              <a:t>Binning (see sections before)</a:t>
            </a:r>
          </a:p>
          <a:p>
            <a:r>
              <a:rPr lang="en-US" altLang="es-MX" sz="2000"/>
              <a:t>Histogram analysis (see sections before)</a:t>
            </a:r>
          </a:p>
          <a:p>
            <a:r>
              <a:rPr lang="en-US" altLang="es-MX" sz="2000"/>
              <a:t>Clustering analysis (see sections before)</a:t>
            </a:r>
          </a:p>
          <a:p>
            <a:r>
              <a:rPr lang="en-US" altLang="es-MX" sz="2000"/>
              <a:t>Entropy-based discretization</a:t>
            </a:r>
          </a:p>
          <a:p>
            <a:r>
              <a:rPr lang="en-US" altLang="es-MX" sz="2000"/>
              <a:t>Segmentation by natural partitioning</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835AE6C-F4FD-4D22-AABC-3C36A59AB009}"/>
              </a:ext>
            </a:extLst>
          </p:cNvPr>
          <p:cNvSpPr>
            <a:spLocks noGrp="1"/>
          </p:cNvSpPr>
          <p:nvPr>
            <p:ph type="title"/>
          </p:nvPr>
        </p:nvSpPr>
        <p:spPr>
          <a:xfrm>
            <a:off x="5596501" y="489508"/>
            <a:ext cx="5754896" cy="1667569"/>
          </a:xfrm>
        </p:spPr>
        <p:txBody>
          <a:bodyPr anchor="b">
            <a:normAutofit/>
          </a:bodyPr>
          <a:lstStyle/>
          <a:p>
            <a:r>
              <a:rPr lang="es-MX" sz="4000" dirty="0"/>
              <a:t>Actividad 1 - Titanic</a:t>
            </a:r>
          </a:p>
        </p:txBody>
      </p:sp>
      <p:pic>
        <p:nvPicPr>
          <p:cNvPr id="1028" name="Picture 4">
            <a:extLst>
              <a:ext uri="{FF2B5EF4-FFF2-40B4-BE49-F238E27FC236}">
                <a16:creationId xmlns:a16="http://schemas.microsoft.com/office/drawing/2014/main" id="{7555DE3F-28A6-4B3F-88FA-8A2665C6B1B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25" r="-3" b="-3"/>
          <a:stretch/>
        </p:blipFill>
        <p:spPr bwMode="auto">
          <a:xfrm>
            <a:off x="1068130" y="1685961"/>
            <a:ext cx="3876165" cy="3054382"/>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6CAE011D-02D3-4568-935E-3F92AEEB8BD6}"/>
              </a:ext>
            </a:extLst>
          </p:cNvPr>
          <p:cNvSpPr>
            <a:spLocks noGrp="1"/>
          </p:cNvSpPr>
          <p:nvPr>
            <p:ph idx="1"/>
          </p:nvPr>
        </p:nvSpPr>
        <p:spPr>
          <a:xfrm>
            <a:off x="5596502" y="2405894"/>
            <a:ext cx="5754896" cy="3197464"/>
          </a:xfrm>
        </p:spPr>
        <p:txBody>
          <a:bodyPr anchor="t">
            <a:normAutofit fontScale="92500" lnSpcReduction="20000"/>
          </a:bodyPr>
          <a:lstStyle/>
          <a:p>
            <a:r>
              <a:rPr lang="es-MX" sz="1400" dirty="0"/>
              <a:t>El RMS </a:t>
            </a:r>
            <a:r>
              <a:rPr lang="es-MX" sz="1400" dirty="0" err="1"/>
              <a:t>Titanic</a:t>
            </a:r>
            <a:r>
              <a:rPr lang="es-MX" sz="1400" dirty="0"/>
              <a:t>​ fue un transatlántico británico, el mayor barco de pasajeros del mundo al finalizar su construcción, que se hundió durante la noche del 14 y la madrugada del 15 de abril de 1912 durante su viaje inaugural desde Southampton a Nueva York. En el hundimiento del </a:t>
            </a:r>
            <a:r>
              <a:rPr lang="es-MX" sz="1400" dirty="0" err="1"/>
              <a:t>Titanic</a:t>
            </a:r>
            <a:r>
              <a:rPr lang="es-MX" sz="1400" dirty="0"/>
              <a:t> murieron 1496 personas de las 2208 que iban a bordo, lo que convierte a esta catástrofe en uno de los mayores naufragios de la historia ocurridos en tiempos de paz. Entre sus pasajeros estaban algunas de las personas más ricas del mundo, además de cientos de inmigrantes de nacionalidad irlandesa, británica y escandinava que iban en busca de una mejor vida en Norteamérica.</a:t>
            </a:r>
          </a:p>
          <a:p>
            <a:r>
              <a:rPr lang="es-MX" sz="1400" dirty="0"/>
              <a:t>El barco fue diseñado para ser lo último en lujo y comodidad, y contaba con gimnasio, piscina cubierta, biblioteca, restaurantes de lujo y opulentos camarotes para los viajeros de primera clase, así como con una potente estación de telegrafía disponible para el uso de pasajeros y tripulantes. Sumado a todo esto, el barco estaba equipado con algunas medidas de seguridad avanzadas para la época, como los mamparos de su casco y compuertas estancas activadas a distancia. Sin embargo otras medidas resultaron insuficientes ya que solo portaba botes salvavidas para 1178 pasajeros, poco más de la mitad de los que iban a bordo en su viaje inaugural y un tercio de su capacidad total de 3547 personas.</a:t>
            </a:r>
          </a:p>
        </p:txBody>
      </p:sp>
      <p:sp>
        <p:nvSpPr>
          <p:cNvPr id="193" name="Rectangle 192">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4" name="Rectangle 193">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504523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3835AE6C-F4FD-4D22-AABC-3C36A59AB009}"/>
              </a:ext>
            </a:extLst>
          </p:cNvPr>
          <p:cNvSpPr>
            <a:spLocks noGrp="1"/>
          </p:cNvSpPr>
          <p:nvPr>
            <p:ph type="title"/>
          </p:nvPr>
        </p:nvSpPr>
        <p:spPr>
          <a:xfrm>
            <a:off x="5596501" y="489508"/>
            <a:ext cx="5754896" cy="1667569"/>
          </a:xfrm>
        </p:spPr>
        <p:txBody>
          <a:bodyPr anchor="b">
            <a:normAutofit/>
          </a:bodyPr>
          <a:lstStyle/>
          <a:p>
            <a:r>
              <a:rPr lang="es-MX" sz="4000" dirty="0"/>
              <a:t>Actividad 1 - Titanic</a:t>
            </a:r>
          </a:p>
        </p:txBody>
      </p:sp>
      <p:pic>
        <p:nvPicPr>
          <p:cNvPr id="1030" name="Picture 6" descr="YouTube viral: Esta es el triste motivo por la cual el Titanic no puede ser  retirado del fondo del mar | Video | Viral | YT | Redes Sociales | Estados  Unidos | La República">
            <a:extLst>
              <a:ext uri="{FF2B5EF4-FFF2-40B4-BE49-F238E27FC236}">
                <a16:creationId xmlns:a16="http://schemas.microsoft.com/office/drawing/2014/main" id="{A01AECE5-CC38-4ADE-A46E-1EC964224B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29" t="-1" r="327" b="2"/>
          <a:stretch/>
        </p:blipFill>
        <p:spPr bwMode="auto">
          <a:xfrm>
            <a:off x="1068130" y="2129893"/>
            <a:ext cx="3876165" cy="2166519"/>
          </a:xfrm>
          <a:prstGeom prst="rect">
            <a:avLst/>
          </a:prstGeom>
          <a:noFill/>
          <a:extLst>
            <a:ext uri="{909E8E84-426E-40DD-AFC4-6F175D3DCCD1}">
              <a14:hiddenFill xmlns:a14="http://schemas.microsoft.com/office/drawing/2010/main">
                <a:solidFill>
                  <a:srgbClr val="FFFFFF"/>
                </a:solidFill>
              </a14:hiddenFill>
            </a:ext>
          </a:extLst>
        </p:spPr>
      </p:pic>
      <p:sp>
        <p:nvSpPr>
          <p:cNvPr id="3" name="Marcador de contenido 2">
            <a:extLst>
              <a:ext uri="{FF2B5EF4-FFF2-40B4-BE49-F238E27FC236}">
                <a16:creationId xmlns:a16="http://schemas.microsoft.com/office/drawing/2014/main" id="{6CAE011D-02D3-4568-935E-3F92AEEB8BD6}"/>
              </a:ext>
            </a:extLst>
          </p:cNvPr>
          <p:cNvSpPr>
            <a:spLocks noGrp="1"/>
          </p:cNvSpPr>
          <p:nvPr>
            <p:ph idx="1"/>
          </p:nvPr>
        </p:nvSpPr>
        <p:spPr>
          <a:xfrm>
            <a:off x="5596502" y="2405894"/>
            <a:ext cx="5754896" cy="3197464"/>
          </a:xfrm>
        </p:spPr>
        <p:txBody>
          <a:bodyPr anchor="t">
            <a:noAutofit/>
          </a:bodyPr>
          <a:lstStyle/>
          <a:p>
            <a:r>
              <a:rPr lang="es-MX" sz="1100" dirty="0"/>
              <a:t>Tras zarpar de Southampton el 10 de abril de 1912, el </a:t>
            </a:r>
            <a:r>
              <a:rPr lang="es-MX" sz="1100" dirty="0" err="1"/>
              <a:t>Titanic</a:t>
            </a:r>
            <a:r>
              <a:rPr lang="es-MX" sz="1100" dirty="0"/>
              <a:t> recaló en Cherburgo (Francia) y en </a:t>
            </a:r>
            <a:r>
              <a:rPr lang="es-MX" sz="1100" dirty="0" err="1"/>
              <a:t>Queenstown</a:t>
            </a:r>
            <a:r>
              <a:rPr lang="es-MX" sz="1100" dirty="0"/>
              <a:t> (actual </a:t>
            </a:r>
            <a:r>
              <a:rPr lang="es-MX" sz="1100" dirty="0" err="1"/>
              <a:t>Cobh</a:t>
            </a:r>
            <a:r>
              <a:rPr lang="es-MX" sz="1100" dirty="0"/>
              <a:t>) en Irlanda, antes de poner rumbo al océano Atlántico. A las 23:40 del 14 de abril, cuatro días después de zarpar y a unos 600 km al sur de Terranova, el </a:t>
            </a:r>
            <a:r>
              <a:rPr lang="es-MX" sz="1100" dirty="0" err="1"/>
              <a:t>Titanic</a:t>
            </a:r>
            <a:r>
              <a:rPr lang="es-MX" sz="1100" dirty="0"/>
              <a:t> chocó con un iceberg. La colisión abrió varias planchas del casco en el lado de estribor bajo la línea de flotación, a lo largo de cinco de sus dieciséis mamparos, que comenzaron a inundarse. Durante dos horas y media, el barco se fue hundiendo gradualmente por su sección de proa mientras la popa se elevaba, y en este tiempo varios cientos de pasajeros y tripulantes fueron evacuados en los botes salvavidas, de los cuales casi ninguno fue llenado hasta su máxima capacidad. Un número muy elevado de hombres perecieron debido al estricto protocolo de salvamento que se siguió en el proceso de evacuación, conocido como «Las mujeres y los niños primero». Poco antes de las 2:20 del 15 de abril, el barco se partió en dos y se hundió con cientos de personas todavía a bordo. La mayoría de los que quedaron flotando en la superficie fallecieron de hipotermia, aunque algunos consiguieron ser rescatados por los botes salvavidas. Los 712 supervivientes fueron recogidos por el transatlántico RMS Carpathia unas horas después.</a:t>
            </a:r>
          </a:p>
          <a:p>
            <a:r>
              <a:rPr lang="es-MX" sz="1100" dirty="0"/>
              <a:t>Los restos del </a:t>
            </a:r>
            <a:r>
              <a:rPr lang="es-MX" sz="1100" dirty="0" err="1"/>
              <a:t>Titanic</a:t>
            </a:r>
            <a:r>
              <a:rPr lang="es-MX" sz="1100" dirty="0"/>
              <a:t> fue descubierto el 1 de septiembre de 1985 por el oceanógrafo estadounidense Robert Ballard en el fondo del Atlántico Norte a una profundidad de 3784 metros. Los restos están muy dañados y sufren un progresivo deterioro, pero desde su descubrimiento han sido recuperados miles de objetos del barco del fondo del mar y estos están en exposición en numerosos museos del mundo.</a:t>
            </a:r>
          </a:p>
        </p:txBody>
      </p:sp>
      <p:sp>
        <p:nvSpPr>
          <p:cNvPr id="77" name="Rectangle 76">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932038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9A124F9-AD74-4E23-84CE-3C0A3912A2CD}"/>
              </a:ext>
            </a:extLst>
          </p:cNvPr>
          <p:cNvSpPr>
            <a:spLocks noGrp="1"/>
          </p:cNvSpPr>
          <p:nvPr>
            <p:ph type="title"/>
          </p:nvPr>
        </p:nvSpPr>
        <p:spPr>
          <a:xfrm>
            <a:off x="1136397" y="502021"/>
            <a:ext cx="9688296" cy="1642969"/>
          </a:xfrm>
        </p:spPr>
        <p:txBody>
          <a:bodyPr anchor="b">
            <a:normAutofit/>
          </a:bodyPr>
          <a:lstStyle/>
          <a:p>
            <a:r>
              <a:rPr lang="es-MX" sz="4000" dirty="0"/>
              <a:t>Actividad 1 - Titanic</a:t>
            </a:r>
          </a:p>
        </p:txBody>
      </p:sp>
      <p:sp>
        <p:nvSpPr>
          <p:cNvPr id="3" name="Marcador de contenido 2">
            <a:extLst>
              <a:ext uri="{FF2B5EF4-FFF2-40B4-BE49-F238E27FC236}">
                <a16:creationId xmlns:a16="http://schemas.microsoft.com/office/drawing/2014/main" id="{19638478-8187-4386-A07C-95D0D02263A5}"/>
              </a:ext>
            </a:extLst>
          </p:cNvPr>
          <p:cNvSpPr>
            <a:spLocks noGrp="1"/>
          </p:cNvSpPr>
          <p:nvPr>
            <p:ph idx="1"/>
          </p:nvPr>
        </p:nvSpPr>
        <p:spPr>
          <a:xfrm>
            <a:off x="1136397" y="2418409"/>
            <a:ext cx="9688296" cy="3454358"/>
          </a:xfrm>
        </p:spPr>
        <p:txBody>
          <a:bodyPr anchor="t">
            <a:normAutofit/>
          </a:bodyPr>
          <a:lstStyle/>
          <a:p>
            <a:pPr marL="514350" indent="-514350">
              <a:buFont typeface="+mj-lt"/>
              <a:buAutoNum type="arabicPeriod"/>
            </a:pPr>
            <a:r>
              <a:rPr lang="es-MX" sz="2000"/>
              <a:t>¿Cuáles eran los tipos de pasajeros (edades, género, clase...) en el Titanic?</a:t>
            </a:r>
          </a:p>
          <a:p>
            <a:pPr marL="514350" indent="-514350">
              <a:buFont typeface="+mj-lt"/>
              <a:buAutoNum type="arabicPeriod"/>
            </a:pPr>
            <a:r>
              <a:rPr lang="es-MX" sz="2000"/>
              <a:t>¿Cuál es la cubierta de los pasajeros y cómo se relaciona con la clase y el índice de supervivencia?</a:t>
            </a:r>
          </a:p>
          <a:p>
            <a:pPr marL="514350" indent="-514350">
              <a:buFont typeface="+mj-lt"/>
              <a:buAutoNum type="arabicPeriod"/>
            </a:pPr>
            <a:r>
              <a:rPr lang="es-MX" sz="2000"/>
              <a:t>¿Cuál es el lugar de embarque de los pasajeros?</a:t>
            </a:r>
          </a:p>
          <a:p>
            <a:pPr marL="514350" indent="-514350">
              <a:buFont typeface="+mj-lt"/>
              <a:buAutoNum type="arabicPeriod"/>
            </a:pPr>
            <a:r>
              <a:rPr lang="es-MX" sz="2000"/>
              <a:t>¿Cuántas personas viajaban solas o con familia y qué relación tiene con la supervivencia?</a:t>
            </a:r>
          </a:p>
          <a:p>
            <a:pPr marL="514350" indent="-514350">
              <a:buFont typeface="+mj-lt"/>
              <a:buAutoNum type="arabicPeriod"/>
            </a:pPr>
            <a:r>
              <a:rPr lang="es-MX" sz="2000"/>
              <a:t>¿Qué factores ayudaron a alguien a sobrevivir al hundimiento?</a:t>
            </a:r>
          </a:p>
        </p:txBody>
      </p:sp>
      <p:sp>
        <p:nvSpPr>
          <p:cNvPr id="10" name="Rectangle 9">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906357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567</TotalTime>
  <Words>7399</Words>
  <Application>Microsoft Office PowerPoint</Application>
  <PresentationFormat>Panorámica</PresentationFormat>
  <Paragraphs>1183</Paragraphs>
  <Slides>120</Slides>
  <Notes>33</Notes>
  <HiddenSlides>8</HiddenSlides>
  <MMClips>0</MMClips>
  <ScaleCrop>false</ScaleCrop>
  <HeadingPairs>
    <vt:vector size="8" baseType="variant">
      <vt:variant>
        <vt:lpstr>Fuentes usadas</vt:lpstr>
      </vt:variant>
      <vt:variant>
        <vt:i4>9</vt:i4>
      </vt:variant>
      <vt:variant>
        <vt:lpstr>Tema</vt:lpstr>
      </vt:variant>
      <vt:variant>
        <vt:i4>2</vt:i4>
      </vt:variant>
      <vt:variant>
        <vt:lpstr>Servidores OLE incrustados</vt:lpstr>
      </vt:variant>
      <vt:variant>
        <vt:i4>5</vt:i4>
      </vt:variant>
      <vt:variant>
        <vt:lpstr>Títulos de diapositiva</vt:lpstr>
      </vt:variant>
      <vt:variant>
        <vt:i4>120</vt:i4>
      </vt:variant>
    </vt:vector>
  </HeadingPairs>
  <TitlesOfParts>
    <vt:vector size="136" baseType="lpstr">
      <vt:lpstr>SimSun</vt:lpstr>
      <vt:lpstr>Arial</vt:lpstr>
      <vt:lpstr>Calibri</vt:lpstr>
      <vt:lpstr>Calibri Light</vt:lpstr>
      <vt:lpstr>Cambria Math</vt:lpstr>
      <vt:lpstr>Courier</vt:lpstr>
      <vt:lpstr>Symbol</vt:lpstr>
      <vt:lpstr>Times New Roman</vt:lpstr>
      <vt:lpstr>Wingdings</vt:lpstr>
      <vt:lpstr>Tema de Office</vt:lpstr>
      <vt:lpstr>1_Tema de Office</vt:lpstr>
      <vt:lpstr>Picture</vt:lpstr>
      <vt:lpstr>Document</vt:lpstr>
      <vt:lpstr>VISIO</vt:lpstr>
      <vt:lpstr>Visio</vt:lpstr>
      <vt:lpstr>Equation</vt:lpstr>
      <vt:lpstr>Manejo de tablas en Python</vt:lpstr>
      <vt:lpstr>Agenda</vt:lpstr>
      <vt:lpstr>Introduction</vt:lpstr>
      <vt:lpstr>Introduction</vt:lpstr>
      <vt:lpstr>Exploratory Data Analysis 1977</vt:lpstr>
      <vt:lpstr>Aim of the EDA</vt:lpstr>
      <vt:lpstr>Aim of the EDA</vt:lpstr>
      <vt:lpstr>Exploratory vs Confirmatory Data Analysis</vt:lpstr>
      <vt:lpstr>Pipleline of EDA</vt:lpstr>
      <vt:lpstr>After EDA</vt:lpstr>
      <vt:lpstr>Classification of EDA*</vt:lpstr>
      <vt:lpstr>Types of exploratory data analysis</vt:lpstr>
      <vt:lpstr>Example</vt:lpstr>
      <vt:lpstr>What is data?</vt:lpstr>
      <vt:lpstr>What is a measurement?</vt:lpstr>
      <vt:lpstr>Organizing your data in a spreadsheet</vt:lpstr>
      <vt:lpstr>Variable Summaries</vt:lpstr>
      <vt:lpstr>The Mean</vt:lpstr>
      <vt:lpstr>The Variance: Sum of the squared deviations divided by number of scores</vt:lpstr>
      <vt:lpstr>The Variance: Sum of the squared deviations divided by number of scores</vt:lpstr>
      <vt:lpstr>Variance continued</vt:lpstr>
      <vt:lpstr>Distribution</vt:lpstr>
      <vt:lpstr>What is “normal” anyway?</vt:lpstr>
      <vt:lpstr>Standard deviation</vt:lpstr>
      <vt:lpstr>Standard deviation</vt:lpstr>
      <vt:lpstr>Interpreting standard deviation (SD)</vt:lpstr>
      <vt:lpstr>Interpreting standard deviation (SD)</vt:lpstr>
      <vt:lpstr>Standardized scores (Z)</vt:lpstr>
      <vt:lpstr>Standardized normal distribution</vt:lpstr>
      <vt:lpstr>The trouble with normal</vt:lpstr>
      <vt:lpstr>Following</vt:lpstr>
      <vt:lpstr>Checking data</vt:lpstr>
      <vt:lpstr>Visual display of univariate data</vt:lpstr>
      <vt:lpstr>Visual display of univariate data</vt:lpstr>
      <vt:lpstr>Histograms</vt:lpstr>
      <vt:lpstr>Boxplots</vt:lpstr>
      <vt:lpstr>Quantile-Quantile (Q-Q) Plots</vt:lpstr>
      <vt:lpstr>Q-Q Plots</vt:lpstr>
      <vt:lpstr>So…what do you do?</vt:lpstr>
      <vt:lpstr>Dealing with Outliers</vt:lpstr>
      <vt:lpstr>Dealing with skewed distributions</vt:lpstr>
      <vt:lpstr>Visual Display of Bivariate Data</vt:lpstr>
      <vt:lpstr>Visual Displays of Bivariate Data</vt:lpstr>
      <vt:lpstr>Scales of Graphs</vt:lpstr>
      <vt:lpstr>Steps in Data Exploration and Processing</vt:lpstr>
      <vt:lpstr>Summary</vt:lpstr>
      <vt:lpstr>Trabajo con datos</vt:lpstr>
      <vt:lpstr>Introducción</vt:lpstr>
      <vt:lpstr>Why Data Preprocessing?</vt:lpstr>
      <vt:lpstr>Why Is Data Dirty?</vt:lpstr>
      <vt:lpstr>Why Is Data Preprocessing Important?</vt:lpstr>
      <vt:lpstr>Multi-Dimensional Measure of Data Quality</vt:lpstr>
      <vt:lpstr>Major Tasks in Data Preprocessing</vt:lpstr>
      <vt:lpstr>Data Cleaning</vt:lpstr>
      <vt:lpstr>Missing Data</vt:lpstr>
      <vt:lpstr>How to Handle Missing Data?</vt:lpstr>
      <vt:lpstr>What is Data?</vt:lpstr>
      <vt:lpstr>Attribute Values</vt:lpstr>
      <vt:lpstr>Types of Attributes </vt:lpstr>
      <vt:lpstr>Properties of Attribute Values </vt:lpstr>
      <vt:lpstr>Presentación de PowerPoint</vt:lpstr>
      <vt:lpstr>Presentación de PowerPoint</vt:lpstr>
      <vt:lpstr>Discrete and Continuous Attributes </vt:lpstr>
      <vt:lpstr>Types of data sets </vt:lpstr>
      <vt:lpstr>Important Characteristics of Structured Data</vt:lpstr>
      <vt:lpstr>Record Data </vt:lpstr>
      <vt:lpstr>Data Matrix </vt:lpstr>
      <vt:lpstr>Document Data</vt:lpstr>
      <vt:lpstr>Transaction Data</vt:lpstr>
      <vt:lpstr>Graph Data </vt:lpstr>
      <vt:lpstr>Chemical Data </vt:lpstr>
      <vt:lpstr>Ordered Data </vt:lpstr>
      <vt:lpstr>Ordered Data </vt:lpstr>
      <vt:lpstr>Ordered Data</vt:lpstr>
      <vt:lpstr>Data Quality </vt:lpstr>
      <vt:lpstr>Noise</vt:lpstr>
      <vt:lpstr>Outliers</vt:lpstr>
      <vt:lpstr>Missing Values</vt:lpstr>
      <vt:lpstr>Duplicate Data</vt:lpstr>
      <vt:lpstr>Noisy Data</vt:lpstr>
      <vt:lpstr>How to Handle Noisy Data?</vt:lpstr>
      <vt:lpstr>Simple Discretization Methods: Binning</vt:lpstr>
      <vt:lpstr>Binning Methods for Data Smoothing</vt:lpstr>
      <vt:lpstr>Cluster Analysis</vt:lpstr>
      <vt:lpstr>Regression</vt:lpstr>
      <vt:lpstr>Data Integration</vt:lpstr>
      <vt:lpstr>Handling Redundancy in Data Integration</vt:lpstr>
      <vt:lpstr>Data Transformation</vt:lpstr>
      <vt:lpstr>Data Transformation: Normalization</vt:lpstr>
      <vt:lpstr>Data Preprocessing</vt:lpstr>
      <vt:lpstr>Aggregation</vt:lpstr>
      <vt:lpstr>Aggregation</vt:lpstr>
      <vt:lpstr>Data Reduction Strategies</vt:lpstr>
      <vt:lpstr>Data Cube Aggregation</vt:lpstr>
      <vt:lpstr>Dimensionality Reduction</vt:lpstr>
      <vt:lpstr>Data Compression</vt:lpstr>
      <vt:lpstr>Data Compression</vt:lpstr>
      <vt:lpstr>Curse of Dimensionality</vt:lpstr>
      <vt:lpstr>Dimensionality Reduction</vt:lpstr>
      <vt:lpstr>Principal Component Analysis</vt:lpstr>
      <vt:lpstr>Dimensionality Reduction: PCA</vt:lpstr>
      <vt:lpstr>Dimensionality Reduction: PCA</vt:lpstr>
      <vt:lpstr>Principal Component Analysis </vt:lpstr>
      <vt:lpstr>Dimensionality reduction: PCA</vt:lpstr>
      <vt:lpstr>Dimensionality Reduction: ISOMAP</vt:lpstr>
      <vt:lpstr>Feature Subset Selection</vt:lpstr>
      <vt:lpstr>Feature Subset Selection</vt:lpstr>
      <vt:lpstr>Feature Creation</vt:lpstr>
      <vt:lpstr>Sampling</vt:lpstr>
      <vt:lpstr>Sampling </vt:lpstr>
      <vt:lpstr>Sampling</vt:lpstr>
      <vt:lpstr>Types of Sampling</vt:lpstr>
      <vt:lpstr>Sample Size</vt:lpstr>
      <vt:lpstr>Sample Size</vt:lpstr>
      <vt:lpstr>Discretization</vt:lpstr>
      <vt:lpstr>Discretization and Concept hierachy</vt:lpstr>
      <vt:lpstr>Discretization and Concept Hierarchy Generation for Numeric Data</vt:lpstr>
      <vt:lpstr>Actividad 1 - Titanic</vt:lpstr>
      <vt:lpstr>Actividad 1 - Titanic</vt:lpstr>
      <vt:lpstr>Actividad 1 - Titanic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Estadística descriptiva</dc:title>
  <dc:creator>Bustio Martínez Lázaro</dc:creator>
  <cp:lastModifiedBy>Bustio Martínez Lázaro</cp:lastModifiedBy>
  <cp:revision>127</cp:revision>
  <dcterms:created xsi:type="dcterms:W3CDTF">2021-07-26T22:02:36Z</dcterms:created>
  <dcterms:modified xsi:type="dcterms:W3CDTF">2024-06-25T02:53:13Z</dcterms:modified>
</cp:coreProperties>
</file>