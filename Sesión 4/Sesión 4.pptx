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7"/>
  </p:notesMasterIdLst>
  <p:sldIdLst>
    <p:sldId id="256" r:id="rId2"/>
    <p:sldId id="257" r:id="rId3"/>
    <p:sldId id="258" r:id="rId4"/>
    <p:sldId id="260" r:id="rId5"/>
    <p:sldId id="261" r:id="rId6"/>
    <p:sldId id="262" r:id="rId7"/>
    <p:sldId id="263" r:id="rId8"/>
    <p:sldId id="264" r:id="rId9"/>
    <p:sldId id="265" r:id="rId10"/>
    <p:sldId id="266" r:id="rId11"/>
    <p:sldId id="289" r:id="rId12"/>
    <p:sldId id="290" r:id="rId13"/>
    <p:sldId id="291" r:id="rId14"/>
    <p:sldId id="292" r:id="rId15"/>
    <p:sldId id="293" r:id="rId16"/>
    <p:sldId id="294" r:id="rId17"/>
    <p:sldId id="295" r:id="rId18"/>
    <p:sldId id="296" r:id="rId19"/>
    <p:sldId id="267" r:id="rId20"/>
    <p:sldId id="268" r:id="rId21"/>
    <p:sldId id="269" r:id="rId22"/>
    <p:sldId id="270" r:id="rId23"/>
    <p:sldId id="271" r:id="rId24"/>
    <p:sldId id="272" r:id="rId25"/>
    <p:sldId id="273" r:id="rId26"/>
    <p:sldId id="317"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314" r:id="rId43"/>
    <p:sldId id="322" r:id="rId44"/>
    <p:sldId id="315" r:id="rId45"/>
    <p:sldId id="316" r:id="rId4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30"/>
    <p:restoredTop sz="94710"/>
  </p:normalViewPr>
  <p:slideViewPr>
    <p:cSldViewPr snapToGrid="0">
      <p:cViewPr varScale="1">
        <p:scale>
          <a:sx n="101" d="100"/>
          <a:sy n="101" d="100"/>
        </p:scale>
        <p:origin x="64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ata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CCCB45-F806-49CD-BD42-BDC98AB57EA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75C55C5-6C42-4D24-A462-0FC4A136C1BD}">
      <dgm:prSet/>
      <dgm:spPr/>
      <dgm:t>
        <a:bodyPr/>
        <a:lstStyle/>
        <a:p>
          <a:r>
            <a:rPr lang="es-MX" dirty="0"/>
            <a:t>Las formas en que se estructura y visualiza la información están cambiando rápidamente y se vuelven más complejas cada día. </a:t>
          </a:r>
          <a:endParaRPr lang="en-US" dirty="0"/>
        </a:p>
      </dgm:t>
    </dgm:pt>
    <dgm:pt modelId="{2232ADB4-A084-4A5B-935E-B59C4332E06C}" type="parTrans" cxnId="{7919B969-BF2C-4442-BF76-4569E002D7F7}">
      <dgm:prSet/>
      <dgm:spPr/>
      <dgm:t>
        <a:bodyPr/>
        <a:lstStyle/>
        <a:p>
          <a:endParaRPr lang="en-US"/>
        </a:p>
      </dgm:t>
    </dgm:pt>
    <dgm:pt modelId="{A1FC209F-6E79-4558-B44F-11618F0DB037}" type="sibTrans" cxnId="{7919B969-BF2C-4442-BF76-4569E002D7F7}">
      <dgm:prSet/>
      <dgm:spPr/>
      <dgm:t>
        <a:bodyPr/>
        <a:lstStyle/>
        <a:p>
          <a:endParaRPr lang="en-US"/>
        </a:p>
      </dgm:t>
    </dgm:pt>
    <dgm:pt modelId="{CE6EBC07-4DA4-4FAF-AED9-B72F1776795F}">
      <dgm:prSet/>
      <dgm:spPr/>
      <dgm:t>
        <a:bodyPr/>
        <a:lstStyle/>
        <a:p>
          <a:r>
            <a:rPr lang="es-MX"/>
            <a:t>Auge de las redes sociales</a:t>
          </a:r>
          <a:endParaRPr lang="en-US"/>
        </a:p>
      </dgm:t>
    </dgm:pt>
    <dgm:pt modelId="{F79AC880-3BB3-4D1F-A3D8-7064A0D5EEE3}" type="parTrans" cxnId="{1C659AB9-E22E-4670-999F-23E87F6CF893}">
      <dgm:prSet/>
      <dgm:spPr/>
      <dgm:t>
        <a:bodyPr/>
        <a:lstStyle/>
        <a:p>
          <a:endParaRPr lang="en-US"/>
        </a:p>
      </dgm:t>
    </dgm:pt>
    <dgm:pt modelId="{CAD9464D-94F6-4A15-A0EB-BFA01E7B8FBF}" type="sibTrans" cxnId="{1C659AB9-E22E-4670-999F-23E87F6CF893}">
      <dgm:prSet/>
      <dgm:spPr/>
      <dgm:t>
        <a:bodyPr/>
        <a:lstStyle/>
        <a:p>
          <a:endParaRPr lang="en-US"/>
        </a:p>
      </dgm:t>
    </dgm:pt>
    <dgm:pt modelId="{B77AF104-8CC1-47D7-A97D-EE09FE018EEF}">
      <dgm:prSet/>
      <dgm:spPr/>
      <dgm:t>
        <a:bodyPr/>
        <a:lstStyle/>
        <a:p>
          <a:r>
            <a:rPr lang="es-MX"/>
            <a:t>Ubiquidad de los dispositivos móviles</a:t>
          </a:r>
          <a:endParaRPr lang="en-US"/>
        </a:p>
      </dgm:t>
    </dgm:pt>
    <dgm:pt modelId="{1F318061-F24E-4532-BD30-92F0DA6D27C4}" type="parTrans" cxnId="{DB668512-E8F6-40A0-87E6-03415D79A38A}">
      <dgm:prSet/>
      <dgm:spPr/>
      <dgm:t>
        <a:bodyPr/>
        <a:lstStyle/>
        <a:p>
          <a:endParaRPr lang="en-US"/>
        </a:p>
      </dgm:t>
    </dgm:pt>
    <dgm:pt modelId="{8E92D8A5-D5C0-4344-834A-DC632F45C6A5}" type="sibTrans" cxnId="{DB668512-E8F6-40A0-87E6-03415D79A38A}">
      <dgm:prSet/>
      <dgm:spPr/>
      <dgm:t>
        <a:bodyPr/>
        <a:lstStyle/>
        <a:p>
          <a:endParaRPr lang="en-US"/>
        </a:p>
      </dgm:t>
    </dgm:pt>
    <dgm:pt modelId="{03F622D6-C9B7-42CB-81A2-2F7453325181}">
      <dgm:prSet/>
      <dgm:spPr/>
      <dgm:t>
        <a:bodyPr/>
        <a:lstStyle/>
        <a:p>
          <a:r>
            <a:rPr lang="es-MX"/>
            <a:t>Digitalización de servicios</a:t>
          </a:r>
          <a:endParaRPr lang="en-US"/>
        </a:p>
      </dgm:t>
    </dgm:pt>
    <dgm:pt modelId="{E968D612-3D3D-4CD3-818F-F34CF7B1B029}" type="parTrans" cxnId="{C414B20D-E628-4731-8719-7190452EFABA}">
      <dgm:prSet/>
      <dgm:spPr/>
      <dgm:t>
        <a:bodyPr/>
        <a:lstStyle/>
        <a:p>
          <a:endParaRPr lang="en-US"/>
        </a:p>
      </dgm:t>
    </dgm:pt>
    <dgm:pt modelId="{92F1962F-5234-4F2D-B416-8B5BA0C14240}" type="sibTrans" cxnId="{C414B20D-E628-4731-8719-7190452EFABA}">
      <dgm:prSet/>
      <dgm:spPr/>
      <dgm:t>
        <a:bodyPr/>
        <a:lstStyle/>
        <a:p>
          <a:endParaRPr lang="en-US"/>
        </a:p>
      </dgm:t>
    </dgm:pt>
    <dgm:pt modelId="{75C49354-8A5F-49B8-A4A9-8AC3A08FBDF6}">
      <dgm:prSet/>
      <dgm:spPr/>
      <dgm:t>
        <a:bodyPr/>
        <a:lstStyle/>
        <a:p>
          <a:r>
            <a:rPr lang="es-MX"/>
            <a:t>La información generada es de gran valor y permite analizar tendencias y patrones.</a:t>
          </a:r>
          <a:endParaRPr lang="en-US"/>
        </a:p>
      </dgm:t>
    </dgm:pt>
    <dgm:pt modelId="{C0A7684B-F88D-4395-A972-FFF462B49050}" type="parTrans" cxnId="{1C683B28-57B0-43C8-B457-50DA0C004DA6}">
      <dgm:prSet/>
      <dgm:spPr/>
      <dgm:t>
        <a:bodyPr/>
        <a:lstStyle/>
        <a:p>
          <a:endParaRPr lang="en-US"/>
        </a:p>
      </dgm:t>
    </dgm:pt>
    <dgm:pt modelId="{669F3B8D-3022-4ECD-A879-3B5E25BDFAE2}" type="sibTrans" cxnId="{1C683B28-57B0-43C8-B457-50DA0C004DA6}">
      <dgm:prSet/>
      <dgm:spPr/>
      <dgm:t>
        <a:bodyPr/>
        <a:lstStyle/>
        <a:p>
          <a:endParaRPr lang="en-US"/>
        </a:p>
      </dgm:t>
    </dgm:pt>
    <dgm:pt modelId="{E8A21667-014C-4997-A354-307630DBB4E6}">
      <dgm:prSet/>
      <dgm:spPr/>
      <dgm:t>
        <a:bodyPr/>
        <a:lstStyle/>
        <a:p>
          <a:r>
            <a:rPr lang="es-MX"/>
            <a:t>Big Data: Uso de big data para establecer conexiones entre eventos.</a:t>
          </a:r>
          <a:endParaRPr lang="en-US"/>
        </a:p>
      </dgm:t>
    </dgm:pt>
    <dgm:pt modelId="{FC6577AC-EECA-427A-AB21-F3B3264D0496}" type="parTrans" cxnId="{AD5053C8-AC00-4F96-A714-34E590D06BAD}">
      <dgm:prSet/>
      <dgm:spPr/>
      <dgm:t>
        <a:bodyPr/>
        <a:lstStyle/>
        <a:p>
          <a:endParaRPr lang="en-US"/>
        </a:p>
      </dgm:t>
    </dgm:pt>
    <dgm:pt modelId="{03C918AA-50A1-4709-8B3A-3881C6614EAC}" type="sibTrans" cxnId="{AD5053C8-AC00-4F96-A714-34E590D06BAD}">
      <dgm:prSet/>
      <dgm:spPr/>
      <dgm:t>
        <a:bodyPr/>
        <a:lstStyle/>
        <a:p>
          <a:endParaRPr lang="en-US"/>
        </a:p>
      </dgm:t>
    </dgm:pt>
    <dgm:pt modelId="{6E440B40-92E4-41A1-871E-F6BAF9C9B5F8}">
      <dgm:prSet/>
      <dgm:spPr/>
      <dgm:t>
        <a:bodyPr/>
        <a:lstStyle/>
        <a:p>
          <a:r>
            <a:rPr lang="es-MX"/>
            <a:t>Visualización en Tiempo Real: La visualización de datos puede ser un mecanismo eficaz para presentar al usuario final información comprensible en tiempo real.</a:t>
          </a:r>
          <a:endParaRPr lang="en-US"/>
        </a:p>
      </dgm:t>
    </dgm:pt>
    <dgm:pt modelId="{FFC5C979-210E-4E8A-9B3A-1B4295293138}" type="parTrans" cxnId="{1DEF6207-1104-41B0-AA21-09C9185B16AF}">
      <dgm:prSet/>
      <dgm:spPr/>
      <dgm:t>
        <a:bodyPr/>
        <a:lstStyle/>
        <a:p>
          <a:endParaRPr lang="en-US"/>
        </a:p>
      </dgm:t>
    </dgm:pt>
    <dgm:pt modelId="{5AEE4EB5-8C1F-49C3-A593-37B0C4A16185}" type="sibTrans" cxnId="{1DEF6207-1104-41B0-AA21-09C9185B16AF}">
      <dgm:prSet/>
      <dgm:spPr/>
      <dgm:t>
        <a:bodyPr/>
        <a:lstStyle/>
        <a:p>
          <a:endParaRPr lang="en-US"/>
        </a:p>
      </dgm:t>
    </dgm:pt>
    <dgm:pt modelId="{FC94D9EF-CED8-446F-996C-8C7F33FE9FA1}">
      <dgm:prSet/>
      <dgm:spPr/>
      <dgm:t>
        <a:bodyPr/>
        <a:lstStyle/>
        <a:p>
          <a:r>
            <a:rPr lang="es-MX"/>
            <a:t>Todas las empresas tienen datos, ya sea para comunicarse con clientes y altos directivos o para ayudar a gestionar la organización. </a:t>
          </a:r>
          <a:endParaRPr lang="en-US"/>
        </a:p>
      </dgm:t>
    </dgm:pt>
    <dgm:pt modelId="{6D4CBF16-8E18-408E-A3CA-6389A44EB63C}" type="parTrans" cxnId="{3691C2E7-AE43-4560-B090-EFBD8CC8DF8C}">
      <dgm:prSet/>
      <dgm:spPr/>
      <dgm:t>
        <a:bodyPr/>
        <a:lstStyle/>
        <a:p>
          <a:endParaRPr lang="en-US"/>
        </a:p>
      </dgm:t>
    </dgm:pt>
    <dgm:pt modelId="{B19A5C5D-79FF-48EB-A893-193969C7D23B}" type="sibTrans" cxnId="{3691C2E7-AE43-4560-B090-EFBD8CC8DF8C}">
      <dgm:prSet/>
      <dgm:spPr/>
      <dgm:t>
        <a:bodyPr/>
        <a:lstStyle/>
        <a:p>
          <a:endParaRPr lang="en-US"/>
        </a:p>
      </dgm:t>
    </dgm:pt>
    <dgm:pt modelId="{096AC10B-0F41-4E3E-A51E-D57A55A31E04}">
      <dgm:prSet/>
      <dgm:spPr/>
      <dgm:t>
        <a:bodyPr/>
        <a:lstStyle/>
        <a:p>
          <a:r>
            <a:rPr lang="es-MX"/>
            <a:t>Solo a través de la investigación y la interpretación, estos datos pueden adquirir significado y transformarse en conocimiento.</a:t>
          </a:r>
          <a:endParaRPr lang="en-US"/>
        </a:p>
      </dgm:t>
    </dgm:pt>
    <dgm:pt modelId="{F1F1411D-CD02-47F9-B05E-9F7C08931F8C}" type="parTrans" cxnId="{DD28E638-10EB-48AD-B431-F674A8AD2227}">
      <dgm:prSet/>
      <dgm:spPr/>
      <dgm:t>
        <a:bodyPr/>
        <a:lstStyle/>
        <a:p>
          <a:endParaRPr lang="en-US"/>
        </a:p>
      </dgm:t>
    </dgm:pt>
    <dgm:pt modelId="{59F328FC-B24B-4A19-9842-2EC44FAEE8B7}" type="sibTrans" cxnId="{DD28E638-10EB-48AD-B431-F674A8AD2227}">
      <dgm:prSet/>
      <dgm:spPr/>
      <dgm:t>
        <a:bodyPr/>
        <a:lstStyle/>
        <a:p>
          <a:endParaRPr lang="en-US"/>
        </a:p>
      </dgm:t>
    </dgm:pt>
    <dgm:pt modelId="{53BCACB3-4482-48E5-B508-4D9BB8B6B550}" type="pres">
      <dgm:prSet presAssocID="{7CCCCB45-F806-49CD-BD42-BDC98AB57EA6}" presName="root" presStyleCnt="0">
        <dgm:presLayoutVars>
          <dgm:dir/>
          <dgm:resizeHandles val="exact"/>
        </dgm:presLayoutVars>
      </dgm:prSet>
      <dgm:spPr/>
    </dgm:pt>
    <dgm:pt modelId="{6120BF3A-AFD8-43F6-8703-75197D633885}" type="pres">
      <dgm:prSet presAssocID="{475C55C5-6C42-4D24-A462-0FC4A136C1BD}" presName="compNode" presStyleCnt="0"/>
      <dgm:spPr/>
    </dgm:pt>
    <dgm:pt modelId="{B9D339AC-A4E6-4965-ADBE-6D6897329C79}" type="pres">
      <dgm:prSet presAssocID="{475C55C5-6C42-4D24-A462-0FC4A136C1BD}" presName="bgRect" presStyleLbl="bgShp" presStyleIdx="0" presStyleCnt="3"/>
      <dgm:spPr/>
    </dgm:pt>
    <dgm:pt modelId="{E8042F2F-0A8A-4B65-9C1E-0B03C1EB6F03}" type="pres">
      <dgm:prSet presAssocID="{475C55C5-6C42-4D24-A462-0FC4A136C1B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ximizar"/>
        </a:ext>
      </dgm:extLst>
    </dgm:pt>
    <dgm:pt modelId="{4208C391-63F6-4CCC-8A18-745C9767BD55}" type="pres">
      <dgm:prSet presAssocID="{475C55C5-6C42-4D24-A462-0FC4A136C1BD}" presName="spaceRect" presStyleCnt="0"/>
      <dgm:spPr/>
    </dgm:pt>
    <dgm:pt modelId="{121E6B81-2D59-4816-A956-3F36438BC534}" type="pres">
      <dgm:prSet presAssocID="{475C55C5-6C42-4D24-A462-0FC4A136C1BD}" presName="parTx" presStyleLbl="revTx" presStyleIdx="0" presStyleCnt="6">
        <dgm:presLayoutVars>
          <dgm:chMax val="0"/>
          <dgm:chPref val="0"/>
        </dgm:presLayoutVars>
      </dgm:prSet>
      <dgm:spPr/>
    </dgm:pt>
    <dgm:pt modelId="{EAF613DF-23A9-455A-8DFE-899AABAB267C}" type="pres">
      <dgm:prSet presAssocID="{475C55C5-6C42-4D24-A462-0FC4A136C1BD}" presName="desTx" presStyleLbl="revTx" presStyleIdx="1" presStyleCnt="6">
        <dgm:presLayoutVars/>
      </dgm:prSet>
      <dgm:spPr/>
    </dgm:pt>
    <dgm:pt modelId="{9DDEF2B3-B4A6-4639-8C90-CC2E0D200271}" type="pres">
      <dgm:prSet presAssocID="{A1FC209F-6E79-4558-B44F-11618F0DB037}" presName="sibTrans" presStyleCnt="0"/>
      <dgm:spPr/>
    </dgm:pt>
    <dgm:pt modelId="{F7510ED7-776B-4FE1-8539-F6E4C44CC085}" type="pres">
      <dgm:prSet presAssocID="{75C49354-8A5F-49B8-A4A9-8AC3A08FBDF6}" presName="compNode" presStyleCnt="0"/>
      <dgm:spPr/>
    </dgm:pt>
    <dgm:pt modelId="{37BA9C7C-4699-4908-A6E9-908ED2E6AA25}" type="pres">
      <dgm:prSet presAssocID="{75C49354-8A5F-49B8-A4A9-8AC3A08FBDF6}" presName="bgRect" presStyleLbl="bgShp" presStyleIdx="1" presStyleCnt="3"/>
      <dgm:spPr/>
    </dgm:pt>
    <dgm:pt modelId="{6F4ADA34-55CA-481C-AB6C-E05969424886}" type="pres">
      <dgm:prSet presAssocID="{75C49354-8A5F-49B8-A4A9-8AC3A08FBDF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A38320BC-147F-49E6-9A0D-1F225A240165}" type="pres">
      <dgm:prSet presAssocID="{75C49354-8A5F-49B8-A4A9-8AC3A08FBDF6}" presName="spaceRect" presStyleCnt="0"/>
      <dgm:spPr/>
    </dgm:pt>
    <dgm:pt modelId="{C1AD1002-51F9-4159-8B29-913197439A46}" type="pres">
      <dgm:prSet presAssocID="{75C49354-8A5F-49B8-A4A9-8AC3A08FBDF6}" presName="parTx" presStyleLbl="revTx" presStyleIdx="2" presStyleCnt="6">
        <dgm:presLayoutVars>
          <dgm:chMax val="0"/>
          <dgm:chPref val="0"/>
        </dgm:presLayoutVars>
      </dgm:prSet>
      <dgm:spPr/>
    </dgm:pt>
    <dgm:pt modelId="{B43D2AF3-11ED-4A34-A7B2-10443C8B5BEC}" type="pres">
      <dgm:prSet presAssocID="{75C49354-8A5F-49B8-A4A9-8AC3A08FBDF6}" presName="desTx" presStyleLbl="revTx" presStyleIdx="3" presStyleCnt="6">
        <dgm:presLayoutVars/>
      </dgm:prSet>
      <dgm:spPr/>
    </dgm:pt>
    <dgm:pt modelId="{A02F9705-1004-45E5-9250-D8563C090DAD}" type="pres">
      <dgm:prSet presAssocID="{669F3B8D-3022-4ECD-A879-3B5E25BDFAE2}" presName="sibTrans" presStyleCnt="0"/>
      <dgm:spPr/>
    </dgm:pt>
    <dgm:pt modelId="{5A27A9F1-E65B-4714-AA41-EB3BCC4A836B}" type="pres">
      <dgm:prSet presAssocID="{FC94D9EF-CED8-446F-996C-8C7F33FE9FA1}" presName="compNode" presStyleCnt="0"/>
      <dgm:spPr/>
    </dgm:pt>
    <dgm:pt modelId="{FC5E27A1-5E34-4557-AC4C-925A76F71716}" type="pres">
      <dgm:prSet presAssocID="{FC94D9EF-CED8-446F-996C-8C7F33FE9FA1}" presName="bgRect" presStyleLbl="bgShp" presStyleIdx="2" presStyleCnt="3"/>
      <dgm:spPr/>
    </dgm:pt>
    <dgm:pt modelId="{306EB7BE-D19E-4DC9-88EC-D1633831EED5}" type="pres">
      <dgm:prSet presAssocID="{FC94D9EF-CED8-446F-996C-8C7F33FE9FA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03914B64-3689-4B31-B340-6BF2FA819B7E}" type="pres">
      <dgm:prSet presAssocID="{FC94D9EF-CED8-446F-996C-8C7F33FE9FA1}" presName="spaceRect" presStyleCnt="0"/>
      <dgm:spPr/>
    </dgm:pt>
    <dgm:pt modelId="{6E39E402-945E-460C-B7BA-B29EBEDD75DE}" type="pres">
      <dgm:prSet presAssocID="{FC94D9EF-CED8-446F-996C-8C7F33FE9FA1}" presName="parTx" presStyleLbl="revTx" presStyleIdx="4" presStyleCnt="6">
        <dgm:presLayoutVars>
          <dgm:chMax val="0"/>
          <dgm:chPref val="0"/>
        </dgm:presLayoutVars>
      </dgm:prSet>
      <dgm:spPr/>
    </dgm:pt>
    <dgm:pt modelId="{720F2C6B-9D43-491C-A765-FEFCCA00AA54}" type="pres">
      <dgm:prSet presAssocID="{FC94D9EF-CED8-446F-996C-8C7F33FE9FA1}" presName="desTx" presStyleLbl="revTx" presStyleIdx="5" presStyleCnt="6">
        <dgm:presLayoutVars/>
      </dgm:prSet>
      <dgm:spPr/>
    </dgm:pt>
  </dgm:ptLst>
  <dgm:cxnLst>
    <dgm:cxn modelId="{1DEF6207-1104-41B0-AA21-09C9185B16AF}" srcId="{75C49354-8A5F-49B8-A4A9-8AC3A08FBDF6}" destId="{6E440B40-92E4-41A1-871E-F6BAF9C9B5F8}" srcOrd="1" destOrd="0" parTransId="{FFC5C979-210E-4E8A-9B3A-1B4295293138}" sibTransId="{5AEE4EB5-8C1F-49C3-A593-37B0C4A16185}"/>
    <dgm:cxn modelId="{C414B20D-E628-4731-8719-7190452EFABA}" srcId="{475C55C5-6C42-4D24-A462-0FC4A136C1BD}" destId="{03F622D6-C9B7-42CB-81A2-2F7453325181}" srcOrd="2" destOrd="0" parTransId="{E968D612-3D3D-4CD3-818F-F34CF7B1B029}" sibTransId="{92F1962F-5234-4F2D-B416-8B5BA0C14240}"/>
    <dgm:cxn modelId="{DB668512-E8F6-40A0-87E6-03415D79A38A}" srcId="{475C55C5-6C42-4D24-A462-0FC4A136C1BD}" destId="{B77AF104-8CC1-47D7-A97D-EE09FE018EEF}" srcOrd="1" destOrd="0" parTransId="{1F318061-F24E-4532-BD30-92F0DA6D27C4}" sibTransId="{8E92D8A5-D5C0-4344-834A-DC632F45C6A5}"/>
    <dgm:cxn modelId="{616AEB14-D4CB-4883-8073-A713AA3CB33F}" type="presOf" srcId="{75C49354-8A5F-49B8-A4A9-8AC3A08FBDF6}" destId="{C1AD1002-51F9-4159-8B29-913197439A46}" srcOrd="0" destOrd="0" presId="urn:microsoft.com/office/officeart/2018/2/layout/IconVerticalSolidList"/>
    <dgm:cxn modelId="{1C683B28-57B0-43C8-B457-50DA0C004DA6}" srcId="{7CCCCB45-F806-49CD-BD42-BDC98AB57EA6}" destId="{75C49354-8A5F-49B8-A4A9-8AC3A08FBDF6}" srcOrd="1" destOrd="0" parTransId="{C0A7684B-F88D-4395-A972-FFF462B49050}" sibTransId="{669F3B8D-3022-4ECD-A879-3B5E25BDFAE2}"/>
    <dgm:cxn modelId="{BA350937-3DF3-47B4-81C3-F193B49AA9C5}" type="presOf" srcId="{FC94D9EF-CED8-446F-996C-8C7F33FE9FA1}" destId="{6E39E402-945E-460C-B7BA-B29EBEDD75DE}" srcOrd="0" destOrd="0" presId="urn:microsoft.com/office/officeart/2018/2/layout/IconVerticalSolidList"/>
    <dgm:cxn modelId="{DD28E638-10EB-48AD-B431-F674A8AD2227}" srcId="{FC94D9EF-CED8-446F-996C-8C7F33FE9FA1}" destId="{096AC10B-0F41-4E3E-A51E-D57A55A31E04}" srcOrd="0" destOrd="0" parTransId="{F1F1411D-CD02-47F9-B05E-9F7C08931F8C}" sibTransId="{59F328FC-B24B-4A19-9842-2EC44FAEE8B7}"/>
    <dgm:cxn modelId="{453CE03E-59DF-455E-ABCD-39417ABDE94E}" type="presOf" srcId="{E8A21667-014C-4997-A354-307630DBB4E6}" destId="{B43D2AF3-11ED-4A34-A7B2-10443C8B5BEC}" srcOrd="0" destOrd="0" presId="urn:microsoft.com/office/officeart/2018/2/layout/IconVerticalSolidList"/>
    <dgm:cxn modelId="{DD324E47-6FC5-4E6D-A105-B915FC3481F8}" type="presOf" srcId="{7CCCCB45-F806-49CD-BD42-BDC98AB57EA6}" destId="{53BCACB3-4482-48E5-B508-4D9BB8B6B550}" srcOrd="0" destOrd="0" presId="urn:microsoft.com/office/officeart/2018/2/layout/IconVerticalSolidList"/>
    <dgm:cxn modelId="{3A4A9647-A248-45F9-86EE-7B800005D341}" type="presOf" srcId="{096AC10B-0F41-4E3E-A51E-D57A55A31E04}" destId="{720F2C6B-9D43-491C-A765-FEFCCA00AA54}" srcOrd="0" destOrd="0" presId="urn:microsoft.com/office/officeart/2018/2/layout/IconVerticalSolidList"/>
    <dgm:cxn modelId="{7919B969-BF2C-4442-BF76-4569E002D7F7}" srcId="{7CCCCB45-F806-49CD-BD42-BDC98AB57EA6}" destId="{475C55C5-6C42-4D24-A462-0FC4A136C1BD}" srcOrd="0" destOrd="0" parTransId="{2232ADB4-A084-4A5B-935E-B59C4332E06C}" sibTransId="{A1FC209F-6E79-4558-B44F-11618F0DB037}"/>
    <dgm:cxn modelId="{0EC24A6F-27B7-40DB-8622-EF931289C57D}" type="presOf" srcId="{03F622D6-C9B7-42CB-81A2-2F7453325181}" destId="{EAF613DF-23A9-455A-8DFE-899AABAB267C}" srcOrd="0" destOrd="2" presId="urn:microsoft.com/office/officeart/2018/2/layout/IconVerticalSolidList"/>
    <dgm:cxn modelId="{BAE6CF8C-2132-4529-9D80-1DEFD89D3F18}" type="presOf" srcId="{B77AF104-8CC1-47D7-A97D-EE09FE018EEF}" destId="{EAF613DF-23A9-455A-8DFE-899AABAB267C}" srcOrd="0" destOrd="1" presId="urn:microsoft.com/office/officeart/2018/2/layout/IconVerticalSolidList"/>
    <dgm:cxn modelId="{116E58B5-FF63-46AE-A4E9-4B9843E9E923}" type="presOf" srcId="{475C55C5-6C42-4D24-A462-0FC4A136C1BD}" destId="{121E6B81-2D59-4816-A956-3F36438BC534}" srcOrd="0" destOrd="0" presId="urn:microsoft.com/office/officeart/2018/2/layout/IconVerticalSolidList"/>
    <dgm:cxn modelId="{1C659AB9-E22E-4670-999F-23E87F6CF893}" srcId="{475C55C5-6C42-4D24-A462-0FC4A136C1BD}" destId="{CE6EBC07-4DA4-4FAF-AED9-B72F1776795F}" srcOrd="0" destOrd="0" parTransId="{F79AC880-3BB3-4D1F-A3D8-7064A0D5EEE3}" sibTransId="{CAD9464D-94F6-4A15-A0EB-BFA01E7B8FBF}"/>
    <dgm:cxn modelId="{CE41FEB9-C9CD-4550-B7FF-3BC0DB6A2CF1}" type="presOf" srcId="{6E440B40-92E4-41A1-871E-F6BAF9C9B5F8}" destId="{B43D2AF3-11ED-4A34-A7B2-10443C8B5BEC}" srcOrd="0" destOrd="1" presId="urn:microsoft.com/office/officeart/2018/2/layout/IconVerticalSolidList"/>
    <dgm:cxn modelId="{AD5053C8-AC00-4F96-A714-34E590D06BAD}" srcId="{75C49354-8A5F-49B8-A4A9-8AC3A08FBDF6}" destId="{E8A21667-014C-4997-A354-307630DBB4E6}" srcOrd="0" destOrd="0" parTransId="{FC6577AC-EECA-427A-AB21-F3B3264D0496}" sibTransId="{03C918AA-50A1-4709-8B3A-3881C6614EAC}"/>
    <dgm:cxn modelId="{3691C2E7-AE43-4560-B090-EFBD8CC8DF8C}" srcId="{7CCCCB45-F806-49CD-BD42-BDC98AB57EA6}" destId="{FC94D9EF-CED8-446F-996C-8C7F33FE9FA1}" srcOrd="2" destOrd="0" parTransId="{6D4CBF16-8E18-408E-A3CA-6389A44EB63C}" sibTransId="{B19A5C5D-79FF-48EB-A893-193969C7D23B}"/>
    <dgm:cxn modelId="{C0B5F6FF-6745-4ADF-A40F-DD65C38A7EB2}" type="presOf" srcId="{CE6EBC07-4DA4-4FAF-AED9-B72F1776795F}" destId="{EAF613DF-23A9-455A-8DFE-899AABAB267C}" srcOrd="0" destOrd="0" presId="urn:microsoft.com/office/officeart/2018/2/layout/IconVerticalSolidList"/>
    <dgm:cxn modelId="{05DC8B5C-33AE-4DDE-8E39-78343F63A4F3}" type="presParOf" srcId="{53BCACB3-4482-48E5-B508-4D9BB8B6B550}" destId="{6120BF3A-AFD8-43F6-8703-75197D633885}" srcOrd="0" destOrd="0" presId="urn:microsoft.com/office/officeart/2018/2/layout/IconVerticalSolidList"/>
    <dgm:cxn modelId="{B18CF807-0126-4CC2-866C-80A67080589D}" type="presParOf" srcId="{6120BF3A-AFD8-43F6-8703-75197D633885}" destId="{B9D339AC-A4E6-4965-ADBE-6D6897329C79}" srcOrd="0" destOrd="0" presId="urn:microsoft.com/office/officeart/2018/2/layout/IconVerticalSolidList"/>
    <dgm:cxn modelId="{335500F0-3AED-4E56-AC51-A4A905CC1C18}" type="presParOf" srcId="{6120BF3A-AFD8-43F6-8703-75197D633885}" destId="{E8042F2F-0A8A-4B65-9C1E-0B03C1EB6F03}" srcOrd="1" destOrd="0" presId="urn:microsoft.com/office/officeart/2018/2/layout/IconVerticalSolidList"/>
    <dgm:cxn modelId="{83991692-3F83-4B52-A156-285F1DB3DC64}" type="presParOf" srcId="{6120BF3A-AFD8-43F6-8703-75197D633885}" destId="{4208C391-63F6-4CCC-8A18-745C9767BD55}" srcOrd="2" destOrd="0" presId="urn:microsoft.com/office/officeart/2018/2/layout/IconVerticalSolidList"/>
    <dgm:cxn modelId="{694EED16-631D-4AC5-A05A-E9423556C2E5}" type="presParOf" srcId="{6120BF3A-AFD8-43F6-8703-75197D633885}" destId="{121E6B81-2D59-4816-A956-3F36438BC534}" srcOrd="3" destOrd="0" presId="urn:microsoft.com/office/officeart/2018/2/layout/IconVerticalSolidList"/>
    <dgm:cxn modelId="{89396100-18DC-481A-AFCA-B559FF564911}" type="presParOf" srcId="{6120BF3A-AFD8-43F6-8703-75197D633885}" destId="{EAF613DF-23A9-455A-8DFE-899AABAB267C}" srcOrd="4" destOrd="0" presId="urn:microsoft.com/office/officeart/2018/2/layout/IconVerticalSolidList"/>
    <dgm:cxn modelId="{AA006FE0-8281-4436-895E-8E80AAE6BCCD}" type="presParOf" srcId="{53BCACB3-4482-48E5-B508-4D9BB8B6B550}" destId="{9DDEF2B3-B4A6-4639-8C90-CC2E0D200271}" srcOrd="1" destOrd="0" presId="urn:microsoft.com/office/officeart/2018/2/layout/IconVerticalSolidList"/>
    <dgm:cxn modelId="{F6BCE388-EBAB-4044-9443-7A741792E881}" type="presParOf" srcId="{53BCACB3-4482-48E5-B508-4D9BB8B6B550}" destId="{F7510ED7-776B-4FE1-8539-F6E4C44CC085}" srcOrd="2" destOrd="0" presId="urn:microsoft.com/office/officeart/2018/2/layout/IconVerticalSolidList"/>
    <dgm:cxn modelId="{0F0BD8F0-A602-4B1B-AD16-49CBD7FCDC72}" type="presParOf" srcId="{F7510ED7-776B-4FE1-8539-F6E4C44CC085}" destId="{37BA9C7C-4699-4908-A6E9-908ED2E6AA25}" srcOrd="0" destOrd="0" presId="urn:microsoft.com/office/officeart/2018/2/layout/IconVerticalSolidList"/>
    <dgm:cxn modelId="{08249FFC-E0E2-495F-BF1B-6FD05CC7E056}" type="presParOf" srcId="{F7510ED7-776B-4FE1-8539-F6E4C44CC085}" destId="{6F4ADA34-55CA-481C-AB6C-E05969424886}" srcOrd="1" destOrd="0" presId="urn:microsoft.com/office/officeart/2018/2/layout/IconVerticalSolidList"/>
    <dgm:cxn modelId="{DE12152D-E23B-4B9D-93A7-6A7DC1CCEA0C}" type="presParOf" srcId="{F7510ED7-776B-4FE1-8539-F6E4C44CC085}" destId="{A38320BC-147F-49E6-9A0D-1F225A240165}" srcOrd="2" destOrd="0" presId="urn:microsoft.com/office/officeart/2018/2/layout/IconVerticalSolidList"/>
    <dgm:cxn modelId="{BEAE987E-FBE8-484A-92AD-D47F28663B27}" type="presParOf" srcId="{F7510ED7-776B-4FE1-8539-F6E4C44CC085}" destId="{C1AD1002-51F9-4159-8B29-913197439A46}" srcOrd="3" destOrd="0" presId="urn:microsoft.com/office/officeart/2018/2/layout/IconVerticalSolidList"/>
    <dgm:cxn modelId="{F9A60D71-9BA0-4818-8851-BD1B6961C8DD}" type="presParOf" srcId="{F7510ED7-776B-4FE1-8539-F6E4C44CC085}" destId="{B43D2AF3-11ED-4A34-A7B2-10443C8B5BEC}" srcOrd="4" destOrd="0" presId="urn:microsoft.com/office/officeart/2018/2/layout/IconVerticalSolidList"/>
    <dgm:cxn modelId="{6DA88C6B-12DF-4EA8-B1B7-CE1E8CAE0161}" type="presParOf" srcId="{53BCACB3-4482-48E5-B508-4D9BB8B6B550}" destId="{A02F9705-1004-45E5-9250-D8563C090DAD}" srcOrd="3" destOrd="0" presId="urn:microsoft.com/office/officeart/2018/2/layout/IconVerticalSolidList"/>
    <dgm:cxn modelId="{3610EE2E-3445-4348-BB9C-1A1614E0D050}" type="presParOf" srcId="{53BCACB3-4482-48E5-B508-4D9BB8B6B550}" destId="{5A27A9F1-E65B-4714-AA41-EB3BCC4A836B}" srcOrd="4" destOrd="0" presId="urn:microsoft.com/office/officeart/2018/2/layout/IconVerticalSolidList"/>
    <dgm:cxn modelId="{50965482-08A1-4F97-9244-8B065EC83B6C}" type="presParOf" srcId="{5A27A9F1-E65B-4714-AA41-EB3BCC4A836B}" destId="{FC5E27A1-5E34-4557-AC4C-925A76F71716}" srcOrd="0" destOrd="0" presId="urn:microsoft.com/office/officeart/2018/2/layout/IconVerticalSolidList"/>
    <dgm:cxn modelId="{3626C543-9D31-445A-AC77-48EAB5D18176}" type="presParOf" srcId="{5A27A9F1-E65B-4714-AA41-EB3BCC4A836B}" destId="{306EB7BE-D19E-4DC9-88EC-D1633831EED5}" srcOrd="1" destOrd="0" presId="urn:microsoft.com/office/officeart/2018/2/layout/IconVerticalSolidList"/>
    <dgm:cxn modelId="{276C9830-8315-4CF2-81B1-B7EF2142460F}" type="presParOf" srcId="{5A27A9F1-E65B-4714-AA41-EB3BCC4A836B}" destId="{03914B64-3689-4B31-B340-6BF2FA819B7E}" srcOrd="2" destOrd="0" presId="urn:microsoft.com/office/officeart/2018/2/layout/IconVerticalSolidList"/>
    <dgm:cxn modelId="{29C4BF28-D7C4-449B-8299-150E33BB4280}" type="presParOf" srcId="{5A27A9F1-E65B-4714-AA41-EB3BCC4A836B}" destId="{6E39E402-945E-460C-B7BA-B29EBEDD75DE}" srcOrd="3" destOrd="0" presId="urn:microsoft.com/office/officeart/2018/2/layout/IconVerticalSolidList"/>
    <dgm:cxn modelId="{54D55E18-DCF7-46B4-BCFA-AB227D9E7DDF}" type="presParOf" srcId="{5A27A9F1-E65B-4714-AA41-EB3BCC4A836B}" destId="{720F2C6B-9D43-491C-A765-FEFCCA00AA5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644A1FA-B811-4FC8-9969-F0BF8BE0F2FC}"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s-MX"/>
        </a:p>
      </dgm:t>
    </dgm:pt>
    <dgm:pt modelId="{2E54DA40-29DB-4604-AA9B-9510FCE217C3}">
      <dgm:prSet/>
      <dgm:spPr/>
      <dgm:t>
        <a:bodyPr/>
        <a:lstStyle/>
        <a:p>
          <a:r>
            <a:rPr lang="es-MX" dirty="0"/>
            <a:t>Adquisición</a:t>
          </a:r>
        </a:p>
      </dgm:t>
    </dgm:pt>
    <dgm:pt modelId="{1C2D8D66-1043-44CC-A4AC-E55D01B34E02}" type="parTrans" cxnId="{16366FB7-A9AE-47CE-B930-1C8EFA74A9D1}">
      <dgm:prSet/>
      <dgm:spPr/>
      <dgm:t>
        <a:bodyPr/>
        <a:lstStyle/>
        <a:p>
          <a:endParaRPr lang="es-MX"/>
        </a:p>
      </dgm:t>
    </dgm:pt>
    <dgm:pt modelId="{87098535-1C87-4774-8CD9-0C5799506C04}" type="sibTrans" cxnId="{16366FB7-A9AE-47CE-B930-1C8EFA74A9D1}">
      <dgm:prSet/>
      <dgm:spPr/>
      <dgm:t>
        <a:bodyPr/>
        <a:lstStyle/>
        <a:p>
          <a:endParaRPr lang="es-MX"/>
        </a:p>
      </dgm:t>
    </dgm:pt>
    <dgm:pt modelId="{9478312F-4FFC-45FC-9311-4DFDA1584A52}">
      <dgm:prSet/>
      <dgm:spPr/>
      <dgm:t>
        <a:bodyPr/>
        <a:lstStyle/>
        <a:p>
          <a:r>
            <a:rPr lang="es-MX" dirty="0"/>
            <a:t>Estructuración</a:t>
          </a:r>
        </a:p>
      </dgm:t>
    </dgm:pt>
    <dgm:pt modelId="{1305B4F3-942D-43BD-BF20-A758EA9C8812}" type="parTrans" cxnId="{1606229D-75F3-432D-BA3F-E5939D3B4499}">
      <dgm:prSet/>
      <dgm:spPr/>
      <dgm:t>
        <a:bodyPr/>
        <a:lstStyle/>
        <a:p>
          <a:endParaRPr lang="es-MX"/>
        </a:p>
      </dgm:t>
    </dgm:pt>
    <dgm:pt modelId="{76F76618-D4F2-4D47-A235-13799387A7E4}" type="sibTrans" cxnId="{1606229D-75F3-432D-BA3F-E5939D3B4499}">
      <dgm:prSet/>
      <dgm:spPr/>
      <dgm:t>
        <a:bodyPr/>
        <a:lstStyle/>
        <a:p>
          <a:endParaRPr lang="es-MX"/>
        </a:p>
      </dgm:t>
    </dgm:pt>
    <dgm:pt modelId="{178AEADE-9BF2-44A1-A9CF-0A5FA247351F}">
      <dgm:prSet/>
      <dgm:spPr/>
      <dgm:t>
        <a:bodyPr/>
        <a:lstStyle/>
        <a:p>
          <a:r>
            <a:rPr lang="es-MX" dirty="0"/>
            <a:t>Filtrado/Entendimiento</a:t>
          </a:r>
        </a:p>
      </dgm:t>
    </dgm:pt>
    <dgm:pt modelId="{391807FE-5DA6-4DE0-B43D-47448F8D5638}" type="parTrans" cxnId="{A7C052E3-D59C-4421-AB8A-F4A491244A4B}">
      <dgm:prSet/>
      <dgm:spPr/>
      <dgm:t>
        <a:bodyPr/>
        <a:lstStyle/>
        <a:p>
          <a:endParaRPr lang="es-MX"/>
        </a:p>
      </dgm:t>
    </dgm:pt>
    <dgm:pt modelId="{AECB050A-F298-46C9-B544-EFAB59DBAC15}" type="sibTrans" cxnId="{A7C052E3-D59C-4421-AB8A-F4A491244A4B}">
      <dgm:prSet/>
      <dgm:spPr/>
      <dgm:t>
        <a:bodyPr/>
        <a:lstStyle/>
        <a:p>
          <a:endParaRPr lang="es-MX"/>
        </a:p>
      </dgm:t>
    </dgm:pt>
    <dgm:pt modelId="{86AB99E4-8068-40E1-A44D-991F757F8E36}">
      <dgm:prSet/>
      <dgm:spPr/>
      <dgm:t>
        <a:bodyPr/>
        <a:lstStyle/>
        <a:p>
          <a:r>
            <a:rPr lang="es-MX" dirty="0"/>
            <a:t>Representación</a:t>
          </a:r>
        </a:p>
      </dgm:t>
    </dgm:pt>
    <dgm:pt modelId="{0E5F627B-38F8-4605-892A-77FA52457053}" type="parTrans" cxnId="{082122D8-E794-498B-AC12-6D53A72D6B30}">
      <dgm:prSet/>
      <dgm:spPr/>
      <dgm:t>
        <a:bodyPr/>
        <a:lstStyle/>
        <a:p>
          <a:endParaRPr lang="es-MX"/>
        </a:p>
      </dgm:t>
    </dgm:pt>
    <dgm:pt modelId="{D623DCE9-39B5-4AEA-A548-E96E9ABD72FF}" type="sibTrans" cxnId="{082122D8-E794-498B-AC12-6D53A72D6B30}">
      <dgm:prSet/>
      <dgm:spPr/>
      <dgm:t>
        <a:bodyPr/>
        <a:lstStyle/>
        <a:p>
          <a:endParaRPr lang="es-MX"/>
        </a:p>
      </dgm:t>
    </dgm:pt>
    <dgm:pt modelId="{1184E4C5-1129-4CC8-A0F3-DA72954C4360}">
      <dgm:prSet/>
      <dgm:spPr/>
      <dgm:t>
        <a:bodyPr/>
        <a:lstStyle/>
        <a:p>
          <a:r>
            <a:rPr lang="es-MX" dirty="0"/>
            <a:t>Perfeccionamiento</a:t>
          </a:r>
        </a:p>
      </dgm:t>
    </dgm:pt>
    <dgm:pt modelId="{6029E438-D681-4279-9504-7B6B14F2A2B3}" type="parTrans" cxnId="{478CA57D-497F-43B6-8D65-2305B69EA84A}">
      <dgm:prSet/>
      <dgm:spPr/>
      <dgm:t>
        <a:bodyPr/>
        <a:lstStyle/>
        <a:p>
          <a:endParaRPr lang="es-MX"/>
        </a:p>
      </dgm:t>
    </dgm:pt>
    <dgm:pt modelId="{B099C5BB-6A0B-4B06-B53E-9D69AFCD2663}" type="sibTrans" cxnId="{478CA57D-497F-43B6-8D65-2305B69EA84A}">
      <dgm:prSet/>
      <dgm:spPr/>
      <dgm:t>
        <a:bodyPr/>
        <a:lstStyle/>
        <a:p>
          <a:endParaRPr lang="es-MX"/>
        </a:p>
      </dgm:t>
    </dgm:pt>
    <dgm:pt modelId="{65E6A3F9-63C1-4C48-89C8-BA1A0D2CB396}">
      <dgm:prSet/>
      <dgm:spPr/>
      <dgm:t>
        <a:bodyPr/>
        <a:lstStyle/>
        <a:p>
          <a:r>
            <a:rPr lang="es-MX" dirty="0"/>
            <a:t>Interacción</a:t>
          </a:r>
        </a:p>
      </dgm:t>
    </dgm:pt>
    <dgm:pt modelId="{E0DDF3E1-16D4-4771-BC14-3A5B41D415BD}" type="parTrans" cxnId="{E4EBB4EC-3AF2-451B-BE91-75E14682AD03}">
      <dgm:prSet/>
      <dgm:spPr/>
      <dgm:t>
        <a:bodyPr/>
        <a:lstStyle/>
        <a:p>
          <a:endParaRPr lang="es-MX"/>
        </a:p>
      </dgm:t>
    </dgm:pt>
    <dgm:pt modelId="{06ADD1A5-B63D-45FB-8053-13018E151785}" type="sibTrans" cxnId="{E4EBB4EC-3AF2-451B-BE91-75E14682AD03}">
      <dgm:prSet/>
      <dgm:spPr/>
      <dgm:t>
        <a:bodyPr/>
        <a:lstStyle/>
        <a:p>
          <a:endParaRPr lang="es-MX"/>
        </a:p>
      </dgm:t>
    </dgm:pt>
    <dgm:pt modelId="{8CDB0DDE-1D96-4054-A03E-7024E07303B4}" type="pres">
      <dgm:prSet presAssocID="{1644A1FA-B811-4FC8-9969-F0BF8BE0F2FC}" presName="CompostProcess" presStyleCnt="0">
        <dgm:presLayoutVars>
          <dgm:dir/>
          <dgm:resizeHandles val="exact"/>
        </dgm:presLayoutVars>
      </dgm:prSet>
      <dgm:spPr/>
    </dgm:pt>
    <dgm:pt modelId="{26ED6F90-EA26-44ED-A313-686315A5C876}" type="pres">
      <dgm:prSet presAssocID="{1644A1FA-B811-4FC8-9969-F0BF8BE0F2FC}" presName="arrow" presStyleLbl="bgShp" presStyleIdx="0" presStyleCnt="1"/>
      <dgm:spPr/>
    </dgm:pt>
    <dgm:pt modelId="{64B0525D-3F56-4569-822C-7DFD610A809E}" type="pres">
      <dgm:prSet presAssocID="{1644A1FA-B811-4FC8-9969-F0BF8BE0F2FC}" presName="linearProcess" presStyleCnt="0"/>
      <dgm:spPr/>
    </dgm:pt>
    <dgm:pt modelId="{CBAFBE10-A15A-4602-89EE-9245CB369BFE}" type="pres">
      <dgm:prSet presAssocID="{2E54DA40-29DB-4604-AA9B-9510FCE217C3}" presName="textNode" presStyleLbl="node1" presStyleIdx="0" presStyleCnt="6">
        <dgm:presLayoutVars>
          <dgm:bulletEnabled val="1"/>
        </dgm:presLayoutVars>
      </dgm:prSet>
      <dgm:spPr/>
    </dgm:pt>
    <dgm:pt modelId="{66C44CAB-0837-4D6D-B166-B464AEA4BB96}" type="pres">
      <dgm:prSet presAssocID="{87098535-1C87-4774-8CD9-0C5799506C04}" presName="sibTrans" presStyleCnt="0"/>
      <dgm:spPr/>
    </dgm:pt>
    <dgm:pt modelId="{146E99C2-339F-49FA-AD3C-0EE00C2F1BA8}" type="pres">
      <dgm:prSet presAssocID="{9478312F-4FFC-45FC-9311-4DFDA1584A52}" presName="textNode" presStyleLbl="node1" presStyleIdx="1" presStyleCnt="6">
        <dgm:presLayoutVars>
          <dgm:bulletEnabled val="1"/>
        </dgm:presLayoutVars>
      </dgm:prSet>
      <dgm:spPr/>
    </dgm:pt>
    <dgm:pt modelId="{D1BC76F3-CFD2-46A7-8283-003841E026F9}" type="pres">
      <dgm:prSet presAssocID="{76F76618-D4F2-4D47-A235-13799387A7E4}" presName="sibTrans" presStyleCnt="0"/>
      <dgm:spPr/>
    </dgm:pt>
    <dgm:pt modelId="{1884D370-E25B-4D03-B54D-9A348F446DB9}" type="pres">
      <dgm:prSet presAssocID="{178AEADE-9BF2-44A1-A9CF-0A5FA247351F}" presName="textNode" presStyleLbl="node1" presStyleIdx="2" presStyleCnt="6">
        <dgm:presLayoutVars>
          <dgm:bulletEnabled val="1"/>
        </dgm:presLayoutVars>
      </dgm:prSet>
      <dgm:spPr/>
    </dgm:pt>
    <dgm:pt modelId="{6AC1DFD5-B49F-4541-B8E3-6741F7E2DAA2}" type="pres">
      <dgm:prSet presAssocID="{AECB050A-F298-46C9-B544-EFAB59DBAC15}" presName="sibTrans" presStyleCnt="0"/>
      <dgm:spPr/>
    </dgm:pt>
    <dgm:pt modelId="{FC75F3E2-A712-4D75-969D-76CE93668BC9}" type="pres">
      <dgm:prSet presAssocID="{86AB99E4-8068-40E1-A44D-991F757F8E36}" presName="textNode" presStyleLbl="node1" presStyleIdx="3" presStyleCnt="6">
        <dgm:presLayoutVars>
          <dgm:bulletEnabled val="1"/>
        </dgm:presLayoutVars>
      </dgm:prSet>
      <dgm:spPr/>
    </dgm:pt>
    <dgm:pt modelId="{EA42E0F8-2928-4A21-BAB8-6FD2249A10C7}" type="pres">
      <dgm:prSet presAssocID="{D623DCE9-39B5-4AEA-A548-E96E9ABD72FF}" presName="sibTrans" presStyleCnt="0"/>
      <dgm:spPr/>
    </dgm:pt>
    <dgm:pt modelId="{E1950D8C-BA33-4978-B2E1-381F71D05D7E}" type="pres">
      <dgm:prSet presAssocID="{1184E4C5-1129-4CC8-A0F3-DA72954C4360}" presName="textNode" presStyleLbl="node1" presStyleIdx="4" presStyleCnt="6">
        <dgm:presLayoutVars>
          <dgm:bulletEnabled val="1"/>
        </dgm:presLayoutVars>
      </dgm:prSet>
      <dgm:spPr/>
    </dgm:pt>
    <dgm:pt modelId="{71F92F6C-837F-44DD-9E51-0C823FD8D459}" type="pres">
      <dgm:prSet presAssocID="{B099C5BB-6A0B-4B06-B53E-9D69AFCD2663}" presName="sibTrans" presStyleCnt="0"/>
      <dgm:spPr/>
    </dgm:pt>
    <dgm:pt modelId="{3A0A7B45-F4B6-462B-853B-F66EA6EE2F04}" type="pres">
      <dgm:prSet presAssocID="{65E6A3F9-63C1-4C48-89C8-BA1A0D2CB396}" presName="textNode" presStyleLbl="node1" presStyleIdx="5" presStyleCnt="6">
        <dgm:presLayoutVars>
          <dgm:bulletEnabled val="1"/>
        </dgm:presLayoutVars>
      </dgm:prSet>
      <dgm:spPr/>
    </dgm:pt>
  </dgm:ptLst>
  <dgm:cxnLst>
    <dgm:cxn modelId="{18B9B61E-B6F5-49E3-B319-0C25CB9E152B}" type="presOf" srcId="{65E6A3F9-63C1-4C48-89C8-BA1A0D2CB396}" destId="{3A0A7B45-F4B6-462B-853B-F66EA6EE2F04}" srcOrd="0" destOrd="0" presId="urn:microsoft.com/office/officeart/2005/8/layout/hProcess9"/>
    <dgm:cxn modelId="{57D94E64-D421-4466-A18D-7F89AA339716}" type="presOf" srcId="{2E54DA40-29DB-4604-AA9B-9510FCE217C3}" destId="{CBAFBE10-A15A-4602-89EE-9245CB369BFE}" srcOrd="0" destOrd="0" presId="urn:microsoft.com/office/officeart/2005/8/layout/hProcess9"/>
    <dgm:cxn modelId="{405F1F71-E053-450E-BE88-FE9CF698C9A1}" type="presOf" srcId="{9478312F-4FFC-45FC-9311-4DFDA1584A52}" destId="{146E99C2-339F-49FA-AD3C-0EE00C2F1BA8}" srcOrd="0" destOrd="0" presId="urn:microsoft.com/office/officeart/2005/8/layout/hProcess9"/>
    <dgm:cxn modelId="{478CA57D-497F-43B6-8D65-2305B69EA84A}" srcId="{1644A1FA-B811-4FC8-9969-F0BF8BE0F2FC}" destId="{1184E4C5-1129-4CC8-A0F3-DA72954C4360}" srcOrd="4" destOrd="0" parTransId="{6029E438-D681-4279-9504-7B6B14F2A2B3}" sibTransId="{B099C5BB-6A0B-4B06-B53E-9D69AFCD2663}"/>
    <dgm:cxn modelId="{1606229D-75F3-432D-BA3F-E5939D3B4499}" srcId="{1644A1FA-B811-4FC8-9969-F0BF8BE0F2FC}" destId="{9478312F-4FFC-45FC-9311-4DFDA1584A52}" srcOrd="1" destOrd="0" parTransId="{1305B4F3-942D-43BD-BF20-A758EA9C8812}" sibTransId="{76F76618-D4F2-4D47-A235-13799387A7E4}"/>
    <dgm:cxn modelId="{16366FB7-A9AE-47CE-B930-1C8EFA74A9D1}" srcId="{1644A1FA-B811-4FC8-9969-F0BF8BE0F2FC}" destId="{2E54DA40-29DB-4604-AA9B-9510FCE217C3}" srcOrd="0" destOrd="0" parTransId="{1C2D8D66-1043-44CC-A4AC-E55D01B34E02}" sibTransId="{87098535-1C87-4774-8CD9-0C5799506C04}"/>
    <dgm:cxn modelId="{BED351B9-BAF3-48CE-A9F9-74543AB1347D}" type="presOf" srcId="{178AEADE-9BF2-44A1-A9CF-0A5FA247351F}" destId="{1884D370-E25B-4D03-B54D-9A348F446DB9}" srcOrd="0" destOrd="0" presId="urn:microsoft.com/office/officeart/2005/8/layout/hProcess9"/>
    <dgm:cxn modelId="{FA6FCBBB-7AA6-4D4E-A0C4-22C944005B56}" type="presOf" srcId="{1184E4C5-1129-4CC8-A0F3-DA72954C4360}" destId="{E1950D8C-BA33-4978-B2E1-381F71D05D7E}" srcOrd="0" destOrd="0" presId="urn:microsoft.com/office/officeart/2005/8/layout/hProcess9"/>
    <dgm:cxn modelId="{A0F645C3-81AE-4E16-BA81-809879FA1B4E}" type="presOf" srcId="{1644A1FA-B811-4FC8-9969-F0BF8BE0F2FC}" destId="{8CDB0DDE-1D96-4054-A03E-7024E07303B4}" srcOrd="0" destOrd="0" presId="urn:microsoft.com/office/officeart/2005/8/layout/hProcess9"/>
    <dgm:cxn modelId="{082122D8-E794-498B-AC12-6D53A72D6B30}" srcId="{1644A1FA-B811-4FC8-9969-F0BF8BE0F2FC}" destId="{86AB99E4-8068-40E1-A44D-991F757F8E36}" srcOrd="3" destOrd="0" parTransId="{0E5F627B-38F8-4605-892A-77FA52457053}" sibTransId="{D623DCE9-39B5-4AEA-A548-E96E9ABD72FF}"/>
    <dgm:cxn modelId="{A7C052E3-D59C-4421-AB8A-F4A491244A4B}" srcId="{1644A1FA-B811-4FC8-9969-F0BF8BE0F2FC}" destId="{178AEADE-9BF2-44A1-A9CF-0A5FA247351F}" srcOrd="2" destOrd="0" parTransId="{391807FE-5DA6-4DE0-B43D-47448F8D5638}" sibTransId="{AECB050A-F298-46C9-B544-EFAB59DBAC15}"/>
    <dgm:cxn modelId="{E4EBB4EC-3AF2-451B-BE91-75E14682AD03}" srcId="{1644A1FA-B811-4FC8-9969-F0BF8BE0F2FC}" destId="{65E6A3F9-63C1-4C48-89C8-BA1A0D2CB396}" srcOrd="5" destOrd="0" parTransId="{E0DDF3E1-16D4-4771-BC14-3A5B41D415BD}" sibTransId="{06ADD1A5-B63D-45FB-8053-13018E151785}"/>
    <dgm:cxn modelId="{152B0CF6-D11B-4916-B65A-532F19EFDFED}" type="presOf" srcId="{86AB99E4-8068-40E1-A44D-991F757F8E36}" destId="{FC75F3E2-A712-4D75-969D-76CE93668BC9}" srcOrd="0" destOrd="0" presId="urn:microsoft.com/office/officeart/2005/8/layout/hProcess9"/>
    <dgm:cxn modelId="{608B01F5-9519-4D35-BB52-CBE90990F9B6}" type="presParOf" srcId="{8CDB0DDE-1D96-4054-A03E-7024E07303B4}" destId="{26ED6F90-EA26-44ED-A313-686315A5C876}" srcOrd="0" destOrd="0" presId="urn:microsoft.com/office/officeart/2005/8/layout/hProcess9"/>
    <dgm:cxn modelId="{D2D55B31-FAD2-4325-9A4E-DA0206364E4E}" type="presParOf" srcId="{8CDB0DDE-1D96-4054-A03E-7024E07303B4}" destId="{64B0525D-3F56-4569-822C-7DFD610A809E}" srcOrd="1" destOrd="0" presId="urn:microsoft.com/office/officeart/2005/8/layout/hProcess9"/>
    <dgm:cxn modelId="{AE804F8A-9E76-4E2D-A1F5-C9B0EEEA9667}" type="presParOf" srcId="{64B0525D-3F56-4569-822C-7DFD610A809E}" destId="{CBAFBE10-A15A-4602-89EE-9245CB369BFE}" srcOrd="0" destOrd="0" presId="urn:microsoft.com/office/officeart/2005/8/layout/hProcess9"/>
    <dgm:cxn modelId="{6317C59D-B222-449E-8D00-CA5A780AC980}" type="presParOf" srcId="{64B0525D-3F56-4569-822C-7DFD610A809E}" destId="{66C44CAB-0837-4D6D-B166-B464AEA4BB96}" srcOrd="1" destOrd="0" presId="urn:microsoft.com/office/officeart/2005/8/layout/hProcess9"/>
    <dgm:cxn modelId="{7E5D23DF-13C5-440C-B4F6-1E0EC7C2EE36}" type="presParOf" srcId="{64B0525D-3F56-4569-822C-7DFD610A809E}" destId="{146E99C2-339F-49FA-AD3C-0EE00C2F1BA8}" srcOrd="2" destOrd="0" presId="urn:microsoft.com/office/officeart/2005/8/layout/hProcess9"/>
    <dgm:cxn modelId="{9501464D-1992-479C-8A23-B3FD7778C181}" type="presParOf" srcId="{64B0525D-3F56-4569-822C-7DFD610A809E}" destId="{D1BC76F3-CFD2-46A7-8283-003841E026F9}" srcOrd="3" destOrd="0" presId="urn:microsoft.com/office/officeart/2005/8/layout/hProcess9"/>
    <dgm:cxn modelId="{FA5D7B98-7BF8-4E9E-B2F5-B3994A68BF22}" type="presParOf" srcId="{64B0525D-3F56-4569-822C-7DFD610A809E}" destId="{1884D370-E25B-4D03-B54D-9A348F446DB9}" srcOrd="4" destOrd="0" presId="urn:microsoft.com/office/officeart/2005/8/layout/hProcess9"/>
    <dgm:cxn modelId="{FF6FCFE7-6C59-459C-9417-B01895B34C0D}" type="presParOf" srcId="{64B0525D-3F56-4569-822C-7DFD610A809E}" destId="{6AC1DFD5-B49F-4541-B8E3-6741F7E2DAA2}" srcOrd="5" destOrd="0" presId="urn:microsoft.com/office/officeart/2005/8/layout/hProcess9"/>
    <dgm:cxn modelId="{5449D8D3-C536-4292-AC14-E2849A392D80}" type="presParOf" srcId="{64B0525D-3F56-4569-822C-7DFD610A809E}" destId="{FC75F3E2-A712-4D75-969D-76CE93668BC9}" srcOrd="6" destOrd="0" presId="urn:microsoft.com/office/officeart/2005/8/layout/hProcess9"/>
    <dgm:cxn modelId="{E6ABC6FF-6406-4445-A018-0AF6CFFBFA42}" type="presParOf" srcId="{64B0525D-3F56-4569-822C-7DFD610A809E}" destId="{EA42E0F8-2928-4A21-BAB8-6FD2249A10C7}" srcOrd="7" destOrd="0" presId="urn:microsoft.com/office/officeart/2005/8/layout/hProcess9"/>
    <dgm:cxn modelId="{9DA378E5-445B-4989-9A95-2826FD551C16}" type="presParOf" srcId="{64B0525D-3F56-4569-822C-7DFD610A809E}" destId="{E1950D8C-BA33-4978-B2E1-381F71D05D7E}" srcOrd="8" destOrd="0" presId="urn:microsoft.com/office/officeart/2005/8/layout/hProcess9"/>
    <dgm:cxn modelId="{1028A0E3-89D3-473B-B47D-D1666EAAD01C}" type="presParOf" srcId="{64B0525D-3F56-4569-822C-7DFD610A809E}" destId="{71F92F6C-837F-44DD-9E51-0C823FD8D459}" srcOrd="9" destOrd="0" presId="urn:microsoft.com/office/officeart/2005/8/layout/hProcess9"/>
    <dgm:cxn modelId="{43F904F9-C118-4D3B-B99F-1DB02C85797C}" type="presParOf" srcId="{64B0525D-3F56-4569-822C-7DFD610A809E}" destId="{3A0A7B45-F4B6-462B-853B-F66EA6EE2F04}"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9149C5-DD25-455B-B3D7-AF2AAB7C5CC8}"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E54FE6B1-8ED4-463E-BFBA-FD2D21BE683B}">
      <dgm:prSet/>
      <dgm:spPr/>
      <dgm:t>
        <a:bodyPr/>
        <a:lstStyle/>
        <a:p>
          <a:pPr>
            <a:defRPr b="1"/>
          </a:pPr>
          <a:r>
            <a:rPr lang="en-US"/>
            <a:t>Color</a:t>
          </a:r>
        </a:p>
      </dgm:t>
    </dgm:pt>
    <dgm:pt modelId="{643FC611-2538-4A45-A974-437F3CE03BA2}" type="parTrans" cxnId="{2E4C9A84-DB82-46D5-8D8C-BB81EBA99A41}">
      <dgm:prSet/>
      <dgm:spPr/>
      <dgm:t>
        <a:bodyPr/>
        <a:lstStyle/>
        <a:p>
          <a:endParaRPr lang="en-US"/>
        </a:p>
      </dgm:t>
    </dgm:pt>
    <dgm:pt modelId="{E1DDA79A-944B-4D78-AA21-425FA48DEE63}" type="sibTrans" cxnId="{2E4C9A84-DB82-46D5-8D8C-BB81EBA99A41}">
      <dgm:prSet/>
      <dgm:spPr/>
      <dgm:t>
        <a:bodyPr/>
        <a:lstStyle/>
        <a:p>
          <a:endParaRPr lang="en-US"/>
        </a:p>
      </dgm:t>
    </dgm:pt>
    <dgm:pt modelId="{971D1927-5CD8-41CA-B0A0-E37FC5882BC1}">
      <dgm:prSet/>
      <dgm:spPr/>
      <dgm:t>
        <a:bodyPr/>
        <a:lstStyle/>
        <a:p>
          <a:pPr>
            <a:defRPr b="1"/>
          </a:pPr>
          <a:r>
            <a:rPr lang="en-US" dirty="0" err="1"/>
            <a:t>Dimensiones</a:t>
          </a:r>
          <a:endParaRPr lang="en-US" dirty="0"/>
        </a:p>
      </dgm:t>
    </dgm:pt>
    <dgm:pt modelId="{CB513992-C0D8-4BB7-8303-612198379193}" type="parTrans" cxnId="{C88BE3B1-D4FC-4060-A7F6-D501E4D3D213}">
      <dgm:prSet/>
      <dgm:spPr/>
      <dgm:t>
        <a:bodyPr/>
        <a:lstStyle/>
        <a:p>
          <a:endParaRPr lang="en-US"/>
        </a:p>
      </dgm:t>
    </dgm:pt>
    <dgm:pt modelId="{9DEB771D-BA4C-4403-95B6-05C6B9208450}" type="sibTrans" cxnId="{C88BE3B1-D4FC-4060-A7F6-D501E4D3D213}">
      <dgm:prSet/>
      <dgm:spPr/>
      <dgm:t>
        <a:bodyPr/>
        <a:lstStyle/>
        <a:p>
          <a:endParaRPr lang="en-US"/>
        </a:p>
      </dgm:t>
    </dgm:pt>
    <dgm:pt modelId="{10219087-8058-4377-9795-1099C17538B8}">
      <dgm:prSet/>
      <dgm:spPr/>
      <dgm:t>
        <a:bodyPr/>
        <a:lstStyle/>
        <a:p>
          <a:pPr>
            <a:defRPr b="1"/>
          </a:pPr>
          <a:r>
            <a:rPr lang="en-US" dirty="0" err="1"/>
            <a:t>Texturas</a:t>
          </a:r>
          <a:endParaRPr lang="en-US" dirty="0"/>
        </a:p>
      </dgm:t>
    </dgm:pt>
    <dgm:pt modelId="{A9ECBDE6-BF87-4BA3-BBA0-1B7ACF5D8433}" type="parTrans" cxnId="{67612BEB-8FBC-40C2-A260-3C521752BA6F}">
      <dgm:prSet/>
      <dgm:spPr/>
      <dgm:t>
        <a:bodyPr/>
        <a:lstStyle/>
        <a:p>
          <a:endParaRPr lang="en-US"/>
        </a:p>
      </dgm:t>
    </dgm:pt>
    <dgm:pt modelId="{EC43754E-95E6-4D52-A5B5-F3F90EDCCCC7}" type="sibTrans" cxnId="{67612BEB-8FBC-40C2-A260-3C521752BA6F}">
      <dgm:prSet/>
      <dgm:spPr/>
      <dgm:t>
        <a:bodyPr/>
        <a:lstStyle/>
        <a:p>
          <a:endParaRPr lang="en-US"/>
        </a:p>
      </dgm:t>
    </dgm:pt>
    <dgm:pt modelId="{4032FDB5-1150-4D89-8A17-5FF1508A6E77}">
      <dgm:prSet/>
      <dgm:spPr/>
      <dgm:t>
        <a:bodyPr/>
        <a:lstStyle/>
        <a:p>
          <a:pPr>
            <a:defRPr b="1"/>
          </a:pPr>
          <a:r>
            <a:rPr lang="en-US" dirty="0" err="1"/>
            <a:t>Proximidad</a:t>
          </a:r>
          <a:endParaRPr lang="en-US" dirty="0"/>
        </a:p>
      </dgm:t>
    </dgm:pt>
    <dgm:pt modelId="{286062E2-F675-4AF7-9150-69FA60CC4A16}" type="parTrans" cxnId="{CA8D0C74-EE24-43F6-86A3-ADE5B638A463}">
      <dgm:prSet/>
      <dgm:spPr/>
      <dgm:t>
        <a:bodyPr/>
        <a:lstStyle/>
        <a:p>
          <a:endParaRPr lang="en-US"/>
        </a:p>
      </dgm:t>
    </dgm:pt>
    <dgm:pt modelId="{397A807B-0634-4939-9971-696AC29D554C}" type="sibTrans" cxnId="{CA8D0C74-EE24-43F6-86A3-ADE5B638A463}">
      <dgm:prSet/>
      <dgm:spPr/>
      <dgm:t>
        <a:bodyPr/>
        <a:lstStyle/>
        <a:p>
          <a:endParaRPr lang="en-US"/>
        </a:p>
      </dgm:t>
    </dgm:pt>
    <dgm:pt modelId="{B07A91BF-942A-49BE-84E5-CDA7AD969393}">
      <dgm:prSet/>
      <dgm:spPr/>
      <dgm:t>
        <a:bodyPr/>
        <a:lstStyle/>
        <a:p>
          <a:pPr>
            <a:defRPr b="1"/>
          </a:pPr>
          <a:r>
            <a:rPr lang="en-US" dirty="0" err="1"/>
            <a:t>Anotaciones</a:t>
          </a:r>
          <a:endParaRPr lang="en-US" dirty="0"/>
        </a:p>
      </dgm:t>
    </dgm:pt>
    <dgm:pt modelId="{1D0E5E1F-C3DE-4740-860C-757F1ADC8C15}" type="parTrans" cxnId="{7F0B165C-7E05-4AF9-A13C-2C4580D71473}">
      <dgm:prSet/>
      <dgm:spPr/>
      <dgm:t>
        <a:bodyPr/>
        <a:lstStyle/>
        <a:p>
          <a:endParaRPr lang="en-US"/>
        </a:p>
      </dgm:t>
    </dgm:pt>
    <dgm:pt modelId="{313AC85C-8C73-45D2-9419-5854F8BE7E32}" type="sibTrans" cxnId="{7F0B165C-7E05-4AF9-A13C-2C4580D71473}">
      <dgm:prSet/>
      <dgm:spPr/>
      <dgm:t>
        <a:bodyPr/>
        <a:lstStyle/>
        <a:p>
          <a:endParaRPr lang="en-US"/>
        </a:p>
      </dgm:t>
    </dgm:pt>
    <dgm:pt modelId="{81A4483A-6D7B-4BF0-AFA5-10FF214BEF17}">
      <dgm:prSet/>
      <dgm:spPr/>
      <dgm:t>
        <a:bodyPr/>
        <a:lstStyle/>
        <a:p>
          <a:pPr>
            <a:defRPr b="1"/>
          </a:pPr>
          <a:r>
            <a:rPr lang="en-US" dirty="0" err="1"/>
            <a:t>Interactividad</a:t>
          </a:r>
          <a:r>
            <a:rPr lang="en-US" dirty="0"/>
            <a:t> </a:t>
          </a:r>
        </a:p>
      </dgm:t>
    </dgm:pt>
    <dgm:pt modelId="{BB2B4FA5-5465-494C-9968-EB086560CC95}" type="parTrans" cxnId="{74867FB5-CD23-4CCD-A0F6-DE09623A1E8F}">
      <dgm:prSet/>
      <dgm:spPr/>
      <dgm:t>
        <a:bodyPr/>
        <a:lstStyle/>
        <a:p>
          <a:endParaRPr lang="en-US"/>
        </a:p>
      </dgm:t>
    </dgm:pt>
    <dgm:pt modelId="{8E1CA58D-605C-4ABA-B5B0-EA08408D60F0}" type="sibTrans" cxnId="{74867FB5-CD23-4CCD-A0F6-DE09623A1E8F}">
      <dgm:prSet/>
      <dgm:spPr/>
      <dgm:t>
        <a:bodyPr/>
        <a:lstStyle/>
        <a:p>
          <a:endParaRPr lang="en-US"/>
        </a:p>
      </dgm:t>
    </dgm:pt>
    <dgm:pt modelId="{E012D344-1ED4-4992-8728-70D9D81AE9E7}">
      <dgm:prSet/>
      <dgm:spPr/>
      <dgm:t>
        <a:bodyPr/>
        <a:lstStyle/>
        <a:p>
          <a:r>
            <a:rPr lang="en-US" dirty="0" err="1"/>
            <a:t>Selección</a:t>
          </a:r>
          <a:r>
            <a:rPr lang="en-US" dirty="0"/>
            <a:t> / </a:t>
          </a:r>
          <a:r>
            <a:rPr lang="en-US" dirty="0" err="1"/>
            <a:t>Filtrado</a:t>
          </a:r>
          <a:endParaRPr lang="en-US" dirty="0"/>
        </a:p>
      </dgm:t>
    </dgm:pt>
    <dgm:pt modelId="{BE86028F-EBA2-43D7-A37B-CFB6E7CD49C7}" type="parTrans" cxnId="{EB789D7B-35CE-4231-9394-2EAB3B31FE10}">
      <dgm:prSet/>
      <dgm:spPr/>
      <dgm:t>
        <a:bodyPr/>
        <a:lstStyle/>
        <a:p>
          <a:endParaRPr lang="en-US"/>
        </a:p>
      </dgm:t>
    </dgm:pt>
    <dgm:pt modelId="{4E56C378-D590-421C-9D28-9EDDCAE01E81}" type="sibTrans" cxnId="{EB789D7B-35CE-4231-9394-2EAB3B31FE10}">
      <dgm:prSet/>
      <dgm:spPr/>
      <dgm:t>
        <a:bodyPr/>
        <a:lstStyle/>
        <a:p>
          <a:endParaRPr lang="en-US"/>
        </a:p>
      </dgm:t>
    </dgm:pt>
    <dgm:pt modelId="{16186A64-4E74-4A81-8315-F999434ED02D}">
      <dgm:prSet/>
      <dgm:spPr/>
      <dgm:t>
        <a:bodyPr/>
        <a:lstStyle/>
        <a:p>
          <a:r>
            <a:rPr lang="en-US" dirty="0"/>
            <a:t>Zoom</a:t>
          </a:r>
        </a:p>
      </dgm:t>
    </dgm:pt>
    <dgm:pt modelId="{CB1F5821-603A-42BC-A6E4-328429C87269}" type="parTrans" cxnId="{2683090C-D555-4715-9248-2B2B4BE37616}">
      <dgm:prSet/>
      <dgm:spPr/>
      <dgm:t>
        <a:bodyPr/>
        <a:lstStyle/>
        <a:p>
          <a:endParaRPr lang="en-US"/>
        </a:p>
      </dgm:t>
    </dgm:pt>
    <dgm:pt modelId="{F910FB15-6715-427D-AD7B-7DD4573DDB4B}" type="sibTrans" cxnId="{2683090C-D555-4715-9248-2B2B4BE37616}">
      <dgm:prSet/>
      <dgm:spPr/>
      <dgm:t>
        <a:bodyPr/>
        <a:lstStyle/>
        <a:p>
          <a:endParaRPr lang="en-US"/>
        </a:p>
      </dgm:t>
    </dgm:pt>
    <dgm:pt modelId="{31443ECB-9D9D-493C-9EF6-36A93730D8C0}">
      <dgm:prSet/>
      <dgm:spPr/>
      <dgm:t>
        <a:bodyPr/>
        <a:lstStyle/>
        <a:p>
          <a:r>
            <a:rPr lang="en-US" dirty="0" err="1"/>
            <a:t>Animación</a:t>
          </a:r>
          <a:endParaRPr lang="en-US" dirty="0"/>
        </a:p>
      </dgm:t>
    </dgm:pt>
    <dgm:pt modelId="{3E742FA4-7A24-4744-9189-CBEF57EB0493}" type="parTrans" cxnId="{D928764B-A28E-45A4-8F6C-0740418997E6}">
      <dgm:prSet/>
      <dgm:spPr/>
      <dgm:t>
        <a:bodyPr/>
        <a:lstStyle/>
        <a:p>
          <a:endParaRPr lang="en-US"/>
        </a:p>
      </dgm:t>
    </dgm:pt>
    <dgm:pt modelId="{131ED457-38E5-465E-8DB3-C53B46E8AF2A}" type="sibTrans" cxnId="{D928764B-A28E-45A4-8F6C-0740418997E6}">
      <dgm:prSet/>
      <dgm:spPr/>
      <dgm:t>
        <a:bodyPr/>
        <a:lstStyle/>
        <a:p>
          <a:endParaRPr lang="en-US"/>
        </a:p>
      </dgm:t>
    </dgm:pt>
    <dgm:pt modelId="{2D0F9987-E4C1-4651-9871-9BD68B0301CB}" type="pres">
      <dgm:prSet presAssocID="{A29149C5-DD25-455B-B3D7-AF2AAB7C5CC8}" presName="root" presStyleCnt="0">
        <dgm:presLayoutVars>
          <dgm:dir/>
          <dgm:resizeHandles val="exact"/>
        </dgm:presLayoutVars>
      </dgm:prSet>
      <dgm:spPr/>
    </dgm:pt>
    <dgm:pt modelId="{BEEA54D2-D196-4EBC-80AC-456CFDA7ECA1}" type="pres">
      <dgm:prSet presAssocID="{E54FE6B1-8ED4-463E-BFBA-FD2D21BE683B}" presName="compNode" presStyleCnt="0"/>
      <dgm:spPr/>
    </dgm:pt>
    <dgm:pt modelId="{007189DB-D603-4882-B8DD-6B131FCE77A2}" type="pres">
      <dgm:prSet presAssocID="{E54FE6B1-8ED4-463E-BFBA-FD2D21BE683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ll paint brush"/>
        </a:ext>
      </dgm:extLst>
    </dgm:pt>
    <dgm:pt modelId="{2C13EBAA-BC6F-4043-9B2C-22FBB782ED10}" type="pres">
      <dgm:prSet presAssocID="{E54FE6B1-8ED4-463E-BFBA-FD2D21BE683B}" presName="iconSpace" presStyleCnt="0"/>
      <dgm:spPr/>
    </dgm:pt>
    <dgm:pt modelId="{25C9F18B-61F6-4BA9-BCDB-BB2984963021}" type="pres">
      <dgm:prSet presAssocID="{E54FE6B1-8ED4-463E-BFBA-FD2D21BE683B}" presName="parTx" presStyleLbl="revTx" presStyleIdx="0" presStyleCnt="12">
        <dgm:presLayoutVars>
          <dgm:chMax val="0"/>
          <dgm:chPref val="0"/>
        </dgm:presLayoutVars>
      </dgm:prSet>
      <dgm:spPr/>
    </dgm:pt>
    <dgm:pt modelId="{449DE45C-E9F6-4B31-881A-C9C4D94FFD89}" type="pres">
      <dgm:prSet presAssocID="{E54FE6B1-8ED4-463E-BFBA-FD2D21BE683B}" presName="txSpace" presStyleCnt="0"/>
      <dgm:spPr/>
    </dgm:pt>
    <dgm:pt modelId="{2D3FC9C3-0033-4CA6-A4C0-E79A7BC82633}" type="pres">
      <dgm:prSet presAssocID="{E54FE6B1-8ED4-463E-BFBA-FD2D21BE683B}" presName="desTx" presStyleLbl="revTx" presStyleIdx="1" presStyleCnt="12">
        <dgm:presLayoutVars/>
      </dgm:prSet>
      <dgm:spPr/>
    </dgm:pt>
    <dgm:pt modelId="{7E7477AC-0BCD-47D7-8D31-E11022AF4486}" type="pres">
      <dgm:prSet presAssocID="{E1DDA79A-944B-4D78-AA21-425FA48DEE63}" presName="sibTrans" presStyleCnt="0"/>
      <dgm:spPr/>
    </dgm:pt>
    <dgm:pt modelId="{9349E16E-AB16-4344-8529-C11C29E4EF97}" type="pres">
      <dgm:prSet presAssocID="{971D1927-5CD8-41CA-B0A0-E37FC5882BC1}" presName="compNode" presStyleCnt="0"/>
      <dgm:spPr/>
    </dgm:pt>
    <dgm:pt modelId="{81AE1D32-9472-48A3-9457-34DBBF27E65B}" type="pres">
      <dgm:prSet presAssocID="{971D1927-5CD8-41CA-B0A0-E37FC5882BC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gla"/>
        </a:ext>
      </dgm:extLst>
    </dgm:pt>
    <dgm:pt modelId="{3236037A-7909-4BF8-9393-F1FD2F866214}" type="pres">
      <dgm:prSet presAssocID="{971D1927-5CD8-41CA-B0A0-E37FC5882BC1}" presName="iconSpace" presStyleCnt="0"/>
      <dgm:spPr/>
    </dgm:pt>
    <dgm:pt modelId="{00BF98C9-4991-4F0D-ACB1-C431F9EE0C20}" type="pres">
      <dgm:prSet presAssocID="{971D1927-5CD8-41CA-B0A0-E37FC5882BC1}" presName="parTx" presStyleLbl="revTx" presStyleIdx="2" presStyleCnt="12">
        <dgm:presLayoutVars>
          <dgm:chMax val="0"/>
          <dgm:chPref val="0"/>
        </dgm:presLayoutVars>
      </dgm:prSet>
      <dgm:spPr/>
    </dgm:pt>
    <dgm:pt modelId="{3C407527-9C6F-4932-B1F7-9DF17D875C52}" type="pres">
      <dgm:prSet presAssocID="{971D1927-5CD8-41CA-B0A0-E37FC5882BC1}" presName="txSpace" presStyleCnt="0"/>
      <dgm:spPr/>
    </dgm:pt>
    <dgm:pt modelId="{7A05C42C-A9C4-4D37-8B9E-6137DC21A288}" type="pres">
      <dgm:prSet presAssocID="{971D1927-5CD8-41CA-B0A0-E37FC5882BC1}" presName="desTx" presStyleLbl="revTx" presStyleIdx="3" presStyleCnt="12">
        <dgm:presLayoutVars/>
      </dgm:prSet>
      <dgm:spPr/>
    </dgm:pt>
    <dgm:pt modelId="{42DC43F2-FAEF-437B-97AB-E34E3E91D71F}" type="pres">
      <dgm:prSet presAssocID="{9DEB771D-BA4C-4403-95B6-05C6B9208450}" presName="sibTrans" presStyleCnt="0"/>
      <dgm:spPr/>
    </dgm:pt>
    <dgm:pt modelId="{62B80735-1FB9-4EBA-B9E6-F05D33123482}" type="pres">
      <dgm:prSet presAssocID="{10219087-8058-4377-9795-1099C17538B8}" presName="compNode" presStyleCnt="0"/>
      <dgm:spPr/>
    </dgm:pt>
    <dgm:pt modelId="{407D9307-7B58-4108-AF4E-2E0D64B7E640}" type="pres">
      <dgm:prSet presAssocID="{10219087-8058-4377-9795-1099C17538B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ormas básicas"/>
        </a:ext>
      </dgm:extLst>
    </dgm:pt>
    <dgm:pt modelId="{486C4FE2-5B40-4BC6-9C51-0FACC58CFC88}" type="pres">
      <dgm:prSet presAssocID="{10219087-8058-4377-9795-1099C17538B8}" presName="iconSpace" presStyleCnt="0"/>
      <dgm:spPr/>
    </dgm:pt>
    <dgm:pt modelId="{0133FE12-BBCB-47FB-92CD-CC935EEC8C14}" type="pres">
      <dgm:prSet presAssocID="{10219087-8058-4377-9795-1099C17538B8}" presName="parTx" presStyleLbl="revTx" presStyleIdx="4" presStyleCnt="12">
        <dgm:presLayoutVars>
          <dgm:chMax val="0"/>
          <dgm:chPref val="0"/>
        </dgm:presLayoutVars>
      </dgm:prSet>
      <dgm:spPr/>
    </dgm:pt>
    <dgm:pt modelId="{B6E2B6A5-4325-44E6-AA87-81D95BE3E016}" type="pres">
      <dgm:prSet presAssocID="{10219087-8058-4377-9795-1099C17538B8}" presName="txSpace" presStyleCnt="0"/>
      <dgm:spPr/>
    </dgm:pt>
    <dgm:pt modelId="{D426C9B5-121E-4364-8D17-211ED56A454E}" type="pres">
      <dgm:prSet presAssocID="{10219087-8058-4377-9795-1099C17538B8}" presName="desTx" presStyleLbl="revTx" presStyleIdx="5" presStyleCnt="12">
        <dgm:presLayoutVars/>
      </dgm:prSet>
      <dgm:spPr/>
    </dgm:pt>
    <dgm:pt modelId="{E692A300-7E6E-4EA1-8B56-592D233FC544}" type="pres">
      <dgm:prSet presAssocID="{EC43754E-95E6-4D52-A5B5-F3F90EDCCCC7}" presName="sibTrans" presStyleCnt="0"/>
      <dgm:spPr/>
    </dgm:pt>
    <dgm:pt modelId="{BB935C1E-FE53-4148-8135-11AEFCD2660D}" type="pres">
      <dgm:prSet presAssocID="{4032FDB5-1150-4D89-8A17-5FF1508A6E77}" presName="compNode" presStyleCnt="0"/>
      <dgm:spPr/>
    </dgm:pt>
    <dgm:pt modelId="{24FE2A8C-1777-4B7A-8213-F7502BDE0ED4}" type="pres">
      <dgm:prSet presAssocID="{4032FDB5-1150-4D89-8A17-5FF1508A6E77}"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újula"/>
        </a:ext>
      </dgm:extLst>
    </dgm:pt>
    <dgm:pt modelId="{98D16C2A-28B8-4ADF-AB67-4842D4B0DAF8}" type="pres">
      <dgm:prSet presAssocID="{4032FDB5-1150-4D89-8A17-5FF1508A6E77}" presName="iconSpace" presStyleCnt="0"/>
      <dgm:spPr/>
    </dgm:pt>
    <dgm:pt modelId="{F3FC1952-BAD3-48A8-91E8-84BD1C4B53AB}" type="pres">
      <dgm:prSet presAssocID="{4032FDB5-1150-4D89-8A17-5FF1508A6E77}" presName="parTx" presStyleLbl="revTx" presStyleIdx="6" presStyleCnt="12">
        <dgm:presLayoutVars>
          <dgm:chMax val="0"/>
          <dgm:chPref val="0"/>
        </dgm:presLayoutVars>
      </dgm:prSet>
      <dgm:spPr/>
    </dgm:pt>
    <dgm:pt modelId="{8892653A-91C3-4548-9229-02B44F606BDE}" type="pres">
      <dgm:prSet presAssocID="{4032FDB5-1150-4D89-8A17-5FF1508A6E77}" presName="txSpace" presStyleCnt="0"/>
      <dgm:spPr/>
    </dgm:pt>
    <dgm:pt modelId="{F3C52EE5-32C6-4E50-BBD9-5FB989D3D39D}" type="pres">
      <dgm:prSet presAssocID="{4032FDB5-1150-4D89-8A17-5FF1508A6E77}" presName="desTx" presStyleLbl="revTx" presStyleIdx="7" presStyleCnt="12">
        <dgm:presLayoutVars/>
      </dgm:prSet>
      <dgm:spPr/>
    </dgm:pt>
    <dgm:pt modelId="{B7A63EEA-5F7D-41C1-AB35-EB220853596E}" type="pres">
      <dgm:prSet presAssocID="{397A807B-0634-4939-9971-696AC29D554C}" presName="sibTrans" presStyleCnt="0"/>
      <dgm:spPr/>
    </dgm:pt>
    <dgm:pt modelId="{4878DE7C-A7CD-4F77-94E9-8A8F528D3F63}" type="pres">
      <dgm:prSet presAssocID="{B07A91BF-942A-49BE-84E5-CDA7AD969393}" presName="compNode" presStyleCnt="0"/>
      <dgm:spPr/>
    </dgm:pt>
    <dgm:pt modelId="{87DFF284-E723-4933-9EE6-0ADA21F10B55}" type="pres">
      <dgm:prSet presAssocID="{B07A91BF-942A-49BE-84E5-CDA7AD96939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ápiz"/>
        </a:ext>
      </dgm:extLst>
    </dgm:pt>
    <dgm:pt modelId="{BF0FDBD2-31B4-4B73-8DA6-266693E6A46F}" type="pres">
      <dgm:prSet presAssocID="{B07A91BF-942A-49BE-84E5-CDA7AD969393}" presName="iconSpace" presStyleCnt="0"/>
      <dgm:spPr/>
    </dgm:pt>
    <dgm:pt modelId="{19C80F02-66F9-4058-A667-6E2338A3DF44}" type="pres">
      <dgm:prSet presAssocID="{B07A91BF-942A-49BE-84E5-CDA7AD969393}" presName="parTx" presStyleLbl="revTx" presStyleIdx="8" presStyleCnt="12">
        <dgm:presLayoutVars>
          <dgm:chMax val="0"/>
          <dgm:chPref val="0"/>
        </dgm:presLayoutVars>
      </dgm:prSet>
      <dgm:spPr/>
    </dgm:pt>
    <dgm:pt modelId="{E7942ABE-0016-4587-A4A9-97D82C3FB990}" type="pres">
      <dgm:prSet presAssocID="{B07A91BF-942A-49BE-84E5-CDA7AD969393}" presName="txSpace" presStyleCnt="0"/>
      <dgm:spPr/>
    </dgm:pt>
    <dgm:pt modelId="{4226F016-E8A5-41C2-B440-60F10DC11EA0}" type="pres">
      <dgm:prSet presAssocID="{B07A91BF-942A-49BE-84E5-CDA7AD969393}" presName="desTx" presStyleLbl="revTx" presStyleIdx="9" presStyleCnt="12">
        <dgm:presLayoutVars/>
      </dgm:prSet>
      <dgm:spPr/>
    </dgm:pt>
    <dgm:pt modelId="{F4F89D06-3D16-4BCE-B2A0-2737A6BC77EF}" type="pres">
      <dgm:prSet presAssocID="{313AC85C-8C73-45D2-9419-5854F8BE7E32}" presName="sibTrans" presStyleCnt="0"/>
      <dgm:spPr/>
    </dgm:pt>
    <dgm:pt modelId="{8D8925FC-DB62-4769-98EA-2EEFBDACBB15}" type="pres">
      <dgm:prSet presAssocID="{81A4483A-6D7B-4BF0-AFA5-10FF214BEF17}" presName="compNode" presStyleCnt="0"/>
      <dgm:spPr/>
    </dgm:pt>
    <dgm:pt modelId="{8C102A54-A637-44E2-9176-632E9F6E84BD}" type="pres">
      <dgm:prSet presAssocID="{81A4483A-6D7B-4BF0-AFA5-10FF214BEF1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agnifying glass"/>
        </a:ext>
      </dgm:extLst>
    </dgm:pt>
    <dgm:pt modelId="{EE163105-9705-4120-99FE-BFA659EE16B6}" type="pres">
      <dgm:prSet presAssocID="{81A4483A-6D7B-4BF0-AFA5-10FF214BEF17}" presName="iconSpace" presStyleCnt="0"/>
      <dgm:spPr/>
    </dgm:pt>
    <dgm:pt modelId="{98A52513-70A4-48EC-B397-D507A2278CB6}" type="pres">
      <dgm:prSet presAssocID="{81A4483A-6D7B-4BF0-AFA5-10FF214BEF17}" presName="parTx" presStyleLbl="revTx" presStyleIdx="10" presStyleCnt="12">
        <dgm:presLayoutVars>
          <dgm:chMax val="0"/>
          <dgm:chPref val="0"/>
        </dgm:presLayoutVars>
      </dgm:prSet>
      <dgm:spPr/>
    </dgm:pt>
    <dgm:pt modelId="{B78E5A0C-673A-473A-B73F-F273E8B684B1}" type="pres">
      <dgm:prSet presAssocID="{81A4483A-6D7B-4BF0-AFA5-10FF214BEF17}" presName="txSpace" presStyleCnt="0"/>
      <dgm:spPr/>
    </dgm:pt>
    <dgm:pt modelId="{AA40135F-4646-400F-B2DE-74799FB76A6F}" type="pres">
      <dgm:prSet presAssocID="{81A4483A-6D7B-4BF0-AFA5-10FF214BEF17}" presName="desTx" presStyleLbl="revTx" presStyleIdx="11" presStyleCnt="12">
        <dgm:presLayoutVars/>
      </dgm:prSet>
      <dgm:spPr/>
    </dgm:pt>
  </dgm:ptLst>
  <dgm:cxnLst>
    <dgm:cxn modelId="{2683090C-D555-4715-9248-2B2B4BE37616}" srcId="{81A4483A-6D7B-4BF0-AFA5-10FF214BEF17}" destId="{16186A64-4E74-4A81-8315-F999434ED02D}" srcOrd="1" destOrd="0" parTransId="{CB1F5821-603A-42BC-A6E4-328429C87269}" sibTransId="{F910FB15-6715-427D-AD7B-7DD4573DDB4B}"/>
    <dgm:cxn modelId="{1164DD13-7E42-4B3E-B304-3D4B9C89DB11}" type="presOf" srcId="{A29149C5-DD25-455B-B3D7-AF2AAB7C5CC8}" destId="{2D0F9987-E4C1-4651-9871-9BD68B0301CB}" srcOrd="0" destOrd="0" presId="urn:microsoft.com/office/officeart/2018/5/layout/CenteredIconLabelDescriptionList"/>
    <dgm:cxn modelId="{822BF618-5D9E-469E-92D2-674FD021E6EF}" type="presOf" srcId="{10219087-8058-4377-9795-1099C17538B8}" destId="{0133FE12-BBCB-47FB-92CD-CC935EEC8C14}" srcOrd="0" destOrd="0" presId="urn:microsoft.com/office/officeart/2018/5/layout/CenteredIconLabelDescriptionList"/>
    <dgm:cxn modelId="{B9E2BF38-BFA4-4643-9E42-667FEA2FBAC7}" type="presOf" srcId="{E012D344-1ED4-4992-8728-70D9D81AE9E7}" destId="{AA40135F-4646-400F-B2DE-74799FB76A6F}" srcOrd="0" destOrd="0" presId="urn:microsoft.com/office/officeart/2018/5/layout/CenteredIconLabelDescriptionList"/>
    <dgm:cxn modelId="{7F0B165C-7E05-4AF9-A13C-2C4580D71473}" srcId="{A29149C5-DD25-455B-B3D7-AF2AAB7C5CC8}" destId="{B07A91BF-942A-49BE-84E5-CDA7AD969393}" srcOrd="4" destOrd="0" parTransId="{1D0E5E1F-C3DE-4740-860C-757F1ADC8C15}" sibTransId="{313AC85C-8C73-45D2-9419-5854F8BE7E32}"/>
    <dgm:cxn modelId="{D928764B-A28E-45A4-8F6C-0740418997E6}" srcId="{81A4483A-6D7B-4BF0-AFA5-10FF214BEF17}" destId="{31443ECB-9D9D-493C-9EF6-36A93730D8C0}" srcOrd="2" destOrd="0" parTransId="{3E742FA4-7A24-4744-9189-CBEF57EB0493}" sibTransId="{131ED457-38E5-465E-8DB3-C53B46E8AF2A}"/>
    <dgm:cxn modelId="{CA8D0C74-EE24-43F6-86A3-ADE5B638A463}" srcId="{A29149C5-DD25-455B-B3D7-AF2AAB7C5CC8}" destId="{4032FDB5-1150-4D89-8A17-5FF1508A6E77}" srcOrd="3" destOrd="0" parTransId="{286062E2-F675-4AF7-9150-69FA60CC4A16}" sibTransId="{397A807B-0634-4939-9971-696AC29D554C}"/>
    <dgm:cxn modelId="{EB789D7B-35CE-4231-9394-2EAB3B31FE10}" srcId="{81A4483A-6D7B-4BF0-AFA5-10FF214BEF17}" destId="{E012D344-1ED4-4992-8728-70D9D81AE9E7}" srcOrd="0" destOrd="0" parTransId="{BE86028F-EBA2-43D7-A37B-CFB6E7CD49C7}" sibTransId="{4E56C378-D590-421C-9D28-9EDDCAE01E81}"/>
    <dgm:cxn modelId="{2E4C9A84-DB82-46D5-8D8C-BB81EBA99A41}" srcId="{A29149C5-DD25-455B-B3D7-AF2AAB7C5CC8}" destId="{E54FE6B1-8ED4-463E-BFBA-FD2D21BE683B}" srcOrd="0" destOrd="0" parTransId="{643FC611-2538-4A45-A974-437F3CE03BA2}" sibTransId="{E1DDA79A-944B-4D78-AA21-425FA48DEE63}"/>
    <dgm:cxn modelId="{A4728786-06D2-4165-ADA9-B3A52A926728}" type="presOf" srcId="{81A4483A-6D7B-4BF0-AFA5-10FF214BEF17}" destId="{98A52513-70A4-48EC-B397-D507A2278CB6}" srcOrd="0" destOrd="0" presId="urn:microsoft.com/office/officeart/2018/5/layout/CenteredIconLabelDescriptionList"/>
    <dgm:cxn modelId="{3536B796-1D18-4578-BB45-2E62C8DC520A}" type="presOf" srcId="{4032FDB5-1150-4D89-8A17-5FF1508A6E77}" destId="{F3FC1952-BAD3-48A8-91E8-84BD1C4B53AB}" srcOrd="0" destOrd="0" presId="urn:microsoft.com/office/officeart/2018/5/layout/CenteredIconLabelDescriptionList"/>
    <dgm:cxn modelId="{C88BE3B1-D4FC-4060-A7F6-D501E4D3D213}" srcId="{A29149C5-DD25-455B-B3D7-AF2AAB7C5CC8}" destId="{971D1927-5CD8-41CA-B0A0-E37FC5882BC1}" srcOrd="1" destOrd="0" parTransId="{CB513992-C0D8-4BB7-8303-612198379193}" sibTransId="{9DEB771D-BA4C-4403-95B6-05C6B9208450}"/>
    <dgm:cxn modelId="{74867FB5-CD23-4CCD-A0F6-DE09623A1E8F}" srcId="{A29149C5-DD25-455B-B3D7-AF2AAB7C5CC8}" destId="{81A4483A-6D7B-4BF0-AFA5-10FF214BEF17}" srcOrd="5" destOrd="0" parTransId="{BB2B4FA5-5465-494C-9968-EB086560CC95}" sibTransId="{8E1CA58D-605C-4ABA-B5B0-EA08408D60F0}"/>
    <dgm:cxn modelId="{3AF62DB8-44BC-4CF8-B933-D2D1B5B39FC0}" type="presOf" srcId="{971D1927-5CD8-41CA-B0A0-E37FC5882BC1}" destId="{00BF98C9-4991-4F0D-ACB1-C431F9EE0C20}" srcOrd="0" destOrd="0" presId="urn:microsoft.com/office/officeart/2018/5/layout/CenteredIconLabelDescriptionList"/>
    <dgm:cxn modelId="{CA5472C0-C0F9-4FA0-A8D2-1E3548C02F24}" type="presOf" srcId="{B07A91BF-942A-49BE-84E5-CDA7AD969393}" destId="{19C80F02-66F9-4058-A667-6E2338A3DF44}" srcOrd="0" destOrd="0" presId="urn:microsoft.com/office/officeart/2018/5/layout/CenteredIconLabelDescriptionList"/>
    <dgm:cxn modelId="{FFEB14CE-B5B6-484A-B72A-B00E0627A93F}" type="presOf" srcId="{31443ECB-9D9D-493C-9EF6-36A93730D8C0}" destId="{AA40135F-4646-400F-B2DE-74799FB76A6F}" srcOrd="0" destOrd="2" presId="urn:microsoft.com/office/officeart/2018/5/layout/CenteredIconLabelDescriptionList"/>
    <dgm:cxn modelId="{5908E1E2-A2CE-47A5-AA1A-B4363B5082A4}" type="presOf" srcId="{E54FE6B1-8ED4-463E-BFBA-FD2D21BE683B}" destId="{25C9F18B-61F6-4BA9-BCDB-BB2984963021}" srcOrd="0" destOrd="0" presId="urn:microsoft.com/office/officeart/2018/5/layout/CenteredIconLabelDescriptionList"/>
    <dgm:cxn modelId="{67612BEB-8FBC-40C2-A260-3C521752BA6F}" srcId="{A29149C5-DD25-455B-B3D7-AF2AAB7C5CC8}" destId="{10219087-8058-4377-9795-1099C17538B8}" srcOrd="2" destOrd="0" parTransId="{A9ECBDE6-BF87-4BA3-BBA0-1B7ACF5D8433}" sibTransId="{EC43754E-95E6-4D52-A5B5-F3F90EDCCCC7}"/>
    <dgm:cxn modelId="{D44CC0FB-9FFD-4D82-BA9E-90B526ED5FA1}" type="presOf" srcId="{16186A64-4E74-4A81-8315-F999434ED02D}" destId="{AA40135F-4646-400F-B2DE-74799FB76A6F}" srcOrd="0" destOrd="1" presId="urn:microsoft.com/office/officeart/2018/5/layout/CenteredIconLabelDescriptionList"/>
    <dgm:cxn modelId="{066D28ED-2D23-43E5-98A4-C1750B84D43F}" type="presParOf" srcId="{2D0F9987-E4C1-4651-9871-9BD68B0301CB}" destId="{BEEA54D2-D196-4EBC-80AC-456CFDA7ECA1}" srcOrd="0" destOrd="0" presId="urn:microsoft.com/office/officeart/2018/5/layout/CenteredIconLabelDescriptionList"/>
    <dgm:cxn modelId="{3EDD4438-6A23-486A-B722-9F7D19D35999}" type="presParOf" srcId="{BEEA54D2-D196-4EBC-80AC-456CFDA7ECA1}" destId="{007189DB-D603-4882-B8DD-6B131FCE77A2}" srcOrd="0" destOrd="0" presId="urn:microsoft.com/office/officeart/2018/5/layout/CenteredIconLabelDescriptionList"/>
    <dgm:cxn modelId="{780FA9BD-79A4-4CF9-A8A1-8CCFB4FF1CFB}" type="presParOf" srcId="{BEEA54D2-D196-4EBC-80AC-456CFDA7ECA1}" destId="{2C13EBAA-BC6F-4043-9B2C-22FBB782ED10}" srcOrd="1" destOrd="0" presId="urn:microsoft.com/office/officeart/2018/5/layout/CenteredIconLabelDescriptionList"/>
    <dgm:cxn modelId="{F1489258-9389-4AA6-8E70-7D4F486CF501}" type="presParOf" srcId="{BEEA54D2-D196-4EBC-80AC-456CFDA7ECA1}" destId="{25C9F18B-61F6-4BA9-BCDB-BB2984963021}" srcOrd="2" destOrd="0" presId="urn:microsoft.com/office/officeart/2018/5/layout/CenteredIconLabelDescriptionList"/>
    <dgm:cxn modelId="{EE4C9801-EE67-4B6F-9A53-D6E26CEDFA07}" type="presParOf" srcId="{BEEA54D2-D196-4EBC-80AC-456CFDA7ECA1}" destId="{449DE45C-E9F6-4B31-881A-C9C4D94FFD89}" srcOrd="3" destOrd="0" presId="urn:microsoft.com/office/officeart/2018/5/layout/CenteredIconLabelDescriptionList"/>
    <dgm:cxn modelId="{2C863A4A-13AE-4728-8386-76A044E51E86}" type="presParOf" srcId="{BEEA54D2-D196-4EBC-80AC-456CFDA7ECA1}" destId="{2D3FC9C3-0033-4CA6-A4C0-E79A7BC82633}" srcOrd="4" destOrd="0" presId="urn:microsoft.com/office/officeart/2018/5/layout/CenteredIconLabelDescriptionList"/>
    <dgm:cxn modelId="{64886FA0-FB4C-4EA3-8038-9F0BB510F007}" type="presParOf" srcId="{2D0F9987-E4C1-4651-9871-9BD68B0301CB}" destId="{7E7477AC-0BCD-47D7-8D31-E11022AF4486}" srcOrd="1" destOrd="0" presId="urn:microsoft.com/office/officeart/2018/5/layout/CenteredIconLabelDescriptionList"/>
    <dgm:cxn modelId="{65433D4E-1E9E-48FC-942D-9E3F2619FE9E}" type="presParOf" srcId="{2D0F9987-E4C1-4651-9871-9BD68B0301CB}" destId="{9349E16E-AB16-4344-8529-C11C29E4EF97}" srcOrd="2" destOrd="0" presId="urn:microsoft.com/office/officeart/2018/5/layout/CenteredIconLabelDescriptionList"/>
    <dgm:cxn modelId="{13F1413D-7DAE-4FD1-8962-F6DCE8005322}" type="presParOf" srcId="{9349E16E-AB16-4344-8529-C11C29E4EF97}" destId="{81AE1D32-9472-48A3-9457-34DBBF27E65B}" srcOrd="0" destOrd="0" presId="urn:microsoft.com/office/officeart/2018/5/layout/CenteredIconLabelDescriptionList"/>
    <dgm:cxn modelId="{BEE62270-D4B0-465A-903B-B44F8ED5381A}" type="presParOf" srcId="{9349E16E-AB16-4344-8529-C11C29E4EF97}" destId="{3236037A-7909-4BF8-9393-F1FD2F866214}" srcOrd="1" destOrd="0" presId="urn:microsoft.com/office/officeart/2018/5/layout/CenteredIconLabelDescriptionList"/>
    <dgm:cxn modelId="{C45B3279-4F29-45A4-8478-D483CE20584C}" type="presParOf" srcId="{9349E16E-AB16-4344-8529-C11C29E4EF97}" destId="{00BF98C9-4991-4F0D-ACB1-C431F9EE0C20}" srcOrd="2" destOrd="0" presId="urn:microsoft.com/office/officeart/2018/5/layout/CenteredIconLabelDescriptionList"/>
    <dgm:cxn modelId="{5BBE2248-A0FC-46ED-B123-571835196269}" type="presParOf" srcId="{9349E16E-AB16-4344-8529-C11C29E4EF97}" destId="{3C407527-9C6F-4932-B1F7-9DF17D875C52}" srcOrd="3" destOrd="0" presId="urn:microsoft.com/office/officeart/2018/5/layout/CenteredIconLabelDescriptionList"/>
    <dgm:cxn modelId="{CFE65635-8003-4480-807F-11A9E8494E63}" type="presParOf" srcId="{9349E16E-AB16-4344-8529-C11C29E4EF97}" destId="{7A05C42C-A9C4-4D37-8B9E-6137DC21A288}" srcOrd="4" destOrd="0" presId="urn:microsoft.com/office/officeart/2018/5/layout/CenteredIconLabelDescriptionList"/>
    <dgm:cxn modelId="{90526B3B-1DBD-426C-AF66-F9B80E35E7FF}" type="presParOf" srcId="{2D0F9987-E4C1-4651-9871-9BD68B0301CB}" destId="{42DC43F2-FAEF-437B-97AB-E34E3E91D71F}" srcOrd="3" destOrd="0" presId="urn:microsoft.com/office/officeart/2018/5/layout/CenteredIconLabelDescriptionList"/>
    <dgm:cxn modelId="{32829B15-7443-4F4B-9051-516AD342A1E0}" type="presParOf" srcId="{2D0F9987-E4C1-4651-9871-9BD68B0301CB}" destId="{62B80735-1FB9-4EBA-B9E6-F05D33123482}" srcOrd="4" destOrd="0" presId="urn:microsoft.com/office/officeart/2018/5/layout/CenteredIconLabelDescriptionList"/>
    <dgm:cxn modelId="{07C14BB0-1BC4-41FA-8F21-8F837C05E3A9}" type="presParOf" srcId="{62B80735-1FB9-4EBA-B9E6-F05D33123482}" destId="{407D9307-7B58-4108-AF4E-2E0D64B7E640}" srcOrd="0" destOrd="0" presId="urn:microsoft.com/office/officeart/2018/5/layout/CenteredIconLabelDescriptionList"/>
    <dgm:cxn modelId="{1A9E5843-660B-4151-9C25-A2B81E6216A4}" type="presParOf" srcId="{62B80735-1FB9-4EBA-B9E6-F05D33123482}" destId="{486C4FE2-5B40-4BC6-9C51-0FACC58CFC88}" srcOrd="1" destOrd="0" presId="urn:microsoft.com/office/officeart/2018/5/layout/CenteredIconLabelDescriptionList"/>
    <dgm:cxn modelId="{CC1C3CB5-0D53-490B-94E2-0D38C9D10946}" type="presParOf" srcId="{62B80735-1FB9-4EBA-B9E6-F05D33123482}" destId="{0133FE12-BBCB-47FB-92CD-CC935EEC8C14}" srcOrd="2" destOrd="0" presId="urn:microsoft.com/office/officeart/2018/5/layout/CenteredIconLabelDescriptionList"/>
    <dgm:cxn modelId="{C66162DA-1A98-4BB1-8016-0B45845D6A76}" type="presParOf" srcId="{62B80735-1FB9-4EBA-B9E6-F05D33123482}" destId="{B6E2B6A5-4325-44E6-AA87-81D95BE3E016}" srcOrd="3" destOrd="0" presId="urn:microsoft.com/office/officeart/2018/5/layout/CenteredIconLabelDescriptionList"/>
    <dgm:cxn modelId="{A39E870A-EA5F-40DA-A2CB-A93D896293DB}" type="presParOf" srcId="{62B80735-1FB9-4EBA-B9E6-F05D33123482}" destId="{D426C9B5-121E-4364-8D17-211ED56A454E}" srcOrd="4" destOrd="0" presId="urn:microsoft.com/office/officeart/2018/5/layout/CenteredIconLabelDescriptionList"/>
    <dgm:cxn modelId="{068174AF-8EB3-4B4A-86E3-3852C6767A6B}" type="presParOf" srcId="{2D0F9987-E4C1-4651-9871-9BD68B0301CB}" destId="{E692A300-7E6E-4EA1-8B56-592D233FC544}" srcOrd="5" destOrd="0" presId="urn:microsoft.com/office/officeart/2018/5/layout/CenteredIconLabelDescriptionList"/>
    <dgm:cxn modelId="{3F65197F-6033-4B54-A765-AE0EF7438563}" type="presParOf" srcId="{2D0F9987-E4C1-4651-9871-9BD68B0301CB}" destId="{BB935C1E-FE53-4148-8135-11AEFCD2660D}" srcOrd="6" destOrd="0" presId="urn:microsoft.com/office/officeart/2018/5/layout/CenteredIconLabelDescriptionList"/>
    <dgm:cxn modelId="{438F9C56-04F3-4AD2-8D34-2CA49A891878}" type="presParOf" srcId="{BB935C1E-FE53-4148-8135-11AEFCD2660D}" destId="{24FE2A8C-1777-4B7A-8213-F7502BDE0ED4}" srcOrd="0" destOrd="0" presId="urn:microsoft.com/office/officeart/2018/5/layout/CenteredIconLabelDescriptionList"/>
    <dgm:cxn modelId="{914031CF-11ED-48CC-84FA-B6A0C9B9D0D4}" type="presParOf" srcId="{BB935C1E-FE53-4148-8135-11AEFCD2660D}" destId="{98D16C2A-28B8-4ADF-AB67-4842D4B0DAF8}" srcOrd="1" destOrd="0" presId="urn:microsoft.com/office/officeart/2018/5/layout/CenteredIconLabelDescriptionList"/>
    <dgm:cxn modelId="{478CF2F0-0CB6-4957-B489-5A58E465F471}" type="presParOf" srcId="{BB935C1E-FE53-4148-8135-11AEFCD2660D}" destId="{F3FC1952-BAD3-48A8-91E8-84BD1C4B53AB}" srcOrd="2" destOrd="0" presId="urn:microsoft.com/office/officeart/2018/5/layout/CenteredIconLabelDescriptionList"/>
    <dgm:cxn modelId="{0A583E97-481B-4CA3-93CA-C38D02451AF8}" type="presParOf" srcId="{BB935C1E-FE53-4148-8135-11AEFCD2660D}" destId="{8892653A-91C3-4548-9229-02B44F606BDE}" srcOrd="3" destOrd="0" presId="urn:microsoft.com/office/officeart/2018/5/layout/CenteredIconLabelDescriptionList"/>
    <dgm:cxn modelId="{B9186A1E-F0A7-44E0-B918-DF03150BD276}" type="presParOf" srcId="{BB935C1E-FE53-4148-8135-11AEFCD2660D}" destId="{F3C52EE5-32C6-4E50-BBD9-5FB989D3D39D}" srcOrd="4" destOrd="0" presId="urn:microsoft.com/office/officeart/2018/5/layout/CenteredIconLabelDescriptionList"/>
    <dgm:cxn modelId="{36639C93-B518-491E-B72F-21C0D2F1FA71}" type="presParOf" srcId="{2D0F9987-E4C1-4651-9871-9BD68B0301CB}" destId="{B7A63EEA-5F7D-41C1-AB35-EB220853596E}" srcOrd="7" destOrd="0" presId="urn:microsoft.com/office/officeart/2018/5/layout/CenteredIconLabelDescriptionList"/>
    <dgm:cxn modelId="{4B3D0829-AC06-48F9-A702-8418DD7C5D7A}" type="presParOf" srcId="{2D0F9987-E4C1-4651-9871-9BD68B0301CB}" destId="{4878DE7C-A7CD-4F77-94E9-8A8F528D3F63}" srcOrd="8" destOrd="0" presId="urn:microsoft.com/office/officeart/2018/5/layout/CenteredIconLabelDescriptionList"/>
    <dgm:cxn modelId="{A59649AE-C804-4476-8B4F-88818D5F03FE}" type="presParOf" srcId="{4878DE7C-A7CD-4F77-94E9-8A8F528D3F63}" destId="{87DFF284-E723-4933-9EE6-0ADA21F10B55}" srcOrd="0" destOrd="0" presId="urn:microsoft.com/office/officeart/2018/5/layout/CenteredIconLabelDescriptionList"/>
    <dgm:cxn modelId="{6FDF1885-CF7E-462A-979C-C91E359BD90D}" type="presParOf" srcId="{4878DE7C-A7CD-4F77-94E9-8A8F528D3F63}" destId="{BF0FDBD2-31B4-4B73-8DA6-266693E6A46F}" srcOrd="1" destOrd="0" presId="urn:microsoft.com/office/officeart/2018/5/layout/CenteredIconLabelDescriptionList"/>
    <dgm:cxn modelId="{2F4C093A-5D0A-4F2D-BB96-95109355177E}" type="presParOf" srcId="{4878DE7C-A7CD-4F77-94E9-8A8F528D3F63}" destId="{19C80F02-66F9-4058-A667-6E2338A3DF44}" srcOrd="2" destOrd="0" presId="urn:microsoft.com/office/officeart/2018/5/layout/CenteredIconLabelDescriptionList"/>
    <dgm:cxn modelId="{F0221D29-69E7-40B7-B200-EEF10F8E9DDE}" type="presParOf" srcId="{4878DE7C-A7CD-4F77-94E9-8A8F528D3F63}" destId="{E7942ABE-0016-4587-A4A9-97D82C3FB990}" srcOrd="3" destOrd="0" presId="urn:microsoft.com/office/officeart/2018/5/layout/CenteredIconLabelDescriptionList"/>
    <dgm:cxn modelId="{C4EB8666-78B7-4151-BCA4-A3887497DA30}" type="presParOf" srcId="{4878DE7C-A7CD-4F77-94E9-8A8F528D3F63}" destId="{4226F016-E8A5-41C2-B440-60F10DC11EA0}" srcOrd="4" destOrd="0" presId="urn:microsoft.com/office/officeart/2018/5/layout/CenteredIconLabelDescriptionList"/>
    <dgm:cxn modelId="{715B88C5-ED67-4064-B00F-7B9147EE8E17}" type="presParOf" srcId="{2D0F9987-E4C1-4651-9871-9BD68B0301CB}" destId="{F4F89D06-3D16-4BCE-B2A0-2737A6BC77EF}" srcOrd="9" destOrd="0" presId="urn:microsoft.com/office/officeart/2018/5/layout/CenteredIconLabelDescriptionList"/>
    <dgm:cxn modelId="{8300C93B-F3EC-4E85-915F-E5D78301C1F4}" type="presParOf" srcId="{2D0F9987-E4C1-4651-9871-9BD68B0301CB}" destId="{8D8925FC-DB62-4769-98EA-2EEFBDACBB15}" srcOrd="10" destOrd="0" presId="urn:microsoft.com/office/officeart/2018/5/layout/CenteredIconLabelDescriptionList"/>
    <dgm:cxn modelId="{9BA6804C-5998-47DF-BD4A-AA29431207FB}" type="presParOf" srcId="{8D8925FC-DB62-4769-98EA-2EEFBDACBB15}" destId="{8C102A54-A637-44E2-9176-632E9F6E84BD}" srcOrd="0" destOrd="0" presId="urn:microsoft.com/office/officeart/2018/5/layout/CenteredIconLabelDescriptionList"/>
    <dgm:cxn modelId="{E800457E-F3A0-4E49-9FBF-96BA4A304F84}" type="presParOf" srcId="{8D8925FC-DB62-4769-98EA-2EEFBDACBB15}" destId="{EE163105-9705-4120-99FE-BFA659EE16B6}" srcOrd="1" destOrd="0" presId="urn:microsoft.com/office/officeart/2018/5/layout/CenteredIconLabelDescriptionList"/>
    <dgm:cxn modelId="{624F7B46-861E-404E-9632-EEB8B0A6A16F}" type="presParOf" srcId="{8D8925FC-DB62-4769-98EA-2EEFBDACBB15}" destId="{98A52513-70A4-48EC-B397-D507A2278CB6}" srcOrd="2" destOrd="0" presId="urn:microsoft.com/office/officeart/2018/5/layout/CenteredIconLabelDescriptionList"/>
    <dgm:cxn modelId="{F3DF7F61-E7FD-4812-98E8-1983374562FC}" type="presParOf" srcId="{8D8925FC-DB62-4769-98EA-2EEFBDACBB15}" destId="{B78E5A0C-673A-473A-B73F-F273E8B684B1}" srcOrd="3" destOrd="0" presId="urn:microsoft.com/office/officeart/2018/5/layout/CenteredIconLabelDescriptionList"/>
    <dgm:cxn modelId="{3DED3732-E4DE-4A84-B6AB-84926D2599D0}" type="presParOf" srcId="{8D8925FC-DB62-4769-98EA-2EEFBDACBB15}" destId="{AA40135F-4646-400F-B2DE-74799FB76A6F}"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7362FE8-C0A5-8B45-ABFF-72E9406A4288}" type="doc">
      <dgm:prSet loTypeId="urn:microsoft.com/office/officeart/2005/8/layout/hierarchy1" loCatId="icon" qsTypeId="urn:microsoft.com/office/officeart/2005/8/quickstyle/simple1" qsCatId="simple" csTypeId="urn:microsoft.com/office/officeart/2005/8/colors/accent3_2" csCatId="accent3" phldr="1"/>
      <dgm:spPr/>
      <dgm:t>
        <a:bodyPr/>
        <a:lstStyle/>
        <a:p>
          <a:endParaRPr lang="es-MX"/>
        </a:p>
      </dgm:t>
    </dgm:pt>
    <dgm:pt modelId="{90CD800A-C139-3E44-9854-8745E3146498}">
      <dgm:prSet phldrT="[Texto]"/>
      <dgm:spPr/>
      <dgm:t>
        <a:bodyPr/>
        <a:lstStyle/>
        <a:p>
          <a:r>
            <a:rPr lang="es-MX" dirty="0"/>
            <a:t>Datos cuantitativos</a:t>
          </a:r>
        </a:p>
      </dgm:t>
    </dgm:pt>
    <dgm:pt modelId="{164766D5-AE18-E64C-B8B9-4DAC391DEA33}" type="parTrans" cxnId="{EAC6F9A6-6934-BF4B-B766-BCD408D6FC7D}">
      <dgm:prSet/>
      <dgm:spPr/>
      <dgm:t>
        <a:bodyPr/>
        <a:lstStyle/>
        <a:p>
          <a:endParaRPr lang="es-MX"/>
        </a:p>
      </dgm:t>
    </dgm:pt>
    <dgm:pt modelId="{111AED40-8578-F646-8C40-9228E51EEDCA}" type="sibTrans" cxnId="{EAC6F9A6-6934-BF4B-B766-BCD408D6FC7D}">
      <dgm:prSet/>
      <dgm:spPr/>
      <dgm:t>
        <a:bodyPr/>
        <a:lstStyle/>
        <a:p>
          <a:endParaRPr lang="es-MX"/>
        </a:p>
      </dgm:t>
    </dgm:pt>
    <dgm:pt modelId="{38717963-536D-6943-B44A-EBDB72DAA06F}">
      <dgm:prSet phldrT="[Texto]"/>
      <dgm:spPr/>
      <dgm:t>
        <a:bodyPr/>
        <a:lstStyle/>
        <a:p>
          <a:r>
            <a:rPr lang="es-MX" dirty="0"/>
            <a:t>Discretos</a:t>
          </a:r>
        </a:p>
      </dgm:t>
    </dgm:pt>
    <dgm:pt modelId="{A5486DE1-B732-C244-AA76-B692876B1743}" type="parTrans" cxnId="{204C79F5-EC25-6343-8B6A-70EE245B9C8E}">
      <dgm:prSet/>
      <dgm:spPr/>
      <dgm:t>
        <a:bodyPr/>
        <a:lstStyle/>
        <a:p>
          <a:endParaRPr lang="es-MX"/>
        </a:p>
      </dgm:t>
    </dgm:pt>
    <dgm:pt modelId="{EDC7A2B6-6058-474D-A716-A4AB7BF659F0}" type="sibTrans" cxnId="{204C79F5-EC25-6343-8B6A-70EE245B9C8E}">
      <dgm:prSet/>
      <dgm:spPr/>
      <dgm:t>
        <a:bodyPr/>
        <a:lstStyle/>
        <a:p>
          <a:endParaRPr lang="es-MX"/>
        </a:p>
      </dgm:t>
    </dgm:pt>
    <dgm:pt modelId="{CF69A3E4-1445-8148-98C3-EA4B2E3D38EF}">
      <dgm:prSet phldrT="[Texto]"/>
      <dgm:spPr/>
      <dgm:t>
        <a:bodyPr/>
        <a:lstStyle/>
        <a:p>
          <a:r>
            <a:rPr lang="es-MX" dirty="0"/>
            <a:t>Continuos</a:t>
          </a:r>
        </a:p>
      </dgm:t>
    </dgm:pt>
    <dgm:pt modelId="{2994DC46-B3A1-B748-B385-1C4ABDDA8748}" type="parTrans" cxnId="{FE56F881-58E2-414A-8DD8-6C5CCD1898AC}">
      <dgm:prSet/>
      <dgm:spPr/>
      <dgm:t>
        <a:bodyPr/>
        <a:lstStyle/>
        <a:p>
          <a:endParaRPr lang="es-MX"/>
        </a:p>
      </dgm:t>
    </dgm:pt>
    <dgm:pt modelId="{A83468C7-59AC-204C-957B-B32FD8DFE6C8}" type="sibTrans" cxnId="{FE56F881-58E2-414A-8DD8-6C5CCD1898AC}">
      <dgm:prSet/>
      <dgm:spPr/>
      <dgm:t>
        <a:bodyPr/>
        <a:lstStyle/>
        <a:p>
          <a:endParaRPr lang="es-MX"/>
        </a:p>
      </dgm:t>
    </dgm:pt>
    <dgm:pt modelId="{16B1A40C-8DCE-0C49-BB81-72D5FB342BB3}" type="pres">
      <dgm:prSet presAssocID="{E7362FE8-C0A5-8B45-ABFF-72E9406A4288}" presName="hierChild1" presStyleCnt="0">
        <dgm:presLayoutVars>
          <dgm:chPref val="1"/>
          <dgm:dir/>
          <dgm:animOne val="branch"/>
          <dgm:animLvl val="lvl"/>
          <dgm:resizeHandles/>
        </dgm:presLayoutVars>
      </dgm:prSet>
      <dgm:spPr/>
    </dgm:pt>
    <dgm:pt modelId="{D8D01DB3-0E95-224A-B9F6-C18BBB262842}" type="pres">
      <dgm:prSet presAssocID="{90CD800A-C139-3E44-9854-8745E3146498}" presName="hierRoot1" presStyleCnt="0"/>
      <dgm:spPr/>
    </dgm:pt>
    <dgm:pt modelId="{3F5D2844-270A-F84A-AC26-25FCAB1B953C}" type="pres">
      <dgm:prSet presAssocID="{90CD800A-C139-3E44-9854-8745E3146498}" presName="composite" presStyleCnt="0"/>
      <dgm:spPr/>
    </dgm:pt>
    <dgm:pt modelId="{361CFAA6-289D-EA45-A867-54B285E13F6A}" type="pres">
      <dgm:prSet presAssocID="{90CD800A-C139-3E44-9854-8745E3146498}" presName="background" presStyleLbl="node0" presStyleIdx="0" presStyleCnt="1"/>
      <dgm:spPr/>
    </dgm:pt>
    <dgm:pt modelId="{96702784-3080-A54D-BA1A-0F70E8B7DE00}" type="pres">
      <dgm:prSet presAssocID="{90CD800A-C139-3E44-9854-8745E3146498}" presName="text" presStyleLbl="fgAcc0" presStyleIdx="0" presStyleCnt="1">
        <dgm:presLayoutVars>
          <dgm:chPref val="3"/>
        </dgm:presLayoutVars>
      </dgm:prSet>
      <dgm:spPr/>
    </dgm:pt>
    <dgm:pt modelId="{DD2FFB1D-FC67-C949-B645-9979E51D995B}" type="pres">
      <dgm:prSet presAssocID="{90CD800A-C139-3E44-9854-8745E3146498}" presName="hierChild2" presStyleCnt="0"/>
      <dgm:spPr/>
    </dgm:pt>
    <dgm:pt modelId="{7B53275F-5D6C-5847-A2A1-C2930B3A132E}" type="pres">
      <dgm:prSet presAssocID="{A5486DE1-B732-C244-AA76-B692876B1743}" presName="Name10" presStyleLbl="parChTrans1D2" presStyleIdx="0" presStyleCnt="2"/>
      <dgm:spPr/>
    </dgm:pt>
    <dgm:pt modelId="{F4261AD6-54A9-EB44-8059-412079C6813C}" type="pres">
      <dgm:prSet presAssocID="{38717963-536D-6943-B44A-EBDB72DAA06F}" presName="hierRoot2" presStyleCnt="0"/>
      <dgm:spPr/>
    </dgm:pt>
    <dgm:pt modelId="{31B7680F-B32E-A745-A8B1-BB2841BE69E6}" type="pres">
      <dgm:prSet presAssocID="{38717963-536D-6943-B44A-EBDB72DAA06F}" presName="composite2" presStyleCnt="0"/>
      <dgm:spPr/>
    </dgm:pt>
    <dgm:pt modelId="{BE51DDB7-FED8-2A4B-9A92-D13FC93CD192}" type="pres">
      <dgm:prSet presAssocID="{38717963-536D-6943-B44A-EBDB72DAA06F}" presName="background2" presStyleLbl="node2" presStyleIdx="0" presStyleCnt="2"/>
      <dgm:spPr/>
    </dgm:pt>
    <dgm:pt modelId="{B1CAC18B-11E3-2A4A-972F-0760780823D4}" type="pres">
      <dgm:prSet presAssocID="{38717963-536D-6943-B44A-EBDB72DAA06F}" presName="text2" presStyleLbl="fgAcc2" presStyleIdx="0" presStyleCnt="2">
        <dgm:presLayoutVars>
          <dgm:chPref val="3"/>
        </dgm:presLayoutVars>
      </dgm:prSet>
      <dgm:spPr/>
    </dgm:pt>
    <dgm:pt modelId="{53EB198B-64C8-3948-B6F5-99BE978F7034}" type="pres">
      <dgm:prSet presAssocID="{38717963-536D-6943-B44A-EBDB72DAA06F}" presName="hierChild3" presStyleCnt="0"/>
      <dgm:spPr/>
    </dgm:pt>
    <dgm:pt modelId="{07CE32FE-FE4B-3948-A990-AC5F2C0CF23F}" type="pres">
      <dgm:prSet presAssocID="{2994DC46-B3A1-B748-B385-1C4ABDDA8748}" presName="Name10" presStyleLbl="parChTrans1D2" presStyleIdx="1" presStyleCnt="2"/>
      <dgm:spPr/>
    </dgm:pt>
    <dgm:pt modelId="{B47E8686-8CC5-FF4A-BCB4-49634F149A23}" type="pres">
      <dgm:prSet presAssocID="{CF69A3E4-1445-8148-98C3-EA4B2E3D38EF}" presName="hierRoot2" presStyleCnt="0"/>
      <dgm:spPr/>
    </dgm:pt>
    <dgm:pt modelId="{B763D862-2C20-CB41-9D1A-CC835C008487}" type="pres">
      <dgm:prSet presAssocID="{CF69A3E4-1445-8148-98C3-EA4B2E3D38EF}" presName="composite2" presStyleCnt="0"/>
      <dgm:spPr/>
    </dgm:pt>
    <dgm:pt modelId="{AF583A68-ACC7-9F40-9496-E099491B4A84}" type="pres">
      <dgm:prSet presAssocID="{CF69A3E4-1445-8148-98C3-EA4B2E3D38EF}" presName="background2" presStyleLbl="node2" presStyleIdx="1" presStyleCnt="2"/>
      <dgm:spPr/>
    </dgm:pt>
    <dgm:pt modelId="{33C3D3BB-135E-0644-A8BE-4BB84988A713}" type="pres">
      <dgm:prSet presAssocID="{CF69A3E4-1445-8148-98C3-EA4B2E3D38EF}" presName="text2" presStyleLbl="fgAcc2" presStyleIdx="1" presStyleCnt="2">
        <dgm:presLayoutVars>
          <dgm:chPref val="3"/>
        </dgm:presLayoutVars>
      </dgm:prSet>
      <dgm:spPr/>
    </dgm:pt>
    <dgm:pt modelId="{A2B568E5-9CFB-D24B-9159-773C73E877CD}" type="pres">
      <dgm:prSet presAssocID="{CF69A3E4-1445-8148-98C3-EA4B2E3D38EF}" presName="hierChild3" presStyleCnt="0"/>
      <dgm:spPr/>
    </dgm:pt>
  </dgm:ptLst>
  <dgm:cxnLst>
    <dgm:cxn modelId="{F8A3A30C-C93D-434F-AD66-F6A956570306}" type="presOf" srcId="{E7362FE8-C0A5-8B45-ABFF-72E9406A4288}" destId="{16B1A40C-8DCE-0C49-BB81-72D5FB342BB3}" srcOrd="0" destOrd="0" presId="urn:microsoft.com/office/officeart/2005/8/layout/hierarchy1"/>
    <dgm:cxn modelId="{8211F934-48B3-1440-901B-BF81D4E24A69}" type="presOf" srcId="{38717963-536D-6943-B44A-EBDB72DAA06F}" destId="{B1CAC18B-11E3-2A4A-972F-0760780823D4}" srcOrd="0" destOrd="0" presId="urn:microsoft.com/office/officeart/2005/8/layout/hierarchy1"/>
    <dgm:cxn modelId="{AB9A315B-BF9C-0849-A887-BEA6888E6D76}" type="presOf" srcId="{A5486DE1-B732-C244-AA76-B692876B1743}" destId="{7B53275F-5D6C-5847-A2A1-C2930B3A132E}" srcOrd="0" destOrd="0" presId="urn:microsoft.com/office/officeart/2005/8/layout/hierarchy1"/>
    <dgm:cxn modelId="{FE56F881-58E2-414A-8DD8-6C5CCD1898AC}" srcId="{90CD800A-C139-3E44-9854-8745E3146498}" destId="{CF69A3E4-1445-8148-98C3-EA4B2E3D38EF}" srcOrd="1" destOrd="0" parTransId="{2994DC46-B3A1-B748-B385-1C4ABDDA8748}" sibTransId="{A83468C7-59AC-204C-957B-B32FD8DFE6C8}"/>
    <dgm:cxn modelId="{EAC6F9A6-6934-BF4B-B766-BCD408D6FC7D}" srcId="{E7362FE8-C0A5-8B45-ABFF-72E9406A4288}" destId="{90CD800A-C139-3E44-9854-8745E3146498}" srcOrd="0" destOrd="0" parTransId="{164766D5-AE18-E64C-B8B9-4DAC391DEA33}" sibTransId="{111AED40-8578-F646-8C40-9228E51EEDCA}"/>
    <dgm:cxn modelId="{F70941C6-1C6D-6743-8350-90CBCCD1BE8F}" type="presOf" srcId="{90CD800A-C139-3E44-9854-8745E3146498}" destId="{96702784-3080-A54D-BA1A-0F70E8B7DE00}" srcOrd="0" destOrd="0" presId="urn:microsoft.com/office/officeart/2005/8/layout/hierarchy1"/>
    <dgm:cxn modelId="{1E725CD7-697B-8544-AF73-115E2ACC0703}" type="presOf" srcId="{2994DC46-B3A1-B748-B385-1C4ABDDA8748}" destId="{07CE32FE-FE4B-3948-A990-AC5F2C0CF23F}" srcOrd="0" destOrd="0" presId="urn:microsoft.com/office/officeart/2005/8/layout/hierarchy1"/>
    <dgm:cxn modelId="{FEFB8AD8-26CD-F34E-B2D0-CB58AEDA4067}" type="presOf" srcId="{CF69A3E4-1445-8148-98C3-EA4B2E3D38EF}" destId="{33C3D3BB-135E-0644-A8BE-4BB84988A713}" srcOrd="0" destOrd="0" presId="urn:microsoft.com/office/officeart/2005/8/layout/hierarchy1"/>
    <dgm:cxn modelId="{204C79F5-EC25-6343-8B6A-70EE245B9C8E}" srcId="{90CD800A-C139-3E44-9854-8745E3146498}" destId="{38717963-536D-6943-B44A-EBDB72DAA06F}" srcOrd="0" destOrd="0" parTransId="{A5486DE1-B732-C244-AA76-B692876B1743}" sibTransId="{EDC7A2B6-6058-474D-A716-A4AB7BF659F0}"/>
    <dgm:cxn modelId="{F7B62916-5F03-0744-87CD-C517646751D7}" type="presParOf" srcId="{16B1A40C-8DCE-0C49-BB81-72D5FB342BB3}" destId="{D8D01DB3-0E95-224A-B9F6-C18BBB262842}" srcOrd="0" destOrd="0" presId="urn:microsoft.com/office/officeart/2005/8/layout/hierarchy1"/>
    <dgm:cxn modelId="{41878C8E-A040-524E-B2A0-CCF60D1D37DE}" type="presParOf" srcId="{D8D01DB3-0E95-224A-B9F6-C18BBB262842}" destId="{3F5D2844-270A-F84A-AC26-25FCAB1B953C}" srcOrd="0" destOrd="0" presId="urn:microsoft.com/office/officeart/2005/8/layout/hierarchy1"/>
    <dgm:cxn modelId="{334692FB-4A89-BA42-AF15-B6FC9522D5DA}" type="presParOf" srcId="{3F5D2844-270A-F84A-AC26-25FCAB1B953C}" destId="{361CFAA6-289D-EA45-A867-54B285E13F6A}" srcOrd="0" destOrd="0" presId="urn:microsoft.com/office/officeart/2005/8/layout/hierarchy1"/>
    <dgm:cxn modelId="{ED074E9B-82BC-554C-8FE8-45DEA1CC19C4}" type="presParOf" srcId="{3F5D2844-270A-F84A-AC26-25FCAB1B953C}" destId="{96702784-3080-A54D-BA1A-0F70E8B7DE00}" srcOrd="1" destOrd="0" presId="urn:microsoft.com/office/officeart/2005/8/layout/hierarchy1"/>
    <dgm:cxn modelId="{0660FD49-2C7B-7F49-BD25-AB8D14FC1083}" type="presParOf" srcId="{D8D01DB3-0E95-224A-B9F6-C18BBB262842}" destId="{DD2FFB1D-FC67-C949-B645-9979E51D995B}" srcOrd="1" destOrd="0" presId="urn:microsoft.com/office/officeart/2005/8/layout/hierarchy1"/>
    <dgm:cxn modelId="{060907A8-2DBE-8547-8524-2D482976837E}" type="presParOf" srcId="{DD2FFB1D-FC67-C949-B645-9979E51D995B}" destId="{7B53275F-5D6C-5847-A2A1-C2930B3A132E}" srcOrd="0" destOrd="0" presId="urn:microsoft.com/office/officeart/2005/8/layout/hierarchy1"/>
    <dgm:cxn modelId="{C317B47D-C66D-E649-B4F2-9F9D05628764}" type="presParOf" srcId="{DD2FFB1D-FC67-C949-B645-9979E51D995B}" destId="{F4261AD6-54A9-EB44-8059-412079C6813C}" srcOrd="1" destOrd="0" presId="urn:microsoft.com/office/officeart/2005/8/layout/hierarchy1"/>
    <dgm:cxn modelId="{4EA25B47-249F-7045-B725-91B8B9D09AE0}" type="presParOf" srcId="{F4261AD6-54A9-EB44-8059-412079C6813C}" destId="{31B7680F-B32E-A745-A8B1-BB2841BE69E6}" srcOrd="0" destOrd="0" presId="urn:microsoft.com/office/officeart/2005/8/layout/hierarchy1"/>
    <dgm:cxn modelId="{5366C3A3-B095-1345-A3B5-8A290C842859}" type="presParOf" srcId="{31B7680F-B32E-A745-A8B1-BB2841BE69E6}" destId="{BE51DDB7-FED8-2A4B-9A92-D13FC93CD192}" srcOrd="0" destOrd="0" presId="urn:microsoft.com/office/officeart/2005/8/layout/hierarchy1"/>
    <dgm:cxn modelId="{D751A221-B615-FD4F-8D7C-4B13136E6493}" type="presParOf" srcId="{31B7680F-B32E-A745-A8B1-BB2841BE69E6}" destId="{B1CAC18B-11E3-2A4A-972F-0760780823D4}" srcOrd="1" destOrd="0" presId="urn:microsoft.com/office/officeart/2005/8/layout/hierarchy1"/>
    <dgm:cxn modelId="{96910561-A504-814B-A353-80495D35BE1B}" type="presParOf" srcId="{F4261AD6-54A9-EB44-8059-412079C6813C}" destId="{53EB198B-64C8-3948-B6F5-99BE978F7034}" srcOrd="1" destOrd="0" presId="urn:microsoft.com/office/officeart/2005/8/layout/hierarchy1"/>
    <dgm:cxn modelId="{E4BC38BC-9D48-8045-A16B-DCD48BBCDB72}" type="presParOf" srcId="{DD2FFB1D-FC67-C949-B645-9979E51D995B}" destId="{07CE32FE-FE4B-3948-A990-AC5F2C0CF23F}" srcOrd="2" destOrd="0" presId="urn:microsoft.com/office/officeart/2005/8/layout/hierarchy1"/>
    <dgm:cxn modelId="{6BCF75CC-8BB3-7948-8FAD-9F4538039E8C}" type="presParOf" srcId="{DD2FFB1D-FC67-C949-B645-9979E51D995B}" destId="{B47E8686-8CC5-FF4A-BCB4-49634F149A23}" srcOrd="3" destOrd="0" presId="urn:microsoft.com/office/officeart/2005/8/layout/hierarchy1"/>
    <dgm:cxn modelId="{5A02CB68-930F-934C-AA77-555DCAFF63FB}" type="presParOf" srcId="{B47E8686-8CC5-FF4A-BCB4-49634F149A23}" destId="{B763D862-2C20-CB41-9D1A-CC835C008487}" srcOrd="0" destOrd="0" presId="urn:microsoft.com/office/officeart/2005/8/layout/hierarchy1"/>
    <dgm:cxn modelId="{48105E0A-1B46-9949-A831-A31DDD971E0D}" type="presParOf" srcId="{B763D862-2C20-CB41-9D1A-CC835C008487}" destId="{AF583A68-ACC7-9F40-9496-E099491B4A84}" srcOrd="0" destOrd="0" presId="urn:microsoft.com/office/officeart/2005/8/layout/hierarchy1"/>
    <dgm:cxn modelId="{4173DE64-7692-7948-B506-FD406FBE0DD1}" type="presParOf" srcId="{B763D862-2C20-CB41-9D1A-CC835C008487}" destId="{33C3D3BB-135E-0644-A8BE-4BB84988A713}" srcOrd="1" destOrd="0" presId="urn:microsoft.com/office/officeart/2005/8/layout/hierarchy1"/>
    <dgm:cxn modelId="{50D4C902-76A9-8447-80A1-93D9E6E0FF65}" type="presParOf" srcId="{B47E8686-8CC5-FF4A-BCB4-49634F149A23}" destId="{A2B568E5-9CFB-D24B-9159-773C73E877C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7BF09F5-B877-444C-A4AF-3C7008CB248E}"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s-MX"/>
        </a:p>
      </dgm:t>
    </dgm:pt>
    <dgm:pt modelId="{AC705B65-8531-FD47-AEFD-DECF157A34CA}">
      <dgm:prSet phldrT="[Texto]"/>
      <dgm:spPr/>
      <dgm:t>
        <a:bodyPr/>
        <a:lstStyle/>
        <a:p>
          <a:r>
            <a:rPr lang="es-MX" dirty="0"/>
            <a:t>Datos cualitativos</a:t>
          </a:r>
        </a:p>
      </dgm:t>
    </dgm:pt>
    <dgm:pt modelId="{CD922203-A43B-6646-8875-C43F3DAA5537}" type="parTrans" cxnId="{3AF6424C-0154-F049-AB08-D6CA82D0786C}">
      <dgm:prSet/>
      <dgm:spPr/>
      <dgm:t>
        <a:bodyPr/>
        <a:lstStyle/>
        <a:p>
          <a:endParaRPr lang="es-MX"/>
        </a:p>
      </dgm:t>
    </dgm:pt>
    <dgm:pt modelId="{A97DC92A-5BFD-4F47-97F2-E2A6DDC8B6C3}" type="sibTrans" cxnId="{3AF6424C-0154-F049-AB08-D6CA82D0786C}">
      <dgm:prSet/>
      <dgm:spPr/>
      <dgm:t>
        <a:bodyPr/>
        <a:lstStyle/>
        <a:p>
          <a:endParaRPr lang="es-MX"/>
        </a:p>
      </dgm:t>
    </dgm:pt>
    <dgm:pt modelId="{EAA6C597-9C39-9343-AB18-8B63A8B28884}">
      <dgm:prSet phldrT="[Texto]"/>
      <dgm:spPr/>
      <dgm:t>
        <a:bodyPr/>
        <a:lstStyle/>
        <a:p>
          <a:r>
            <a:rPr lang="es-MX" dirty="0"/>
            <a:t>Ordinales</a:t>
          </a:r>
        </a:p>
      </dgm:t>
    </dgm:pt>
    <dgm:pt modelId="{D3708B87-FD4F-0F4C-8B8C-28993DFE94CF}" type="parTrans" cxnId="{5A483158-F934-F44C-BFD3-1BBAFB507A02}">
      <dgm:prSet/>
      <dgm:spPr/>
      <dgm:t>
        <a:bodyPr/>
        <a:lstStyle/>
        <a:p>
          <a:endParaRPr lang="es-MX"/>
        </a:p>
      </dgm:t>
    </dgm:pt>
    <dgm:pt modelId="{8DD25051-BF7E-9F40-9944-0CA3E8FD04FC}" type="sibTrans" cxnId="{5A483158-F934-F44C-BFD3-1BBAFB507A02}">
      <dgm:prSet/>
      <dgm:spPr/>
      <dgm:t>
        <a:bodyPr/>
        <a:lstStyle/>
        <a:p>
          <a:endParaRPr lang="es-MX"/>
        </a:p>
      </dgm:t>
    </dgm:pt>
    <dgm:pt modelId="{362A8EBA-5BB7-0B46-903F-D00C3ECB8895}">
      <dgm:prSet phldrT="[Texto]"/>
      <dgm:spPr/>
      <dgm:t>
        <a:bodyPr/>
        <a:lstStyle/>
        <a:p>
          <a:r>
            <a:rPr lang="es-MX" dirty="0"/>
            <a:t>Categóricos</a:t>
          </a:r>
        </a:p>
      </dgm:t>
    </dgm:pt>
    <dgm:pt modelId="{2B9520A9-3820-6344-AF0B-A96459E5D320}" type="parTrans" cxnId="{E7AD5982-D1A8-2149-A197-E5BF4DC3847D}">
      <dgm:prSet/>
      <dgm:spPr/>
      <dgm:t>
        <a:bodyPr/>
        <a:lstStyle/>
        <a:p>
          <a:endParaRPr lang="es-MX"/>
        </a:p>
      </dgm:t>
    </dgm:pt>
    <dgm:pt modelId="{30CBF2E4-ABC0-2A4D-B0CF-EAE4BEED8C87}" type="sibTrans" cxnId="{E7AD5982-D1A8-2149-A197-E5BF4DC3847D}">
      <dgm:prSet/>
      <dgm:spPr/>
      <dgm:t>
        <a:bodyPr/>
        <a:lstStyle/>
        <a:p>
          <a:endParaRPr lang="es-MX"/>
        </a:p>
      </dgm:t>
    </dgm:pt>
    <dgm:pt modelId="{45E35CED-6485-4441-A88F-ADEB9400E280}" type="pres">
      <dgm:prSet presAssocID="{87BF09F5-B877-444C-A4AF-3C7008CB248E}" presName="hierChild1" presStyleCnt="0">
        <dgm:presLayoutVars>
          <dgm:chPref val="1"/>
          <dgm:dir/>
          <dgm:animOne val="branch"/>
          <dgm:animLvl val="lvl"/>
          <dgm:resizeHandles/>
        </dgm:presLayoutVars>
      </dgm:prSet>
      <dgm:spPr/>
    </dgm:pt>
    <dgm:pt modelId="{957B34C7-EFE4-C54F-B720-8931D6557B0F}" type="pres">
      <dgm:prSet presAssocID="{AC705B65-8531-FD47-AEFD-DECF157A34CA}" presName="hierRoot1" presStyleCnt="0"/>
      <dgm:spPr/>
    </dgm:pt>
    <dgm:pt modelId="{CC922FD3-AB41-CC40-9119-6B539D4B1AAE}" type="pres">
      <dgm:prSet presAssocID="{AC705B65-8531-FD47-AEFD-DECF157A34CA}" presName="composite" presStyleCnt="0"/>
      <dgm:spPr/>
    </dgm:pt>
    <dgm:pt modelId="{65CB8820-B175-1A48-AA5D-B5AF49C3F8FA}" type="pres">
      <dgm:prSet presAssocID="{AC705B65-8531-FD47-AEFD-DECF157A34CA}" presName="background" presStyleLbl="node0" presStyleIdx="0" presStyleCnt="1"/>
      <dgm:spPr/>
    </dgm:pt>
    <dgm:pt modelId="{05F3858A-9FB1-2647-A178-093BFC6C02EF}" type="pres">
      <dgm:prSet presAssocID="{AC705B65-8531-FD47-AEFD-DECF157A34CA}" presName="text" presStyleLbl="fgAcc0" presStyleIdx="0" presStyleCnt="1">
        <dgm:presLayoutVars>
          <dgm:chPref val="3"/>
        </dgm:presLayoutVars>
      </dgm:prSet>
      <dgm:spPr/>
    </dgm:pt>
    <dgm:pt modelId="{EC86D6D1-EFB2-B041-9337-2AB775B3B7EF}" type="pres">
      <dgm:prSet presAssocID="{AC705B65-8531-FD47-AEFD-DECF157A34CA}" presName="hierChild2" presStyleCnt="0"/>
      <dgm:spPr/>
    </dgm:pt>
    <dgm:pt modelId="{551AF757-BFAC-2946-BCCB-2C2D4122A00E}" type="pres">
      <dgm:prSet presAssocID="{D3708B87-FD4F-0F4C-8B8C-28993DFE94CF}" presName="Name10" presStyleLbl="parChTrans1D2" presStyleIdx="0" presStyleCnt="2"/>
      <dgm:spPr/>
    </dgm:pt>
    <dgm:pt modelId="{D0677972-E6E4-9F47-AB89-1BF47D9E6790}" type="pres">
      <dgm:prSet presAssocID="{EAA6C597-9C39-9343-AB18-8B63A8B28884}" presName="hierRoot2" presStyleCnt="0"/>
      <dgm:spPr/>
    </dgm:pt>
    <dgm:pt modelId="{67F82072-A33D-C64C-9115-79AD52538046}" type="pres">
      <dgm:prSet presAssocID="{EAA6C597-9C39-9343-AB18-8B63A8B28884}" presName="composite2" presStyleCnt="0"/>
      <dgm:spPr/>
    </dgm:pt>
    <dgm:pt modelId="{266C80A4-4E73-304D-A8AD-AEDC26EF347F}" type="pres">
      <dgm:prSet presAssocID="{EAA6C597-9C39-9343-AB18-8B63A8B28884}" presName="background2" presStyleLbl="node2" presStyleIdx="0" presStyleCnt="2"/>
      <dgm:spPr/>
    </dgm:pt>
    <dgm:pt modelId="{B8FEC308-B93B-7F47-A3B6-637C9872C157}" type="pres">
      <dgm:prSet presAssocID="{EAA6C597-9C39-9343-AB18-8B63A8B28884}" presName="text2" presStyleLbl="fgAcc2" presStyleIdx="0" presStyleCnt="2">
        <dgm:presLayoutVars>
          <dgm:chPref val="3"/>
        </dgm:presLayoutVars>
      </dgm:prSet>
      <dgm:spPr/>
    </dgm:pt>
    <dgm:pt modelId="{816C0749-01FA-AC49-9199-34E20EBB2888}" type="pres">
      <dgm:prSet presAssocID="{EAA6C597-9C39-9343-AB18-8B63A8B28884}" presName="hierChild3" presStyleCnt="0"/>
      <dgm:spPr/>
    </dgm:pt>
    <dgm:pt modelId="{F4B64AC2-BB5E-CC43-AE86-BAD30405DC75}" type="pres">
      <dgm:prSet presAssocID="{2B9520A9-3820-6344-AF0B-A96459E5D320}" presName="Name10" presStyleLbl="parChTrans1D2" presStyleIdx="1" presStyleCnt="2"/>
      <dgm:spPr/>
    </dgm:pt>
    <dgm:pt modelId="{239922AF-1C31-1549-970E-4774A3D686A6}" type="pres">
      <dgm:prSet presAssocID="{362A8EBA-5BB7-0B46-903F-D00C3ECB8895}" presName="hierRoot2" presStyleCnt="0"/>
      <dgm:spPr/>
    </dgm:pt>
    <dgm:pt modelId="{0076241A-412B-7842-AC74-0B7313A3EA02}" type="pres">
      <dgm:prSet presAssocID="{362A8EBA-5BB7-0B46-903F-D00C3ECB8895}" presName="composite2" presStyleCnt="0"/>
      <dgm:spPr/>
    </dgm:pt>
    <dgm:pt modelId="{78803EDD-F0AD-5D4D-A47C-7F3794843D4A}" type="pres">
      <dgm:prSet presAssocID="{362A8EBA-5BB7-0B46-903F-D00C3ECB8895}" presName="background2" presStyleLbl="node2" presStyleIdx="1" presStyleCnt="2"/>
      <dgm:spPr/>
    </dgm:pt>
    <dgm:pt modelId="{9828DBFE-651F-6249-B305-73F2BFFEFE0E}" type="pres">
      <dgm:prSet presAssocID="{362A8EBA-5BB7-0B46-903F-D00C3ECB8895}" presName="text2" presStyleLbl="fgAcc2" presStyleIdx="1" presStyleCnt="2">
        <dgm:presLayoutVars>
          <dgm:chPref val="3"/>
        </dgm:presLayoutVars>
      </dgm:prSet>
      <dgm:spPr/>
    </dgm:pt>
    <dgm:pt modelId="{2900B81F-4C73-3146-86D6-52644EB82290}" type="pres">
      <dgm:prSet presAssocID="{362A8EBA-5BB7-0B46-903F-D00C3ECB8895}" presName="hierChild3" presStyleCnt="0"/>
      <dgm:spPr/>
    </dgm:pt>
  </dgm:ptLst>
  <dgm:cxnLst>
    <dgm:cxn modelId="{840C0E02-8A48-1E4B-ADAF-A3207D6E1B3A}" type="presOf" srcId="{EAA6C597-9C39-9343-AB18-8B63A8B28884}" destId="{B8FEC308-B93B-7F47-A3B6-637C9872C157}" srcOrd="0" destOrd="0" presId="urn:microsoft.com/office/officeart/2005/8/layout/hierarchy1"/>
    <dgm:cxn modelId="{16FC3C3B-D140-D144-9377-2C84014F074D}" type="presOf" srcId="{AC705B65-8531-FD47-AEFD-DECF157A34CA}" destId="{05F3858A-9FB1-2647-A178-093BFC6C02EF}" srcOrd="0" destOrd="0" presId="urn:microsoft.com/office/officeart/2005/8/layout/hierarchy1"/>
    <dgm:cxn modelId="{48E3C645-EE2D-C34F-91B9-9132D320208E}" type="presOf" srcId="{D3708B87-FD4F-0F4C-8B8C-28993DFE94CF}" destId="{551AF757-BFAC-2946-BCCB-2C2D4122A00E}" srcOrd="0" destOrd="0" presId="urn:microsoft.com/office/officeart/2005/8/layout/hierarchy1"/>
    <dgm:cxn modelId="{3AF6424C-0154-F049-AB08-D6CA82D0786C}" srcId="{87BF09F5-B877-444C-A4AF-3C7008CB248E}" destId="{AC705B65-8531-FD47-AEFD-DECF157A34CA}" srcOrd="0" destOrd="0" parTransId="{CD922203-A43B-6646-8875-C43F3DAA5537}" sibTransId="{A97DC92A-5BFD-4F47-97F2-E2A6DDC8B6C3}"/>
    <dgm:cxn modelId="{2D27E96E-1248-F24C-BBDC-99517A45B3F0}" type="presOf" srcId="{2B9520A9-3820-6344-AF0B-A96459E5D320}" destId="{F4B64AC2-BB5E-CC43-AE86-BAD30405DC75}" srcOrd="0" destOrd="0" presId="urn:microsoft.com/office/officeart/2005/8/layout/hierarchy1"/>
    <dgm:cxn modelId="{5A483158-F934-F44C-BFD3-1BBAFB507A02}" srcId="{AC705B65-8531-FD47-AEFD-DECF157A34CA}" destId="{EAA6C597-9C39-9343-AB18-8B63A8B28884}" srcOrd="0" destOrd="0" parTransId="{D3708B87-FD4F-0F4C-8B8C-28993DFE94CF}" sibTransId="{8DD25051-BF7E-9F40-9944-0CA3E8FD04FC}"/>
    <dgm:cxn modelId="{E7AD5982-D1A8-2149-A197-E5BF4DC3847D}" srcId="{AC705B65-8531-FD47-AEFD-DECF157A34CA}" destId="{362A8EBA-5BB7-0B46-903F-D00C3ECB8895}" srcOrd="1" destOrd="0" parTransId="{2B9520A9-3820-6344-AF0B-A96459E5D320}" sibTransId="{30CBF2E4-ABC0-2A4D-B0CF-EAE4BEED8C87}"/>
    <dgm:cxn modelId="{44B5FA9B-FCD3-7642-8124-6A3DA3D464B7}" type="presOf" srcId="{362A8EBA-5BB7-0B46-903F-D00C3ECB8895}" destId="{9828DBFE-651F-6249-B305-73F2BFFEFE0E}" srcOrd="0" destOrd="0" presId="urn:microsoft.com/office/officeart/2005/8/layout/hierarchy1"/>
    <dgm:cxn modelId="{0745ACA3-84C5-1B45-A5DF-B1D03B017243}" type="presOf" srcId="{87BF09F5-B877-444C-A4AF-3C7008CB248E}" destId="{45E35CED-6485-4441-A88F-ADEB9400E280}" srcOrd="0" destOrd="0" presId="urn:microsoft.com/office/officeart/2005/8/layout/hierarchy1"/>
    <dgm:cxn modelId="{A8B58CEF-5F2E-264A-81D4-918D13D2910D}" type="presParOf" srcId="{45E35CED-6485-4441-A88F-ADEB9400E280}" destId="{957B34C7-EFE4-C54F-B720-8931D6557B0F}" srcOrd="0" destOrd="0" presId="urn:microsoft.com/office/officeart/2005/8/layout/hierarchy1"/>
    <dgm:cxn modelId="{3A3FABC6-6472-D04C-AEDF-D4E9C236972F}" type="presParOf" srcId="{957B34C7-EFE4-C54F-B720-8931D6557B0F}" destId="{CC922FD3-AB41-CC40-9119-6B539D4B1AAE}" srcOrd="0" destOrd="0" presId="urn:microsoft.com/office/officeart/2005/8/layout/hierarchy1"/>
    <dgm:cxn modelId="{A6348E18-5D3F-564C-BA29-8B68F1C2A425}" type="presParOf" srcId="{CC922FD3-AB41-CC40-9119-6B539D4B1AAE}" destId="{65CB8820-B175-1A48-AA5D-B5AF49C3F8FA}" srcOrd="0" destOrd="0" presId="urn:microsoft.com/office/officeart/2005/8/layout/hierarchy1"/>
    <dgm:cxn modelId="{5F076A00-0B06-E942-8D5B-00C7DCFA393C}" type="presParOf" srcId="{CC922FD3-AB41-CC40-9119-6B539D4B1AAE}" destId="{05F3858A-9FB1-2647-A178-093BFC6C02EF}" srcOrd="1" destOrd="0" presId="urn:microsoft.com/office/officeart/2005/8/layout/hierarchy1"/>
    <dgm:cxn modelId="{C4604021-63F8-0D4F-B340-5D136CBF0F92}" type="presParOf" srcId="{957B34C7-EFE4-C54F-B720-8931D6557B0F}" destId="{EC86D6D1-EFB2-B041-9337-2AB775B3B7EF}" srcOrd="1" destOrd="0" presId="urn:microsoft.com/office/officeart/2005/8/layout/hierarchy1"/>
    <dgm:cxn modelId="{FA8320AC-6F22-A14B-9A6A-288C23D14767}" type="presParOf" srcId="{EC86D6D1-EFB2-B041-9337-2AB775B3B7EF}" destId="{551AF757-BFAC-2946-BCCB-2C2D4122A00E}" srcOrd="0" destOrd="0" presId="urn:microsoft.com/office/officeart/2005/8/layout/hierarchy1"/>
    <dgm:cxn modelId="{77A3D8B7-2667-0240-A136-B0CE34C5E971}" type="presParOf" srcId="{EC86D6D1-EFB2-B041-9337-2AB775B3B7EF}" destId="{D0677972-E6E4-9F47-AB89-1BF47D9E6790}" srcOrd="1" destOrd="0" presId="urn:microsoft.com/office/officeart/2005/8/layout/hierarchy1"/>
    <dgm:cxn modelId="{F897F90A-B3A5-0C4C-902E-F52608ED2285}" type="presParOf" srcId="{D0677972-E6E4-9F47-AB89-1BF47D9E6790}" destId="{67F82072-A33D-C64C-9115-79AD52538046}" srcOrd="0" destOrd="0" presId="urn:microsoft.com/office/officeart/2005/8/layout/hierarchy1"/>
    <dgm:cxn modelId="{4F9B7AB5-4223-DD47-AB6A-1605B85A8E0A}" type="presParOf" srcId="{67F82072-A33D-C64C-9115-79AD52538046}" destId="{266C80A4-4E73-304D-A8AD-AEDC26EF347F}" srcOrd="0" destOrd="0" presId="urn:microsoft.com/office/officeart/2005/8/layout/hierarchy1"/>
    <dgm:cxn modelId="{699037BD-9CA3-774B-9131-BD9566800A37}" type="presParOf" srcId="{67F82072-A33D-C64C-9115-79AD52538046}" destId="{B8FEC308-B93B-7F47-A3B6-637C9872C157}" srcOrd="1" destOrd="0" presId="urn:microsoft.com/office/officeart/2005/8/layout/hierarchy1"/>
    <dgm:cxn modelId="{2B2C8647-C6DA-5D45-BE2F-A5EFF0F44E6F}" type="presParOf" srcId="{D0677972-E6E4-9F47-AB89-1BF47D9E6790}" destId="{816C0749-01FA-AC49-9199-34E20EBB2888}" srcOrd="1" destOrd="0" presId="urn:microsoft.com/office/officeart/2005/8/layout/hierarchy1"/>
    <dgm:cxn modelId="{2801B051-C202-774C-92D8-3D16751E05B7}" type="presParOf" srcId="{EC86D6D1-EFB2-B041-9337-2AB775B3B7EF}" destId="{F4B64AC2-BB5E-CC43-AE86-BAD30405DC75}" srcOrd="2" destOrd="0" presId="urn:microsoft.com/office/officeart/2005/8/layout/hierarchy1"/>
    <dgm:cxn modelId="{90C51C1C-609C-664C-BD43-EE91218C7DD1}" type="presParOf" srcId="{EC86D6D1-EFB2-B041-9337-2AB775B3B7EF}" destId="{239922AF-1C31-1549-970E-4774A3D686A6}" srcOrd="3" destOrd="0" presId="urn:microsoft.com/office/officeart/2005/8/layout/hierarchy1"/>
    <dgm:cxn modelId="{6366BCEC-DF5D-6448-A0F8-C87B062843EF}" type="presParOf" srcId="{239922AF-1C31-1549-970E-4774A3D686A6}" destId="{0076241A-412B-7842-AC74-0B7313A3EA02}" srcOrd="0" destOrd="0" presId="urn:microsoft.com/office/officeart/2005/8/layout/hierarchy1"/>
    <dgm:cxn modelId="{E5221665-B513-EE4B-9665-A1B17794D5EE}" type="presParOf" srcId="{0076241A-412B-7842-AC74-0B7313A3EA02}" destId="{78803EDD-F0AD-5D4D-A47C-7F3794843D4A}" srcOrd="0" destOrd="0" presId="urn:microsoft.com/office/officeart/2005/8/layout/hierarchy1"/>
    <dgm:cxn modelId="{B6915268-A331-AF4E-AADC-CB40AD9401B3}" type="presParOf" srcId="{0076241A-412B-7842-AC74-0B7313A3EA02}" destId="{9828DBFE-651F-6249-B305-73F2BFFEFE0E}" srcOrd="1" destOrd="0" presId="urn:microsoft.com/office/officeart/2005/8/layout/hierarchy1"/>
    <dgm:cxn modelId="{47856AB3-E089-4940-846A-B6F5C4DEDCD5}" type="presParOf" srcId="{239922AF-1C31-1549-970E-4774A3D686A6}" destId="{2900B81F-4C73-3146-86D6-52644EB8229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0179D9A-1D33-4673-A931-4CBF37C6F9AF}"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84FF59D-20B9-4DC6-8AB6-23003F2CEE2F}">
      <dgm:prSet/>
      <dgm:spPr/>
      <dgm:t>
        <a:bodyPr/>
        <a:lstStyle/>
        <a:p>
          <a:r>
            <a:rPr lang="es-MX"/>
            <a:t>El objetivo de las visualizaciones de datos es ayudarnos a entender el objeto que representan. </a:t>
          </a:r>
          <a:endParaRPr lang="en-US"/>
        </a:p>
      </dgm:t>
    </dgm:pt>
    <dgm:pt modelId="{89DA80B7-409C-4038-8ABA-40CF2FD0B972}" type="parTrans" cxnId="{AC2C503B-47B9-4448-99A4-6A7C781FF2D3}">
      <dgm:prSet/>
      <dgm:spPr/>
      <dgm:t>
        <a:bodyPr/>
        <a:lstStyle/>
        <a:p>
          <a:endParaRPr lang="en-US"/>
        </a:p>
      </dgm:t>
    </dgm:pt>
    <dgm:pt modelId="{2D79693B-9FE4-4C82-80E3-65D9E2BCF223}" type="sibTrans" cxnId="{AC2C503B-47B9-4448-99A4-6A7C781FF2D3}">
      <dgm:prSet/>
      <dgm:spPr/>
      <dgm:t>
        <a:bodyPr/>
        <a:lstStyle/>
        <a:p>
          <a:endParaRPr lang="en-US"/>
        </a:p>
      </dgm:t>
    </dgm:pt>
    <dgm:pt modelId="{2BB58542-A4B6-490C-BD0E-FAF7446BAEB6}">
      <dgm:prSet/>
      <dgm:spPr/>
      <dgm:t>
        <a:bodyPr/>
        <a:lstStyle/>
        <a:p>
          <a:r>
            <a:rPr lang="es-MX"/>
            <a:t>Son un medio para comunicar historias y los resultados de investigaciones, así como una plataforma para analizar y explorar datos. </a:t>
          </a:r>
          <a:endParaRPr lang="en-US"/>
        </a:p>
      </dgm:t>
    </dgm:pt>
    <dgm:pt modelId="{2227ED0B-7C68-4A6C-9F6E-9A973FBD1365}" type="parTrans" cxnId="{079CAD26-FE2F-4745-98E4-9DC0D9BB3AE9}">
      <dgm:prSet/>
      <dgm:spPr/>
      <dgm:t>
        <a:bodyPr/>
        <a:lstStyle/>
        <a:p>
          <a:endParaRPr lang="en-US"/>
        </a:p>
      </dgm:t>
    </dgm:pt>
    <dgm:pt modelId="{85176537-56AC-4F50-9E80-50F243D64BD6}" type="sibTrans" cxnId="{079CAD26-FE2F-4745-98E4-9DC0D9BB3AE9}">
      <dgm:prSet/>
      <dgm:spPr/>
      <dgm:t>
        <a:bodyPr/>
        <a:lstStyle/>
        <a:p>
          <a:endParaRPr lang="en-US"/>
        </a:p>
      </dgm:t>
    </dgm:pt>
    <dgm:pt modelId="{B7B92242-A767-4828-BA11-9D5867D3C943}">
      <dgm:prSet/>
      <dgm:spPr/>
      <dgm:t>
        <a:bodyPr/>
        <a:lstStyle/>
        <a:p>
          <a:r>
            <a:rPr lang="es-MX"/>
            <a:t>Tener un entendimiento sólido de cómo crear visualizaciones de datos ayudará a generar informes, infografías y paneles significativos y fáciles de recordar. </a:t>
          </a:r>
          <a:endParaRPr lang="en-US"/>
        </a:p>
      </dgm:t>
    </dgm:pt>
    <dgm:pt modelId="{0BA26FDD-CBC4-4509-BCFA-F20996AF2DB3}" type="parTrans" cxnId="{5927C9A1-94BA-4E2A-82FA-E9264D00260C}">
      <dgm:prSet/>
      <dgm:spPr/>
      <dgm:t>
        <a:bodyPr/>
        <a:lstStyle/>
        <a:p>
          <a:endParaRPr lang="en-US"/>
        </a:p>
      </dgm:t>
    </dgm:pt>
    <dgm:pt modelId="{15B1BB89-E163-4821-B776-581D9F552EC5}" type="sibTrans" cxnId="{5927C9A1-94BA-4E2A-82FA-E9264D00260C}">
      <dgm:prSet/>
      <dgm:spPr/>
      <dgm:t>
        <a:bodyPr/>
        <a:lstStyle/>
        <a:p>
          <a:endParaRPr lang="en-US"/>
        </a:p>
      </dgm:t>
    </dgm:pt>
    <dgm:pt modelId="{D71B9341-0BB1-4DBC-A72B-B9D9218A7E79}" type="pres">
      <dgm:prSet presAssocID="{20179D9A-1D33-4673-A931-4CBF37C6F9AF}" presName="root" presStyleCnt="0">
        <dgm:presLayoutVars>
          <dgm:dir/>
          <dgm:resizeHandles val="exact"/>
        </dgm:presLayoutVars>
      </dgm:prSet>
      <dgm:spPr/>
    </dgm:pt>
    <dgm:pt modelId="{FDA16EDC-BBE7-4A4C-A6E5-A522940D8B25}" type="pres">
      <dgm:prSet presAssocID="{F84FF59D-20B9-4DC6-8AB6-23003F2CEE2F}" presName="compNode" presStyleCnt="0"/>
      <dgm:spPr/>
    </dgm:pt>
    <dgm:pt modelId="{D86B7236-E8CD-4E57-B91E-C76AFB299382}" type="pres">
      <dgm:prSet presAssocID="{F84FF59D-20B9-4DC6-8AB6-23003F2CEE2F}" presName="bgRect" presStyleLbl="bgShp" presStyleIdx="0" presStyleCnt="3"/>
      <dgm:spPr/>
    </dgm:pt>
    <dgm:pt modelId="{82B83BD1-8A8F-4D46-81B7-081E618E8C07}" type="pres">
      <dgm:prSet presAssocID="{F84FF59D-20B9-4DC6-8AB6-23003F2CEE2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bjetivo"/>
        </a:ext>
      </dgm:extLst>
    </dgm:pt>
    <dgm:pt modelId="{739669D3-07C5-4CF5-B9CF-8F28B4A0709B}" type="pres">
      <dgm:prSet presAssocID="{F84FF59D-20B9-4DC6-8AB6-23003F2CEE2F}" presName="spaceRect" presStyleCnt="0"/>
      <dgm:spPr/>
    </dgm:pt>
    <dgm:pt modelId="{A3077826-D4DA-4ACD-949C-A9BAAF266401}" type="pres">
      <dgm:prSet presAssocID="{F84FF59D-20B9-4DC6-8AB6-23003F2CEE2F}" presName="parTx" presStyleLbl="revTx" presStyleIdx="0" presStyleCnt="3">
        <dgm:presLayoutVars>
          <dgm:chMax val="0"/>
          <dgm:chPref val="0"/>
        </dgm:presLayoutVars>
      </dgm:prSet>
      <dgm:spPr/>
    </dgm:pt>
    <dgm:pt modelId="{6FD030EE-5CFD-4443-9090-A846ABB99741}" type="pres">
      <dgm:prSet presAssocID="{2D79693B-9FE4-4C82-80E3-65D9E2BCF223}" presName="sibTrans" presStyleCnt="0"/>
      <dgm:spPr/>
    </dgm:pt>
    <dgm:pt modelId="{BCCC574D-122B-4B91-9E02-614F8A555D7A}" type="pres">
      <dgm:prSet presAssocID="{2BB58542-A4B6-490C-BD0E-FAF7446BAEB6}" presName="compNode" presStyleCnt="0"/>
      <dgm:spPr/>
    </dgm:pt>
    <dgm:pt modelId="{B860F38B-A237-42B4-82D2-0FF5A933D3A6}" type="pres">
      <dgm:prSet presAssocID="{2BB58542-A4B6-490C-BD0E-FAF7446BAEB6}" presName="bgRect" presStyleLbl="bgShp" presStyleIdx="1" presStyleCnt="3"/>
      <dgm:spPr/>
    </dgm:pt>
    <dgm:pt modelId="{D66EF44F-2BC0-46EA-8195-998ED71E5181}" type="pres">
      <dgm:prSet presAssocID="{2BB58542-A4B6-490C-BD0E-FAF7446BAEB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bros"/>
        </a:ext>
      </dgm:extLst>
    </dgm:pt>
    <dgm:pt modelId="{5A0CA01B-AC42-44BB-B827-0BC0745B228D}" type="pres">
      <dgm:prSet presAssocID="{2BB58542-A4B6-490C-BD0E-FAF7446BAEB6}" presName="spaceRect" presStyleCnt="0"/>
      <dgm:spPr/>
    </dgm:pt>
    <dgm:pt modelId="{4B5CB711-EBC7-4C22-91DE-5D027F1D7DAA}" type="pres">
      <dgm:prSet presAssocID="{2BB58542-A4B6-490C-BD0E-FAF7446BAEB6}" presName="parTx" presStyleLbl="revTx" presStyleIdx="1" presStyleCnt="3">
        <dgm:presLayoutVars>
          <dgm:chMax val="0"/>
          <dgm:chPref val="0"/>
        </dgm:presLayoutVars>
      </dgm:prSet>
      <dgm:spPr/>
    </dgm:pt>
    <dgm:pt modelId="{9583E405-8E06-42FC-937D-68C9834568AD}" type="pres">
      <dgm:prSet presAssocID="{85176537-56AC-4F50-9E80-50F243D64BD6}" presName="sibTrans" presStyleCnt="0"/>
      <dgm:spPr/>
    </dgm:pt>
    <dgm:pt modelId="{97567889-19EF-4575-870D-2934857E14ED}" type="pres">
      <dgm:prSet presAssocID="{B7B92242-A767-4828-BA11-9D5867D3C943}" presName="compNode" presStyleCnt="0"/>
      <dgm:spPr/>
    </dgm:pt>
    <dgm:pt modelId="{DC527BC9-C69B-44C8-944F-C70827D573F0}" type="pres">
      <dgm:prSet presAssocID="{B7B92242-A767-4828-BA11-9D5867D3C943}" presName="bgRect" presStyleLbl="bgShp" presStyleIdx="2" presStyleCnt="3"/>
      <dgm:spPr/>
    </dgm:pt>
    <dgm:pt modelId="{0752415F-5CBC-46AC-AC87-539A7F94AB20}" type="pres">
      <dgm:prSet presAssocID="{B7B92242-A767-4828-BA11-9D5867D3C94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stadísticas"/>
        </a:ext>
      </dgm:extLst>
    </dgm:pt>
    <dgm:pt modelId="{4529C5A9-D681-4028-90A1-5B87D09F585C}" type="pres">
      <dgm:prSet presAssocID="{B7B92242-A767-4828-BA11-9D5867D3C943}" presName="spaceRect" presStyleCnt="0"/>
      <dgm:spPr/>
    </dgm:pt>
    <dgm:pt modelId="{4065497A-19A1-42D8-B46D-A52664E58226}" type="pres">
      <dgm:prSet presAssocID="{B7B92242-A767-4828-BA11-9D5867D3C943}" presName="parTx" presStyleLbl="revTx" presStyleIdx="2" presStyleCnt="3">
        <dgm:presLayoutVars>
          <dgm:chMax val="0"/>
          <dgm:chPref val="0"/>
        </dgm:presLayoutVars>
      </dgm:prSet>
      <dgm:spPr/>
    </dgm:pt>
  </dgm:ptLst>
  <dgm:cxnLst>
    <dgm:cxn modelId="{079CAD26-FE2F-4745-98E4-9DC0D9BB3AE9}" srcId="{20179D9A-1D33-4673-A931-4CBF37C6F9AF}" destId="{2BB58542-A4B6-490C-BD0E-FAF7446BAEB6}" srcOrd="1" destOrd="0" parTransId="{2227ED0B-7C68-4A6C-9F6E-9A973FBD1365}" sibTransId="{85176537-56AC-4F50-9E80-50F243D64BD6}"/>
    <dgm:cxn modelId="{AC2C503B-47B9-4448-99A4-6A7C781FF2D3}" srcId="{20179D9A-1D33-4673-A931-4CBF37C6F9AF}" destId="{F84FF59D-20B9-4DC6-8AB6-23003F2CEE2F}" srcOrd="0" destOrd="0" parTransId="{89DA80B7-409C-4038-8ABA-40CF2FD0B972}" sibTransId="{2D79693B-9FE4-4C82-80E3-65D9E2BCF223}"/>
    <dgm:cxn modelId="{EA34A981-D82C-403E-BAFF-D363EAB18F41}" type="presOf" srcId="{2BB58542-A4B6-490C-BD0E-FAF7446BAEB6}" destId="{4B5CB711-EBC7-4C22-91DE-5D027F1D7DAA}" srcOrd="0" destOrd="0" presId="urn:microsoft.com/office/officeart/2018/2/layout/IconVerticalSolidList"/>
    <dgm:cxn modelId="{5927C9A1-94BA-4E2A-82FA-E9264D00260C}" srcId="{20179D9A-1D33-4673-A931-4CBF37C6F9AF}" destId="{B7B92242-A767-4828-BA11-9D5867D3C943}" srcOrd="2" destOrd="0" parTransId="{0BA26FDD-CBC4-4509-BCFA-F20996AF2DB3}" sibTransId="{15B1BB89-E163-4821-B776-581D9F552EC5}"/>
    <dgm:cxn modelId="{852868A3-E469-47AF-BE18-F49B370C3EC4}" type="presOf" srcId="{20179D9A-1D33-4673-A931-4CBF37C6F9AF}" destId="{D71B9341-0BB1-4DBC-A72B-B9D9218A7E79}" srcOrd="0" destOrd="0" presId="urn:microsoft.com/office/officeart/2018/2/layout/IconVerticalSolidList"/>
    <dgm:cxn modelId="{481453BD-286D-4B6F-B7BF-E0165668C902}" type="presOf" srcId="{B7B92242-A767-4828-BA11-9D5867D3C943}" destId="{4065497A-19A1-42D8-B46D-A52664E58226}" srcOrd="0" destOrd="0" presId="urn:microsoft.com/office/officeart/2018/2/layout/IconVerticalSolidList"/>
    <dgm:cxn modelId="{83042CF3-9FAF-471E-9FB9-066A846F03CF}" type="presOf" srcId="{F84FF59D-20B9-4DC6-8AB6-23003F2CEE2F}" destId="{A3077826-D4DA-4ACD-949C-A9BAAF266401}" srcOrd="0" destOrd="0" presId="urn:microsoft.com/office/officeart/2018/2/layout/IconVerticalSolidList"/>
    <dgm:cxn modelId="{582F5809-8475-43DC-96C9-D949DEF9D538}" type="presParOf" srcId="{D71B9341-0BB1-4DBC-A72B-B9D9218A7E79}" destId="{FDA16EDC-BBE7-4A4C-A6E5-A522940D8B25}" srcOrd="0" destOrd="0" presId="urn:microsoft.com/office/officeart/2018/2/layout/IconVerticalSolidList"/>
    <dgm:cxn modelId="{7ECADF3C-D118-4FA2-9FB0-2AB83A8F841F}" type="presParOf" srcId="{FDA16EDC-BBE7-4A4C-A6E5-A522940D8B25}" destId="{D86B7236-E8CD-4E57-B91E-C76AFB299382}" srcOrd="0" destOrd="0" presId="urn:microsoft.com/office/officeart/2018/2/layout/IconVerticalSolidList"/>
    <dgm:cxn modelId="{7DDC62C6-C75A-430E-9798-C256AAF3A24A}" type="presParOf" srcId="{FDA16EDC-BBE7-4A4C-A6E5-A522940D8B25}" destId="{82B83BD1-8A8F-4D46-81B7-081E618E8C07}" srcOrd="1" destOrd="0" presId="urn:microsoft.com/office/officeart/2018/2/layout/IconVerticalSolidList"/>
    <dgm:cxn modelId="{BF93B0B7-8EB5-4DAC-94FD-AAADE40DDB4A}" type="presParOf" srcId="{FDA16EDC-BBE7-4A4C-A6E5-A522940D8B25}" destId="{739669D3-07C5-4CF5-B9CF-8F28B4A0709B}" srcOrd="2" destOrd="0" presId="urn:microsoft.com/office/officeart/2018/2/layout/IconVerticalSolidList"/>
    <dgm:cxn modelId="{283232BA-5C2A-42D9-9189-A6B06D540ED5}" type="presParOf" srcId="{FDA16EDC-BBE7-4A4C-A6E5-A522940D8B25}" destId="{A3077826-D4DA-4ACD-949C-A9BAAF266401}" srcOrd="3" destOrd="0" presId="urn:microsoft.com/office/officeart/2018/2/layout/IconVerticalSolidList"/>
    <dgm:cxn modelId="{000E5AB1-AF37-4ECA-A111-06BAC96DC7CA}" type="presParOf" srcId="{D71B9341-0BB1-4DBC-A72B-B9D9218A7E79}" destId="{6FD030EE-5CFD-4443-9090-A846ABB99741}" srcOrd="1" destOrd="0" presId="urn:microsoft.com/office/officeart/2018/2/layout/IconVerticalSolidList"/>
    <dgm:cxn modelId="{9E935C3B-4403-46B3-8DD3-9128DD2FA262}" type="presParOf" srcId="{D71B9341-0BB1-4DBC-A72B-B9D9218A7E79}" destId="{BCCC574D-122B-4B91-9E02-614F8A555D7A}" srcOrd="2" destOrd="0" presId="urn:microsoft.com/office/officeart/2018/2/layout/IconVerticalSolidList"/>
    <dgm:cxn modelId="{2463D974-262F-48C4-9D3B-72C4815D45FD}" type="presParOf" srcId="{BCCC574D-122B-4B91-9E02-614F8A555D7A}" destId="{B860F38B-A237-42B4-82D2-0FF5A933D3A6}" srcOrd="0" destOrd="0" presId="urn:microsoft.com/office/officeart/2018/2/layout/IconVerticalSolidList"/>
    <dgm:cxn modelId="{A58B129D-9536-4A2C-940D-63D967255FD6}" type="presParOf" srcId="{BCCC574D-122B-4B91-9E02-614F8A555D7A}" destId="{D66EF44F-2BC0-46EA-8195-998ED71E5181}" srcOrd="1" destOrd="0" presId="urn:microsoft.com/office/officeart/2018/2/layout/IconVerticalSolidList"/>
    <dgm:cxn modelId="{77CACE62-3FD0-4203-AAF8-17F81A786A65}" type="presParOf" srcId="{BCCC574D-122B-4B91-9E02-614F8A555D7A}" destId="{5A0CA01B-AC42-44BB-B827-0BC0745B228D}" srcOrd="2" destOrd="0" presId="urn:microsoft.com/office/officeart/2018/2/layout/IconVerticalSolidList"/>
    <dgm:cxn modelId="{A5A87CB9-98EC-4A8E-A4C7-0690F820FDAB}" type="presParOf" srcId="{BCCC574D-122B-4B91-9E02-614F8A555D7A}" destId="{4B5CB711-EBC7-4C22-91DE-5D027F1D7DAA}" srcOrd="3" destOrd="0" presId="urn:microsoft.com/office/officeart/2018/2/layout/IconVerticalSolidList"/>
    <dgm:cxn modelId="{9A70B96E-A4F4-483D-B34F-91114AA23792}" type="presParOf" srcId="{D71B9341-0BB1-4DBC-A72B-B9D9218A7E79}" destId="{9583E405-8E06-42FC-937D-68C9834568AD}" srcOrd="3" destOrd="0" presId="urn:microsoft.com/office/officeart/2018/2/layout/IconVerticalSolidList"/>
    <dgm:cxn modelId="{8378469C-ED36-4002-B9ED-F171C86E332C}" type="presParOf" srcId="{D71B9341-0BB1-4DBC-A72B-B9D9218A7E79}" destId="{97567889-19EF-4575-870D-2934857E14ED}" srcOrd="4" destOrd="0" presId="urn:microsoft.com/office/officeart/2018/2/layout/IconVerticalSolidList"/>
    <dgm:cxn modelId="{2AB4ED0E-E7BD-4F9E-84C3-A0E9AA6AF378}" type="presParOf" srcId="{97567889-19EF-4575-870D-2934857E14ED}" destId="{DC527BC9-C69B-44C8-944F-C70827D573F0}" srcOrd="0" destOrd="0" presId="urn:microsoft.com/office/officeart/2018/2/layout/IconVerticalSolidList"/>
    <dgm:cxn modelId="{D96A666A-5F6E-4294-8E5D-AF6FAF11E03A}" type="presParOf" srcId="{97567889-19EF-4575-870D-2934857E14ED}" destId="{0752415F-5CBC-46AC-AC87-539A7F94AB20}" srcOrd="1" destOrd="0" presId="urn:microsoft.com/office/officeart/2018/2/layout/IconVerticalSolidList"/>
    <dgm:cxn modelId="{A21A3219-AA13-4F49-A8BE-E496A99C447A}" type="presParOf" srcId="{97567889-19EF-4575-870D-2934857E14ED}" destId="{4529C5A9-D681-4028-90A1-5B87D09F585C}" srcOrd="2" destOrd="0" presId="urn:microsoft.com/office/officeart/2018/2/layout/IconVerticalSolidList"/>
    <dgm:cxn modelId="{EB4ECDD2-83F3-4DA8-9053-F0BC9C7B2F5F}" type="presParOf" srcId="{97567889-19EF-4575-870D-2934857E14ED}" destId="{4065497A-19A1-42D8-B46D-A52664E5822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D339AC-A4E6-4965-ADBE-6D6897329C79}">
      <dsp:nvSpPr>
        <dsp:cNvPr id="0" name=""/>
        <dsp:cNvSpPr/>
      </dsp:nvSpPr>
      <dsp:spPr>
        <a:xfrm>
          <a:off x="0" y="602"/>
          <a:ext cx="10972800" cy="14104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042F2F-0A8A-4B65-9C1E-0B03C1EB6F03}">
      <dsp:nvSpPr>
        <dsp:cNvPr id="0" name=""/>
        <dsp:cNvSpPr/>
      </dsp:nvSpPr>
      <dsp:spPr>
        <a:xfrm>
          <a:off x="426659" y="317952"/>
          <a:ext cx="775744" cy="7757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1E6B81-2D59-4816-A956-3F36438BC534}">
      <dsp:nvSpPr>
        <dsp:cNvPr id="0" name=""/>
        <dsp:cNvSpPr/>
      </dsp:nvSpPr>
      <dsp:spPr>
        <a:xfrm>
          <a:off x="1629062" y="602"/>
          <a:ext cx="4937760" cy="1410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272" tIns="149272" rIns="149272" bIns="149272" numCol="1" spcCol="1270" anchor="ctr" anchorCtr="0">
          <a:noAutofit/>
        </a:bodyPr>
        <a:lstStyle/>
        <a:p>
          <a:pPr marL="0" lvl="0" indent="0" algn="l" defTabSz="889000">
            <a:lnSpc>
              <a:spcPct val="90000"/>
            </a:lnSpc>
            <a:spcBef>
              <a:spcPct val="0"/>
            </a:spcBef>
            <a:spcAft>
              <a:spcPct val="35000"/>
            </a:spcAft>
            <a:buNone/>
          </a:pPr>
          <a:r>
            <a:rPr lang="es-MX" sz="2000" kern="1200" dirty="0"/>
            <a:t>Las formas en que se estructura y visualiza la información están cambiando rápidamente y se vuelven más complejas cada día. </a:t>
          </a:r>
          <a:endParaRPr lang="en-US" sz="2000" kern="1200" dirty="0"/>
        </a:p>
      </dsp:txBody>
      <dsp:txXfrm>
        <a:off x="1629062" y="602"/>
        <a:ext cx="4937760" cy="1410444"/>
      </dsp:txXfrm>
    </dsp:sp>
    <dsp:sp modelId="{EAF613DF-23A9-455A-8DFE-899AABAB267C}">
      <dsp:nvSpPr>
        <dsp:cNvPr id="0" name=""/>
        <dsp:cNvSpPr/>
      </dsp:nvSpPr>
      <dsp:spPr>
        <a:xfrm>
          <a:off x="6566822" y="602"/>
          <a:ext cx="4405977" cy="1410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272" tIns="149272" rIns="149272" bIns="149272" numCol="1" spcCol="1270" anchor="ctr" anchorCtr="0">
          <a:noAutofit/>
        </a:bodyPr>
        <a:lstStyle/>
        <a:p>
          <a:pPr marL="0" lvl="0" indent="0" algn="l" defTabSz="622300">
            <a:lnSpc>
              <a:spcPct val="90000"/>
            </a:lnSpc>
            <a:spcBef>
              <a:spcPct val="0"/>
            </a:spcBef>
            <a:spcAft>
              <a:spcPct val="35000"/>
            </a:spcAft>
            <a:buNone/>
          </a:pPr>
          <a:r>
            <a:rPr lang="es-MX" sz="1400" kern="1200"/>
            <a:t>Auge de las redes sociales</a:t>
          </a:r>
          <a:endParaRPr lang="en-US" sz="1400" kern="1200"/>
        </a:p>
        <a:p>
          <a:pPr marL="0" lvl="0" indent="0" algn="l" defTabSz="622300">
            <a:lnSpc>
              <a:spcPct val="90000"/>
            </a:lnSpc>
            <a:spcBef>
              <a:spcPct val="0"/>
            </a:spcBef>
            <a:spcAft>
              <a:spcPct val="35000"/>
            </a:spcAft>
            <a:buNone/>
          </a:pPr>
          <a:r>
            <a:rPr lang="es-MX" sz="1400" kern="1200"/>
            <a:t>Ubiquidad de los dispositivos móviles</a:t>
          </a:r>
          <a:endParaRPr lang="en-US" sz="1400" kern="1200"/>
        </a:p>
        <a:p>
          <a:pPr marL="0" lvl="0" indent="0" algn="l" defTabSz="622300">
            <a:lnSpc>
              <a:spcPct val="90000"/>
            </a:lnSpc>
            <a:spcBef>
              <a:spcPct val="0"/>
            </a:spcBef>
            <a:spcAft>
              <a:spcPct val="35000"/>
            </a:spcAft>
            <a:buNone/>
          </a:pPr>
          <a:r>
            <a:rPr lang="es-MX" sz="1400" kern="1200"/>
            <a:t>Digitalización de servicios</a:t>
          </a:r>
          <a:endParaRPr lang="en-US" sz="1400" kern="1200"/>
        </a:p>
      </dsp:txBody>
      <dsp:txXfrm>
        <a:off x="6566822" y="602"/>
        <a:ext cx="4405977" cy="1410444"/>
      </dsp:txXfrm>
    </dsp:sp>
    <dsp:sp modelId="{37BA9C7C-4699-4908-A6E9-908ED2E6AA25}">
      <dsp:nvSpPr>
        <dsp:cNvPr id="0" name=""/>
        <dsp:cNvSpPr/>
      </dsp:nvSpPr>
      <dsp:spPr>
        <a:xfrm>
          <a:off x="0" y="1763657"/>
          <a:ext cx="10972800" cy="14104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4ADA34-55CA-481C-AB6C-E05969424886}">
      <dsp:nvSpPr>
        <dsp:cNvPr id="0" name=""/>
        <dsp:cNvSpPr/>
      </dsp:nvSpPr>
      <dsp:spPr>
        <a:xfrm>
          <a:off x="426659" y="2081007"/>
          <a:ext cx="775744" cy="7757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AD1002-51F9-4159-8B29-913197439A46}">
      <dsp:nvSpPr>
        <dsp:cNvPr id="0" name=""/>
        <dsp:cNvSpPr/>
      </dsp:nvSpPr>
      <dsp:spPr>
        <a:xfrm>
          <a:off x="1629062" y="1763657"/>
          <a:ext cx="4937760" cy="1410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272" tIns="149272" rIns="149272" bIns="149272" numCol="1" spcCol="1270" anchor="ctr" anchorCtr="0">
          <a:noAutofit/>
        </a:bodyPr>
        <a:lstStyle/>
        <a:p>
          <a:pPr marL="0" lvl="0" indent="0" algn="l" defTabSz="889000">
            <a:lnSpc>
              <a:spcPct val="90000"/>
            </a:lnSpc>
            <a:spcBef>
              <a:spcPct val="0"/>
            </a:spcBef>
            <a:spcAft>
              <a:spcPct val="35000"/>
            </a:spcAft>
            <a:buNone/>
          </a:pPr>
          <a:r>
            <a:rPr lang="es-MX" sz="2000" kern="1200"/>
            <a:t>La información generada es de gran valor y permite analizar tendencias y patrones.</a:t>
          </a:r>
          <a:endParaRPr lang="en-US" sz="2000" kern="1200"/>
        </a:p>
      </dsp:txBody>
      <dsp:txXfrm>
        <a:off x="1629062" y="1763657"/>
        <a:ext cx="4937760" cy="1410444"/>
      </dsp:txXfrm>
    </dsp:sp>
    <dsp:sp modelId="{B43D2AF3-11ED-4A34-A7B2-10443C8B5BEC}">
      <dsp:nvSpPr>
        <dsp:cNvPr id="0" name=""/>
        <dsp:cNvSpPr/>
      </dsp:nvSpPr>
      <dsp:spPr>
        <a:xfrm>
          <a:off x="6566822" y="1763657"/>
          <a:ext cx="4405977" cy="1410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272" tIns="149272" rIns="149272" bIns="149272" numCol="1" spcCol="1270" anchor="ctr" anchorCtr="0">
          <a:noAutofit/>
        </a:bodyPr>
        <a:lstStyle/>
        <a:p>
          <a:pPr marL="0" lvl="0" indent="0" algn="l" defTabSz="622300">
            <a:lnSpc>
              <a:spcPct val="90000"/>
            </a:lnSpc>
            <a:spcBef>
              <a:spcPct val="0"/>
            </a:spcBef>
            <a:spcAft>
              <a:spcPct val="35000"/>
            </a:spcAft>
            <a:buNone/>
          </a:pPr>
          <a:r>
            <a:rPr lang="es-MX" sz="1400" kern="1200"/>
            <a:t>Big Data: Uso de big data para establecer conexiones entre eventos.</a:t>
          </a:r>
          <a:endParaRPr lang="en-US" sz="1400" kern="1200"/>
        </a:p>
        <a:p>
          <a:pPr marL="0" lvl="0" indent="0" algn="l" defTabSz="622300">
            <a:lnSpc>
              <a:spcPct val="90000"/>
            </a:lnSpc>
            <a:spcBef>
              <a:spcPct val="0"/>
            </a:spcBef>
            <a:spcAft>
              <a:spcPct val="35000"/>
            </a:spcAft>
            <a:buNone/>
          </a:pPr>
          <a:r>
            <a:rPr lang="es-MX" sz="1400" kern="1200"/>
            <a:t>Visualización en Tiempo Real: La visualización de datos puede ser un mecanismo eficaz para presentar al usuario final información comprensible en tiempo real.</a:t>
          </a:r>
          <a:endParaRPr lang="en-US" sz="1400" kern="1200"/>
        </a:p>
      </dsp:txBody>
      <dsp:txXfrm>
        <a:off x="6566822" y="1763657"/>
        <a:ext cx="4405977" cy="1410444"/>
      </dsp:txXfrm>
    </dsp:sp>
    <dsp:sp modelId="{FC5E27A1-5E34-4557-AC4C-925A76F71716}">
      <dsp:nvSpPr>
        <dsp:cNvPr id="0" name=""/>
        <dsp:cNvSpPr/>
      </dsp:nvSpPr>
      <dsp:spPr>
        <a:xfrm>
          <a:off x="0" y="3526713"/>
          <a:ext cx="10972800" cy="141044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6EB7BE-D19E-4DC9-88EC-D1633831EED5}">
      <dsp:nvSpPr>
        <dsp:cNvPr id="0" name=""/>
        <dsp:cNvSpPr/>
      </dsp:nvSpPr>
      <dsp:spPr>
        <a:xfrm>
          <a:off x="426659" y="3844063"/>
          <a:ext cx="775744" cy="7757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39E402-945E-460C-B7BA-B29EBEDD75DE}">
      <dsp:nvSpPr>
        <dsp:cNvPr id="0" name=""/>
        <dsp:cNvSpPr/>
      </dsp:nvSpPr>
      <dsp:spPr>
        <a:xfrm>
          <a:off x="1629062" y="3526713"/>
          <a:ext cx="4937760" cy="1410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272" tIns="149272" rIns="149272" bIns="149272" numCol="1" spcCol="1270" anchor="ctr" anchorCtr="0">
          <a:noAutofit/>
        </a:bodyPr>
        <a:lstStyle/>
        <a:p>
          <a:pPr marL="0" lvl="0" indent="0" algn="l" defTabSz="889000">
            <a:lnSpc>
              <a:spcPct val="90000"/>
            </a:lnSpc>
            <a:spcBef>
              <a:spcPct val="0"/>
            </a:spcBef>
            <a:spcAft>
              <a:spcPct val="35000"/>
            </a:spcAft>
            <a:buNone/>
          </a:pPr>
          <a:r>
            <a:rPr lang="es-MX" sz="2000" kern="1200"/>
            <a:t>Todas las empresas tienen datos, ya sea para comunicarse con clientes y altos directivos o para ayudar a gestionar la organización. </a:t>
          </a:r>
          <a:endParaRPr lang="en-US" sz="2000" kern="1200"/>
        </a:p>
      </dsp:txBody>
      <dsp:txXfrm>
        <a:off x="1629062" y="3526713"/>
        <a:ext cx="4937760" cy="1410444"/>
      </dsp:txXfrm>
    </dsp:sp>
    <dsp:sp modelId="{720F2C6B-9D43-491C-A765-FEFCCA00AA54}">
      <dsp:nvSpPr>
        <dsp:cNvPr id="0" name=""/>
        <dsp:cNvSpPr/>
      </dsp:nvSpPr>
      <dsp:spPr>
        <a:xfrm>
          <a:off x="6566822" y="3526713"/>
          <a:ext cx="4405977" cy="1410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272" tIns="149272" rIns="149272" bIns="149272" numCol="1" spcCol="1270" anchor="ctr" anchorCtr="0">
          <a:noAutofit/>
        </a:bodyPr>
        <a:lstStyle/>
        <a:p>
          <a:pPr marL="0" lvl="0" indent="0" algn="l" defTabSz="622300">
            <a:lnSpc>
              <a:spcPct val="90000"/>
            </a:lnSpc>
            <a:spcBef>
              <a:spcPct val="0"/>
            </a:spcBef>
            <a:spcAft>
              <a:spcPct val="35000"/>
            </a:spcAft>
            <a:buNone/>
          </a:pPr>
          <a:r>
            <a:rPr lang="es-MX" sz="1400" kern="1200"/>
            <a:t>Solo a través de la investigación y la interpretación, estos datos pueden adquirir significado y transformarse en conocimiento.</a:t>
          </a:r>
          <a:endParaRPr lang="en-US" sz="1400" kern="1200"/>
        </a:p>
      </dsp:txBody>
      <dsp:txXfrm>
        <a:off x="6566822" y="3526713"/>
        <a:ext cx="4405977" cy="14104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ED6F90-EA26-44ED-A313-686315A5C876}">
      <dsp:nvSpPr>
        <dsp:cNvPr id="0" name=""/>
        <dsp:cNvSpPr/>
      </dsp:nvSpPr>
      <dsp:spPr>
        <a:xfrm>
          <a:off x="822959" y="0"/>
          <a:ext cx="9326880" cy="493712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AFBE10-A15A-4602-89EE-9245CB369BFE}">
      <dsp:nvSpPr>
        <dsp:cNvPr id="0" name=""/>
        <dsp:cNvSpPr/>
      </dsp:nvSpPr>
      <dsp:spPr>
        <a:xfrm>
          <a:off x="5658" y="1481137"/>
          <a:ext cx="1733710" cy="19748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kern="1200" dirty="0"/>
            <a:t>Adquisición</a:t>
          </a:r>
        </a:p>
      </dsp:txBody>
      <dsp:txXfrm>
        <a:off x="90291" y="1565770"/>
        <a:ext cx="1564444" cy="1805584"/>
      </dsp:txXfrm>
    </dsp:sp>
    <dsp:sp modelId="{146E99C2-339F-49FA-AD3C-0EE00C2F1BA8}">
      <dsp:nvSpPr>
        <dsp:cNvPr id="0" name=""/>
        <dsp:cNvSpPr/>
      </dsp:nvSpPr>
      <dsp:spPr>
        <a:xfrm>
          <a:off x="1851213" y="1481137"/>
          <a:ext cx="1733710" cy="19748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kern="1200" dirty="0"/>
            <a:t>Estructuración</a:t>
          </a:r>
        </a:p>
      </dsp:txBody>
      <dsp:txXfrm>
        <a:off x="1935846" y="1565770"/>
        <a:ext cx="1564444" cy="1805584"/>
      </dsp:txXfrm>
    </dsp:sp>
    <dsp:sp modelId="{1884D370-E25B-4D03-B54D-9A348F446DB9}">
      <dsp:nvSpPr>
        <dsp:cNvPr id="0" name=""/>
        <dsp:cNvSpPr/>
      </dsp:nvSpPr>
      <dsp:spPr>
        <a:xfrm>
          <a:off x="3696767" y="1481137"/>
          <a:ext cx="1733710" cy="19748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kern="1200" dirty="0"/>
            <a:t>Filtrado/Entendimiento</a:t>
          </a:r>
        </a:p>
      </dsp:txBody>
      <dsp:txXfrm>
        <a:off x="3781400" y="1565770"/>
        <a:ext cx="1564444" cy="1805584"/>
      </dsp:txXfrm>
    </dsp:sp>
    <dsp:sp modelId="{FC75F3E2-A712-4D75-969D-76CE93668BC9}">
      <dsp:nvSpPr>
        <dsp:cNvPr id="0" name=""/>
        <dsp:cNvSpPr/>
      </dsp:nvSpPr>
      <dsp:spPr>
        <a:xfrm>
          <a:off x="5542322" y="1481137"/>
          <a:ext cx="1733710" cy="19748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kern="1200" dirty="0"/>
            <a:t>Representación</a:t>
          </a:r>
        </a:p>
      </dsp:txBody>
      <dsp:txXfrm>
        <a:off x="5626955" y="1565770"/>
        <a:ext cx="1564444" cy="1805584"/>
      </dsp:txXfrm>
    </dsp:sp>
    <dsp:sp modelId="{E1950D8C-BA33-4978-B2E1-381F71D05D7E}">
      <dsp:nvSpPr>
        <dsp:cNvPr id="0" name=""/>
        <dsp:cNvSpPr/>
      </dsp:nvSpPr>
      <dsp:spPr>
        <a:xfrm>
          <a:off x="7387876" y="1481137"/>
          <a:ext cx="1733710" cy="19748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kern="1200" dirty="0"/>
            <a:t>Perfeccionamiento</a:t>
          </a:r>
        </a:p>
      </dsp:txBody>
      <dsp:txXfrm>
        <a:off x="7472509" y="1565770"/>
        <a:ext cx="1564444" cy="1805584"/>
      </dsp:txXfrm>
    </dsp:sp>
    <dsp:sp modelId="{3A0A7B45-F4B6-462B-853B-F66EA6EE2F04}">
      <dsp:nvSpPr>
        <dsp:cNvPr id="0" name=""/>
        <dsp:cNvSpPr/>
      </dsp:nvSpPr>
      <dsp:spPr>
        <a:xfrm>
          <a:off x="9233431" y="1481137"/>
          <a:ext cx="1733710" cy="19748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kern="1200" dirty="0"/>
            <a:t>Interacción</a:t>
          </a:r>
        </a:p>
      </dsp:txBody>
      <dsp:txXfrm>
        <a:off x="9318064" y="1565770"/>
        <a:ext cx="1564444" cy="18055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7189DB-D603-4882-B8DD-6B131FCE77A2}">
      <dsp:nvSpPr>
        <dsp:cNvPr id="0" name=""/>
        <dsp:cNvSpPr/>
      </dsp:nvSpPr>
      <dsp:spPr>
        <a:xfrm>
          <a:off x="522935" y="1357709"/>
          <a:ext cx="558140" cy="5581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5C9F18B-61F6-4BA9-BCDB-BB2984963021}">
      <dsp:nvSpPr>
        <dsp:cNvPr id="0" name=""/>
        <dsp:cNvSpPr/>
      </dsp:nvSpPr>
      <dsp:spPr>
        <a:xfrm>
          <a:off x="4661" y="2011383"/>
          <a:ext cx="1594687" cy="23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US" sz="1800" kern="1200"/>
            <a:t>Color</a:t>
          </a:r>
        </a:p>
      </dsp:txBody>
      <dsp:txXfrm>
        <a:off x="4661" y="2011383"/>
        <a:ext cx="1594687" cy="239203"/>
      </dsp:txXfrm>
    </dsp:sp>
    <dsp:sp modelId="{2D3FC9C3-0033-4CA6-A4C0-E79A7BC82633}">
      <dsp:nvSpPr>
        <dsp:cNvPr id="0" name=""/>
        <dsp:cNvSpPr/>
      </dsp:nvSpPr>
      <dsp:spPr>
        <a:xfrm>
          <a:off x="4661" y="2295020"/>
          <a:ext cx="1594687" cy="1284395"/>
        </a:xfrm>
        <a:prstGeom prst="rect">
          <a:avLst/>
        </a:prstGeom>
        <a:noFill/>
        <a:ln>
          <a:noFill/>
        </a:ln>
        <a:effectLst/>
      </dsp:spPr>
      <dsp:style>
        <a:lnRef idx="0">
          <a:scrgbClr r="0" g="0" b="0"/>
        </a:lnRef>
        <a:fillRef idx="0">
          <a:scrgbClr r="0" g="0" b="0"/>
        </a:fillRef>
        <a:effectRef idx="0">
          <a:scrgbClr r="0" g="0" b="0"/>
        </a:effectRef>
        <a:fontRef idx="minor"/>
      </dsp:style>
    </dsp:sp>
    <dsp:sp modelId="{81AE1D32-9472-48A3-9457-34DBBF27E65B}">
      <dsp:nvSpPr>
        <dsp:cNvPr id="0" name=""/>
        <dsp:cNvSpPr/>
      </dsp:nvSpPr>
      <dsp:spPr>
        <a:xfrm>
          <a:off x="2396692" y="1357709"/>
          <a:ext cx="558140" cy="5581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0BF98C9-4991-4F0D-ACB1-C431F9EE0C20}">
      <dsp:nvSpPr>
        <dsp:cNvPr id="0" name=""/>
        <dsp:cNvSpPr/>
      </dsp:nvSpPr>
      <dsp:spPr>
        <a:xfrm>
          <a:off x="1878419" y="2011383"/>
          <a:ext cx="1594687" cy="23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US" sz="1800" kern="1200" dirty="0" err="1"/>
            <a:t>Dimensiones</a:t>
          </a:r>
          <a:endParaRPr lang="en-US" sz="1800" kern="1200" dirty="0"/>
        </a:p>
      </dsp:txBody>
      <dsp:txXfrm>
        <a:off x="1878419" y="2011383"/>
        <a:ext cx="1594687" cy="239203"/>
      </dsp:txXfrm>
    </dsp:sp>
    <dsp:sp modelId="{7A05C42C-A9C4-4D37-8B9E-6137DC21A288}">
      <dsp:nvSpPr>
        <dsp:cNvPr id="0" name=""/>
        <dsp:cNvSpPr/>
      </dsp:nvSpPr>
      <dsp:spPr>
        <a:xfrm>
          <a:off x="1878419" y="2295020"/>
          <a:ext cx="1594687" cy="1284395"/>
        </a:xfrm>
        <a:prstGeom prst="rect">
          <a:avLst/>
        </a:prstGeom>
        <a:noFill/>
        <a:ln>
          <a:noFill/>
        </a:ln>
        <a:effectLst/>
      </dsp:spPr>
      <dsp:style>
        <a:lnRef idx="0">
          <a:scrgbClr r="0" g="0" b="0"/>
        </a:lnRef>
        <a:fillRef idx="0">
          <a:scrgbClr r="0" g="0" b="0"/>
        </a:fillRef>
        <a:effectRef idx="0">
          <a:scrgbClr r="0" g="0" b="0"/>
        </a:effectRef>
        <a:fontRef idx="minor"/>
      </dsp:style>
    </dsp:sp>
    <dsp:sp modelId="{407D9307-7B58-4108-AF4E-2E0D64B7E640}">
      <dsp:nvSpPr>
        <dsp:cNvPr id="0" name=""/>
        <dsp:cNvSpPr/>
      </dsp:nvSpPr>
      <dsp:spPr>
        <a:xfrm>
          <a:off x="4270450" y="1357709"/>
          <a:ext cx="558140" cy="5581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33FE12-BBCB-47FB-92CD-CC935EEC8C14}">
      <dsp:nvSpPr>
        <dsp:cNvPr id="0" name=""/>
        <dsp:cNvSpPr/>
      </dsp:nvSpPr>
      <dsp:spPr>
        <a:xfrm>
          <a:off x="3752177" y="2011383"/>
          <a:ext cx="1594687" cy="23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US" sz="1800" kern="1200" dirty="0" err="1"/>
            <a:t>Texturas</a:t>
          </a:r>
          <a:endParaRPr lang="en-US" sz="1800" kern="1200" dirty="0"/>
        </a:p>
      </dsp:txBody>
      <dsp:txXfrm>
        <a:off x="3752177" y="2011383"/>
        <a:ext cx="1594687" cy="239203"/>
      </dsp:txXfrm>
    </dsp:sp>
    <dsp:sp modelId="{D426C9B5-121E-4364-8D17-211ED56A454E}">
      <dsp:nvSpPr>
        <dsp:cNvPr id="0" name=""/>
        <dsp:cNvSpPr/>
      </dsp:nvSpPr>
      <dsp:spPr>
        <a:xfrm>
          <a:off x="3752177" y="2295020"/>
          <a:ext cx="1594687" cy="1284395"/>
        </a:xfrm>
        <a:prstGeom prst="rect">
          <a:avLst/>
        </a:prstGeom>
        <a:noFill/>
        <a:ln>
          <a:noFill/>
        </a:ln>
        <a:effectLst/>
      </dsp:spPr>
      <dsp:style>
        <a:lnRef idx="0">
          <a:scrgbClr r="0" g="0" b="0"/>
        </a:lnRef>
        <a:fillRef idx="0">
          <a:scrgbClr r="0" g="0" b="0"/>
        </a:fillRef>
        <a:effectRef idx="0">
          <a:scrgbClr r="0" g="0" b="0"/>
        </a:effectRef>
        <a:fontRef idx="minor"/>
      </dsp:style>
    </dsp:sp>
    <dsp:sp modelId="{24FE2A8C-1777-4B7A-8213-F7502BDE0ED4}">
      <dsp:nvSpPr>
        <dsp:cNvPr id="0" name=""/>
        <dsp:cNvSpPr/>
      </dsp:nvSpPr>
      <dsp:spPr>
        <a:xfrm>
          <a:off x="6144208" y="1357709"/>
          <a:ext cx="558140" cy="5581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3FC1952-BAD3-48A8-91E8-84BD1C4B53AB}">
      <dsp:nvSpPr>
        <dsp:cNvPr id="0" name=""/>
        <dsp:cNvSpPr/>
      </dsp:nvSpPr>
      <dsp:spPr>
        <a:xfrm>
          <a:off x="5625935" y="2011383"/>
          <a:ext cx="1594687" cy="23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US" sz="1800" kern="1200" dirty="0" err="1"/>
            <a:t>Proximidad</a:t>
          </a:r>
          <a:endParaRPr lang="en-US" sz="1800" kern="1200" dirty="0"/>
        </a:p>
      </dsp:txBody>
      <dsp:txXfrm>
        <a:off x="5625935" y="2011383"/>
        <a:ext cx="1594687" cy="239203"/>
      </dsp:txXfrm>
    </dsp:sp>
    <dsp:sp modelId="{F3C52EE5-32C6-4E50-BBD9-5FB989D3D39D}">
      <dsp:nvSpPr>
        <dsp:cNvPr id="0" name=""/>
        <dsp:cNvSpPr/>
      </dsp:nvSpPr>
      <dsp:spPr>
        <a:xfrm>
          <a:off x="5625935" y="2295020"/>
          <a:ext cx="1594687" cy="1284395"/>
        </a:xfrm>
        <a:prstGeom prst="rect">
          <a:avLst/>
        </a:prstGeom>
        <a:noFill/>
        <a:ln>
          <a:noFill/>
        </a:ln>
        <a:effectLst/>
      </dsp:spPr>
      <dsp:style>
        <a:lnRef idx="0">
          <a:scrgbClr r="0" g="0" b="0"/>
        </a:lnRef>
        <a:fillRef idx="0">
          <a:scrgbClr r="0" g="0" b="0"/>
        </a:fillRef>
        <a:effectRef idx="0">
          <a:scrgbClr r="0" g="0" b="0"/>
        </a:effectRef>
        <a:fontRef idx="minor"/>
      </dsp:style>
    </dsp:sp>
    <dsp:sp modelId="{87DFF284-E723-4933-9EE6-0ADA21F10B55}">
      <dsp:nvSpPr>
        <dsp:cNvPr id="0" name=""/>
        <dsp:cNvSpPr/>
      </dsp:nvSpPr>
      <dsp:spPr>
        <a:xfrm>
          <a:off x="8017966" y="1357709"/>
          <a:ext cx="558140" cy="55814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C80F02-66F9-4058-A667-6E2338A3DF44}">
      <dsp:nvSpPr>
        <dsp:cNvPr id="0" name=""/>
        <dsp:cNvSpPr/>
      </dsp:nvSpPr>
      <dsp:spPr>
        <a:xfrm>
          <a:off x="7499692" y="2011383"/>
          <a:ext cx="1594687" cy="23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US" sz="1800" kern="1200" dirty="0" err="1"/>
            <a:t>Anotaciones</a:t>
          </a:r>
          <a:endParaRPr lang="en-US" sz="1800" kern="1200" dirty="0"/>
        </a:p>
      </dsp:txBody>
      <dsp:txXfrm>
        <a:off x="7499692" y="2011383"/>
        <a:ext cx="1594687" cy="239203"/>
      </dsp:txXfrm>
    </dsp:sp>
    <dsp:sp modelId="{4226F016-E8A5-41C2-B440-60F10DC11EA0}">
      <dsp:nvSpPr>
        <dsp:cNvPr id="0" name=""/>
        <dsp:cNvSpPr/>
      </dsp:nvSpPr>
      <dsp:spPr>
        <a:xfrm>
          <a:off x="7499692" y="2295020"/>
          <a:ext cx="1594687" cy="1284395"/>
        </a:xfrm>
        <a:prstGeom prst="rect">
          <a:avLst/>
        </a:prstGeom>
        <a:noFill/>
        <a:ln>
          <a:noFill/>
        </a:ln>
        <a:effectLst/>
      </dsp:spPr>
      <dsp:style>
        <a:lnRef idx="0">
          <a:scrgbClr r="0" g="0" b="0"/>
        </a:lnRef>
        <a:fillRef idx="0">
          <a:scrgbClr r="0" g="0" b="0"/>
        </a:fillRef>
        <a:effectRef idx="0">
          <a:scrgbClr r="0" g="0" b="0"/>
        </a:effectRef>
        <a:fontRef idx="minor"/>
      </dsp:style>
    </dsp:sp>
    <dsp:sp modelId="{8C102A54-A637-44E2-9176-632E9F6E84BD}">
      <dsp:nvSpPr>
        <dsp:cNvPr id="0" name=""/>
        <dsp:cNvSpPr/>
      </dsp:nvSpPr>
      <dsp:spPr>
        <a:xfrm>
          <a:off x="9891724" y="1357709"/>
          <a:ext cx="558140" cy="55814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A52513-70A4-48EC-B397-D507A2278CB6}">
      <dsp:nvSpPr>
        <dsp:cNvPr id="0" name=""/>
        <dsp:cNvSpPr/>
      </dsp:nvSpPr>
      <dsp:spPr>
        <a:xfrm>
          <a:off x="9373450" y="2011383"/>
          <a:ext cx="1594687" cy="239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US" sz="1800" kern="1200" dirty="0" err="1"/>
            <a:t>Interactividad</a:t>
          </a:r>
          <a:r>
            <a:rPr lang="en-US" sz="1800" kern="1200" dirty="0"/>
            <a:t> </a:t>
          </a:r>
        </a:p>
      </dsp:txBody>
      <dsp:txXfrm>
        <a:off x="9373450" y="2011383"/>
        <a:ext cx="1594687" cy="239203"/>
      </dsp:txXfrm>
    </dsp:sp>
    <dsp:sp modelId="{AA40135F-4646-400F-B2DE-74799FB76A6F}">
      <dsp:nvSpPr>
        <dsp:cNvPr id="0" name=""/>
        <dsp:cNvSpPr/>
      </dsp:nvSpPr>
      <dsp:spPr>
        <a:xfrm>
          <a:off x="9373450" y="2295020"/>
          <a:ext cx="1594687" cy="1284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dirty="0" err="1"/>
            <a:t>Selección</a:t>
          </a:r>
          <a:r>
            <a:rPr lang="en-US" sz="1400" kern="1200" dirty="0"/>
            <a:t> / </a:t>
          </a:r>
          <a:r>
            <a:rPr lang="en-US" sz="1400" kern="1200" dirty="0" err="1"/>
            <a:t>Filtrado</a:t>
          </a:r>
          <a:endParaRPr lang="en-US" sz="1400" kern="1200" dirty="0"/>
        </a:p>
        <a:p>
          <a:pPr marL="0" lvl="0" indent="0" algn="ctr" defTabSz="622300">
            <a:lnSpc>
              <a:spcPct val="90000"/>
            </a:lnSpc>
            <a:spcBef>
              <a:spcPct val="0"/>
            </a:spcBef>
            <a:spcAft>
              <a:spcPct val="35000"/>
            </a:spcAft>
            <a:buNone/>
          </a:pPr>
          <a:r>
            <a:rPr lang="en-US" sz="1400" kern="1200" dirty="0"/>
            <a:t>Zoom</a:t>
          </a:r>
        </a:p>
        <a:p>
          <a:pPr marL="0" lvl="0" indent="0" algn="ctr" defTabSz="622300">
            <a:lnSpc>
              <a:spcPct val="90000"/>
            </a:lnSpc>
            <a:spcBef>
              <a:spcPct val="0"/>
            </a:spcBef>
            <a:spcAft>
              <a:spcPct val="35000"/>
            </a:spcAft>
            <a:buNone/>
          </a:pPr>
          <a:r>
            <a:rPr lang="en-US" sz="1400" kern="1200" dirty="0" err="1"/>
            <a:t>Animación</a:t>
          </a:r>
          <a:endParaRPr lang="en-US" sz="1400" kern="1200" dirty="0"/>
        </a:p>
      </dsp:txBody>
      <dsp:txXfrm>
        <a:off x="9373450" y="2295020"/>
        <a:ext cx="1594687" cy="12843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E32FE-FE4B-3948-A990-AC5F2C0CF23F}">
      <dsp:nvSpPr>
        <dsp:cNvPr id="0" name=""/>
        <dsp:cNvSpPr/>
      </dsp:nvSpPr>
      <dsp:spPr>
        <a:xfrm>
          <a:off x="2566157" y="2011259"/>
          <a:ext cx="1411024" cy="671519"/>
        </a:xfrm>
        <a:custGeom>
          <a:avLst/>
          <a:gdLst/>
          <a:ahLst/>
          <a:cxnLst/>
          <a:rect l="0" t="0" r="0" b="0"/>
          <a:pathLst>
            <a:path>
              <a:moveTo>
                <a:pt x="0" y="0"/>
              </a:moveTo>
              <a:lnTo>
                <a:pt x="0" y="457620"/>
              </a:lnTo>
              <a:lnTo>
                <a:pt x="1411024" y="457620"/>
              </a:lnTo>
              <a:lnTo>
                <a:pt x="1411024" y="671519"/>
              </a:lnTo>
            </a:path>
          </a:pathLst>
        </a:custGeom>
        <a:noFill/>
        <a:ln w="1905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3275F-5D6C-5847-A2A1-C2930B3A132E}">
      <dsp:nvSpPr>
        <dsp:cNvPr id="0" name=""/>
        <dsp:cNvSpPr/>
      </dsp:nvSpPr>
      <dsp:spPr>
        <a:xfrm>
          <a:off x="1155132" y="2011259"/>
          <a:ext cx="1411024" cy="671519"/>
        </a:xfrm>
        <a:custGeom>
          <a:avLst/>
          <a:gdLst/>
          <a:ahLst/>
          <a:cxnLst/>
          <a:rect l="0" t="0" r="0" b="0"/>
          <a:pathLst>
            <a:path>
              <a:moveTo>
                <a:pt x="1411024" y="0"/>
              </a:moveTo>
              <a:lnTo>
                <a:pt x="1411024" y="457620"/>
              </a:lnTo>
              <a:lnTo>
                <a:pt x="0" y="457620"/>
              </a:lnTo>
              <a:lnTo>
                <a:pt x="0" y="671519"/>
              </a:lnTo>
            </a:path>
          </a:pathLst>
        </a:custGeom>
        <a:noFill/>
        <a:ln w="1905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1CFAA6-289D-EA45-A867-54B285E13F6A}">
      <dsp:nvSpPr>
        <dsp:cNvPr id="0" name=""/>
        <dsp:cNvSpPr/>
      </dsp:nvSpPr>
      <dsp:spPr>
        <a:xfrm>
          <a:off x="1411682" y="545076"/>
          <a:ext cx="2308949" cy="1466182"/>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702784-3080-A54D-BA1A-0F70E8B7DE00}">
      <dsp:nvSpPr>
        <dsp:cNvPr id="0" name=""/>
        <dsp:cNvSpPr/>
      </dsp:nvSpPr>
      <dsp:spPr>
        <a:xfrm>
          <a:off x="1668232" y="788798"/>
          <a:ext cx="2308949" cy="1466182"/>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MX" sz="3000" kern="1200" dirty="0"/>
            <a:t>Datos cuantitativos</a:t>
          </a:r>
        </a:p>
      </dsp:txBody>
      <dsp:txXfrm>
        <a:off x="1711175" y="831741"/>
        <a:ext cx="2223063" cy="1380296"/>
      </dsp:txXfrm>
    </dsp:sp>
    <dsp:sp modelId="{BE51DDB7-FED8-2A4B-9A92-D13FC93CD192}">
      <dsp:nvSpPr>
        <dsp:cNvPr id="0" name=""/>
        <dsp:cNvSpPr/>
      </dsp:nvSpPr>
      <dsp:spPr>
        <a:xfrm>
          <a:off x="657" y="2682778"/>
          <a:ext cx="2308949" cy="1466182"/>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CAC18B-11E3-2A4A-972F-0760780823D4}">
      <dsp:nvSpPr>
        <dsp:cNvPr id="0" name=""/>
        <dsp:cNvSpPr/>
      </dsp:nvSpPr>
      <dsp:spPr>
        <a:xfrm>
          <a:off x="257207" y="2926500"/>
          <a:ext cx="2308949" cy="1466182"/>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MX" sz="3000" kern="1200" dirty="0"/>
            <a:t>Discretos</a:t>
          </a:r>
        </a:p>
      </dsp:txBody>
      <dsp:txXfrm>
        <a:off x="300150" y="2969443"/>
        <a:ext cx="2223063" cy="1380296"/>
      </dsp:txXfrm>
    </dsp:sp>
    <dsp:sp modelId="{AF583A68-ACC7-9F40-9496-E099491B4A84}">
      <dsp:nvSpPr>
        <dsp:cNvPr id="0" name=""/>
        <dsp:cNvSpPr/>
      </dsp:nvSpPr>
      <dsp:spPr>
        <a:xfrm>
          <a:off x="2822706" y="2682778"/>
          <a:ext cx="2308949" cy="1466182"/>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C3D3BB-135E-0644-A8BE-4BB84988A713}">
      <dsp:nvSpPr>
        <dsp:cNvPr id="0" name=""/>
        <dsp:cNvSpPr/>
      </dsp:nvSpPr>
      <dsp:spPr>
        <a:xfrm>
          <a:off x="3079256" y="2926500"/>
          <a:ext cx="2308949" cy="1466182"/>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s-MX" sz="3000" kern="1200" dirty="0"/>
            <a:t>Continuos</a:t>
          </a:r>
        </a:p>
      </dsp:txBody>
      <dsp:txXfrm>
        <a:off x="3122199" y="2969443"/>
        <a:ext cx="2223063" cy="13802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B64AC2-BB5E-CC43-AE86-BAD30405DC75}">
      <dsp:nvSpPr>
        <dsp:cNvPr id="0" name=""/>
        <dsp:cNvSpPr/>
      </dsp:nvSpPr>
      <dsp:spPr>
        <a:xfrm>
          <a:off x="2566157" y="2011259"/>
          <a:ext cx="1411024" cy="671519"/>
        </a:xfrm>
        <a:custGeom>
          <a:avLst/>
          <a:gdLst/>
          <a:ahLst/>
          <a:cxnLst/>
          <a:rect l="0" t="0" r="0" b="0"/>
          <a:pathLst>
            <a:path>
              <a:moveTo>
                <a:pt x="0" y="0"/>
              </a:moveTo>
              <a:lnTo>
                <a:pt x="0" y="457620"/>
              </a:lnTo>
              <a:lnTo>
                <a:pt x="1411024" y="457620"/>
              </a:lnTo>
              <a:lnTo>
                <a:pt x="1411024" y="671519"/>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1AF757-BFAC-2946-BCCB-2C2D4122A00E}">
      <dsp:nvSpPr>
        <dsp:cNvPr id="0" name=""/>
        <dsp:cNvSpPr/>
      </dsp:nvSpPr>
      <dsp:spPr>
        <a:xfrm>
          <a:off x="1155132" y="2011259"/>
          <a:ext cx="1411024" cy="671519"/>
        </a:xfrm>
        <a:custGeom>
          <a:avLst/>
          <a:gdLst/>
          <a:ahLst/>
          <a:cxnLst/>
          <a:rect l="0" t="0" r="0" b="0"/>
          <a:pathLst>
            <a:path>
              <a:moveTo>
                <a:pt x="1411024" y="0"/>
              </a:moveTo>
              <a:lnTo>
                <a:pt x="1411024" y="457620"/>
              </a:lnTo>
              <a:lnTo>
                <a:pt x="0" y="457620"/>
              </a:lnTo>
              <a:lnTo>
                <a:pt x="0" y="671519"/>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CB8820-B175-1A48-AA5D-B5AF49C3F8FA}">
      <dsp:nvSpPr>
        <dsp:cNvPr id="0" name=""/>
        <dsp:cNvSpPr/>
      </dsp:nvSpPr>
      <dsp:spPr>
        <a:xfrm>
          <a:off x="1411682" y="545076"/>
          <a:ext cx="2308949" cy="146618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F3858A-9FB1-2647-A178-093BFC6C02EF}">
      <dsp:nvSpPr>
        <dsp:cNvPr id="0" name=""/>
        <dsp:cNvSpPr/>
      </dsp:nvSpPr>
      <dsp:spPr>
        <a:xfrm>
          <a:off x="1668232" y="788798"/>
          <a:ext cx="2308949" cy="146618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s-MX" sz="3100" kern="1200" dirty="0"/>
            <a:t>Datos cualitativos</a:t>
          </a:r>
        </a:p>
      </dsp:txBody>
      <dsp:txXfrm>
        <a:off x="1711175" y="831741"/>
        <a:ext cx="2223063" cy="1380296"/>
      </dsp:txXfrm>
    </dsp:sp>
    <dsp:sp modelId="{266C80A4-4E73-304D-A8AD-AEDC26EF347F}">
      <dsp:nvSpPr>
        <dsp:cNvPr id="0" name=""/>
        <dsp:cNvSpPr/>
      </dsp:nvSpPr>
      <dsp:spPr>
        <a:xfrm>
          <a:off x="657" y="2682778"/>
          <a:ext cx="2308949" cy="146618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FEC308-B93B-7F47-A3B6-637C9872C157}">
      <dsp:nvSpPr>
        <dsp:cNvPr id="0" name=""/>
        <dsp:cNvSpPr/>
      </dsp:nvSpPr>
      <dsp:spPr>
        <a:xfrm>
          <a:off x="257207" y="2926500"/>
          <a:ext cx="2308949" cy="146618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s-MX" sz="3100" kern="1200" dirty="0"/>
            <a:t>Ordinales</a:t>
          </a:r>
        </a:p>
      </dsp:txBody>
      <dsp:txXfrm>
        <a:off x="300150" y="2969443"/>
        <a:ext cx="2223063" cy="1380296"/>
      </dsp:txXfrm>
    </dsp:sp>
    <dsp:sp modelId="{78803EDD-F0AD-5D4D-A47C-7F3794843D4A}">
      <dsp:nvSpPr>
        <dsp:cNvPr id="0" name=""/>
        <dsp:cNvSpPr/>
      </dsp:nvSpPr>
      <dsp:spPr>
        <a:xfrm>
          <a:off x="2822706" y="2682778"/>
          <a:ext cx="2308949" cy="146618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28DBFE-651F-6249-B305-73F2BFFEFE0E}">
      <dsp:nvSpPr>
        <dsp:cNvPr id="0" name=""/>
        <dsp:cNvSpPr/>
      </dsp:nvSpPr>
      <dsp:spPr>
        <a:xfrm>
          <a:off x="3079256" y="2926500"/>
          <a:ext cx="2308949" cy="146618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s-MX" sz="3100" kern="1200" dirty="0"/>
            <a:t>Categóricos</a:t>
          </a:r>
        </a:p>
      </dsp:txBody>
      <dsp:txXfrm>
        <a:off x="3122199" y="2969443"/>
        <a:ext cx="2223063" cy="13802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6B7236-E8CD-4E57-B91E-C76AFB299382}">
      <dsp:nvSpPr>
        <dsp:cNvPr id="0" name=""/>
        <dsp:cNvSpPr/>
      </dsp:nvSpPr>
      <dsp:spPr>
        <a:xfrm>
          <a:off x="0" y="602"/>
          <a:ext cx="10972800" cy="14102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B83BD1-8A8F-4D46-81B7-081E618E8C07}">
      <dsp:nvSpPr>
        <dsp:cNvPr id="0" name=""/>
        <dsp:cNvSpPr/>
      </dsp:nvSpPr>
      <dsp:spPr>
        <a:xfrm>
          <a:off x="426604" y="317911"/>
          <a:ext cx="775644" cy="775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077826-D4DA-4ACD-949C-A9BAAF266401}">
      <dsp:nvSpPr>
        <dsp:cNvPr id="0" name=""/>
        <dsp:cNvSpPr/>
      </dsp:nvSpPr>
      <dsp:spPr>
        <a:xfrm>
          <a:off x="1628853" y="602"/>
          <a:ext cx="9343946" cy="1410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253" tIns="149253" rIns="149253" bIns="149253" numCol="1" spcCol="1270" anchor="ctr" anchorCtr="0">
          <a:noAutofit/>
        </a:bodyPr>
        <a:lstStyle/>
        <a:p>
          <a:pPr marL="0" lvl="0" indent="0" algn="l" defTabSz="1111250">
            <a:lnSpc>
              <a:spcPct val="90000"/>
            </a:lnSpc>
            <a:spcBef>
              <a:spcPct val="0"/>
            </a:spcBef>
            <a:spcAft>
              <a:spcPct val="35000"/>
            </a:spcAft>
            <a:buNone/>
          </a:pPr>
          <a:r>
            <a:rPr lang="es-MX" sz="2500" kern="1200"/>
            <a:t>El objetivo de las visualizaciones de datos es ayudarnos a entender el objeto que representan. </a:t>
          </a:r>
          <a:endParaRPr lang="en-US" sz="2500" kern="1200"/>
        </a:p>
      </dsp:txBody>
      <dsp:txXfrm>
        <a:off x="1628853" y="602"/>
        <a:ext cx="9343946" cy="1410262"/>
      </dsp:txXfrm>
    </dsp:sp>
    <dsp:sp modelId="{B860F38B-A237-42B4-82D2-0FF5A933D3A6}">
      <dsp:nvSpPr>
        <dsp:cNvPr id="0" name=""/>
        <dsp:cNvSpPr/>
      </dsp:nvSpPr>
      <dsp:spPr>
        <a:xfrm>
          <a:off x="0" y="1763431"/>
          <a:ext cx="10972800" cy="14102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6EF44F-2BC0-46EA-8195-998ED71E5181}">
      <dsp:nvSpPr>
        <dsp:cNvPr id="0" name=""/>
        <dsp:cNvSpPr/>
      </dsp:nvSpPr>
      <dsp:spPr>
        <a:xfrm>
          <a:off x="426604" y="2080740"/>
          <a:ext cx="775644" cy="775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5CB711-EBC7-4C22-91DE-5D027F1D7DAA}">
      <dsp:nvSpPr>
        <dsp:cNvPr id="0" name=""/>
        <dsp:cNvSpPr/>
      </dsp:nvSpPr>
      <dsp:spPr>
        <a:xfrm>
          <a:off x="1628853" y="1763431"/>
          <a:ext cx="9343946" cy="1410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253" tIns="149253" rIns="149253" bIns="149253" numCol="1" spcCol="1270" anchor="ctr" anchorCtr="0">
          <a:noAutofit/>
        </a:bodyPr>
        <a:lstStyle/>
        <a:p>
          <a:pPr marL="0" lvl="0" indent="0" algn="l" defTabSz="1111250">
            <a:lnSpc>
              <a:spcPct val="90000"/>
            </a:lnSpc>
            <a:spcBef>
              <a:spcPct val="0"/>
            </a:spcBef>
            <a:spcAft>
              <a:spcPct val="35000"/>
            </a:spcAft>
            <a:buNone/>
          </a:pPr>
          <a:r>
            <a:rPr lang="es-MX" sz="2500" kern="1200"/>
            <a:t>Son un medio para comunicar historias y los resultados de investigaciones, así como una plataforma para analizar y explorar datos. </a:t>
          </a:r>
          <a:endParaRPr lang="en-US" sz="2500" kern="1200"/>
        </a:p>
      </dsp:txBody>
      <dsp:txXfrm>
        <a:off x="1628853" y="1763431"/>
        <a:ext cx="9343946" cy="1410262"/>
      </dsp:txXfrm>
    </dsp:sp>
    <dsp:sp modelId="{DC527BC9-C69B-44C8-944F-C70827D573F0}">
      <dsp:nvSpPr>
        <dsp:cNvPr id="0" name=""/>
        <dsp:cNvSpPr/>
      </dsp:nvSpPr>
      <dsp:spPr>
        <a:xfrm>
          <a:off x="0" y="3526259"/>
          <a:ext cx="10972800" cy="14102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52415F-5CBC-46AC-AC87-539A7F94AB20}">
      <dsp:nvSpPr>
        <dsp:cNvPr id="0" name=""/>
        <dsp:cNvSpPr/>
      </dsp:nvSpPr>
      <dsp:spPr>
        <a:xfrm>
          <a:off x="426604" y="3843568"/>
          <a:ext cx="775644" cy="775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65497A-19A1-42D8-B46D-A52664E58226}">
      <dsp:nvSpPr>
        <dsp:cNvPr id="0" name=""/>
        <dsp:cNvSpPr/>
      </dsp:nvSpPr>
      <dsp:spPr>
        <a:xfrm>
          <a:off x="1628853" y="3526259"/>
          <a:ext cx="9343946" cy="1410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253" tIns="149253" rIns="149253" bIns="149253" numCol="1" spcCol="1270" anchor="ctr" anchorCtr="0">
          <a:noAutofit/>
        </a:bodyPr>
        <a:lstStyle/>
        <a:p>
          <a:pPr marL="0" lvl="0" indent="0" algn="l" defTabSz="1111250">
            <a:lnSpc>
              <a:spcPct val="90000"/>
            </a:lnSpc>
            <a:spcBef>
              <a:spcPct val="0"/>
            </a:spcBef>
            <a:spcAft>
              <a:spcPct val="35000"/>
            </a:spcAft>
            <a:buNone/>
          </a:pPr>
          <a:r>
            <a:rPr lang="es-MX" sz="2500" kern="1200"/>
            <a:t>Tener un entendimiento sólido de cómo crear visualizaciones de datos ayudará a generar informes, infografías y paneles significativos y fáciles de recordar. </a:t>
          </a:r>
          <a:endParaRPr lang="en-US" sz="2500" kern="1200"/>
        </a:p>
      </dsp:txBody>
      <dsp:txXfrm>
        <a:off x="1628853" y="3526259"/>
        <a:ext cx="9343946" cy="141026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20DC-5490-494D-A19D-AFFD232B64AF}" type="datetimeFigureOut">
              <a:rPr lang="es-MX" smtClean="0"/>
              <a:t>17/08/2024</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EF8DAF-0181-E146-A933-ABBDF0EFD75B}" type="slidenum">
              <a:rPr lang="es-MX" smtClean="0"/>
              <a:t>‹Nº›</a:t>
            </a:fld>
            <a:endParaRPr lang="es-MX"/>
          </a:p>
        </p:txBody>
      </p:sp>
    </p:spTree>
    <p:extLst>
      <p:ext uri="{BB962C8B-B14F-4D97-AF65-F5344CB8AC3E}">
        <p14:creationId xmlns:p14="http://schemas.microsoft.com/office/powerpoint/2010/main" val="1905463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2EF8DAF-0181-E146-A933-ABBDF0EFD75B}" type="slidenum">
              <a:rPr lang="es-MX" smtClean="0"/>
              <a:t>10</a:t>
            </a:fld>
            <a:endParaRPr lang="es-MX"/>
          </a:p>
        </p:txBody>
      </p:sp>
    </p:spTree>
    <p:extLst>
      <p:ext uri="{BB962C8B-B14F-4D97-AF65-F5344CB8AC3E}">
        <p14:creationId xmlns:p14="http://schemas.microsoft.com/office/powerpoint/2010/main" val="2960337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2EF8DAF-0181-E146-A933-ABBDF0EFD75B}" type="slidenum">
              <a:rPr lang="es-MX" smtClean="0"/>
              <a:t>39</a:t>
            </a:fld>
            <a:endParaRPr lang="es-MX"/>
          </a:p>
        </p:txBody>
      </p:sp>
    </p:spTree>
    <p:extLst>
      <p:ext uri="{BB962C8B-B14F-4D97-AF65-F5344CB8AC3E}">
        <p14:creationId xmlns:p14="http://schemas.microsoft.com/office/powerpoint/2010/main" val="1501593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2400">
                <a:solidFill>
                  <a:schemeClr val="tx1"/>
                </a:solidFill>
              </a:defRPr>
            </a:lvl1pPr>
          </a:lstStyle>
          <a:p>
            <a:r>
              <a:rPr kumimoji="0" lang="es-MX"/>
              <a:t>Haz clic para modificar el estilo de título del patrón</a:t>
            </a:r>
            <a:endParaRPr kumimoji="0" lang="en-US"/>
          </a:p>
        </p:txBody>
      </p:sp>
      <p:sp>
        <p:nvSpPr>
          <p:cNvPr id="9" name="Subtitle 8"/>
          <p:cNvSpPr>
            <a:spLocks noGrp="1"/>
          </p:cNvSpPr>
          <p:nvPr>
            <p:ph type="subTitle" idx="1"/>
          </p:nvPr>
        </p:nvSpPr>
        <p:spPr>
          <a:xfrm>
            <a:off x="1625600" y="5124450"/>
            <a:ext cx="9144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s-MX"/>
              <a:t>Haz clic para editar el estilo de subtítulo del patrón</a:t>
            </a:r>
            <a:endParaRPr kumimoji="0" lang="en-US"/>
          </a:p>
        </p:txBody>
      </p:sp>
      <p:sp>
        <p:nvSpPr>
          <p:cNvPr id="28" name="Date Placeholder 27"/>
          <p:cNvSpPr>
            <a:spLocks noGrp="1"/>
          </p:cNvSpPr>
          <p:nvPr>
            <p:ph type="dt" sz="half" idx="10"/>
          </p:nvPr>
        </p:nvSpPr>
        <p:spPr>
          <a:xfrm>
            <a:off x="8534400" y="6355080"/>
            <a:ext cx="3048000" cy="365760"/>
          </a:xfrm>
        </p:spPr>
        <p:txBody>
          <a:bodyPr/>
          <a:lstStyle>
            <a:lvl1pPr>
              <a:defRPr sz="1050"/>
            </a:lvl1pPr>
          </a:lstStyle>
          <a:p>
            <a:fld id="{FE330D22-FF15-964B-915D-1DA183AAC69B}" type="datetimeFigureOut">
              <a:rPr lang="es-MX" smtClean="0"/>
              <a:t>17/08/2024</a:t>
            </a:fld>
            <a:endParaRPr lang="es-MX"/>
          </a:p>
        </p:txBody>
      </p:sp>
      <p:sp>
        <p:nvSpPr>
          <p:cNvPr id="17" name="Footer Placeholder 16"/>
          <p:cNvSpPr>
            <a:spLocks noGrp="1"/>
          </p:cNvSpPr>
          <p:nvPr>
            <p:ph type="ftr" sz="quarter" idx="11"/>
          </p:nvPr>
        </p:nvSpPr>
        <p:spPr>
          <a:xfrm>
            <a:off x="3864864" y="6355080"/>
            <a:ext cx="4632960" cy="365760"/>
          </a:xfrm>
        </p:spPr>
        <p:txBody>
          <a:bodyPr/>
          <a:lstStyle/>
          <a:p>
            <a:endParaRPr lang="es-MX"/>
          </a:p>
        </p:txBody>
      </p:sp>
      <p:sp>
        <p:nvSpPr>
          <p:cNvPr id="29" name="Slide Number Placeholder 28"/>
          <p:cNvSpPr>
            <a:spLocks noGrp="1"/>
          </p:cNvSpPr>
          <p:nvPr>
            <p:ph type="sldNum" sz="quarter" idx="12"/>
          </p:nvPr>
        </p:nvSpPr>
        <p:spPr>
          <a:xfrm>
            <a:off x="1621536" y="6355080"/>
            <a:ext cx="1625600" cy="365760"/>
          </a:xfrm>
        </p:spPr>
        <p:txBody>
          <a:bodyPr/>
          <a:lstStyle/>
          <a:p>
            <a:fld id="{B9BD88CC-656F-6945-B7F1-D1D275238441}" type="slidenum">
              <a:rPr lang="es-MX" smtClean="0"/>
              <a:t>‹Nº›</a:t>
            </a:fld>
            <a:endParaRPr lang="es-MX"/>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1561011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s-MX"/>
              <a:t>Haz clic para modificar el estilo de título del patrón</a:t>
            </a:r>
            <a:endParaRPr kumimoji="0" lang="en-US"/>
          </a:p>
        </p:txBody>
      </p:sp>
      <p:sp>
        <p:nvSpPr>
          <p:cNvPr id="4" name="Date Placeholder 3"/>
          <p:cNvSpPr>
            <a:spLocks noGrp="1"/>
          </p:cNvSpPr>
          <p:nvPr>
            <p:ph type="dt" sz="half" idx="10"/>
          </p:nvPr>
        </p:nvSpPr>
        <p:spPr/>
        <p:txBody>
          <a:bodyPr/>
          <a:lstStyle/>
          <a:p>
            <a:fld id="{FE330D22-FF15-964B-915D-1DA183AAC69B}" type="datetimeFigureOut">
              <a:rPr lang="es-MX" smtClean="0"/>
              <a:t>17/08/2024</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9BD88CC-656F-6945-B7F1-D1D275238441}" type="slidenum">
              <a:rPr lang="es-MX" smtClean="0"/>
              <a:t>‹Nº›</a:t>
            </a:fld>
            <a:endParaRPr lang="es-MX"/>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Tree>
    <p:extLst>
      <p:ext uri="{BB962C8B-B14F-4D97-AF65-F5344CB8AC3E}">
        <p14:creationId xmlns:p14="http://schemas.microsoft.com/office/powerpoint/2010/main" val="3999003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2400" b="0" cap="none" baseline="0"/>
            </a:lvl1pPr>
          </a:lstStyle>
          <a:p>
            <a:r>
              <a:rPr kumimoji="0" lang="es-MX"/>
              <a:t>Haz clic para modificar el estilo de título del patrón</a:t>
            </a:r>
            <a:endParaRPr kumimoji="0" lang="en-US"/>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s-MX"/>
              <a:t>Haga clic para modificar los estilos de texto del patrón</a:t>
            </a:r>
          </a:p>
        </p:txBody>
      </p:sp>
      <p:sp>
        <p:nvSpPr>
          <p:cNvPr id="4" name="Date Placeholder 3"/>
          <p:cNvSpPr>
            <a:spLocks noGrp="1"/>
          </p:cNvSpPr>
          <p:nvPr>
            <p:ph type="dt" sz="half" idx="10"/>
          </p:nvPr>
        </p:nvSpPr>
        <p:spPr>
          <a:xfrm>
            <a:off x="8534400" y="6355080"/>
            <a:ext cx="3048000" cy="365760"/>
          </a:xfrm>
        </p:spPr>
        <p:txBody>
          <a:bodyPr/>
          <a:lstStyle/>
          <a:p>
            <a:fld id="{FE330D22-FF15-964B-915D-1DA183AAC69B}" type="datetimeFigureOut">
              <a:rPr lang="es-MX" smtClean="0"/>
              <a:t>17/08/2024</a:t>
            </a:fld>
            <a:endParaRPr lang="es-MX"/>
          </a:p>
        </p:txBody>
      </p:sp>
      <p:sp>
        <p:nvSpPr>
          <p:cNvPr id="5" name="Footer Placeholder 4"/>
          <p:cNvSpPr>
            <a:spLocks noGrp="1"/>
          </p:cNvSpPr>
          <p:nvPr>
            <p:ph type="ftr" sz="quarter" idx="11"/>
          </p:nvPr>
        </p:nvSpPr>
        <p:spPr>
          <a:xfrm>
            <a:off x="3864864" y="6355080"/>
            <a:ext cx="4632960" cy="365760"/>
          </a:xfrm>
        </p:spPr>
        <p:txBody>
          <a:bodyPr/>
          <a:lstStyle/>
          <a:p>
            <a:endParaRPr lang="es-MX"/>
          </a:p>
        </p:txBody>
      </p:sp>
      <p:sp>
        <p:nvSpPr>
          <p:cNvPr id="6" name="Slide Number Placeholder 5"/>
          <p:cNvSpPr>
            <a:spLocks noGrp="1"/>
          </p:cNvSpPr>
          <p:nvPr>
            <p:ph type="sldNum" sz="quarter" idx="12"/>
          </p:nvPr>
        </p:nvSpPr>
        <p:spPr>
          <a:xfrm>
            <a:off x="1426464" y="6355080"/>
            <a:ext cx="2027936" cy="365760"/>
          </a:xfrm>
        </p:spPr>
        <p:txBody>
          <a:bodyPr/>
          <a:lstStyle/>
          <a:p>
            <a:fld id="{B9BD88CC-656F-6945-B7F1-D1D275238441}" type="slidenum">
              <a:rPr lang="es-MX" smtClean="0"/>
              <a:t>‹Nº›</a:t>
            </a:fld>
            <a:endParaRPr lang="es-MX"/>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36459581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s-MX"/>
              <a:t>Haz clic para modificar el estilo de título del patrón</a:t>
            </a:r>
            <a:endParaRPr kumimoji="0" lang="en-US"/>
          </a:p>
        </p:txBody>
      </p:sp>
      <p:sp>
        <p:nvSpPr>
          <p:cNvPr id="5" name="Date Placeholder 4"/>
          <p:cNvSpPr>
            <a:spLocks noGrp="1"/>
          </p:cNvSpPr>
          <p:nvPr>
            <p:ph type="dt" sz="half" idx="10"/>
          </p:nvPr>
        </p:nvSpPr>
        <p:spPr/>
        <p:txBody>
          <a:bodyPr/>
          <a:lstStyle/>
          <a:p>
            <a:fld id="{FE330D22-FF15-964B-915D-1DA183AAC69B}" type="datetimeFigureOut">
              <a:rPr lang="es-MX" smtClean="0"/>
              <a:t>17/08/2024</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9BD88CC-656F-6945-B7F1-D1D275238441}" type="slidenum">
              <a:rPr lang="es-MX" smtClean="0"/>
              <a:t>‹Nº›</a:t>
            </a:fld>
            <a:endParaRPr lang="es-MX"/>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Tree>
    <p:extLst>
      <p:ext uri="{BB962C8B-B14F-4D97-AF65-F5344CB8AC3E}">
        <p14:creationId xmlns:p14="http://schemas.microsoft.com/office/powerpoint/2010/main" val="170883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s-MX"/>
              <a:t>Haz clic para modificar el estilo de título del patrón</a:t>
            </a:r>
            <a:endParaRPr kumimoji="0" lang="en-US"/>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s-MX"/>
              <a:t>Haga clic para modificar los estilos de texto del patrón</a:t>
            </a:r>
          </a:p>
        </p:txBody>
      </p:sp>
      <p:sp>
        <p:nvSpPr>
          <p:cNvPr id="4" name="Text Placeholder 3"/>
          <p:cNvSpPr>
            <a:spLocks noGrp="1"/>
          </p:cNvSpPr>
          <p:nvPr>
            <p:ph type="body" sz="half" idx="3"/>
          </p:nvPr>
        </p:nvSpPr>
        <p:spPr>
          <a:xfrm>
            <a:off x="6197602" y="1295400"/>
            <a:ext cx="5389033"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s-MX"/>
              <a:t>Haga clic para modificar los estilos de texto del patrón</a:t>
            </a:r>
          </a:p>
        </p:txBody>
      </p:sp>
      <p:sp>
        <p:nvSpPr>
          <p:cNvPr id="7" name="Date Placeholder 6"/>
          <p:cNvSpPr>
            <a:spLocks noGrp="1"/>
          </p:cNvSpPr>
          <p:nvPr>
            <p:ph type="dt" sz="half" idx="10"/>
          </p:nvPr>
        </p:nvSpPr>
        <p:spPr/>
        <p:txBody>
          <a:bodyPr/>
          <a:lstStyle/>
          <a:p>
            <a:fld id="{FE330D22-FF15-964B-915D-1DA183AAC69B}" type="datetimeFigureOut">
              <a:rPr lang="es-MX" smtClean="0"/>
              <a:t>17/08/2024</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B9BD88CC-656F-6945-B7F1-D1D275238441}" type="slidenum">
              <a:rPr lang="es-MX" smtClean="0"/>
              <a:t>‹Nº›</a:t>
            </a:fld>
            <a:endParaRPr lang="es-MX"/>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Tree>
    <p:extLst>
      <p:ext uri="{BB962C8B-B14F-4D97-AF65-F5344CB8AC3E}">
        <p14:creationId xmlns:p14="http://schemas.microsoft.com/office/powerpoint/2010/main" val="3225291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s-MX"/>
              <a:t>Haz clic para modificar el estilo de título del patrón</a:t>
            </a:r>
            <a:endParaRPr kumimoji="0" lang="en-US"/>
          </a:p>
        </p:txBody>
      </p:sp>
      <p:sp>
        <p:nvSpPr>
          <p:cNvPr id="3" name="Date Placeholder 2"/>
          <p:cNvSpPr>
            <a:spLocks noGrp="1"/>
          </p:cNvSpPr>
          <p:nvPr>
            <p:ph type="dt" sz="half" idx="10"/>
          </p:nvPr>
        </p:nvSpPr>
        <p:spPr/>
        <p:txBody>
          <a:bodyPr/>
          <a:lstStyle/>
          <a:p>
            <a:fld id="{FE330D22-FF15-964B-915D-1DA183AAC69B}" type="datetimeFigureOut">
              <a:rPr lang="es-MX" smtClean="0"/>
              <a:t>17/08/2024</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B9BD88CC-656F-6945-B7F1-D1D275238441}" type="slidenum">
              <a:rPr lang="es-MX" smtClean="0"/>
              <a:t>‹Nº›</a:t>
            </a:fld>
            <a:endParaRPr lang="es-MX"/>
          </a:p>
        </p:txBody>
      </p:sp>
      <p:sp>
        <p:nvSpPr>
          <p:cNvPr id="6" name="Isosceles Triangle 5"/>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774954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330D22-FF15-964B-915D-1DA183AAC69B}" type="datetimeFigureOut">
              <a:rPr lang="es-MX" smtClean="0"/>
              <a:t>17/08/2024</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B9BD88CC-656F-6945-B7F1-D1D275238441}" type="slidenum">
              <a:rPr lang="es-MX" smtClean="0"/>
              <a:t>‹Nº›</a:t>
            </a:fld>
            <a:endParaRPr lang="es-MX"/>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483292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1500" b="1">
                <a:solidFill>
                  <a:schemeClr val="tx2"/>
                </a:solidFill>
                <a:latin typeface="+mn-lt"/>
                <a:ea typeface="+mn-ea"/>
                <a:cs typeface="+mn-cs"/>
              </a:defRPr>
            </a:lvl1pPr>
          </a:lstStyle>
          <a:p>
            <a:r>
              <a:rPr kumimoji="0" lang="es-MX"/>
              <a:t>Haz clic para modificar el estilo de título del patrón</a:t>
            </a:r>
            <a:endParaRPr kumimoji="0" lang="en-US"/>
          </a:p>
        </p:txBody>
      </p:sp>
      <p:sp>
        <p:nvSpPr>
          <p:cNvPr id="3" name="Text Placeholder 2"/>
          <p:cNvSpPr>
            <a:spLocks noGrp="1"/>
          </p:cNvSpPr>
          <p:nvPr>
            <p:ph type="body" idx="2"/>
          </p:nvPr>
        </p:nvSpPr>
        <p:spPr>
          <a:xfrm>
            <a:off x="8432800" y="1219203"/>
            <a:ext cx="33528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s-MX"/>
              <a:t>Haga clic para modificar los estilos de texto del patrón</a:t>
            </a:r>
          </a:p>
        </p:txBody>
      </p:sp>
      <p:sp>
        <p:nvSpPr>
          <p:cNvPr id="5" name="Date Placeholder 4"/>
          <p:cNvSpPr>
            <a:spLocks noGrp="1"/>
          </p:cNvSpPr>
          <p:nvPr>
            <p:ph type="dt" sz="half" idx="10"/>
          </p:nvPr>
        </p:nvSpPr>
        <p:spPr/>
        <p:txBody>
          <a:bodyPr/>
          <a:lstStyle/>
          <a:p>
            <a:fld id="{FE330D22-FF15-964B-915D-1DA183AAC69B}" type="datetimeFigureOut">
              <a:rPr lang="es-MX" smtClean="0"/>
              <a:t>17/08/2024</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9BD88CC-656F-6945-B7F1-D1D275238441}" type="slidenum">
              <a:rPr lang="es-MX" smtClean="0"/>
              <a:t>‹Nº›</a:t>
            </a:fld>
            <a:endParaRPr lang="es-MX"/>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Tree>
    <p:extLst>
      <p:ext uri="{BB962C8B-B14F-4D97-AF65-F5344CB8AC3E}">
        <p14:creationId xmlns:p14="http://schemas.microsoft.com/office/powerpoint/2010/main" val="3842501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1500" b="0">
                <a:solidFill>
                  <a:schemeClr val="tx1"/>
                </a:solidFill>
              </a:defRPr>
            </a:lvl1pPr>
          </a:lstStyle>
          <a:p>
            <a:r>
              <a:rPr kumimoji="0" lang="es-MX"/>
              <a:t>Haz clic para modificar el estilo de título del patrón</a:t>
            </a:r>
            <a:endParaRPr kumimoji="0" lang="en-US"/>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450"/>
              </a:spcBef>
              <a:buNone/>
              <a:defRPr sz="2400"/>
            </a:lvl1pPr>
          </a:lstStyle>
          <a:p>
            <a:r>
              <a:rPr kumimoji="0" lang="es-MX"/>
              <a:t>Haz clic en el icono para agregar una imagen</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s-MX"/>
              <a:t>Haga clic para modificar los estilos de texto del patrón</a:t>
            </a:r>
          </a:p>
        </p:txBody>
      </p:sp>
      <p:sp>
        <p:nvSpPr>
          <p:cNvPr id="5" name="Date Placeholder 4"/>
          <p:cNvSpPr>
            <a:spLocks noGrp="1"/>
          </p:cNvSpPr>
          <p:nvPr>
            <p:ph type="dt" sz="half" idx="10"/>
          </p:nvPr>
        </p:nvSpPr>
        <p:spPr/>
        <p:txBody>
          <a:bodyPr/>
          <a:lstStyle/>
          <a:p>
            <a:fld id="{FE330D22-FF15-964B-915D-1DA183AAC69B}" type="datetimeFigureOut">
              <a:rPr lang="es-MX" smtClean="0"/>
              <a:t>17/08/2024</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B9BD88CC-656F-6945-B7F1-D1D275238441}" type="slidenum">
              <a:rPr lang="es-MX" smtClean="0"/>
              <a:t>‹Nº›</a:t>
            </a:fld>
            <a:endParaRPr lang="es-MX"/>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417898481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s-MX"/>
              <a:t>Haz clic para modificar el estilo de título del patrón</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
        <p:nvSpPr>
          <p:cNvPr id="4" name="Date Placeholder 3"/>
          <p:cNvSpPr>
            <a:spLocks noGrp="1"/>
          </p:cNvSpPr>
          <p:nvPr>
            <p:ph type="dt" sz="half" idx="10"/>
          </p:nvPr>
        </p:nvSpPr>
        <p:spPr/>
        <p:txBody>
          <a:bodyPr/>
          <a:lstStyle/>
          <a:p>
            <a:fld id="{FE330D22-FF15-964B-915D-1DA183AAC69B}" type="datetimeFigureOut">
              <a:rPr lang="es-MX" smtClean="0"/>
              <a:t>17/08/2024</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9BD88CC-656F-6945-B7F1-D1D275238441}" type="slidenum">
              <a:rPr lang="es-MX" smtClean="0"/>
              <a:t>‹Nº›</a:t>
            </a:fld>
            <a:endParaRPr lang="es-MX"/>
          </a:p>
        </p:txBody>
      </p:sp>
    </p:spTree>
    <p:extLst>
      <p:ext uri="{BB962C8B-B14F-4D97-AF65-F5344CB8AC3E}">
        <p14:creationId xmlns:p14="http://schemas.microsoft.com/office/powerpoint/2010/main" val="2760952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kumimoji="0" lang="es-MX"/>
              <a:t>Haz clic para modificar el estilo de título del patrón</a:t>
            </a:r>
            <a:endParaRPr kumimoji="0" lang="en-US"/>
          </a:p>
        </p:txBody>
      </p:sp>
      <p:sp>
        <p:nvSpPr>
          <p:cNvPr id="3" name="Vertical Text Placeholder 2"/>
          <p:cNvSpPr>
            <a:spLocks noGrp="1"/>
          </p:cNvSpPr>
          <p:nvPr>
            <p:ph type="body" orient="vert" idx="1"/>
          </p:nvPr>
        </p:nvSpPr>
        <p:spPr>
          <a:xfrm>
            <a:off x="609600" y="274641"/>
            <a:ext cx="8026400" cy="5851525"/>
          </a:xfrm>
        </p:spPr>
        <p:txBody>
          <a:bodyPr vert="eaVert"/>
          <a:lstStyle/>
          <a:p>
            <a:pPr lvl="0" eaLnBrk="1" latinLnBrk="0" hangingPunct="1"/>
            <a:r>
              <a:rPr lang="es-MX"/>
              <a:t>Haga clic para modificar los estilos de texto del patrón</a:t>
            </a:r>
          </a:p>
          <a:p>
            <a:pPr lvl="1" eaLnBrk="1" latinLnBrk="0" hangingPunct="1"/>
            <a:r>
              <a:rPr lang="es-MX"/>
              <a:t>Segundo nivel</a:t>
            </a:r>
          </a:p>
          <a:p>
            <a:pPr lvl="2" eaLnBrk="1" latinLnBrk="0" hangingPunct="1"/>
            <a:r>
              <a:rPr lang="es-MX"/>
              <a:t>Tercer nivel</a:t>
            </a:r>
          </a:p>
          <a:p>
            <a:pPr lvl="3" eaLnBrk="1" latinLnBrk="0" hangingPunct="1"/>
            <a:r>
              <a:rPr lang="es-MX"/>
              <a:t>Cuarto nivel</a:t>
            </a:r>
          </a:p>
          <a:p>
            <a:pPr lvl="4" eaLnBrk="1" latinLnBrk="0" hangingPunct="1"/>
            <a:r>
              <a:rPr lang="es-MX"/>
              <a:t>Quinto nivel</a:t>
            </a:r>
            <a:endParaRPr kumimoji="0" lang="en-US"/>
          </a:p>
        </p:txBody>
      </p:sp>
      <p:sp>
        <p:nvSpPr>
          <p:cNvPr id="4" name="Date Placeholder 3"/>
          <p:cNvSpPr>
            <a:spLocks noGrp="1"/>
          </p:cNvSpPr>
          <p:nvPr>
            <p:ph type="dt" sz="half" idx="10"/>
          </p:nvPr>
        </p:nvSpPr>
        <p:spPr/>
        <p:txBody>
          <a:bodyPr/>
          <a:lstStyle/>
          <a:p>
            <a:fld id="{FE330D22-FF15-964B-915D-1DA183AAC69B}" type="datetimeFigureOut">
              <a:rPr lang="es-MX" smtClean="0"/>
              <a:t>17/08/2024</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B9BD88CC-656F-6945-B7F1-D1D275238441}" type="slidenum">
              <a:rPr lang="es-MX" smtClean="0"/>
              <a:t>‹Nº›</a:t>
            </a:fld>
            <a:endParaRPr lang="es-MX"/>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184825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s-ES"/>
              <a:t>Haga clic para modificar el estilo de título del patrón</a:t>
            </a:r>
            <a:endParaRPr kumimoji="0" lang="en-US"/>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050">
                <a:solidFill>
                  <a:schemeClr val="tx2"/>
                </a:solidFill>
              </a:defRPr>
            </a:lvl1pPr>
          </a:lstStyle>
          <a:p>
            <a:fld id="{FE330D22-FF15-964B-915D-1DA183AAC69B}" type="datetimeFigureOut">
              <a:rPr lang="es-MX" smtClean="0"/>
              <a:t>17/08/2024</a:t>
            </a:fld>
            <a:endParaRPr lang="es-MX"/>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050">
                <a:solidFill>
                  <a:schemeClr val="tx2"/>
                </a:solidFill>
              </a:defRPr>
            </a:lvl1pPr>
          </a:lstStyle>
          <a:p>
            <a:endParaRPr lang="es-MX"/>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050">
                <a:solidFill>
                  <a:schemeClr val="tx2"/>
                </a:solidFill>
              </a:defRPr>
            </a:lvl1pPr>
          </a:lstStyle>
          <a:p>
            <a:fld id="{B9BD88CC-656F-6945-B7F1-D1D275238441}" type="slidenum">
              <a:rPr lang="es-MX" smtClean="0"/>
              <a:t>‹Nº›</a:t>
            </a:fld>
            <a:endParaRPr lang="es-MX"/>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8810568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hyperlink" Target="https://www.theguardian.com/world/interactive/2013/feb/12/state-of-the-union-reading-level" TargetMode="Externa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hyperlink" Target="http://www.r2d3.us/visual-intro-to-machine-learning-part-1/" TargetMode="Externa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3023FD-4840-E5F2-1B69-750B410A9196}"/>
              </a:ext>
            </a:extLst>
          </p:cNvPr>
          <p:cNvSpPr>
            <a:spLocks noGrp="1"/>
          </p:cNvSpPr>
          <p:nvPr>
            <p:ph type="ctrTitle"/>
          </p:nvPr>
        </p:nvSpPr>
        <p:spPr/>
        <p:txBody>
          <a:bodyPr/>
          <a:lstStyle/>
          <a:p>
            <a:r>
              <a:rPr lang="es-MX" dirty="0"/>
              <a:t>Representación de la Información</a:t>
            </a:r>
          </a:p>
        </p:txBody>
      </p:sp>
      <p:sp>
        <p:nvSpPr>
          <p:cNvPr id="3" name="Subtítulo 2">
            <a:extLst>
              <a:ext uri="{FF2B5EF4-FFF2-40B4-BE49-F238E27FC236}">
                <a16:creationId xmlns:a16="http://schemas.microsoft.com/office/drawing/2014/main" id="{C6C3D351-7BC2-19E1-647F-7AB5018717FD}"/>
              </a:ext>
            </a:extLst>
          </p:cNvPr>
          <p:cNvSpPr>
            <a:spLocks noGrp="1"/>
          </p:cNvSpPr>
          <p:nvPr>
            <p:ph type="subTitle" idx="1"/>
          </p:nvPr>
        </p:nvSpPr>
        <p:spPr/>
        <p:txBody>
          <a:bodyPr>
            <a:normAutofit fontScale="92500" lnSpcReduction="20000"/>
          </a:bodyPr>
          <a:lstStyle/>
          <a:p>
            <a:r>
              <a:rPr lang="es-MX" dirty="0"/>
              <a:t>Dr. Lázaro Bustio Martínez</a:t>
            </a:r>
          </a:p>
          <a:p>
            <a:r>
              <a:rPr lang="es-MX" dirty="0"/>
              <a:t>lazaro.bustio@ibero.mx</a:t>
            </a:r>
          </a:p>
        </p:txBody>
      </p:sp>
      <p:pic>
        <p:nvPicPr>
          <p:cNvPr id="4" name="Picture 2" descr="10 Free Data Visualization Tools | PCMag">
            <a:extLst>
              <a:ext uri="{FF2B5EF4-FFF2-40B4-BE49-F238E27FC236}">
                <a16:creationId xmlns:a16="http://schemas.microsoft.com/office/drawing/2014/main" id="{5D303519-07EE-331A-50C6-85CD4880569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81700" y="626658"/>
            <a:ext cx="4960775" cy="2790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6325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FDC706-41CA-B941-14AF-22288A7F04A5}"/>
              </a:ext>
            </a:extLst>
          </p:cNvPr>
          <p:cNvSpPr>
            <a:spLocks noGrp="1"/>
          </p:cNvSpPr>
          <p:nvPr>
            <p:ph type="title"/>
          </p:nvPr>
        </p:nvSpPr>
        <p:spPr>
          <a:xfrm>
            <a:off x="609600" y="228600"/>
            <a:ext cx="10972800" cy="914400"/>
          </a:xfrm>
        </p:spPr>
        <p:txBody>
          <a:bodyPr anchor="b">
            <a:normAutofit/>
          </a:bodyPr>
          <a:lstStyle/>
          <a:p>
            <a:r>
              <a:rPr lang="es-MX" dirty="0"/>
              <a:t>Introducción</a:t>
            </a:r>
          </a:p>
        </p:txBody>
      </p:sp>
      <p:sp>
        <p:nvSpPr>
          <p:cNvPr id="3" name="Marcador de contenido 2">
            <a:extLst>
              <a:ext uri="{FF2B5EF4-FFF2-40B4-BE49-F238E27FC236}">
                <a16:creationId xmlns:a16="http://schemas.microsoft.com/office/drawing/2014/main" id="{338636F6-C7CF-AF6B-D67B-D4F3546F1C68}"/>
              </a:ext>
            </a:extLst>
          </p:cNvPr>
          <p:cNvSpPr>
            <a:spLocks noGrp="1"/>
          </p:cNvSpPr>
          <p:nvPr>
            <p:ph sz="quarter" idx="1"/>
          </p:nvPr>
        </p:nvSpPr>
        <p:spPr>
          <a:xfrm>
            <a:off x="609600" y="1219200"/>
            <a:ext cx="5388864" cy="4937760"/>
          </a:xfrm>
        </p:spPr>
        <p:txBody>
          <a:bodyPr>
            <a:normAutofit/>
          </a:bodyPr>
          <a:lstStyle/>
          <a:p>
            <a:r>
              <a:rPr lang="es-MX" dirty="0"/>
              <a:t>En los últimos años, la cantidad de datos generados ha crecido exponencialmente debido al auge de tecnologías como IoT, redes sociales, y dispositivos móviles.</a:t>
            </a:r>
          </a:p>
          <a:p>
            <a:pPr lvl="1"/>
            <a:r>
              <a:rPr lang="es-MX" dirty="0"/>
              <a:t>En 2020, se estimó que se generaron 44 zettabytes de datos en todo el mundo.</a:t>
            </a:r>
          </a:p>
          <a:p>
            <a:r>
              <a:rPr lang="es-MX" dirty="0"/>
              <a:t>Aunque la capacidad de procesamiento de datos ha mejorado con el tiempo, no ha podido mantener el mismo ritmo de crecimiento que la generación de datos.</a:t>
            </a:r>
          </a:p>
          <a:p>
            <a:pPr lvl="1"/>
            <a:r>
              <a:rPr lang="es-MX" dirty="0"/>
              <a:t>Los sistemas tradicionales de procesamiento de datos no pueden manejar eficientemente los volúmenes masivos de información.</a:t>
            </a:r>
          </a:p>
          <a:p>
            <a:pPr lvl="1"/>
            <a:r>
              <a:rPr lang="es-MX" dirty="0"/>
              <a:t>Se requiere de nuevos enfoques y tecnologías para gestionar y analizar estos datos de manera efectiva.</a:t>
            </a:r>
          </a:p>
        </p:txBody>
      </p:sp>
      <p:sp>
        <p:nvSpPr>
          <p:cNvPr id="11" name="Marcador de contenido 10">
            <a:extLst>
              <a:ext uri="{FF2B5EF4-FFF2-40B4-BE49-F238E27FC236}">
                <a16:creationId xmlns:a16="http://schemas.microsoft.com/office/drawing/2014/main" id="{D288CC18-311C-0D50-F638-480655599FD7}"/>
              </a:ext>
            </a:extLst>
          </p:cNvPr>
          <p:cNvSpPr>
            <a:spLocks noGrp="1"/>
          </p:cNvSpPr>
          <p:nvPr>
            <p:ph sz="quarter" idx="2"/>
          </p:nvPr>
        </p:nvSpPr>
        <p:spPr/>
        <p:txBody>
          <a:bodyPr/>
          <a:lstStyle/>
          <a:p>
            <a:endParaRPr lang="es-MX"/>
          </a:p>
        </p:txBody>
      </p:sp>
      <p:pic>
        <p:nvPicPr>
          <p:cNvPr id="8" name="Imagen 7">
            <a:extLst>
              <a:ext uri="{FF2B5EF4-FFF2-40B4-BE49-F238E27FC236}">
                <a16:creationId xmlns:a16="http://schemas.microsoft.com/office/drawing/2014/main" id="{A02EF9AB-A534-0E4B-B5B1-8DEDBE8ABD2E}"/>
              </a:ext>
            </a:extLst>
          </p:cNvPr>
          <p:cNvPicPr>
            <a:picLocks noChangeAspect="1"/>
          </p:cNvPicPr>
          <p:nvPr/>
        </p:nvPicPr>
        <p:blipFill>
          <a:blip r:embed="rId2"/>
          <a:stretch>
            <a:fillRect/>
          </a:stretch>
        </p:blipFill>
        <p:spPr>
          <a:xfrm>
            <a:off x="6395628" y="1216152"/>
            <a:ext cx="4950136" cy="4937760"/>
          </a:xfrm>
          <a:prstGeom prst="rect">
            <a:avLst/>
          </a:prstGeom>
          <a:noFill/>
        </p:spPr>
      </p:pic>
    </p:spTree>
    <p:extLst>
      <p:ext uri="{BB962C8B-B14F-4D97-AF65-F5344CB8AC3E}">
        <p14:creationId xmlns:p14="http://schemas.microsoft.com/office/powerpoint/2010/main" val="843031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EE3893-0F91-95C6-CA20-2FC45DCEFCA9}"/>
              </a:ext>
            </a:extLst>
          </p:cNvPr>
          <p:cNvSpPr>
            <a:spLocks noGrp="1"/>
          </p:cNvSpPr>
          <p:nvPr>
            <p:ph type="title"/>
          </p:nvPr>
        </p:nvSpPr>
        <p:spPr>
          <a:xfrm>
            <a:off x="609600" y="228600"/>
            <a:ext cx="10972800" cy="914400"/>
          </a:xfrm>
        </p:spPr>
        <p:txBody>
          <a:bodyPr anchor="b">
            <a:normAutofit/>
          </a:bodyPr>
          <a:lstStyle/>
          <a:p>
            <a:r>
              <a:rPr lang="es-MX" dirty="0"/>
              <a:t>Introducción</a:t>
            </a:r>
          </a:p>
        </p:txBody>
      </p:sp>
      <p:sp>
        <p:nvSpPr>
          <p:cNvPr id="3" name="Marcador de contenido 2">
            <a:extLst>
              <a:ext uri="{FF2B5EF4-FFF2-40B4-BE49-F238E27FC236}">
                <a16:creationId xmlns:a16="http://schemas.microsoft.com/office/drawing/2014/main" id="{C7C53483-8A81-5D28-62BA-E4C888B6D37B}"/>
              </a:ext>
            </a:extLst>
          </p:cNvPr>
          <p:cNvSpPr>
            <a:spLocks noGrp="1"/>
          </p:cNvSpPr>
          <p:nvPr>
            <p:ph sz="quarter" idx="1"/>
          </p:nvPr>
        </p:nvSpPr>
        <p:spPr>
          <a:xfrm>
            <a:off x="609600" y="1219200"/>
            <a:ext cx="5388864" cy="4937760"/>
          </a:xfrm>
        </p:spPr>
        <p:txBody>
          <a:bodyPr>
            <a:normAutofit/>
          </a:bodyPr>
          <a:lstStyle/>
          <a:p>
            <a:r>
              <a:rPr lang="es-MX" dirty="0"/>
              <a:t>Dada la cantidad de datos disponibles, es crucial representar esta información de manera que sea comprensible y útil para la toma de decisiones.</a:t>
            </a:r>
            <a:r>
              <a:rPr lang="es-MX" b="1" dirty="0"/>
              <a:t> </a:t>
            </a:r>
          </a:p>
          <a:p>
            <a:r>
              <a:rPr lang="es-MX" dirty="0"/>
              <a:t>El famoso dicho "Una imagen vale más que mil palabras" subraya la capacidad de las visualizaciones para transmitir información compleja de manera rápida y efectiva.</a:t>
            </a:r>
            <a:r>
              <a:rPr lang="es-MX" b="1" dirty="0"/>
              <a:t> </a:t>
            </a:r>
          </a:p>
          <a:p>
            <a:pPr lvl="1"/>
            <a:r>
              <a:rPr lang="es-MX" sz="1950" dirty="0">
                <a:solidFill>
                  <a:schemeClr val="tx1"/>
                </a:solidFill>
              </a:rPr>
              <a:t>Un gráfico bien diseñado puede ayudar a identificar tendencias y patrones que no serían evidentes en una tabla de datos.</a:t>
            </a:r>
          </a:p>
        </p:txBody>
      </p:sp>
      <p:pic>
        <p:nvPicPr>
          <p:cNvPr id="1026" name="Picture 2" descr="Amount of Data Created Daily (2024)">
            <a:extLst>
              <a:ext uri="{FF2B5EF4-FFF2-40B4-BE49-F238E27FC236}">
                <a16:creationId xmlns:a16="http://schemas.microsoft.com/office/drawing/2014/main" id="{33EAF64F-4873-6A64-A504-8607C5CC979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6264" y="1637264"/>
            <a:ext cx="5388864" cy="4095536"/>
          </a:xfrm>
          <a:prstGeom prst="rect">
            <a:avLst/>
          </a:prstGeom>
          <a:solidFill>
            <a:srgbClr val="FFFFFF"/>
          </a:solidFill>
        </p:spPr>
      </p:pic>
    </p:spTree>
    <p:extLst>
      <p:ext uri="{BB962C8B-B14F-4D97-AF65-F5344CB8AC3E}">
        <p14:creationId xmlns:p14="http://schemas.microsoft.com/office/powerpoint/2010/main" val="115561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DE9EC9-A692-E0C3-B927-C15646D67E30}"/>
              </a:ext>
            </a:extLst>
          </p:cNvPr>
          <p:cNvSpPr>
            <a:spLocks noGrp="1"/>
          </p:cNvSpPr>
          <p:nvPr>
            <p:ph type="title"/>
          </p:nvPr>
        </p:nvSpPr>
        <p:spPr>
          <a:xfrm>
            <a:off x="609600" y="152400"/>
            <a:ext cx="10972800" cy="990600"/>
          </a:xfrm>
        </p:spPr>
        <p:txBody>
          <a:bodyPr anchor="b">
            <a:normAutofit/>
          </a:bodyPr>
          <a:lstStyle/>
          <a:p>
            <a:r>
              <a:rPr lang="es-MX" dirty="0"/>
              <a:t>Cambios en la Estructura y Visualización de la Información</a:t>
            </a:r>
          </a:p>
        </p:txBody>
      </p:sp>
      <p:graphicFrame>
        <p:nvGraphicFramePr>
          <p:cNvPr id="5" name="Marcador de contenido 2">
            <a:extLst>
              <a:ext uri="{FF2B5EF4-FFF2-40B4-BE49-F238E27FC236}">
                <a16:creationId xmlns:a16="http://schemas.microsoft.com/office/drawing/2014/main" id="{0EA08A91-EFD0-3623-0F1F-6CB2EC32C666}"/>
              </a:ext>
            </a:extLst>
          </p:cNvPr>
          <p:cNvGraphicFramePr>
            <a:graphicFrameLocks noGrp="1"/>
          </p:cNvGraphicFramePr>
          <p:nvPr>
            <p:ph sz="quarter" idx="1"/>
            <p:extLst>
              <p:ext uri="{D42A27DB-BD31-4B8C-83A1-F6EECF244321}">
                <p14:modId xmlns:p14="http://schemas.microsoft.com/office/powerpoint/2010/main" val="4177952599"/>
              </p:ext>
            </p:extLst>
          </p:nvPr>
        </p:nvGraphicFramePr>
        <p:xfrm>
          <a:off x="609600" y="1219200"/>
          <a:ext cx="10972800" cy="4937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6210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0710B0-A9B4-BD31-7E80-BCA19FDA5C33}"/>
              </a:ext>
            </a:extLst>
          </p:cNvPr>
          <p:cNvSpPr>
            <a:spLocks noGrp="1"/>
          </p:cNvSpPr>
          <p:nvPr>
            <p:ph type="title"/>
          </p:nvPr>
        </p:nvSpPr>
        <p:spPr>
          <a:xfrm>
            <a:off x="8432800" y="304800"/>
            <a:ext cx="3352800" cy="838200"/>
          </a:xfrm>
        </p:spPr>
        <p:txBody>
          <a:bodyPr anchor="b">
            <a:normAutofit/>
          </a:bodyPr>
          <a:lstStyle/>
          <a:p>
            <a:r>
              <a:rPr lang="es-MX" dirty="0"/>
              <a:t>Visualización de datos</a:t>
            </a:r>
          </a:p>
        </p:txBody>
      </p:sp>
      <p:sp>
        <p:nvSpPr>
          <p:cNvPr id="3" name="Marcador de contenido 2">
            <a:extLst>
              <a:ext uri="{FF2B5EF4-FFF2-40B4-BE49-F238E27FC236}">
                <a16:creationId xmlns:a16="http://schemas.microsoft.com/office/drawing/2014/main" id="{C85581C0-5E09-E753-93B3-07E850373B3D}"/>
              </a:ext>
            </a:extLst>
          </p:cNvPr>
          <p:cNvSpPr>
            <a:spLocks noGrp="1"/>
          </p:cNvSpPr>
          <p:nvPr>
            <p:ph type="body" idx="2"/>
          </p:nvPr>
        </p:nvSpPr>
        <p:spPr>
          <a:xfrm>
            <a:off x="8432800" y="1219203"/>
            <a:ext cx="3352800" cy="4843463"/>
          </a:xfrm>
        </p:spPr>
        <p:txBody>
          <a:bodyPr>
            <a:normAutofit/>
          </a:bodyPr>
          <a:lstStyle/>
          <a:p>
            <a:r>
              <a:rPr lang="es-MX" dirty="0"/>
              <a:t>La visualización de datos es el proceso de adquirir, interpretar y comparar datos para comunicar claramente ideas complejas, facilitando así la identificación y el análisis de patrones significativos</a:t>
            </a:r>
          </a:p>
          <a:p>
            <a:r>
              <a:rPr lang="es-MX" sz="1200" dirty="0"/>
              <a:t>Es esencial para la comunicación estratégica: ayuda a interpretar los datos disponibles; detectar patrones, tendencias y anomalías; tomar decisiones; y analizar los procesos inherentes.</a:t>
            </a:r>
          </a:p>
          <a:p>
            <a:r>
              <a:rPr lang="es-MX" sz="1200" dirty="0"/>
              <a:t>Tiene un impacto poderoso en el mundo empresarial.</a:t>
            </a:r>
          </a:p>
          <a:p>
            <a:endParaRPr lang="es-MX" dirty="0"/>
          </a:p>
        </p:txBody>
      </p:sp>
      <p:pic>
        <p:nvPicPr>
          <p:cNvPr id="5" name="Picture 4" descr="Vista superior de cubos conectados con líneas negras">
            <a:extLst>
              <a:ext uri="{FF2B5EF4-FFF2-40B4-BE49-F238E27FC236}">
                <a16:creationId xmlns:a16="http://schemas.microsoft.com/office/drawing/2014/main" id="{3AC3045E-4E8B-596B-633A-53C574B762C6}"/>
              </a:ext>
            </a:extLst>
          </p:cNvPr>
          <p:cNvPicPr>
            <a:picLocks noChangeAspect="1"/>
          </p:cNvPicPr>
          <p:nvPr/>
        </p:nvPicPr>
        <p:blipFill rotWithShape="1">
          <a:blip r:embed="rId2"/>
          <a:srcRect/>
          <a:stretch/>
        </p:blipFill>
        <p:spPr>
          <a:xfrm>
            <a:off x="406400" y="304800"/>
            <a:ext cx="7620000" cy="5715000"/>
          </a:xfrm>
          <a:prstGeom prst="rect">
            <a:avLst/>
          </a:prstGeom>
          <a:noFill/>
        </p:spPr>
      </p:pic>
    </p:spTree>
    <p:extLst>
      <p:ext uri="{BB962C8B-B14F-4D97-AF65-F5344CB8AC3E}">
        <p14:creationId xmlns:p14="http://schemas.microsoft.com/office/powerpoint/2010/main" val="2788103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0A2375-A0D2-55CD-60C6-63C379C5AF58}"/>
              </a:ext>
            </a:extLst>
          </p:cNvPr>
          <p:cNvSpPr>
            <a:spLocks noGrp="1"/>
          </p:cNvSpPr>
          <p:nvPr>
            <p:ph type="title"/>
          </p:nvPr>
        </p:nvSpPr>
        <p:spPr/>
        <p:txBody>
          <a:bodyPr/>
          <a:lstStyle/>
          <a:p>
            <a:r>
              <a:rPr lang="es-MX" dirty="0"/>
              <a:t>Proceso de visualización de datos</a:t>
            </a:r>
          </a:p>
        </p:txBody>
      </p:sp>
      <p:sp>
        <p:nvSpPr>
          <p:cNvPr id="3" name="Marcador de contenido 2">
            <a:extLst>
              <a:ext uri="{FF2B5EF4-FFF2-40B4-BE49-F238E27FC236}">
                <a16:creationId xmlns:a16="http://schemas.microsoft.com/office/drawing/2014/main" id="{F9F33FB9-CE82-9BA1-23C8-548CE0A6BE51}"/>
              </a:ext>
            </a:extLst>
          </p:cNvPr>
          <p:cNvSpPr>
            <a:spLocks noGrp="1"/>
          </p:cNvSpPr>
          <p:nvPr>
            <p:ph sz="quarter" idx="1"/>
          </p:nvPr>
        </p:nvSpPr>
        <p:spPr/>
        <p:txBody>
          <a:bodyPr/>
          <a:lstStyle/>
          <a:p>
            <a:r>
              <a:rPr lang="es-MX" dirty="0"/>
              <a:t>Varios campos diferentes están involucrados en el proceso de visualización de datos, con el objetivo de simplificar o revelar relaciones existentes, o descubrir algo nuevo dentro de un conjunto de datos.</a:t>
            </a:r>
          </a:p>
          <a:p>
            <a:r>
              <a:rPr lang="es-MX" dirty="0"/>
              <a:t>Proceso de visualización:</a:t>
            </a:r>
          </a:p>
          <a:p>
            <a:pPr lvl="1"/>
            <a:r>
              <a:rPr lang="es-MX" dirty="0"/>
              <a:t>Filtrado y procesamiento: Refinar y limpiar los datos para convertirlos en información a través del análisis, interpretación, contextualización, comparación e investigación.</a:t>
            </a:r>
          </a:p>
          <a:p>
            <a:pPr lvl="1"/>
            <a:r>
              <a:rPr lang="es-MX" dirty="0"/>
              <a:t>Traducción y representación visual: Dar forma a la representación visual definiendo recursos gráficos, lenguaje, contexto y el tono de la representación, todo lo cual se adapta al destinatario.</a:t>
            </a:r>
          </a:p>
          <a:p>
            <a:pPr lvl="1"/>
            <a:r>
              <a:rPr lang="es-MX" dirty="0"/>
              <a:t>Percepción e interpretación: Finalmente, la visualización se vuelve efectiva cuando tiene un impacto perceptivo en la construcción del conocimiento.</a:t>
            </a:r>
          </a:p>
          <a:p>
            <a:endParaRPr lang="es-MX" dirty="0"/>
          </a:p>
        </p:txBody>
      </p:sp>
    </p:spTree>
    <p:extLst>
      <p:ext uri="{BB962C8B-B14F-4D97-AF65-F5344CB8AC3E}">
        <p14:creationId xmlns:p14="http://schemas.microsoft.com/office/powerpoint/2010/main" val="4037316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5672CB-D940-272B-9DC2-F6D6AE279DE4}"/>
              </a:ext>
            </a:extLst>
          </p:cNvPr>
          <p:cNvSpPr>
            <a:spLocks noGrp="1"/>
          </p:cNvSpPr>
          <p:nvPr>
            <p:ph type="title"/>
          </p:nvPr>
        </p:nvSpPr>
        <p:spPr>
          <a:xfrm>
            <a:off x="609600" y="152400"/>
            <a:ext cx="10972800" cy="990600"/>
          </a:xfrm>
        </p:spPr>
        <p:txBody>
          <a:bodyPr/>
          <a:lstStyle/>
          <a:p>
            <a:r>
              <a:rPr lang="es-MX" dirty="0"/>
              <a:t>¿Por qué es tan importante la visualización de datos en los informes y declaraciones?</a:t>
            </a:r>
          </a:p>
        </p:txBody>
      </p:sp>
      <p:sp>
        <p:nvSpPr>
          <p:cNvPr id="3" name="Marcador de contenido 2">
            <a:extLst>
              <a:ext uri="{FF2B5EF4-FFF2-40B4-BE49-F238E27FC236}">
                <a16:creationId xmlns:a16="http://schemas.microsoft.com/office/drawing/2014/main" id="{840A415B-3C2A-6A8F-DB9F-0DE9B247C6C8}"/>
              </a:ext>
            </a:extLst>
          </p:cNvPr>
          <p:cNvSpPr>
            <a:spLocks noGrp="1"/>
          </p:cNvSpPr>
          <p:nvPr>
            <p:ph sz="quarter" idx="1"/>
          </p:nvPr>
        </p:nvSpPr>
        <p:spPr>
          <a:xfrm>
            <a:off x="609600" y="1219200"/>
            <a:ext cx="10972800" cy="4937760"/>
          </a:xfrm>
        </p:spPr>
        <p:txBody>
          <a:bodyPr>
            <a:normAutofit/>
          </a:bodyPr>
          <a:lstStyle/>
          <a:p>
            <a:r>
              <a:rPr lang="es-MX" dirty="0"/>
              <a:t>En la era de la información visual, y el contenido visual juega un papel importante en cada momento de nuestras vidas. </a:t>
            </a:r>
          </a:p>
          <a:p>
            <a:pPr lvl="1"/>
            <a:r>
              <a:rPr lang="es-MX" dirty="0"/>
              <a:t>Un estudio realizado por SH!FT Disruptive Learning demostró que típicamente procesamos imágenes 60,000 veces más rápido que una tabla o un texto, y que nuestros cerebros tienden a recordarlas mejor a largo plazo. </a:t>
            </a:r>
          </a:p>
          <a:p>
            <a:pPr lvl="1"/>
            <a:r>
              <a:rPr lang="es-MX" dirty="0"/>
              <a:t>Esa misma investigación detectó que, después de tres días, los sujetos analizados retenían entre un 10% y un 20% de la información escrita o hablada, en comparación con el 65% de la información visual.</a:t>
            </a:r>
          </a:p>
          <a:p>
            <a:endParaRPr lang="es-MX" dirty="0"/>
          </a:p>
        </p:txBody>
      </p:sp>
    </p:spTree>
    <p:extLst>
      <p:ext uri="{BB962C8B-B14F-4D97-AF65-F5344CB8AC3E}">
        <p14:creationId xmlns:p14="http://schemas.microsoft.com/office/powerpoint/2010/main" val="3019825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5672CB-D940-272B-9DC2-F6D6AE279DE4}"/>
              </a:ext>
            </a:extLst>
          </p:cNvPr>
          <p:cNvSpPr>
            <a:spLocks noGrp="1"/>
          </p:cNvSpPr>
          <p:nvPr>
            <p:ph type="title"/>
          </p:nvPr>
        </p:nvSpPr>
        <p:spPr>
          <a:xfrm>
            <a:off x="609600" y="152400"/>
            <a:ext cx="10972800" cy="990600"/>
          </a:xfrm>
        </p:spPr>
        <p:txBody>
          <a:bodyPr/>
          <a:lstStyle/>
          <a:p>
            <a:r>
              <a:rPr lang="es-MX" dirty="0"/>
              <a:t>¿Por qué es tan importante la visualización de datos en los informes y declaraciones?</a:t>
            </a:r>
          </a:p>
        </p:txBody>
      </p:sp>
      <p:sp>
        <p:nvSpPr>
          <p:cNvPr id="3" name="Marcador de contenido 2">
            <a:extLst>
              <a:ext uri="{FF2B5EF4-FFF2-40B4-BE49-F238E27FC236}">
                <a16:creationId xmlns:a16="http://schemas.microsoft.com/office/drawing/2014/main" id="{840A415B-3C2A-6A8F-DB9F-0DE9B247C6C8}"/>
              </a:ext>
            </a:extLst>
          </p:cNvPr>
          <p:cNvSpPr>
            <a:spLocks noGrp="1"/>
          </p:cNvSpPr>
          <p:nvPr>
            <p:ph sz="quarter" idx="1"/>
          </p:nvPr>
        </p:nvSpPr>
        <p:spPr>
          <a:xfrm>
            <a:off x="609600" y="1219200"/>
            <a:ext cx="10972800" cy="4937760"/>
          </a:xfrm>
        </p:spPr>
        <p:txBody>
          <a:bodyPr>
            <a:normAutofit/>
          </a:bodyPr>
          <a:lstStyle/>
          <a:p>
            <a:r>
              <a:rPr lang="es-MX" dirty="0"/>
              <a:t>La lógica detrás del poder de los elementos visuales:</a:t>
            </a:r>
          </a:p>
          <a:p>
            <a:pPr lvl="1"/>
            <a:r>
              <a:rPr lang="es-MX" dirty="0"/>
              <a:t>La mente humana puede ver una imagen durante solo 13 milisegundos y almacenar la información, siempre que esté asociada con un concepto. Nuestros ojos pueden captar 36,000 mensajes visuales por hora.</a:t>
            </a:r>
          </a:p>
          <a:p>
            <a:pPr lvl="1"/>
            <a:r>
              <a:rPr lang="es-MX" dirty="0"/>
              <a:t>El 40% de las fibras nerviosas están conectadas a la retina.</a:t>
            </a:r>
          </a:p>
          <a:p>
            <a:r>
              <a:rPr lang="es-MX" dirty="0"/>
              <a:t>Todo esto indica que los seres humanos son mejores procesando información visual, la cual se aloja en nuestra memoria a largo plazo.</a:t>
            </a:r>
          </a:p>
          <a:p>
            <a:r>
              <a:rPr lang="es-MX" dirty="0"/>
              <a:t>En consecuencia, para los informes y declaraciones, una representación visual que utiliza imágenes es una forma mucho más efectiva de comunicar información que el texto o una tabla; además, ocupa mucho menos espacio.</a:t>
            </a:r>
          </a:p>
          <a:p>
            <a:r>
              <a:rPr lang="es-MX" dirty="0"/>
              <a:t>Esto significa que los elementos visuales de datos son más atractivos, más simples de asimilar y más fáciles de recordar.</a:t>
            </a:r>
          </a:p>
          <a:p>
            <a:endParaRPr lang="es-MX" dirty="0"/>
          </a:p>
        </p:txBody>
      </p:sp>
    </p:spTree>
    <p:extLst>
      <p:ext uri="{BB962C8B-B14F-4D97-AF65-F5344CB8AC3E}">
        <p14:creationId xmlns:p14="http://schemas.microsoft.com/office/powerpoint/2010/main" val="949919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DD789F-5DFD-B7BF-2038-03D56ED6D590}"/>
              </a:ext>
            </a:extLst>
          </p:cNvPr>
          <p:cNvSpPr>
            <a:spLocks noGrp="1"/>
          </p:cNvSpPr>
          <p:nvPr>
            <p:ph type="title"/>
          </p:nvPr>
        </p:nvSpPr>
        <p:spPr>
          <a:xfrm>
            <a:off x="609600" y="152400"/>
            <a:ext cx="10972800" cy="990600"/>
          </a:xfrm>
        </p:spPr>
        <p:txBody>
          <a:bodyPr anchor="b">
            <a:normAutofit/>
          </a:bodyPr>
          <a:lstStyle/>
          <a:p>
            <a:r>
              <a:rPr lang="es-MX" dirty="0"/>
              <a:t>Un ejemplo</a:t>
            </a:r>
          </a:p>
        </p:txBody>
      </p:sp>
      <p:sp>
        <p:nvSpPr>
          <p:cNvPr id="6" name="Marcador de contenido 5">
            <a:extLst>
              <a:ext uri="{FF2B5EF4-FFF2-40B4-BE49-F238E27FC236}">
                <a16:creationId xmlns:a16="http://schemas.microsoft.com/office/drawing/2014/main" id="{6CE4151D-7EEA-F744-65A8-97C0F0976F51}"/>
              </a:ext>
            </a:extLst>
          </p:cNvPr>
          <p:cNvSpPr>
            <a:spLocks noGrp="1"/>
          </p:cNvSpPr>
          <p:nvPr>
            <p:ph sz="quarter" idx="1"/>
          </p:nvPr>
        </p:nvSpPr>
        <p:spPr/>
        <p:txBody>
          <a:bodyPr/>
          <a:lstStyle/>
          <a:p>
            <a:r>
              <a:rPr lang="es-MX" dirty="0"/>
              <a:t>¿Cómo se comportan las ventas en el primer semestre?</a:t>
            </a:r>
          </a:p>
        </p:txBody>
      </p:sp>
      <p:pic>
        <p:nvPicPr>
          <p:cNvPr id="7" name="Imagen 6">
            <a:extLst>
              <a:ext uri="{FF2B5EF4-FFF2-40B4-BE49-F238E27FC236}">
                <a16:creationId xmlns:a16="http://schemas.microsoft.com/office/drawing/2014/main" id="{A37FC0AD-8348-7267-9080-8715CF30E46D}"/>
              </a:ext>
            </a:extLst>
          </p:cNvPr>
          <p:cNvPicPr>
            <a:picLocks noChangeAspect="1"/>
          </p:cNvPicPr>
          <p:nvPr/>
        </p:nvPicPr>
        <p:blipFill rotWithShape="1">
          <a:blip r:embed="rId2"/>
          <a:srcRect t="4829" b="4959"/>
          <a:stretch/>
        </p:blipFill>
        <p:spPr>
          <a:xfrm>
            <a:off x="2647950" y="2710944"/>
            <a:ext cx="5641047" cy="1436112"/>
          </a:xfrm>
          <a:prstGeom prst="rect">
            <a:avLst/>
          </a:prstGeom>
          <a:noFill/>
        </p:spPr>
      </p:pic>
    </p:spTree>
    <p:extLst>
      <p:ext uri="{BB962C8B-B14F-4D97-AF65-F5344CB8AC3E}">
        <p14:creationId xmlns:p14="http://schemas.microsoft.com/office/powerpoint/2010/main" val="2042804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DD789F-5DFD-B7BF-2038-03D56ED6D590}"/>
              </a:ext>
            </a:extLst>
          </p:cNvPr>
          <p:cNvSpPr>
            <a:spLocks noGrp="1"/>
          </p:cNvSpPr>
          <p:nvPr>
            <p:ph type="title"/>
          </p:nvPr>
        </p:nvSpPr>
        <p:spPr>
          <a:xfrm>
            <a:off x="609600" y="152400"/>
            <a:ext cx="10972800" cy="990600"/>
          </a:xfrm>
        </p:spPr>
        <p:txBody>
          <a:bodyPr anchor="b">
            <a:normAutofit/>
          </a:bodyPr>
          <a:lstStyle/>
          <a:p>
            <a:r>
              <a:rPr lang="es-MX" dirty="0"/>
              <a:t>Un ejemplo</a:t>
            </a:r>
          </a:p>
        </p:txBody>
      </p:sp>
      <p:sp>
        <p:nvSpPr>
          <p:cNvPr id="6" name="Marcador de contenido 5">
            <a:extLst>
              <a:ext uri="{FF2B5EF4-FFF2-40B4-BE49-F238E27FC236}">
                <a16:creationId xmlns:a16="http://schemas.microsoft.com/office/drawing/2014/main" id="{6CE4151D-7EEA-F744-65A8-97C0F0976F51}"/>
              </a:ext>
            </a:extLst>
          </p:cNvPr>
          <p:cNvSpPr>
            <a:spLocks noGrp="1"/>
          </p:cNvSpPr>
          <p:nvPr>
            <p:ph sz="quarter" idx="1"/>
          </p:nvPr>
        </p:nvSpPr>
        <p:spPr/>
        <p:txBody>
          <a:bodyPr/>
          <a:lstStyle/>
          <a:p>
            <a:r>
              <a:rPr lang="es-MX" dirty="0"/>
              <a:t>¿Cómo se comportan las ventas en el primer semestre?</a:t>
            </a:r>
          </a:p>
        </p:txBody>
      </p:sp>
      <p:pic>
        <p:nvPicPr>
          <p:cNvPr id="8" name="Imagen 7">
            <a:extLst>
              <a:ext uri="{FF2B5EF4-FFF2-40B4-BE49-F238E27FC236}">
                <a16:creationId xmlns:a16="http://schemas.microsoft.com/office/drawing/2014/main" id="{90F8BAF5-CD83-D637-5F2A-C754CE1F727F}"/>
              </a:ext>
            </a:extLst>
          </p:cNvPr>
          <p:cNvPicPr>
            <a:picLocks noChangeAspect="1"/>
          </p:cNvPicPr>
          <p:nvPr/>
        </p:nvPicPr>
        <p:blipFill>
          <a:blip r:embed="rId3"/>
          <a:stretch>
            <a:fillRect/>
          </a:stretch>
        </p:blipFill>
        <p:spPr>
          <a:xfrm>
            <a:off x="1924050" y="2137060"/>
            <a:ext cx="7772400" cy="3102040"/>
          </a:xfrm>
          <a:prstGeom prst="rect">
            <a:avLst/>
          </a:prstGeom>
        </p:spPr>
      </p:pic>
    </p:spTree>
    <p:extLst>
      <p:ext uri="{BB962C8B-B14F-4D97-AF65-F5344CB8AC3E}">
        <p14:creationId xmlns:p14="http://schemas.microsoft.com/office/powerpoint/2010/main" val="2698119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C266F5-FFA1-4CEC-A18D-11D1C0D08182}"/>
              </a:ext>
            </a:extLst>
          </p:cNvPr>
          <p:cNvSpPr>
            <a:spLocks noGrp="1"/>
          </p:cNvSpPr>
          <p:nvPr>
            <p:ph type="title"/>
          </p:nvPr>
        </p:nvSpPr>
        <p:spPr>
          <a:xfrm>
            <a:off x="609600" y="152400"/>
            <a:ext cx="10972800" cy="990600"/>
          </a:xfrm>
        </p:spPr>
        <p:txBody>
          <a:bodyPr>
            <a:normAutofit/>
          </a:bodyPr>
          <a:lstStyle/>
          <a:p>
            <a:r>
              <a:rPr lang="es-MX" dirty="0"/>
              <a:t>Flujo para la visualización de datos</a:t>
            </a:r>
          </a:p>
        </p:txBody>
      </p:sp>
      <p:graphicFrame>
        <p:nvGraphicFramePr>
          <p:cNvPr id="4" name="Marcador de contenido 3">
            <a:extLst>
              <a:ext uri="{FF2B5EF4-FFF2-40B4-BE49-F238E27FC236}">
                <a16:creationId xmlns:a16="http://schemas.microsoft.com/office/drawing/2014/main" id="{84727999-E9EE-406B-8E07-C48DB5ED7BF4}"/>
              </a:ext>
            </a:extLst>
          </p:cNvPr>
          <p:cNvGraphicFramePr>
            <a:graphicFrameLocks noGrp="1"/>
          </p:cNvGraphicFramePr>
          <p:nvPr>
            <p:ph sz="quarter" idx="1"/>
            <p:extLst>
              <p:ext uri="{D42A27DB-BD31-4B8C-83A1-F6EECF244321}">
                <p14:modId xmlns:p14="http://schemas.microsoft.com/office/powerpoint/2010/main" val="4188646326"/>
              </p:ext>
            </p:extLst>
          </p:nvPr>
        </p:nvGraphicFramePr>
        <p:xfrm>
          <a:off x="609600" y="1219200"/>
          <a:ext cx="10972800" cy="4937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292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ítulo 13">
            <a:extLst>
              <a:ext uri="{FF2B5EF4-FFF2-40B4-BE49-F238E27FC236}">
                <a16:creationId xmlns:a16="http://schemas.microsoft.com/office/drawing/2014/main" id="{5A271B88-31F6-F842-BE29-1A61328AA190}"/>
              </a:ext>
            </a:extLst>
          </p:cNvPr>
          <p:cNvSpPr>
            <a:spLocks noGrp="1"/>
          </p:cNvSpPr>
          <p:nvPr>
            <p:ph type="title"/>
          </p:nvPr>
        </p:nvSpPr>
        <p:spPr>
          <a:xfrm>
            <a:off x="609600" y="152400"/>
            <a:ext cx="10972800" cy="990600"/>
          </a:xfrm>
        </p:spPr>
        <p:txBody>
          <a:bodyPr anchor="b">
            <a:normAutofit/>
          </a:bodyPr>
          <a:lstStyle/>
          <a:p>
            <a:r>
              <a:rPr lang="es-MX" dirty="0"/>
              <a:t>Adquisición</a:t>
            </a:r>
          </a:p>
        </p:txBody>
      </p:sp>
      <p:pic>
        <p:nvPicPr>
          <p:cNvPr id="4" name="Picture 2">
            <a:extLst>
              <a:ext uri="{FF2B5EF4-FFF2-40B4-BE49-F238E27FC236}">
                <a16:creationId xmlns:a16="http://schemas.microsoft.com/office/drawing/2014/main" id="{349CB0D1-5582-4DF0-B308-0E06C8098FF3}"/>
              </a:ext>
            </a:extLst>
          </p:cNvPr>
          <p:cNvPicPr>
            <a:picLocks noGrp="1" noChangeAspect="1"/>
          </p:cNvPicPr>
          <p:nvPr>
            <p:ph sz="quarter" idx="1"/>
          </p:nvPr>
        </p:nvPicPr>
        <p:blipFill rotWithShape="1">
          <a:blip r:embed="rId2">
            <a:extLst>
              <a:ext uri="{28A0092B-C50C-407E-A947-70E740481C1C}">
                <a14:useLocalDpi xmlns:a14="http://schemas.microsoft.com/office/drawing/2010/main" val="0"/>
              </a:ext>
            </a:extLst>
          </a:blip>
          <a:srcRect t="7302" b="13751"/>
          <a:stretch/>
        </p:blipFill>
        <p:spPr bwMode="auto">
          <a:xfrm>
            <a:off x="609600" y="1219200"/>
            <a:ext cx="10972800" cy="493776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0075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0B47D1B0-9A61-4CEB-43C9-C66FEC21B45A}"/>
              </a:ext>
            </a:extLst>
          </p:cNvPr>
          <p:cNvSpPr>
            <a:spLocks noGrp="1"/>
          </p:cNvSpPr>
          <p:nvPr>
            <p:ph type="title"/>
          </p:nvPr>
        </p:nvSpPr>
        <p:spPr>
          <a:xfrm>
            <a:off x="609600" y="152400"/>
            <a:ext cx="10972800" cy="990600"/>
          </a:xfrm>
        </p:spPr>
        <p:txBody>
          <a:bodyPr anchor="b">
            <a:normAutofit/>
          </a:bodyPr>
          <a:lstStyle/>
          <a:p>
            <a:r>
              <a:rPr lang="es-MX" dirty="0"/>
              <a:t>Estructuración</a:t>
            </a:r>
          </a:p>
        </p:txBody>
      </p:sp>
      <p:pic>
        <p:nvPicPr>
          <p:cNvPr id="4" name="Picture 2">
            <a:extLst>
              <a:ext uri="{FF2B5EF4-FFF2-40B4-BE49-F238E27FC236}">
                <a16:creationId xmlns:a16="http://schemas.microsoft.com/office/drawing/2014/main" id="{4488CADF-B2E8-4C72-A5C1-4736583EF4AF}"/>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bwMode="auto">
          <a:xfrm>
            <a:off x="1325217" y="1219200"/>
            <a:ext cx="9541565" cy="493776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4154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BEC82E22-FEAF-595C-C206-6649ABC6DD5A}"/>
              </a:ext>
            </a:extLst>
          </p:cNvPr>
          <p:cNvSpPr>
            <a:spLocks noGrp="1"/>
          </p:cNvSpPr>
          <p:nvPr>
            <p:ph type="title"/>
          </p:nvPr>
        </p:nvSpPr>
        <p:spPr>
          <a:xfrm>
            <a:off x="609600" y="152400"/>
            <a:ext cx="10972800" cy="990600"/>
          </a:xfrm>
        </p:spPr>
        <p:txBody>
          <a:bodyPr anchor="b">
            <a:normAutofit/>
          </a:bodyPr>
          <a:lstStyle/>
          <a:p>
            <a:r>
              <a:rPr lang="es-MX" dirty="0"/>
              <a:t>Filtrado/Entendimiento</a:t>
            </a:r>
          </a:p>
        </p:txBody>
      </p:sp>
      <p:pic>
        <p:nvPicPr>
          <p:cNvPr id="4" name="Picture 1">
            <a:extLst>
              <a:ext uri="{FF2B5EF4-FFF2-40B4-BE49-F238E27FC236}">
                <a16:creationId xmlns:a16="http://schemas.microsoft.com/office/drawing/2014/main" id="{9F6F583E-4211-4FA9-9D10-643E5E92B511}"/>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bwMode="auto">
          <a:xfrm>
            <a:off x="3595868" y="1219200"/>
            <a:ext cx="5000263" cy="493776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2863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D4C1EB7C-A258-3155-7D1C-2569196B05D2}"/>
              </a:ext>
            </a:extLst>
          </p:cNvPr>
          <p:cNvSpPr>
            <a:spLocks noGrp="1"/>
          </p:cNvSpPr>
          <p:nvPr>
            <p:ph type="title"/>
          </p:nvPr>
        </p:nvSpPr>
        <p:spPr>
          <a:xfrm>
            <a:off x="609600" y="152400"/>
            <a:ext cx="10972800" cy="990600"/>
          </a:xfrm>
        </p:spPr>
        <p:txBody>
          <a:bodyPr anchor="b">
            <a:normAutofit/>
          </a:bodyPr>
          <a:lstStyle/>
          <a:p>
            <a:r>
              <a:rPr lang="es-MX" dirty="0"/>
              <a:t>Representación</a:t>
            </a:r>
          </a:p>
        </p:txBody>
      </p:sp>
      <p:pic>
        <p:nvPicPr>
          <p:cNvPr id="4" name="Picture 1">
            <a:extLst>
              <a:ext uri="{FF2B5EF4-FFF2-40B4-BE49-F238E27FC236}">
                <a16:creationId xmlns:a16="http://schemas.microsoft.com/office/drawing/2014/main" id="{EA294942-F01C-400B-9C9A-B996BDD6DD88}"/>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bwMode="auto">
          <a:xfrm>
            <a:off x="1325217" y="1219200"/>
            <a:ext cx="9541565" cy="493776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7872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EE49D6BD-0AA5-DD24-0EA1-3D26F6C43378}"/>
              </a:ext>
            </a:extLst>
          </p:cNvPr>
          <p:cNvSpPr>
            <a:spLocks noGrp="1"/>
          </p:cNvSpPr>
          <p:nvPr>
            <p:ph type="title"/>
          </p:nvPr>
        </p:nvSpPr>
        <p:spPr>
          <a:xfrm>
            <a:off x="609600" y="152400"/>
            <a:ext cx="10972800" cy="990600"/>
          </a:xfrm>
        </p:spPr>
        <p:txBody>
          <a:bodyPr anchor="b">
            <a:normAutofit/>
          </a:bodyPr>
          <a:lstStyle/>
          <a:p>
            <a:r>
              <a:rPr lang="es-MX" dirty="0"/>
              <a:t>Perfeccionar</a:t>
            </a:r>
          </a:p>
        </p:txBody>
      </p:sp>
      <p:pic>
        <p:nvPicPr>
          <p:cNvPr id="4" name="Picture 1">
            <a:extLst>
              <a:ext uri="{FF2B5EF4-FFF2-40B4-BE49-F238E27FC236}">
                <a16:creationId xmlns:a16="http://schemas.microsoft.com/office/drawing/2014/main" id="{99783EB6-02BA-46BF-BCC3-2698B6C2AAB9}"/>
              </a:ext>
            </a:extLst>
          </p:cNvPr>
          <p:cNvPicPr>
            <a:picLocks noGrp="1" noChangeAspect="1"/>
          </p:cNvPicPr>
          <p:nvPr>
            <p:ph sz="quarter" idx="1"/>
          </p:nvPr>
        </p:nvPicPr>
        <p:blipFill rotWithShape="1">
          <a:blip r:embed="rId2">
            <a:extLst>
              <a:ext uri="{28A0092B-C50C-407E-A947-70E740481C1C}">
                <a14:useLocalDpi xmlns:a14="http://schemas.microsoft.com/office/drawing/2010/main" val="0"/>
              </a:ext>
            </a:extLst>
          </a:blip>
          <a:srcRect t="2534" b="7466"/>
          <a:stretch/>
        </p:blipFill>
        <p:spPr bwMode="auto">
          <a:xfrm>
            <a:off x="609600" y="1219200"/>
            <a:ext cx="10972800" cy="493776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4144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53EA00E8-DB0D-29FD-5478-EDD8C41E29E2}"/>
              </a:ext>
            </a:extLst>
          </p:cNvPr>
          <p:cNvSpPr>
            <a:spLocks noGrp="1"/>
          </p:cNvSpPr>
          <p:nvPr>
            <p:ph type="title"/>
          </p:nvPr>
        </p:nvSpPr>
        <p:spPr>
          <a:xfrm>
            <a:off x="609600" y="228600"/>
            <a:ext cx="10972800" cy="914400"/>
          </a:xfrm>
        </p:spPr>
        <p:txBody>
          <a:bodyPr anchor="b">
            <a:normAutofit/>
          </a:bodyPr>
          <a:lstStyle/>
          <a:p>
            <a:r>
              <a:rPr lang="es-MX" dirty="0"/>
              <a:t>Interacción</a:t>
            </a:r>
          </a:p>
        </p:txBody>
      </p:sp>
      <p:sp>
        <p:nvSpPr>
          <p:cNvPr id="12" name="Marcador de contenido 11">
            <a:extLst>
              <a:ext uri="{FF2B5EF4-FFF2-40B4-BE49-F238E27FC236}">
                <a16:creationId xmlns:a16="http://schemas.microsoft.com/office/drawing/2014/main" id="{62687925-1AF7-F786-4587-FDEEAB4A38A9}"/>
              </a:ext>
            </a:extLst>
          </p:cNvPr>
          <p:cNvSpPr>
            <a:spLocks noGrp="1"/>
          </p:cNvSpPr>
          <p:nvPr>
            <p:ph sz="quarter" idx="1"/>
          </p:nvPr>
        </p:nvSpPr>
        <p:spPr>
          <a:xfrm>
            <a:off x="609600" y="1219200"/>
            <a:ext cx="5388864" cy="4937760"/>
          </a:xfrm>
        </p:spPr>
        <p:txBody>
          <a:bodyPr>
            <a:normAutofit/>
          </a:bodyPr>
          <a:lstStyle/>
          <a:p>
            <a:r>
              <a:rPr lang="en-US" dirty="0"/>
              <a:t>Demo: https://</a:t>
            </a:r>
            <a:r>
              <a:rPr lang="en-US" dirty="0" err="1"/>
              <a:t>benfry.com</a:t>
            </a:r>
            <a:r>
              <a:rPr lang="en-US" dirty="0"/>
              <a:t>/</a:t>
            </a:r>
            <a:r>
              <a:rPr lang="en-US" dirty="0" err="1"/>
              <a:t>zipdecode</a:t>
            </a:r>
            <a:r>
              <a:rPr lang="en-US" dirty="0"/>
              <a:t>/</a:t>
            </a:r>
          </a:p>
          <a:p>
            <a:pPr marL="0" indent="0">
              <a:buNone/>
            </a:pPr>
            <a:endParaRPr lang="es-MX" dirty="0"/>
          </a:p>
        </p:txBody>
      </p:sp>
      <p:pic>
        <p:nvPicPr>
          <p:cNvPr id="4" name="Picture 1">
            <a:extLst>
              <a:ext uri="{FF2B5EF4-FFF2-40B4-BE49-F238E27FC236}">
                <a16:creationId xmlns:a16="http://schemas.microsoft.com/office/drawing/2014/main" id="{1634A485-BED2-4FDF-B9E9-299E327156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176264" y="2337816"/>
            <a:ext cx="5388864" cy="269443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7032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F447EFB1-E897-057B-D706-1EC52F1C2F88}"/>
              </a:ext>
            </a:extLst>
          </p:cNvPr>
          <p:cNvSpPr>
            <a:spLocks noGrp="1"/>
          </p:cNvSpPr>
          <p:nvPr>
            <p:ph type="title"/>
          </p:nvPr>
        </p:nvSpPr>
        <p:spPr>
          <a:xfrm>
            <a:off x="609600" y="152400"/>
            <a:ext cx="10972800" cy="990600"/>
          </a:xfrm>
        </p:spPr>
        <p:txBody>
          <a:bodyPr anchor="b">
            <a:normAutofit/>
          </a:bodyPr>
          <a:lstStyle/>
          <a:p>
            <a:r>
              <a:rPr lang="es-MX" dirty="0"/>
              <a:t>Componentes de la visualización de datos</a:t>
            </a:r>
          </a:p>
        </p:txBody>
      </p:sp>
      <p:graphicFrame>
        <p:nvGraphicFramePr>
          <p:cNvPr id="18" name="Marcador de contenido 2">
            <a:extLst>
              <a:ext uri="{FF2B5EF4-FFF2-40B4-BE49-F238E27FC236}">
                <a16:creationId xmlns:a16="http://schemas.microsoft.com/office/drawing/2014/main" id="{1BDBDBE6-7D4B-40C3-BFFF-3E60EEBE7E02}"/>
              </a:ext>
            </a:extLst>
          </p:cNvPr>
          <p:cNvGraphicFramePr>
            <a:graphicFrameLocks noGrp="1"/>
          </p:cNvGraphicFramePr>
          <p:nvPr>
            <p:ph sz="quarter" idx="1"/>
            <p:extLst>
              <p:ext uri="{D42A27DB-BD31-4B8C-83A1-F6EECF244321}">
                <p14:modId xmlns:p14="http://schemas.microsoft.com/office/powerpoint/2010/main" val="1767053066"/>
              </p:ext>
            </p:extLst>
          </p:nvPr>
        </p:nvGraphicFramePr>
        <p:xfrm>
          <a:off x="609600" y="1219200"/>
          <a:ext cx="10972800" cy="4937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4266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EAB508-6EFE-8247-4790-5846C91E7151}"/>
              </a:ext>
            </a:extLst>
          </p:cNvPr>
          <p:cNvSpPr>
            <a:spLocks noGrp="1"/>
          </p:cNvSpPr>
          <p:nvPr>
            <p:ph type="title"/>
          </p:nvPr>
        </p:nvSpPr>
        <p:spPr>
          <a:xfrm>
            <a:off x="609600" y="228600"/>
            <a:ext cx="10972800" cy="914400"/>
          </a:xfrm>
        </p:spPr>
        <p:txBody>
          <a:bodyPr anchor="b">
            <a:normAutofit/>
          </a:bodyPr>
          <a:lstStyle/>
          <a:p>
            <a:r>
              <a:rPr lang="es-MX" dirty="0"/>
              <a:t>Aspectos clave de la representación de la información</a:t>
            </a:r>
          </a:p>
        </p:txBody>
      </p:sp>
      <p:sp>
        <p:nvSpPr>
          <p:cNvPr id="3" name="Marcador de contenido 2">
            <a:extLst>
              <a:ext uri="{FF2B5EF4-FFF2-40B4-BE49-F238E27FC236}">
                <a16:creationId xmlns:a16="http://schemas.microsoft.com/office/drawing/2014/main" id="{E419B3F6-FB21-23EF-E7B2-061D5869B6D6}"/>
              </a:ext>
            </a:extLst>
          </p:cNvPr>
          <p:cNvSpPr>
            <a:spLocks noGrp="1"/>
          </p:cNvSpPr>
          <p:nvPr>
            <p:ph sz="quarter" idx="1"/>
          </p:nvPr>
        </p:nvSpPr>
        <p:spPr>
          <a:xfrm>
            <a:off x="609600" y="1219200"/>
            <a:ext cx="5388864" cy="4937760"/>
          </a:xfrm>
        </p:spPr>
        <p:txBody>
          <a:bodyPr>
            <a:normAutofit/>
          </a:bodyPr>
          <a:lstStyle/>
          <a:p>
            <a:pPr>
              <a:lnSpc>
                <a:spcPct val="90000"/>
              </a:lnSpc>
            </a:pPr>
            <a:r>
              <a:rPr lang="es-MX" dirty="0"/>
              <a:t>Explicar</a:t>
            </a:r>
          </a:p>
          <a:p>
            <a:pPr lvl="1">
              <a:lnSpc>
                <a:spcPct val="90000"/>
              </a:lnSpc>
            </a:pPr>
            <a:r>
              <a:rPr lang="es-MX" sz="1950" dirty="0">
                <a:solidFill>
                  <a:schemeClr val="tx1"/>
                </a:solidFill>
              </a:rPr>
              <a:t>Los elementos visuales tienen como objetivo guiar al espectador por un camino para describir situaciones, responder preguntas, apoyar decisiones, comunicar información o resolver problemas específicos. </a:t>
            </a:r>
          </a:p>
          <a:p>
            <a:pPr lvl="1">
              <a:lnSpc>
                <a:spcPct val="90000"/>
              </a:lnSpc>
            </a:pPr>
            <a:r>
              <a:rPr lang="es-MX" sz="1950" dirty="0">
                <a:solidFill>
                  <a:schemeClr val="tx1"/>
                </a:solidFill>
              </a:rPr>
              <a:t>Cuando se intenta explicar algo a través de la visualización de datos, se comienza con una pregunta que interactúa con el conjunto de datos de manera que permite a los espectadores tomar una decisión y, posteriormente, responder la pregunta.</a:t>
            </a:r>
          </a:p>
          <a:p>
            <a:pPr lvl="1">
              <a:lnSpc>
                <a:spcPct val="90000"/>
              </a:lnSpc>
            </a:pPr>
            <a:r>
              <a:rPr lang="es-MX" sz="1950" dirty="0">
                <a:solidFill>
                  <a:schemeClr val="tx1"/>
                </a:solidFill>
              </a:rPr>
              <a:t>Ejemplo: </a:t>
            </a:r>
          </a:p>
          <a:p>
            <a:pPr lvl="2">
              <a:lnSpc>
                <a:spcPct val="90000"/>
              </a:lnSpc>
            </a:pPr>
            <a:r>
              <a:rPr lang="es-MX" sz="1950" dirty="0"/>
              <a:t>El gráfico podría explicar claramente el país con la mayor demanda de un cierto producto comparado globalmente, en un mes concreto.</a:t>
            </a:r>
          </a:p>
          <a:p>
            <a:pPr>
              <a:lnSpc>
                <a:spcPct val="90000"/>
              </a:lnSpc>
            </a:pPr>
            <a:endParaRPr lang="es-MX" dirty="0"/>
          </a:p>
        </p:txBody>
      </p:sp>
      <p:pic>
        <p:nvPicPr>
          <p:cNvPr id="6" name="Imagen 5">
            <a:extLst>
              <a:ext uri="{FF2B5EF4-FFF2-40B4-BE49-F238E27FC236}">
                <a16:creationId xmlns:a16="http://schemas.microsoft.com/office/drawing/2014/main" id="{D54CDFC2-BE3C-E6C1-A4B9-8DA84E9C6F8C}"/>
              </a:ext>
            </a:extLst>
          </p:cNvPr>
          <p:cNvPicPr>
            <a:picLocks noChangeAspect="1"/>
          </p:cNvPicPr>
          <p:nvPr/>
        </p:nvPicPr>
        <p:blipFill>
          <a:blip r:embed="rId2"/>
          <a:stretch>
            <a:fillRect/>
          </a:stretch>
        </p:blipFill>
        <p:spPr>
          <a:xfrm>
            <a:off x="6176264" y="2782397"/>
            <a:ext cx="5388864" cy="1805269"/>
          </a:xfrm>
          <a:prstGeom prst="rect">
            <a:avLst/>
          </a:prstGeom>
          <a:noFill/>
        </p:spPr>
      </p:pic>
    </p:spTree>
    <p:extLst>
      <p:ext uri="{BB962C8B-B14F-4D97-AF65-F5344CB8AC3E}">
        <p14:creationId xmlns:p14="http://schemas.microsoft.com/office/powerpoint/2010/main" val="934557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4ACD0-9D93-1EC6-A180-009F4D038B8D}"/>
              </a:ext>
            </a:extLst>
          </p:cNvPr>
          <p:cNvSpPr>
            <a:spLocks noGrp="1"/>
          </p:cNvSpPr>
          <p:nvPr>
            <p:ph type="title"/>
          </p:nvPr>
        </p:nvSpPr>
        <p:spPr>
          <a:xfrm>
            <a:off x="8432800" y="304800"/>
            <a:ext cx="3352800" cy="838200"/>
          </a:xfrm>
        </p:spPr>
        <p:txBody>
          <a:bodyPr anchor="b">
            <a:normAutofit/>
          </a:bodyPr>
          <a:lstStyle/>
          <a:p>
            <a:r>
              <a:rPr lang="es-MX" dirty="0"/>
              <a:t>Aspectos clave de la representación de la información</a:t>
            </a:r>
          </a:p>
        </p:txBody>
      </p:sp>
      <p:sp>
        <p:nvSpPr>
          <p:cNvPr id="3" name="Marcador de contenido 2">
            <a:extLst>
              <a:ext uri="{FF2B5EF4-FFF2-40B4-BE49-F238E27FC236}">
                <a16:creationId xmlns:a16="http://schemas.microsoft.com/office/drawing/2014/main" id="{D5E3A21D-255D-118A-E9C1-433DC18F39DB}"/>
              </a:ext>
            </a:extLst>
          </p:cNvPr>
          <p:cNvSpPr>
            <a:spLocks noGrp="1"/>
          </p:cNvSpPr>
          <p:nvPr>
            <p:ph type="body" idx="2"/>
          </p:nvPr>
        </p:nvSpPr>
        <p:spPr>
          <a:xfrm>
            <a:off x="8432800" y="1219203"/>
            <a:ext cx="3352800" cy="4843463"/>
          </a:xfrm>
        </p:spPr>
        <p:txBody>
          <a:bodyPr>
            <a:normAutofit/>
          </a:bodyPr>
          <a:lstStyle/>
          <a:p>
            <a:r>
              <a:rPr lang="es-MX" dirty="0"/>
              <a:t>Explorar</a:t>
            </a:r>
          </a:p>
          <a:p>
            <a:pPr lvl="1"/>
            <a:r>
              <a:rPr lang="es-MX" sz="1200"/>
              <a:t>Algunos elementos visuales están diseñados para otorgar dimensiones espaciales a un conjunto de datos, o para ofrecer numerosos subconjuntos de datos con el fin de plantear preguntas, encontrar respuestas y descubrir oportunidades. </a:t>
            </a:r>
          </a:p>
          <a:p>
            <a:pPr lvl="1"/>
            <a:r>
              <a:rPr lang="es-MX" sz="1200"/>
              <a:t>Cuando el objetivo de un elemento visual es explorar, los espectadores comienzan familiarizándose con el conjunto de datos, luego identifican un área de interés, hacen preguntas, exploran y encuentran varias soluciones o respuestas.</a:t>
            </a:r>
          </a:p>
          <a:p>
            <a:pPr lvl="1"/>
            <a:r>
              <a:rPr lang="es-MX" sz="1200"/>
              <a:t>Ejemplo: </a:t>
            </a:r>
          </a:p>
          <a:p>
            <a:pPr lvl="2"/>
            <a:r>
              <a:rPr lang="es-MX" sz="1200">
                <a:solidFill>
                  <a:schemeClr val="tx2"/>
                </a:solidFill>
                <a:hlinkClick r:id="rId2"/>
              </a:rPr>
              <a:t>Este gráfico interactivo de The Guardian</a:t>
            </a:r>
            <a:r>
              <a:rPr lang="es-MX" sz="1200">
                <a:solidFill>
                  <a:schemeClr val="tx2"/>
                </a:solidFill>
              </a:rPr>
              <a:t> invita a explorar cómo el estándar lingüístico de los discursos presidenciales de EE.UU. ha disminuido con el tiempo. El visual es interactivo y explicativo, además de indicar la puntuación de legibilidad de los discursos de varios presidentes.</a:t>
            </a:r>
          </a:p>
          <a:p>
            <a:endParaRPr lang="es-MX" dirty="0"/>
          </a:p>
        </p:txBody>
      </p:sp>
      <p:pic>
        <p:nvPicPr>
          <p:cNvPr id="5" name="Picture 4">
            <a:extLst>
              <a:ext uri="{FF2B5EF4-FFF2-40B4-BE49-F238E27FC236}">
                <a16:creationId xmlns:a16="http://schemas.microsoft.com/office/drawing/2014/main" id="{E8F23170-38B3-2618-54C6-C99486D598C5}"/>
              </a:ext>
            </a:extLst>
          </p:cNvPr>
          <p:cNvPicPr>
            <a:picLocks noChangeAspect="1"/>
          </p:cNvPicPr>
          <p:nvPr/>
        </p:nvPicPr>
        <p:blipFill rotWithShape="1">
          <a:blip r:embed="rId3"/>
          <a:srcRect l="7091" r="3241" b="-2"/>
          <a:stretch/>
        </p:blipFill>
        <p:spPr>
          <a:xfrm>
            <a:off x="406400" y="304800"/>
            <a:ext cx="7620000" cy="5715000"/>
          </a:xfrm>
          <a:prstGeom prst="rect">
            <a:avLst/>
          </a:prstGeom>
          <a:noFill/>
        </p:spPr>
      </p:pic>
    </p:spTree>
    <p:extLst>
      <p:ext uri="{BB962C8B-B14F-4D97-AF65-F5344CB8AC3E}">
        <p14:creationId xmlns:p14="http://schemas.microsoft.com/office/powerpoint/2010/main" val="2211562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5498E6-318C-D960-3D5E-417E660D7909}"/>
              </a:ext>
            </a:extLst>
          </p:cNvPr>
          <p:cNvSpPr>
            <a:spLocks noGrp="1"/>
          </p:cNvSpPr>
          <p:nvPr>
            <p:ph type="title"/>
          </p:nvPr>
        </p:nvSpPr>
        <p:spPr>
          <a:xfrm>
            <a:off x="8432800" y="304800"/>
            <a:ext cx="3352800" cy="838200"/>
          </a:xfrm>
        </p:spPr>
        <p:txBody>
          <a:bodyPr anchor="b">
            <a:normAutofit/>
          </a:bodyPr>
          <a:lstStyle/>
          <a:p>
            <a:r>
              <a:rPr lang="es-MX" dirty="0"/>
              <a:t>Aspectos clave de la representación de la información</a:t>
            </a:r>
          </a:p>
        </p:txBody>
      </p:sp>
      <p:sp>
        <p:nvSpPr>
          <p:cNvPr id="3" name="Marcador de contenido 2">
            <a:extLst>
              <a:ext uri="{FF2B5EF4-FFF2-40B4-BE49-F238E27FC236}">
                <a16:creationId xmlns:a16="http://schemas.microsoft.com/office/drawing/2014/main" id="{2A2C7870-1A87-E1B6-5A5A-B9D502F7970C}"/>
              </a:ext>
            </a:extLst>
          </p:cNvPr>
          <p:cNvSpPr>
            <a:spLocks noGrp="1"/>
          </p:cNvSpPr>
          <p:nvPr>
            <p:ph type="body" idx="2"/>
          </p:nvPr>
        </p:nvSpPr>
        <p:spPr>
          <a:xfrm>
            <a:off x="8432800" y="1219203"/>
            <a:ext cx="3352800" cy="4843463"/>
          </a:xfrm>
        </p:spPr>
        <p:txBody>
          <a:bodyPr>
            <a:normAutofit/>
          </a:bodyPr>
          <a:lstStyle/>
          <a:p>
            <a:r>
              <a:rPr lang="es-MX" dirty="0"/>
              <a:t>Analizar</a:t>
            </a:r>
          </a:p>
          <a:p>
            <a:pPr lvl="1"/>
            <a:r>
              <a:rPr lang="es-MX" sz="1200"/>
              <a:t>Otros elementos visuales invitan a los espectadores a inspeccionar, destilar y transformar la información más significativa en un conjunto de datos para que puedan descubrir algo nuevo o predecir situaciones futuras.</a:t>
            </a:r>
          </a:p>
          <a:p>
            <a:pPr lvl="1"/>
            <a:r>
              <a:rPr lang="es-MX" sz="1200"/>
              <a:t>Por ejemplo: </a:t>
            </a:r>
          </a:p>
          <a:p>
            <a:pPr lvl="2"/>
            <a:r>
              <a:rPr lang="es-MX" sz="1200">
                <a:solidFill>
                  <a:schemeClr val="tx2"/>
                </a:solidFill>
                <a:hlinkClick r:id="rId2"/>
              </a:rPr>
              <a:t>Este gráfico interactivo sobre el Aprendizaje Automatizado </a:t>
            </a:r>
            <a:r>
              <a:rPr lang="es-MX" sz="1200">
                <a:solidFill>
                  <a:schemeClr val="tx2"/>
                </a:solidFill>
              </a:rPr>
              <a:t>invita a explorar y descubrir información dentro del visual desplazándose por él. Utilizando el método de aprendizaje automático, el visual explica los patrones detectados en los datos para categorizar características.</a:t>
            </a:r>
          </a:p>
        </p:txBody>
      </p:sp>
      <p:pic>
        <p:nvPicPr>
          <p:cNvPr id="5" name="Picture 4" descr="Lupa resalta un rendimiento económico decreciente">
            <a:extLst>
              <a:ext uri="{FF2B5EF4-FFF2-40B4-BE49-F238E27FC236}">
                <a16:creationId xmlns:a16="http://schemas.microsoft.com/office/drawing/2014/main" id="{928EFD8C-1C13-EDC2-016F-96AE40668ABD}"/>
              </a:ext>
            </a:extLst>
          </p:cNvPr>
          <p:cNvPicPr>
            <a:picLocks noChangeAspect="1"/>
          </p:cNvPicPr>
          <p:nvPr/>
        </p:nvPicPr>
        <p:blipFill rotWithShape="1">
          <a:blip r:embed="rId3"/>
          <a:srcRect r="10998" b="-2"/>
          <a:stretch/>
        </p:blipFill>
        <p:spPr>
          <a:xfrm>
            <a:off x="406400" y="304800"/>
            <a:ext cx="7620000" cy="5715000"/>
          </a:xfrm>
          <a:prstGeom prst="rect">
            <a:avLst/>
          </a:prstGeom>
          <a:noFill/>
        </p:spPr>
      </p:pic>
    </p:spTree>
    <p:extLst>
      <p:ext uri="{BB962C8B-B14F-4D97-AF65-F5344CB8AC3E}">
        <p14:creationId xmlns:p14="http://schemas.microsoft.com/office/powerpoint/2010/main" val="2644544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8627DD-A8E8-02C6-E65A-E970F1E6A918}"/>
              </a:ext>
            </a:extLst>
          </p:cNvPr>
          <p:cNvSpPr>
            <a:spLocks noGrp="1"/>
          </p:cNvSpPr>
          <p:nvPr>
            <p:ph type="title"/>
          </p:nvPr>
        </p:nvSpPr>
        <p:spPr/>
        <p:txBody>
          <a:bodyPr/>
          <a:lstStyle/>
          <a:p>
            <a:r>
              <a:rPr lang="es-MX" dirty="0"/>
              <a:t>Tipos de datos, relaciones y formatos de visualización</a:t>
            </a:r>
          </a:p>
        </p:txBody>
      </p:sp>
      <p:sp>
        <p:nvSpPr>
          <p:cNvPr id="3" name="Marcador de contenido 2">
            <a:extLst>
              <a:ext uri="{FF2B5EF4-FFF2-40B4-BE49-F238E27FC236}">
                <a16:creationId xmlns:a16="http://schemas.microsoft.com/office/drawing/2014/main" id="{AC7C9FEC-1960-1446-7DB3-1D9202B01A59}"/>
              </a:ext>
            </a:extLst>
          </p:cNvPr>
          <p:cNvSpPr>
            <a:spLocks noGrp="1"/>
          </p:cNvSpPr>
          <p:nvPr>
            <p:ph sz="quarter" idx="1"/>
          </p:nvPr>
        </p:nvSpPr>
        <p:spPr/>
        <p:txBody>
          <a:bodyPr/>
          <a:lstStyle/>
          <a:p>
            <a:r>
              <a:rPr lang="es-MX" dirty="0"/>
              <a:t>Existen diversos métodos y enfoques para crear visuales basados en la naturaleza y complejidad de los datos y la información. </a:t>
            </a:r>
          </a:p>
          <a:p>
            <a:r>
              <a:rPr lang="es-MX" dirty="0"/>
              <a:t>Se utilizan diferentes tipos de gráficos en las visualizaciones de datos, incluidas representaciones de estadísticas, mapas y diagramas. </a:t>
            </a:r>
          </a:p>
          <a:p>
            <a:r>
              <a:rPr lang="es-MX" dirty="0"/>
              <a:t>Estas representaciones esquemáticas y visuales del contenido varían en su grado de abstracción. </a:t>
            </a:r>
          </a:p>
          <a:p>
            <a:r>
              <a:rPr lang="es-MX" dirty="0"/>
              <a:t>Para comunicarse eficazmente, es importante comprender diferentes tipos de datos y establecer relaciones visuales mediante el uso adecuado de gráficos. </a:t>
            </a:r>
          </a:p>
        </p:txBody>
      </p:sp>
    </p:spTree>
    <p:extLst>
      <p:ext uri="{BB962C8B-B14F-4D97-AF65-F5344CB8AC3E}">
        <p14:creationId xmlns:p14="http://schemas.microsoft.com/office/powerpoint/2010/main" val="456446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62DD43-0AD7-6610-23E5-67F7F39427B9}"/>
              </a:ext>
            </a:extLst>
          </p:cNvPr>
          <p:cNvSpPr>
            <a:spLocks noGrp="1"/>
          </p:cNvSpPr>
          <p:nvPr>
            <p:ph type="title"/>
          </p:nvPr>
        </p:nvSpPr>
        <p:spPr>
          <a:xfrm>
            <a:off x="609600" y="228600"/>
            <a:ext cx="10972800" cy="914400"/>
          </a:xfrm>
        </p:spPr>
        <p:txBody>
          <a:bodyPr anchor="b">
            <a:normAutofit/>
          </a:bodyPr>
          <a:lstStyle/>
          <a:p>
            <a:r>
              <a:rPr lang="es-MX" dirty="0"/>
              <a:t>Tipos de datos</a:t>
            </a:r>
          </a:p>
        </p:txBody>
      </p:sp>
      <p:sp>
        <p:nvSpPr>
          <p:cNvPr id="3" name="Marcador de contenido 2">
            <a:extLst>
              <a:ext uri="{FF2B5EF4-FFF2-40B4-BE49-F238E27FC236}">
                <a16:creationId xmlns:a16="http://schemas.microsoft.com/office/drawing/2014/main" id="{E45AF02D-E69D-91C0-6F65-28E76BC92549}"/>
              </a:ext>
            </a:extLst>
          </p:cNvPr>
          <p:cNvSpPr>
            <a:spLocks noGrp="1"/>
          </p:cNvSpPr>
          <p:nvPr>
            <p:ph sz="quarter" idx="2"/>
          </p:nvPr>
        </p:nvSpPr>
        <p:spPr>
          <a:xfrm>
            <a:off x="6176264" y="1216152"/>
            <a:ext cx="5388864" cy="4937760"/>
          </a:xfrm>
        </p:spPr>
        <p:txBody>
          <a:bodyPr>
            <a:normAutofit/>
          </a:bodyPr>
          <a:lstStyle/>
          <a:p>
            <a:pPr>
              <a:lnSpc>
                <a:spcPct val="90000"/>
              </a:lnSpc>
            </a:pPr>
            <a:r>
              <a:rPr lang="es-MX"/>
              <a:t>Datos cuantitativos (numéricos) </a:t>
            </a:r>
          </a:p>
          <a:p>
            <a:pPr lvl="1">
              <a:lnSpc>
                <a:spcPct val="90000"/>
              </a:lnSpc>
            </a:pPr>
            <a:r>
              <a:rPr lang="es-MX" sz="1950">
                <a:solidFill>
                  <a:schemeClr val="tx1"/>
                </a:solidFill>
              </a:rPr>
              <a:t>Datos que pueden ser cuantificados y medidos. Este tipo de datos explica una tendencia o los resultados de una investigación a través de valores numéricos.</a:t>
            </a:r>
          </a:p>
          <a:p>
            <a:pPr>
              <a:lnSpc>
                <a:spcPct val="90000"/>
              </a:lnSpc>
            </a:pPr>
            <a:r>
              <a:rPr lang="es-MX"/>
              <a:t> Esta categoría de datos se puede subdividir en:</a:t>
            </a:r>
          </a:p>
          <a:p>
            <a:pPr lvl="1">
              <a:lnSpc>
                <a:spcPct val="90000"/>
              </a:lnSpc>
            </a:pPr>
            <a:r>
              <a:rPr lang="es-MX" sz="1950">
                <a:solidFill>
                  <a:schemeClr val="tx1"/>
                </a:solidFill>
              </a:rPr>
              <a:t>Discretos: </a:t>
            </a:r>
          </a:p>
          <a:p>
            <a:pPr lvl="2">
              <a:lnSpc>
                <a:spcPct val="90000"/>
              </a:lnSpc>
            </a:pPr>
            <a:r>
              <a:rPr lang="es-MX" sz="1950"/>
              <a:t>Datos que consisten en números enteros (0, 1, 2, 3...). Por ejemplo, el número de hijos en una familia.</a:t>
            </a:r>
          </a:p>
          <a:p>
            <a:pPr lvl="1">
              <a:lnSpc>
                <a:spcPct val="90000"/>
              </a:lnSpc>
            </a:pPr>
            <a:r>
              <a:rPr lang="es-MX" sz="1950">
                <a:solidFill>
                  <a:schemeClr val="tx1"/>
                </a:solidFill>
              </a:rPr>
              <a:t>Continuos: </a:t>
            </a:r>
          </a:p>
          <a:p>
            <a:pPr lvl="2">
              <a:lnSpc>
                <a:spcPct val="90000"/>
              </a:lnSpc>
            </a:pPr>
            <a:r>
              <a:rPr lang="es-MX" sz="1950"/>
              <a:t>Datos que pueden tomar cualquier valor dentro de un intervalo. Por ejemplo, la altura de las personas (entre 160 y 170 centímetros) o el peso (entre 90 y 110 kilogramos).</a:t>
            </a:r>
          </a:p>
          <a:p>
            <a:pPr>
              <a:lnSpc>
                <a:spcPct val="90000"/>
              </a:lnSpc>
            </a:pPr>
            <a:endParaRPr lang="es-MX"/>
          </a:p>
        </p:txBody>
      </p:sp>
      <p:graphicFrame>
        <p:nvGraphicFramePr>
          <p:cNvPr id="7" name="Diagrama 6">
            <a:extLst>
              <a:ext uri="{FF2B5EF4-FFF2-40B4-BE49-F238E27FC236}">
                <a16:creationId xmlns:a16="http://schemas.microsoft.com/office/drawing/2014/main" id="{CA44035A-06A5-1ECF-B9FE-45073EA2506F}"/>
              </a:ext>
            </a:extLst>
          </p:cNvPr>
          <p:cNvGraphicFramePr/>
          <p:nvPr>
            <p:extLst>
              <p:ext uri="{D42A27DB-BD31-4B8C-83A1-F6EECF244321}">
                <p14:modId xmlns:p14="http://schemas.microsoft.com/office/powerpoint/2010/main" val="971986971"/>
              </p:ext>
            </p:extLst>
          </p:nvPr>
        </p:nvGraphicFramePr>
        <p:xfrm>
          <a:off x="609600" y="1219200"/>
          <a:ext cx="5388864" cy="4937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3696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01C96E-D853-5A80-E57B-FD2D4F50D115}"/>
              </a:ext>
            </a:extLst>
          </p:cNvPr>
          <p:cNvSpPr>
            <a:spLocks noGrp="1"/>
          </p:cNvSpPr>
          <p:nvPr>
            <p:ph type="title"/>
          </p:nvPr>
        </p:nvSpPr>
        <p:spPr>
          <a:xfrm>
            <a:off x="609600" y="228600"/>
            <a:ext cx="10972800" cy="914400"/>
          </a:xfrm>
        </p:spPr>
        <p:txBody>
          <a:bodyPr anchor="b">
            <a:normAutofit/>
          </a:bodyPr>
          <a:lstStyle/>
          <a:p>
            <a:r>
              <a:rPr lang="es-MX" dirty="0"/>
              <a:t>Tipos de datos</a:t>
            </a:r>
          </a:p>
        </p:txBody>
      </p:sp>
      <p:sp>
        <p:nvSpPr>
          <p:cNvPr id="3" name="Marcador de contenido 2">
            <a:extLst>
              <a:ext uri="{FF2B5EF4-FFF2-40B4-BE49-F238E27FC236}">
                <a16:creationId xmlns:a16="http://schemas.microsoft.com/office/drawing/2014/main" id="{3F28BFA9-0933-413D-0D66-F769CCD4B0CD}"/>
              </a:ext>
            </a:extLst>
          </p:cNvPr>
          <p:cNvSpPr>
            <a:spLocks noGrp="1"/>
          </p:cNvSpPr>
          <p:nvPr>
            <p:ph sz="quarter" idx="2"/>
          </p:nvPr>
        </p:nvSpPr>
        <p:spPr>
          <a:xfrm>
            <a:off x="6176264" y="1216152"/>
            <a:ext cx="5388864" cy="4937760"/>
          </a:xfrm>
        </p:spPr>
        <p:txBody>
          <a:bodyPr>
            <a:normAutofit/>
          </a:bodyPr>
          <a:lstStyle/>
          <a:p>
            <a:r>
              <a:rPr lang="es-MX" dirty="0"/>
              <a:t>Datos cualitativos (categóricos)</a:t>
            </a:r>
          </a:p>
          <a:p>
            <a:pPr lvl="1"/>
            <a:r>
              <a:rPr lang="es-MX" sz="1950">
                <a:solidFill>
                  <a:schemeClr val="tx1"/>
                </a:solidFill>
              </a:rPr>
              <a:t>Este tipo de datos se divide en categorías basadas en características no numéricas. Puede tener o no un orden lógico y mide cualidades, generando respuestas categóricas. </a:t>
            </a:r>
          </a:p>
          <a:p>
            <a:r>
              <a:rPr lang="es-MX"/>
              <a:t>Se </a:t>
            </a:r>
            <a:r>
              <a:rPr lang="es-MX" dirty="0"/>
              <a:t>pueden subdividir en:</a:t>
            </a:r>
          </a:p>
          <a:p>
            <a:pPr lvl="1"/>
            <a:r>
              <a:rPr lang="es-MX" sz="1950">
                <a:solidFill>
                  <a:schemeClr val="tx1"/>
                </a:solidFill>
              </a:rPr>
              <a:t>Ordinal: </a:t>
            </a:r>
          </a:p>
          <a:p>
            <a:pPr lvl="2"/>
            <a:r>
              <a:rPr lang="es-MX" sz="1950"/>
              <a:t>Significa que sigue un orden o secuencia. Puede ser el alfabeto o los meses del año.</a:t>
            </a:r>
          </a:p>
          <a:p>
            <a:pPr lvl="1"/>
            <a:r>
              <a:rPr lang="es-MX" sz="1950">
                <a:solidFill>
                  <a:schemeClr val="tx1"/>
                </a:solidFill>
              </a:rPr>
              <a:t>Categórico: </a:t>
            </a:r>
          </a:p>
          <a:p>
            <a:pPr lvl="2"/>
            <a:r>
              <a:rPr lang="es-MX" sz="1950"/>
              <a:t>Significa que no sigue un orden fijo. Por ejemplo, variedades de productos vendidos.</a:t>
            </a:r>
          </a:p>
          <a:p>
            <a:endParaRPr lang="es-MX" dirty="0"/>
          </a:p>
        </p:txBody>
      </p:sp>
      <p:graphicFrame>
        <p:nvGraphicFramePr>
          <p:cNvPr id="6" name="Diagrama 5">
            <a:extLst>
              <a:ext uri="{FF2B5EF4-FFF2-40B4-BE49-F238E27FC236}">
                <a16:creationId xmlns:a16="http://schemas.microsoft.com/office/drawing/2014/main" id="{EA99E1A6-9E83-3B22-86CF-D56056D34F13}"/>
              </a:ext>
            </a:extLst>
          </p:cNvPr>
          <p:cNvGraphicFramePr/>
          <p:nvPr>
            <p:extLst>
              <p:ext uri="{D42A27DB-BD31-4B8C-83A1-F6EECF244321}">
                <p14:modId xmlns:p14="http://schemas.microsoft.com/office/powerpoint/2010/main" val="3708142197"/>
              </p:ext>
            </p:extLst>
          </p:nvPr>
        </p:nvGraphicFramePr>
        <p:xfrm>
          <a:off x="609600" y="1219200"/>
          <a:ext cx="5388864" cy="4937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4267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6D3DF9-C005-71B1-0C77-1E1EE809B64F}"/>
              </a:ext>
            </a:extLst>
          </p:cNvPr>
          <p:cNvSpPr>
            <a:spLocks noGrp="1"/>
          </p:cNvSpPr>
          <p:nvPr>
            <p:ph type="title"/>
          </p:nvPr>
        </p:nvSpPr>
        <p:spPr>
          <a:xfrm>
            <a:off x="609600" y="228600"/>
            <a:ext cx="10972800" cy="914400"/>
          </a:xfrm>
        </p:spPr>
        <p:txBody>
          <a:bodyPr anchor="b">
            <a:normAutofit/>
          </a:bodyPr>
          <a:lstStyle/>
          <a:p>
            <a:r>
              <a:rPr lang="es-MX" dirty="0"/>
              <a:t>Relación entre los datos</a:t>
            </a:r>
          </a:p>
        </p:txBody>
      </p:sp>
      <p:sp>
        <p:nvSpPr>
          <p:cNvPr id="3" name="Marcador de contenido 2">
            <a:extLst>
              <a:ext uri="{FF2B5EF4-FFF2-40B4-BE49-F238E27FC236}">
                <a16:creationId xmlns:a16="http://schemas.microsoft.com/office/drawing/2014/main" id="{C5C27A85-8787-7603-73A0-95581639975C}"/>
              </a:ext>
            </a:extLst>
          </p:cNvPr>
          <p:cNvSpPr>
            <a:spLocks noGrp="1"/>
          </p:cNvSpPr>
          <p:nvPr>
            <p:ph sz="quarter" idx="1"/>
          </p:nvPr>
        </p:nvSpPr>
        <p:spPr>
          <a:xfrm>
            <a:off x="609600" y="1219200"/>
            <a:ext cx="9582150" cy="4937760"/>
          </a:xfrm>
        </p:spPr>
        <p:txBody>
          <a:bodyPr>
            <a:normAutofit/>
          </a:bodyPr>
          <a:lstStyle/>
          <a:p>
            <a:pPr>
              <a:lnSpc>
                <a:spcPct val="90000"/>
              </a:lnSpc>
            </a:pPr>
            <a:r>
              <a:rPr lang="es-MX" sz="1800" dirty="0"/>
              <a:t>Las relaciones de datos pueden ser simples, como el progreso de una métrica única a lo largo del tiempo (como las visitas a un blog durante 30 días o el número de usuarios en una red social), o pueden ser complejas, comparando precisamente relaciones, revelando estructuras y extrayendo patrones de los datos. </a:t>
            </a:r>
          </a:p>
          <a:p>
            <a:pPr>
              <a:lnSpc>
                <a:spcPct val="90000"/>
              </a:lnSpc>
            </a:pPr>
            <a:r>
              <a:rPr lang="es-MX" sz="1800" dirty="0"/>
              <a:t>Hay siete tipos de relaciones de datos a considerar:</a:t>
            </a:r>
          </a:p>
          <a:p>
            <a:pPr lvl="1">
              <a:lnSpc>
                <a:spcPct val="90000"/>
              </a:lnSpc>
            </a:pPr>
            <a:r>
              <a:rPr lang="es-MX" sz="1800" dirty="0">
                <a:solidFill>
                  <a:schemeClr val="tx1"/>
                </a:solidFill>
              </a:rPr>
              <a:t>Ranking: </a:t>
            </a:r>
          </a:p>
          <a:p>
            <a:pPr lvl="2">
              <a:lnSpc>
                <a:spcPct val="90000"/>
              </a:lnSpc>
            </a:pPr>
            <a:r>
              <a:rPr lang="es-MX" sz="1800" dirty="0"/>
              <a:t>Una visualización que relaciona dos o más valores en función de su magnitud relativa. </a:t>
            </a:r>
          </a:p>
          <a:p>
            <a:pPr lvl="2">
              <a:lnSpc>
                <a:spcPct val="90000"/>
              </a:lnSpc>
            </a:pPr>
            <a:r>
              <a:rPr lang="es-MX" sz="1800" dirty="0"/>
              <a:t>Ejemplo: los productos más vendidos de una empresa.</a:t>
            </a:r>
          </a:p>
          <a:p>
            <a:pPr lvl="1">
              <a:lnSpc>
                <a:spcPct val="90000"/>
              </a:lnSpc>
            </a:pPr>
            <a:r>
              <a:rPr lang="es-MX" sz="1800" dirty="0">
                <a:solidFill>
                  <a:schemeClr val="tx1"/>
                </a:solidFill>
              </a:rPr>
              <a:t>Comparaciones nominales: </a:t>
            </a:r>
          </a:p>
          <a:p>
            <a:pPr lvl="2">
              <a:lnSpc>
                <a:spcPct val="90000"/>
              </a:lnSpc>
            </a:pPr>
            <a:r>
              <a:rPr lang="es-MX" sz="1800" dirty="0"/>
              <a:t>Visualizaciones que comparan valores cuantitativos de diferentes subcategorías. </a:t>
            </a:r>
          </a:p>
          <a:p>
            <a:pPr lvl="2">
              <a:lnSpc>
                <a:spcPct val="90000"/>
              </a:lnSpc>
            </a:pPr>
            <a:r>
              <a:rPr lang="es-MX" sz="1800" dirty="0"/>
              <a:t>Ejemplo: precios de productos en diferentes supermercados.</a:t>
            </a:r>
          </a:p>
        </p:txBody>
      </p:sp>
      <p:pic>
        <p:nvPicPr>
          <p:cNvPr id="4" name="Imagen 3">
            <a:extLst>
              <a:ext uri="{FF2B5EF4-FFF2-40B4-BE49-F238E27FC236}">
                <a16:creationId xmlns:a16="http://schemas.microsoft.com/office/drawing/2014/main" id="{0B897435-195F-652E-0A4D-A426ABEADD20}"/>
              </a:ext>
            </a:extLst>
          </p:cNvPr>
          <p:cNvPicPr>
            <a:picLocks noChangeAspect="1"/>
          </p:cNvPicPr>
          <p:nvPr/>
        </p:nvPicPr>
        <p:blipFill>
          <a:blip r:embed="rId2"/>
          <a:stretch>
            <a:fillRect/>
          </a:stretch>
        </p:blipFill>
        <p:spPr>
          <a:xfrm>
            <a:off x="10375899" y="2365374"/>
            <a:ext cx="1206501" cy="1063626"/>
          </a:xfrm>
          <a:prstGeom prst="rect">
            <a:avLst/>
          </a:prstGeom>
          <a:noFill/>
        </p:spPr>
      </p:pic>
      <p:pic>
        <p:nvPicPr>
          <p:cNvPr id="11" name="Imagen 10">
            <a:extLst>
              <a:ext uri="{FF2B5EF4-FFF2-40B4-BE49-F238E27FC236}">
                <a16:creationId xmlns:a16="http://schemas.microsoft.com/office/drawing/2014/main" id="{667483E2-4945-F678-7FD4-19DD12460ED8}"/>
              </a:ext>
            </a:extLst>
          </p:cNvPr>
          <p:cNvPicPr>
            <a:picLocks noChangeAspect="1"/>
          </p:cNvPicPr>
          <p:nvPr/>
        </p:nvPicPr>
        <p:blipFill>
          <a:blip r:embed="rId3"/>
          <a:stretch>
            <a:fillRect/>
          </a:stretch>
        </p:blipFill>
        <p:spPr>
          <a:xfrm>
            <a:off x="10375899" y="3429000"/>
            <a:ext cx="1206500" cy="1092200"/>
          </a:xfrm>
          <a:prstGeom prst="rect">
            <a:avLst/>
          </a:prstGeom>
        </p:spPr>
      </p:pic>
    </p:spTree>
    <p:extLst>
      <p:ext uri="{BB962C8B-B14F-4D97-AF65-F5344CB8AC3E}">
        <p14:creationId xmlns:p14="http://schemas.microsoft.com/office/powerpoint/2010/main" val="1157526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6D3DF9-C005-71B1-0C77-1E1EE809B64F}"/>
              </a:ext>
            </a:extLst>
          </p:cNvPr>
          <p:cNvSpPr>
            <a:spLocks noGrp="1"/>
          </p:cNvSpPr>
          <p:nvPr>
            <p:ph type="title"/>
          </p:nvPr>
        </p:nvSpPr>
        <p:spPr/>
        <p:txBody>
          <a:bodyPr/>
          <a:lstStyle/>
          <a:p>
            <a:r>
              <a:rPr lang="es-MX" dirty="0"/>
              <a:t>Relación entre los datos</a:t>
            </a:r>
          </a:p>
        </p:txBody>
      </p:sp>
      <p:sp>
        <p:nvSpPr>
          <p:cNvPr id="3" name="Marcador de contenido 2">
            <a:extLst>
              <a:ext uri="{FF2B5EF4-FFF2-40B4-BE49-F238E27FC236}">
                <a16:creationId xmlns:a16="http://schemas.microsoft.com/office/drawing/2014/main" id="{C5C27A85-8787-7603-73A0-95581639975C}"/>
              </a:ext>
            </a:extLst>
          </p:cNvPr>
          <p:cNvSpPr>
            <a:spLocks noGrp="1"/>
          </p:cNvSpPr>
          <p:nvPr>
            <p:ph sz="quarter" idx="1"/>
          </p:nvPr>
        </p:nvSpPr>
        <p:spPr>
          <a:xfrm>
            <a:off x="698500" y="1143000"/>
            <a:ext cx="9074150" cy="4937760"/>
          </a:xfrm>
        </p:spPr>
        <p:txBody>
          <a:bodyPr>
            <a:normAutofit lnSpcReduction="10000"/>
          </a:bodyPr>
          <a:lstStyle/>
          <a:p>
            <a:r>
              <a:rPr lang="es-MX" dirty="0"/>
              <a:t>Hay siete tipos de relaciones de datos a considerar:</a:t>
            </a:r>
          </a:p>
          <a:p>
            <a:pPr lvl="1"/>
            <a:r>
              <a:rPr lang="es-MX" dirty="0"/>
              <a:t>Correlación: </a:t>
            </a:r>
          </a:p>
          <a:p>
            <a:pPr lvl="2"/>
            <a:r>
              <a:rPr lang="es-MX" dirty="0"/>
              <a:t>Datos con dos o más variables que pueden demostrar una correlación positiva o negativa entre sí. </a:t>
            </a:r>
          </a:p>
          <a:p>
            <a:pPr lvl="2"/>
            <a:r>
              <a:rPr lang="es-MX" dirty="0"/>
              <a:t>Ejemplo: salarios según el nivel educativo.</a:t>
            </a:r>
          </a:p>
          <a:p>
            <a:pPr lvl="1"/>
            <a:r>
              <a:rPr lang="es-MX" dirty="0"/>
              <a:t>Series temporales: </a:t>
            </a:r>
          </a:p>
          <a:p>
            <a:pPr lvl="2"/>
            <a:r>
              <a:rPr lang="es-MX" dirty="0"/>
              <a:t>Aquí podemos rastrear los cambios en los valores de una métrica constante a lo largo del tiempo. </a:t>
            </a:r>
          </a:p>
          <a:p>
            <a:pPr lvl="2"/>
            <a:r>
              <a:rPr lang="es-MX" dirty="0"/>
              <a:t>Ejemplo: ventas mensuales de un producto durante dos años.</a:t>
            </a:r>
          </a:p>
          <a:p>
            <a:pPr lvl="1"/>
            <a:r>
              <a:rPr lang="es-MX" dirty="0"/>
              <a:t>Desviación: </a:t>
            </a:r>
          </a:p>
          <a:p>
            <a:pPr lvl="2"/>
            <a:r>
              <a:rPr lang="es-MX" dirty="0"/>
              <a:t>Examina cómo cada punto de datos se relaciona con los demás y, en particular, en qué medida su valor difiere del promedio. </a:t>
            </a:r>
          </a:p>
          <a:p>
            <a:pPr lvl="2"/>
            <a:r>
              <a:rPr lang="es-MX" dirty="0"/>
              <a:t>Ejemplo: la línea de desviación para las entradas a un parque de diversiones vendidas en un día lluvioso versus un día normal.</a:t>
            </a:r>
          </a:p>
          <a:p>
            <a:pPr lvl="1"/>
            <a:r>
              <a:rPr lang="es-MX" dirty="0"/>
              <a:t>Distribución: </a:t>
            </a:r>
          </a:p>
          <a:p>
            <a:pPr lvl="2"/>
            <a:r>
              <a:rPr lang="es-MX" dirty="0"/>
              <a:t>Visualización que muestra la distribución de datos espacialmente, a menudo alrededor de un valor central. </a:t>
            </a:r>
          </a:p>
          <a:p>
            <a:pPr lvl="2"/>
            <a:r>
              <a:rPr lang="es-MX" dirty="0"/>
              <a:t>Ejemplo: las alturas de los jugadores en un equipo de baloncesto.</a:t>
            </a:r>
          </a:p>
          <a:p>
            <a:pPr lvl="1"/>
            <a:r>
              <a:rPr lang="es-MX" dirty="0"/>
              <a:t>Relaciones parciales y totales: </a:t>
            </a:r>
          </a:p>
          <a:p>
            <a:pPr lvl="2"/>
            <a:r>
              <a:rPr lang="es-MX" dirty="0"/>
              <a:t>Muestran un subconjunto de datos en comparación con un total mayor. </a:t>
            </a:r>
          </a:p>
          <a:p>
            <a:pPr lvl="2"/>
            <a:r>
              <a:rPr lang="es-MX" dirty="0"/>
              <a:t>Ejemplo: el porcentaje de clientes que compran productos específicos.</a:t>
            </a:r>
          </a:p>
        </p:txBody>
      </p:sp>
      <p:pic>
        <p:nvPicPr>
          <p:cNvPr id="11" name="Imagen 10">
            <a:extLst>
              <a:ext uri="{FF2B5EF4-FFF2-40B4-BE49-F238E27FC236}">
                <a16:creationId xmlns:a16="http://schemas.microsoft.com/office/drawing/2014/main" id="{0D1FBAD0-1C74-5601-F030-A7CF37D41932}"/>
              </a:ext>
            </a:extLst>
          </p:cNvPr>
          <p:cNvPicPr>
            <a:picLocks noChangeAspect="1"/>
          </p:cNvPicPr>
          <p:nvPr/>
        </p:nvPicPr>
        <p:blipFill>
          <a:blip r:embed="rId2"/>
          <a:stretch>
            <a:fillRect/>
          </a:stretch>
        </p:blipFill>
        <p:spPr>
          <a:xfrm>
            <a:off x="10267950" y="2724150"/>
            <a:ext cx="1060450" cy="220980"/>
          </a:xfrm>
          <a:prstGeom prst="rect">
            <a:avLst/>
          </a:prstGeom>
        </p:spPr>
      </p:pic>
      <p:pic>
        <p:nvPicPr>
          <p:cNvPr id="12" name="Imagen 11">
            <a:extLst>
              <a:ext uri="{FF2B5EF4-FFF2-40B4-BE49-F238E27FC236}">
                <a16:creationId xmlns:a16="http://schemas.microsoft.com/office/drawing/2014/main" id="{E1D88954-F625-DD2D-9CEE-181C3B7F2FFF}"/>
              </a:ext>
            </a:extLst>
          </p:cNvPr>
          <p:cNvPicPr>
            <a:picLocks noChangeAspect="1"/>
          </p:cNvPicPr>
          <p:nvPr/>
        </p:nvPicPr>
        <p:blipFill>
          <a:blip r:embed="rId3"/>
          <a:stretch>
            <a:fillRect/>
          </a:stretch>
        </p:blipFill>
        <p:spPr>
          <a:xfrm>
            <a:off x="10527046" y="1551940"/>
            <a:ext cx="966454" cy="584200"/>
          </a:xfrm>
          <a:prstGeom prst="rect">
            <a:avLst/>
          </a:prstGeom>
        </p:spPr>
      </p:pic>
      <p:pic>
        <p:nvPicPr>
          <p:cNvPr id="13" name="Imagen 12">
            <a:extLst>
              <a:ext uri="{FF2B5EF4-FFF2-40B4-BE49-F238E27FC236}">
                <a16:creationId xmlns:a16="http://schemas.microsoft.com/office/drawing/2014/main" id="{4D3006AE-4BFF-DE1E-7F66-2ACBF932D74A}"/>
              </a:ext>
            </a:extLst>
          </p:cNvPr>
          <p:cNvPicPr>
            <a:picLocks noChangeAspect="1"/>
          </p:cNvPicPr>
          <p:nvPr/>
        </p:nvPicPr>
        <p:blipFill>
          <a:blip r:embed="rId4"/>
          <a:stretch>
            <a:fillRect/>
          </a:stretch>
        </p:blipFill>
        <p:spPr>
          <a:xfrm>
            <a:off x="10388600" y="3493305"/>
            <a:ext cx="1231900" cy="612945"/>
          </a:xfrm>
          <a:prstGeom prst="rect">
            <a:avLst/>
          </a:prstGeom>
        </p:spPr>
      </p:pic>
      <p:pic>
        <p:nvPicPr>
          <p:cNvPr id="14" name="Imagen 13">
            <a:extLst>
              <a:ext uri="{FF2B5EF4-FFF2-40B4-BE49-F238E27FC236}">
                <a16:creationId xmlns:a16="http://schemas.microsoft.com/office/drawing/2014/main" id="{087D8A48-A7AA-CBE6-3963-484AB8258A41}"/>
              </a:ext>
            </a:extLst>
          </p:cNvPr>
          <p:cNvPicPr>
            <a:picLocks noChangeAspect="1"/>
          </p:cNvPicPr>
          <p:nvPr/>
        </p:nvPicPr>
        <p:blipFill>
          <a:blip r:embed="rId5"/>
          <a:stretch>
            <a:fillRect/>
          </a:stretch>
        </p:blipFill>
        <p:spPr>
          <a:xfrm>
            <a:off x="10537450" y="5295435"/>
            <a:ext cx="934197" cy="781050"/>
          </a:xfrm>
          <a:prstGeom prst="rect">
            <a:avLst/>
          </a:prstGeom>
        </p:spPr>
      </p:pic>
      <p:pic>
        <p:nvPicPr>
          <p:cNvPr id="15" name="Imagen 14">
            <a:extLst>
              <a:ext uri="{FF2B5EF4-FFF2-40B4-BE49-F238E27FC236}">
                <a16:creationId xmlns:a16="http://schemas.microsoft.com/office/drawing/2014/main" id="{004110E5-F0F2-D2B4-F152-780D8569BFBE}"/>
              </a:ext>
            </a:extLst>
          </p:cNvPr>
          <p:cNvPicPr>
            <a:picLocks noChangeAspect="1"/>
          </p:cNvPicPr>
          <p:nvPr/>
        </p:nvPicPr>
        <p:blipFill>
          <a:blip r:embed="rId6"/>
          <a:stretch>
            <a:fillRect/>
          </a:stretch>
        </p:blipFill>
        <p:spPr>
          <a:xfrm>
            <a:off x="10171504" y="4392930"/>
            <a:ext cx="1666091" cy="674370"/>
          </a:xfrm>
          <a:prstGeom prst="rect">
            <a:avLst/>
          </a:prstGeom>
        </p:spPr>
      </p:pic>
    </p:spTree>
    <p:extLst>
      <p:ext uri="{BB962C8B-B14F-4D97-AF65-F5344CB8AC3E}">
        <p14:creationId xmlns:p14="http://schemas.microsoft.com/office/powerpoint/2010/main" val="2554466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63410E-E9EA-A52C-8F52-44FFF2267082}"/>
              </a:ext>
            </a:extLst>
          </p:cNvPr>
          <p:cNvSpPr>
            <a:spLocks noGrp="1"/>
          </p:cNvSpPr>
          <p:nvPr>
            <p:ph type="title"/>
          </p:nvPr>
        </p:nvSpPr>
        <p:spPr/>
        <p:txBody>
          <a:bodyPr/>
          <a:lstStyle/>
          <a:p>
            <a:r>
              <a:rPr lang="es-MX" dirty="0"/>
              <a:t>Formato de visualizaciones</a:t>
            </a:r>
          </a:p>
        </p:txBody>
      </p:sp>
      <p:sp>
        <p:nvSpPr>
          <p:cNvPr id="3" name="Marcador de contenido 2">
            <a:extLst>
              <a:ext uri="{FF2B5EF4-FFF2-40B4-BE49-F238E27FC236}">
                <a16:creationId xmlns:a16="http://schemas.microsoft.com/office/drawing/2014/main" id="{A79D6BDD-377F-3BA2-BDA9-A93BCBA44E95}"/>
              </a:ext>
            </a:extLst>
          </p:cNvPr>
          <p:cNvSpPr>
            <a:spLocks noGrp="1"/>
          </p:cNvSpPr>
          <p:nvPr>
            <p:ph sz="quarter" idx="1"/>
          </p:nvPr>
        </p:nvSpPr>
        <p:spPr/>
        <p:txBody>
          <a:bodyPr/>
          <a:lstStyle/>
          <a:p>
            <a:r>
              <a:rPr lang="es-MX" dirty="0"/>
              <a:t>Hay dos tipos de visualizaciones: </a:t>
            </a:r>
          </a:p>
          <a:p>
            <a:pPr lvl="1"/>
            <a:r>
              <a:rPr lang="es-MX" dirty="0"/>
              <a:t>Estáticas</a:t>
            </a:r>
          </a:p>
          <a:p>
            <a:pPr lvl="1"/>
            <a:r>
              <a:rPr lang="es-MX" dirty="0"/>
              <a:t>Interactivas</a:t>
            </a:r>
          </a:p>
          <a:p>
            <a:r>
              <a:rPr lang="es-MX" dirty="0"/>
              <a:t>Su uso depende del nivel de dimensión de búsqueda y análisis. </a:t>
            </a:r>
          </a:p>
          <a:p>
            <a:r>
              <a:rPr lang="es-MX" dirty="0"/>
              <a:t>Las visualizaciones estáticas solo pueden analizar datos en una dimensión, mientras que las interactivas pueden analizarlos en varias.</a:t>
            </a:r>
          </a:p>
        </p:txBody>
      </p:sp>
    </p:spTree>
    <p:extLst>
      <p:ext uri="{BB962C8B-B14F-4D97-AF65-F5344CB8AC3E}">
        <p14:creationId xmlns:p14="http://schemas.microsoft.com/office/powerpoint/2010/main" val="2957711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0D9030-0D67-D335-060F-200AF7418898}"/>
              </a:ext>
            </a:extLst>
          </p:cNvPr>
          <p:cNvSpPr>
            <a:spLocks noGrp="1"/>
          </p:cNvSpPr>
          <p:nvPr>
            <p:ph type="title"/>
          </p:nvPr>
        </p:nvSpPr>
        <p:spPr>
          <a:xfrm>
            <a:off x="609600" y="228600"/>
            <a:ext cx="10972800" cy="914400"/>
          </a:xfrm>
        </p:spPr>
        <p:txBody>
          <a:bodyPr anchor="b">
            <a:normAutofit/>
          </a:bodyPr>
          <a:lstStyle/>
          <a:p>
            <a:r>
              <a:rPr lang="es-MX" dirty="0"/>
              <a:t>Gráficos de barra</a:t>
            </a:r>
          </a:p>
        </p:txBody>
      </p:sp>
      <p:sp>
        <p:nvSpPr>
          <p:cNvPr id="3" name="Marcador de contenido 2">
            <a:extLst>
              <a:ext uri="{FF2B5EF4-FFF2-40B4-BE49-F238E27FC236}">
                <a16:creationId xmlns:a16="http://schemas.microsoft.com/office/drawing/2014/main" id="{70ECD619-C270-183B-A154-5EDADF007D33}"/>
              </a:ext>
            </a:extLst>
          </p:cNvPr>
          <p:cNvSpPr>
            <a:spLocks noGrp="1"/>
          </p:cNvSpPr>
          <p:nvPr>
            <p:ph sz="quarter" idx="1"/>
          </p:nvPr>
        </p:nvSpPr>
        <p:spPr>
          <a:xfrm>
            <a:off x="609600" y="1219200"/>
            <a:ext cx="5388864" cy="4937760"/>
          </a:xfrm>
        </p:spPr>
        <p:txBody>
          <a:bodyPr>
            <a:normAutofit/>
          </a:bodyPr>
          <a:lstStyle/>
          <a:p>
            <a:r>
              <a:rPr lang="es-MX" sz="1800"/>
              <a:t>Los gráficos de barras son una de las formas más populares de visualizar datos porque presentan un conjunto de datos en un formato fácil de entender que permite a los espectadores identificar rápidamente picos y valles con solo un vistazo.</a:t>
            </a:r>
          </a:p>
          <a:p>
            <a:r>
              <a:rPr lang="es-MX" sz="1800"/>
              <a:t>Son muy versátiles y típicamente se utilizan para comparar categorías discretas, analizar cambios a lo largo del tiempo o comparar partes de un todo.</a:t>
            </a:r>
          </a:p>
          <a:p>
            <a:r>
              <a:rPr lang="es-MX" sz="1800"/>
              <a:t>Las tres variaciones del gráfico de barras son:</a:t>
            </a:r>
          </a:p>
          <a:p>
            <a:pPr lvl="1"/>
            <a:r>
              <a:rPr lang="es-MX" sz="1800">
                <a:solidFill>
                  <a:schemeClr val="tx1"/>
                </a:solidFill>
              </a:rPr>
              <a:t>Columna vertical: Utilizado para datos cronológicos y debe estar en formato de izquierda a derecha.</a:t>
            </a:r>
          </a:p>
          <a:p>
            <a:pPr lvl="1"/>
            <a:r>
              <a:rPr lang="es-MX" sz="1800">
                <a:solidFill>
                  <a:schemeClr val="tx1"/>
                </a:solidFill>
              </a:rPr>
              <a:t>Columna horizontal: Utilizado para visualizar categorías.</a:t>
            </a:r>
          </a:p>
          <a:p>
            <a:pPr lvl="1"/>
            <a:r>
              <a:rPr lang="es-MX" sz="1800">
                <a:solidFill>
                  <a:schemeClr val="tx1"/>
                </a:solidFill>
              </a:rPr>
              <a:t>Columna apilada completa: Utilizado para visualizar categorías que en conjunto suman el 100%.</a:t>
            </a:r>
          </a:p>
        </p:txBody>
      </p:sp>
      <p:pic>
        <p:nvPicPr>
          <p:cNvPr id="4" name="Imagen 3">
            <a:extLst>
              <a:ext uri="{FF2B5EF4-FFF2-40B4-BE49-F238E27FC236}">
                <a16:creationId xmlns:a16="http://schemas.microsoft.com/office/drawing/2014/main" id="{FC0D44F4-4F55-17A8-6C19-8F5FA7022995}"/>
              </a:ext>
            </a:extLst>
          </p:cNvPr>
          <p:cNvPicPr>
            <a:picLocks noChangeAspect="1"/>
          </p:cNvPicPr>
          <p:nvPr/>
        </p:nvPicPr>
        <p:blipFill>
          <a:blip r:embed="rId2"/>
          <a:stretch>
            <a:fillRect/>
          </a:stretch>
        </p:blipFill>
        <p:spPr>
          <a:xfrm>
            <a:off x="6176264" y="2661148"/>
            <a:ext cx="5388864" cy="2047768"/>
          </a:xfrm>
          <a:prstGeom prst="rect">
            <a:avLst/>
          </a:prstGeom>
          <a:noFill/>
        </p:spPr>
      </p:pic>
    </p:spTree>
    <p:extLst>
      <p:ext uri="{BB962C8B-B14F-4D97-AF65-F5344CB8AC3E}">
        <p14:creationId xmlns:p14="http://schemas.microsoft.com/office/powerpoint/2010/main" val="1028213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8AB5F-1810-0B23-49F5-99F1E6D6399A}"/>
              </a:ext>
            </a:extLst>
          </p:cNvPr>
          <p:cNvSpPr>
            <a:spLocks noGrp="1"/>
          </p:cNvSpPr>
          <p:nvPr>
            <p:ph type="title"/>
          </p:nvPr>
        </p:nvSpPr>
        <p:spPr>
          <a:xfrm>
            <a:off x="609600" y="228600"/>
            <a:ext cx="10972800" cy="914400"/>
          </a:xfrm>
        </p:spPr>
        <p:txBody>
          <a:bodyPr anchor="b">
            <a:normAutofit/>
          </a:bodyPr>
          <a:lstStyle/>
          <a:p>
            <a:r>
              <a:rPr lang="es-MX" dirty="0"/>
              <a:t>Histogramas</a:t>
            </a:r>
          </a:p>
        </p:txBody>
      </p:sp>
      <p:sp>
        <p:nvSpPr>
          <p:cNvPr id="3" name="Marcador de contenido 2">
            <a:extLst>
              <a:ext uri="{FF2B5EF4-FFF2-40B4-BE49-F238E27FC236}">
                <a16:creationId xmlns:a16="http://schemas.microsoft.com/office/drawing/2014/main" id="{7A3777D0-44BC-FD64-761A-A686AD0FCDB8}"/>
              </a:ext>
            </a:extLst>
          </p:cNvPr>
          <p:cNvSpPr>
            <a:spLocks noGrp="1"/>
          </p:cNvSpPr>
          <p:nvPr>
            <p:ph sz="quarter" idx="1"/>
          </p:nvPr>
        </p:nvSpPr>
        <p:spPr>
          <a:xfrm>
            <a:off x="609600" y="1219200"/>
            <a:ext cx="5388864" cy="4937760"/>
          </a:xfrm>
        </p:spPr>
        <p:txBody>
          <a:bodyPr>
            <a:normAutofit/>
          </a:bodyPr>
          <a:lstStyle/>
          <a:p>
            <a:r>
              <a:rPr lang="es-MX" dirty="0"/>
              <a:t>Los histogramas representan una variable en forma de barras, donde la superficie de cada barra es proporcional a la frecuencia de los valores representados. </a:t>
            </a:r>
          </a:p>
          <a:p>
            <a:r>
              <a:rPr lang="es-MX" dirty="0"/>
              <a:t>Ofrecen una visión general de la distribución de una población o muestra con respecto a una característica dada.</a:t>
            </a:r>
          </a:p>
          <a:p>
            <a:r>
              <a:rPr lang="es-MX" dirty="0"/>
              <a:t>Las dos variaciones del histograma son:</a:t>
            </a:r>
          </a:p>
          <a:p>
            <a:pPr lvl="1"/>
            <a:r>
              <a:rPr lang="es-MX" sz="1950">
                <a:solidFill>
                  <a:schemeClr val="tx1"/>
                </a:solidFill>
              </a:rPr>
              <a:t>Columnas verticales</a:t>
            </a:r>
          </a:p>
          <a:p>
            <a:pPr lvl="1"/>
            <a:r>
              <a:rPr lang="es-MX" sz="1950">
                <a:solidFill>
                  <a:schemeClr val="tx1"/>
                </a:solidFill>
              </a:rPr>
              <a:t>Columnas horizontales</a:t>
            </a:r>
          </a:p>
          <a:p>
            <a:endParaRPr lang="es-MX" dirty="0"/>
          </a:p>
        </p:txBody>
      </p:sp>
      <p:pic>
        <p:nvPicPr>
          <p:cNvPr id="4" name="Imagen 3">
            <a:extLst>
              <a:ext uri="{FF2B5EF4-FFF2-40B4-BE49-F238E27FC236}">
                <a16:creationId xmlns:a16="http://schemas.microsoft.com/office/drawing/2014/main" id="{99EF439E-31AF-A4FF-9995-72DC6156FFDF}"/>
              </a:ext>
            </a:extLst>
          </p:cNvPr>
          <p:cNvPicPr>
            <a:picLocks noChangeAspect="1"/>
          </p:cNvPicPr>
          <p:nvPr/>
        </p:nvPicPr>
        <p:blipFill>
          <a:blip r:embed="rId2"/>
          <a:stretch>
            <a:fillRect/>
          </a:stretch>
        </p:blipFill>
        <p:spPr>
          <a:xfrm>
            <a:off x="6176264" y="2539899"/>
            <a:ext cx="5388864" cy="2290265"/>
          </a:xfrm>
          <a:prstGeom prst="rect">
            <a:avLst/>
          </a:prstGeom>
          <a:noFill/>
        </p:spPr>
      </p:pic>
    </p:spTree>
    <p:extLst>
      <p:ext uri="{BB962C8B-B14F-4D97-AF65-F5344CB8AC3E}">
        <p14:creationId xmlns:p14="http://schemas.microsoft.com/office/powerpoint/2010/main" val="3772983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31FADD-C730-6BFB-2B0E-F94DB32BE29F}"/>
              </a:ext>
            </a:extLst>
          </p:cNvPr>
          <p:cNvSpPr>
            <a:spLocks noGrp="1"/>
          </p:cNvSpPr>
          <p:nvPr>
            <p:ph type="title"/>
          </p:nvPr>
        </p:nvSpPr>
        <p:spPr>
          <a:xfrm>
            <a:off x="609600" y="228600"/>
            <a:ext cx="10972800" cy="914400"/>
          </a:xfrm>
        </p:spPr>
        <p:txBody>
          <a:bodyPr anchor="b">
            <a:normAutofit/>
          </a:bodyPr>
          <a:lstStyle/>
          <a:p>
            <a:r>
              <a:rPr lang="es-MX" dirty="0"/>
              <a:t>Gráficos de pastel</a:t>
            </a:r>
          </a:p>
        </p:txBody>
      </p:sp>
      <p:sp>
        <p:nvSpPr>
          <p:cNvPr id="3" name="Marcador de contenido 2">
            <a:extLst>
              <a:ext uri="{FF2B5EF4-FFF2-40B4-BE49-F238E27FC236}">
                <a16:creationId xmlns:a16="http://schemas.microsoft.com/office/drawing/2014/main" id="{8B751C1F-A3F3-6F49-96E3-4630B8ED595E}"/>
              </a:ext>
            </a:extLst>
          </p:cNvPr>
          <p:cNvSpPr>
            <a:spLocks noGrp="1"/>
          </p:cNvSpPr>
          <p:nvPr>
            <p:ph sz="quarter" idx="1"/>
          </p:nvPr>
        </p:nvSpPr>
        <p:spPr>
          <a:xfrm>
            <a:off x="609600" y="1219200"/>
            <a:ext cx="5388864" cy="4937760"/>
          </a:xfrm>
        </p:spPr>
        <p:txBody>
          <a:bodyPr>
            <a:normAutofit/>
          </a:bodyPr>
          <a:lstStyle/>
          <a:p>
            <a:r>
              <a:rPr lang="es-MX" dirty="0"/>
              <a:t>Los gráficos circulares consisten en un círculo dividido en sectores, donde cada uno representa una parte del total. </a:t>
            </a:r>
          </a:p>
          <a:p>
            <a:r>
              <a:rPr lang="es-MX" dirty="0"/>
              <a:t>Pueden subdividirse en no más de cinco grupos de datos. </a:t>
            </a:r>
          </a:p>
          <a:p>
            <a:r>
              <a:rPr lang="es-MX" dirty="0"/>
              <a:t>Pueden ser útiles para comparar datos discretos o continuos. </a:t>
            </a:r>
          </a:p>
          <a:p>
            <a:r>
              <a:rPr lang="es-MX" dirty="0"/>
              <a:t>Las dos variaciones del gráfico circular son:</a:t>
            </a:r>
          </a:p>
          <a:p>
            <a:pPr lvl="1"/>
            <a:r>
              <a:rPr lang="es-MX" sz="1950">
                <a:solidFill>
                  <a:schemeClr val="tx1"/>
                </a:solidFill>
              </a:rPr>
              <a:t>Estándar: Utilizado para mostrar la relación entre las partes.</a:t>
            </a:r>
          </a:p>
          <a:p>
            <a:pPr lvl="1"/>
            <a:r>
              <a:rPr lang="es-MX" sz="1950">
                <a:solidFill>
                  <a:schemeClr val="tx1"/>
                </a:solidFill>
              </a:rPr>
              <a:t>Donut (rosquilla): Una variación estilística que facilita la inclusión de un valor total o un elemento de diseño en el centro.</a:t>
            </a:r>
          </a:p>
          <a:p>
            <a:endParaRPr lang="es-MX" dirty="0"/>
          </a:p>
        </p:txBody>
      </p:sp>
      <p:pic>
        <p:nvPicPr>
          <p:cNvPr id="4" name="Imagen 3">
            <a:extLst>
              <a:ext uri="{FF2B5EF4-FFF2-40B4-BE49-F238E27FC236}">
                <a16:creationId xmlns:a16="http://schemas.microsoft.com/office/drawing/2014/main" id="{0799E08B-72F7-25DA-49A8-23EAFC888576}"/>
              </a:ext>
            </a:extLst>
          </p:cNvPr>
          <p:cNvPicPr>
            <a:picLocks noChangeAspect="1"/>
          </p:cNvPicPr>
          <p:nvPr/>
        </p:nvPicPr>
        <p:blipFill>
          <a:blip r:embed="rId2"/>
          <a:stretch>
            <a:fillRect/>
          </a:stretch>
        </p:blipFill>
        <p:spPr>
          <a:xfrm>
            <a:off x="6176264" y="2384969"/>
            <a:ext cx="5388864" cy="2600126"/>
          </a:xfrm>
          <a:prstGeom prst="rect">
            <a:avLst/>
          </a:prstGeom>
          <a:noFill/>
        </p:spPr>
      </p:pic>
    </p:spTree>
    <p:extLst>
      <p:ext uri="{BB962C8B-B14F-4D97-AF65-F5344CB8AC3E}">
        <p14:creationId xmlns:p14="http://schemas.microsoft.com/office/powerpoint/2010/main" val="3624566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692DAD-5457-EEFB-9212-49F6E63844DD}"/>
              </a:ext>
            </a:extLst>
          </p:cNvPr>
          <p:cNvSpPr>
            <a:spLocks noGrp="1"/>
          </p:cNvSpPr>
          <p:nvPr>
            <p:ph type="title"/>
          </p:nvPr>
        </p:nvSpPr>
        <p:spPr>
          <a:xfrm>
            <a:off x="609600" y="228600"/>
            <a:ext cx="10972800" cy="914400"/>
          </a:xfrm>
        </p:spPr>
        <p:txBody>
          <a:bodyPr anchor="b">
            <a:normAutofit/>
          </a:bodyPr>
          <a:lstStyle/>
          <a:p>
            <a:r>
              <a:rPr lang="es-MX" dirty="0"/>
              <a:t>Diagramas de dispersión</a:t>
            </a:r>
          </a:p>
        </p:txBody>
      </p:sp>
      <p:sp>
        <p:nvSpPr>
          <p:cNvPr id="3" name="Marcador de contenido 2">
            <a:extLst>
              <a:ext uri="{FF2B5EF4-FFF2-40B4-BE49-F238E27FC236}">
                <a16:creationId xmlns:a16="http://schemas.microsoft.com/office/drawing/2014/main" id="{9C7EB68B-AB2C-0391-48E5-3984E0168017}"/>
              </a:ext>
            </a:extLst>
          </p:cNvPr>
          <p:cNvSpPr>
            <a:spLocks noGrp="1"/>
          </p:cNvSpPr>
          <p:nvPr>
            <p:ph sz="quarter" idx="1"/>
          </p:nvPr>
        </p:nvSpPr>
        <p:spPr>
          <a:xfrm>
            <a:off x="609600" y="1219200"/>
            <a:ext cx="5388864" cy="4937760"/>
          </a:xfrm>
        </p:spPr>
        <p:txBody>
          <a:bodyPr>
            <a:normAutofit/>
          </a:bodyPr>
          <a:lstStyle/>
          <a:p>
            <a:r>
              <a:rPr lang="es-MX" dirty="0"/>
              <a:t>Los diagramas de dispersión utilizan la dispersión de puntos en un plano de coordenadas cartesianas para mostrar la relación entre dos variables. </a:t>
            </a:r>
          </a:p>
          <a:p>
            <a:r>
              <a:rPr lang="es-MX" dirty="0"/>
              <a:t>También nos ayudan a determinar si diferentes grupos de datos están correlacionados o no.</a:t>
            </a:r>
          </a:p>
        </p:txBody>
      </p:sp>
      <p:pic>
        <p:nvPicPr>
          <p:cNvPr id="4" name="Imagen 3">
            <a:extLst>
              <a:ext uri="{FF2B5EF4-FFF2-40B4-BE49-F238E27FC236}">
                <a16:creationId xmlns:a16="http://schemas.microsoft.com/office/drawing/2014/main" id="{56EB55C3-1063-82C1-3416-CCEE0170AC16}"/>
              </a:ext>
            </a:extLst>
          </p:cNvPr>
          <p:cNvPicPr>
            <a:picLocks noChangeAspect="1"/>
          </p:cNvPicPr>
          <p:nvPr/>
        </p:nvPicPr>
        <p:blipFill>
          <a:blip r:embed="rId2"/>
          <a:stretch>
            <a:fillRect/>
          </a:stretch>
        </p:blipFill>
        <p:spPr>
          <a:xfrm>
            <a:off x="6176264" y="2620731"/>
            <a:ext cx="5388864" cy="2128601"/>
          </a:xfrm>
          <a:prstGeom prst="rect">
            <a:avLst/>
          </a:prstGeom>
          <a:noFill/>
        </p:spPr>
      </p:pic>
    </p:spTree>
    <p:extLst>
      <p:ext uri="{BB962C8B-B14F-4D97-AF65-F5344CB8AC3E}">
        <p14:creationId xmlns:p14="http://schemas.microsoft.com/office/powerpoint/2010/main" val="2253733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9042A6-B957-B32B-92AE-79477EFA8565}"/>
              </a:ext>
            </a:extLst>
          </p:cNvPr>
          <p:cNvSpPr>
            <a:spLocks noGrp="1"/>
          </p:cNvSpPr>
          <p:nvPr>
            <p:ph type="title"/>
          </p:nvPr>
        </p:nvSpPr>
        <p:spPr>
          <a:xfrm>
            <a:off x="609600" y="228600"/>
            <a:ext cx="10972800" cy="914400"/>
          </a:xfrm>
        </p:spPr>
        <p:txBody>
          <a:bodyPr anchor="b">
            <a:normAutofit/>
          </a:bodyPr>
          <a:lstStyle/>
          <a:p>
            <a:r>
              <a:rPr lang="es-MX" dirty="0"/>
              <a:t>Mapas de calor</a:t>
            </a:r>
          </a:p>
        </p:txBody>
      </p:sp>
      <p:sp>
        <p:nvSpPr>
          <p:cNvPr id="3" name="Marcador de contenido 2">
            <a:extLst>
              <a:ext uri="{FF2B5EF4-FFF2-40B4-BE49-F238E27FC236}">
                <a16:creationId xmlns:a16="http://schemas.microsoft.com/office/drawing/2014/main" id="{F324544F-AC35-9E9D-0ADF-32AE18A7C38D}"/>
              </a:ext>
            </a:extLst>
          </p:cNvPr>
          <p:cNvSpPr>
            <a:spLocks noGrp="1"/>
          </p:cNvSpPr>
          <p:nvPr>
            <p:ph sz="quarter" idx="1"/>
          </p:nvPr>
        </p:nvSpPr>
        <p:spPr>
          <a:xfrm>
            <a:off x="609600" y="1219200"/>
            <a:ext cx="5388864" cy="4937760"/>
          </a:xfrm>
        </p:spPr>
        <p:txBody>
          <a:bodyPr>
            <a:normAutofit/>
          </a:bodyPr>
          <a:lstStyle/>
          <a:p>
            <a:r>
              <a:rPr lang="es-MX" dirty="0"/>
              <a:t>Los mapas de calor representan valores individuales de un conjunto de datos en una matriz utilizando variaciones en el color o intensidad del color. </a:t>
            </a:r>
          </a:p>
          <a:p>
            <a:r>
              <a:rPr lang="es-MX" dirty="0"/>
              <a:t>A menudo usan el color para ayudar a los espectadores a comparar y distinguir entre datos en dos categorías diferentes de un vistazo. Son útiles para visualizar páginas web, donde las áreas con mayor interacción de los usuarios se representan con colores "calientes", y las páginas que reciben menos clics se presentan en colores "fríos". </a:t>
            </a:r>
          </a:p>
          <a:p>
            <a:r>
              <a:rPr lang="es-MX" dirty="0"/>
              <a:t>Las dos variaciones del mapa de calor son:</a:t>
            </a:r>
          </a:p>
          <a:p>
            <a:pPr lvl="1"/>
            <a:r>
              <a:rPr lang="es-MX" sz="1950">
                <a:solidFill>
                  <a:schemeClr val="tx1"/>
                </a:solidFill>
              </a:rPr>
              <a:t>Diagrama de mosaico</a:t>
            </a:r>
          </a:p>
          <a:p>
            <a:pPr lvl="1"/>
            <a:r>
              <a:rPr lang="es-MX" sz="1950">
                <a:solidFill>
                  <a:schemeClr val="tx1"/>
                </a:solidFill>
              </a:rPr>
              <a:t>Mapa de colores</a:t>
            </a:r>
          </a:p>
          <a:p>
            <a:endParaRPr lang="es-MX" dirty="0"/>
          </a:p>
        </p:txBody>
      </p:sp>
      <p:pic>
        <p:nvPicPr>
          <p:cNvPr id="4" name="Imagen 3">
            <a:extLst>
              <a:ext uri="{FF2B5EF4-FFF2-40B4-BE49-F238E27FC236}">
                <a16:creationId xmlns:a16="http://schemas.microsoft.com/office/drawing/2014/main" id="{7788D53F-6300-BE2A-12E6-232D5BC6E55A}"/>
              </a:ext>
            </a:extLst>
          </p:cNvPr>
          <p:cNvPicPr>
            <a:picLocks noChangeAspect="1"/>
          </p:cNvPicPr>
          <p:nvPr/>
        </p:nvPicPr>
        <p:blipFill>
          <a:blip r:embed="rId2"/>
          <a:stretch>
            <a:fillRect/>
          </a:stretch>
        </p:blipFill>
        <p:spPr>
          <a:xfrm>
            <a:off x="6176264" y="2560106"/>
            <a:ext cx="5388864" cy="2249851"/>
          </a:xfrm>
          <a:prstGeom prst="rect">
            <a:avLst/>
          </a:prstGeom>
          <a:noFill/>
        </p:spPr>
      </p:pic>
    </p:spTree>
    <p:extLst>
      <p:ext uri="{BB962C8B-B14F-4D97-AF65-F5344CB8AC3E}">
        <p14:creationId xmlns:p14="http://schemas.microsoft.com/office/powerpoint/2010/main" val="1498674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7EFE42-1EFD-5EC0-D02A-CF4E8A9FC595}"/>
              </a:ext>
            </a:extLst>
          </p:cNvPr>
          <p:cNvSpPr>
            <a:spLocks noGrp="1"/>
          </p:cNvSpPr>
          <p:nvPr>
            <p:ph type="title"/>
          </p:nvPr>
        </p:nvSpPr>
        <p:spPr>
          <a:xfrm>
            <a:off x="609600" y="228600"/>
            <a:ext cx="10972800" cy="914400"/>
          </a:xfrm>
        </p:spPr>
        <p:txBody>
          <a:bodyPr anchor="b">
            <a:normAutofit/>
          </a:bodyPr>
          <a:lstStyle/>
          <a:p>
            <a:r>
              <a:rPr lang="es-MX" dirty="0"/>
              <a:t>Gráficos de líneas</a:t>
            </a:r>
          </a:p>
        </p:txBody>
      </p:sp>
      <p:sp>
        <p:nvSpPr>
          <p:cNvPr id="3" name="Marcador de contenido 2">
            <a:extLst>
              <a:ext uri="{FF2B5EF4-FFF2-40B4-BE49-F238E27FC236}">
                <a16:creationId xmlns:a16="http://schemas.microsoft.com/office/drawing/2014/main" id="{E1F95518-B65A-C740-A35A-63536F343EA1}"/>
              </a:ext>
            </a:extLst>
          </p:cNvPr>
          <p:cNvSpPr>
            <a:spLocks noGrp="1"/>
          </p:cNvSpPr>
          <p:nvPr>
            <p:ph sz="quarter" idx="1"/>
          </p:nvPr>
        </p:nvSpPr>
        <p:spPr>
          <a:xfrm>
            <a:off x="609600" y="1219200"/>
            <a:ext cx="5388864" cy="4937760"/>
          </a:xfrm>
        </p:spPr>
        <p:txBody>
          <a:bodyPr>
            <a:normAutofit/>
          </a:bodyPr>
          <a:lstStyle/>
          <a:p>
            <a:r>
              <a:rPr lang="es-MX" dirty="0"/>
              <a:t>Se utilizan para mostrar cambios o tendencias en los datos a lo largo de un período de tiempo. </a:t>
            </a:r>
          </a:p>
          <a:p>
            <a:r>
              <a:rPr lang="es-MX" dirty="0"/>
              <a:t>Son especialmente útiles para mostrar relaciones, aceleración, desaceleración y volatilidad en un conjunto de datos.</a:t>
            </a:r>
          </a:p>
        </p:txBody>
      </p:sp>
      <p:pic>
        <p:nvPicPr>
          <p:cNvPr id="4" name="Imagen 3">
            <a:extLst>
              <a:ext uri="{FF2B5EF4-FFF2-40B4-BE49-F238E27FC236}">
                <a16:creationId xmlns:a16="http://schemas.microsoft.com/office/drawing/2014/main" id="{6200481D-957A-967B-9BFD-C1AC285268CE}"/>
              </a:ext>
            </a:extLst>
          </p:cNvPr>
          <p:cNvPicPr>
            <a:picLocks noChangeAspect="1"/>
          </p:cNvPicPr>
          <p:nvPr/>
        </p:nvPicPr>
        <p:blipFill>
          <a:blip r:embed="rId2"/>
          <a:stretch>
            <a:fillRect/>
          </a:stretch>
        </p:blipFill>
        <p:spPr>
          <a:xfrm>
            <a:off x="6176264" y="1751777"/>
            <a:ext cx="5388864" cy="3866509"/>
          </a:xfrm>
          <a:prstGeom prst="rect">
            <a:avLst/>
          </a:prstGeom>
          <a:noFill/>
        </p:spPr>
      </p:pic>
    </p:spTree>
    <p:extLst>
      <p:ext uri="{BB962C8B-B14F-4D97-AF65-F5344CB8AC3E}">
        <p14:creationId xmlns:p14="http://schemas.microsoft.com/office/powerpoint/2010/main" val="3635924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6E61CB-7A03-A272-A2F5-4D40FD1D5051}"/>
              </a:ext>
            </a:extLst>
          </p:cNvPr>
          <p:cNvSpPr>
            <a:spLocks noGrp="1"/>
          </p:cNvSpPr>
          <p:nvPr>
            <p:ph type="title"/>
          </p:nvPr>
        </p:nvSpPr>
        <p:spPr>
          <a:xfrm>
            <a:off x="609600" y="228600"/>
            <a:ext cx="10972800" cy="914400"/>
          </a:xfrm>
        </p:spPr>
        <p:txBody>
          <a:bodyPr anchor="b">
            <a:normAutofit/>
          </a:bodyPr>
          <a:lstStyle/>
          <a:p>
            <a:r>
              <a:rPr lang="es-MX" dirty="0"/>
              <a:t>Gráficos de burbujas</a:t>
            </a:r>
          </a:p>
        </p:txBody>
      </p:sp>
      <p:sp>
        <p:nvSpPr>
          <p:cNvPr id="3" name="Marcador de contenido 2">
            <a:extLst>
              <a:ext uri="{FF2B5EF4-FFF2-40B4-BE49-F238E27FC236}">
                <a16:creationId xmlns:a16="http://schemas.microsoft.com/office/drawing/2014/main" id="{69FF290C-F9C2-30E7-F05D-8BE4B665D70D}"/>
              </a:ext>
            </a:extLst>
          </p:cNvPr>
          <p:cNvSpPr>
            <a:spLocks noGrp="1"/>
          </p:cNvSpPr>
          <p:nvPr>
            <p:ph sz="quarter" idx="1"/>
          </p:nvPr>
        </p:nvSpPr>
        <p:spPr>
          <a:xfrm>
            <a:off x="609600" y="1219200"/>
            <a:ext cx="5388864" cy="4937760"/>
          </a:xfrm>
        </p:spPr>
        <p:txBody>
          <a:bodyPr>
            <a:normAutofit/>
          </a:bodyPr>
          <a:lstStyle/>
          <a:p>
            <a:r>
              <a:rPr lang="es-MX" dirty="0"/>
              <a:t>Estos gráficos muestran datos tridimensionales y destacan datos en diagramas de dispersión y mapas.</a:t>
            </a:r>
          </a:p>
          <a:p>
            <a:r>
              <a:rPr lang="es-MX" dirty="0"/>
              <a:t>Su propósito es resaltar comparaciones nominales y relaciones de clasificación. </a:t>
            </a:r>
          </a:p>
          <a:p>
            <a:r>
              <a:rPr lang="es-MX" dirty="0"/>
              <a:t>El tamaño y el color de las burbujas representan una dimensión que, junto con los datos, es muy útil para resaltar visualmente valores específicos.</a:t>
            </a:r>
          </a:p>
          <a:p>
            <a:r>
              <a:rPr lang="es-MX" dirty="0"/>
              <a:t>Las dos variaciones del gráfico de burbujas son:</a:t>
            </a:r>
          </a:p>
          <a:p>
            <a:pPr lvl="1"/>
            <a:r>
              <a:rPr lang="es-MX" sz="1950">
                <a:solidFill>
                  <a:schemeClr val="tx1"/>
                </a:solidFill>
              </a:rPr>
              <a:t>Gráfico de burbujas: Se utiliza para mostrar una variable en tres dimensiones, utilizando coordenadas de posición (x, y) y tamaño.</a:t>
            </a:r>
          </a:p>
          <a:p>
            <a:pPr lvl="1"/>
            <a:r>
              <a:rPr lang="es-MX" sz="1950">
                <a:solidFill>
                  <a:schemeClr val="tx1"/>
                </a:solidFill>
              </a:rPr>
              <a:t>Mapa de burbujas: Se utiliza para visualizar valores tridimensionales para regiones geográficas.</a:t>
            </a:r>
          </a:p>
        </p:txBody>
      </p:sp>
      <p:pic>
        <p:nvPicPr>
          <p:cNvPr id="5" name="Imagen 4">
            <a:extLst>
              <a:ext uri="{FF2B5EF4-FFF2-40B4-BE49-F238E27FC236}">
                <a16:creationId xmlns:a16="http://schemas.microsoft.com/office/drawing/2014/main" id="{FBED4243-D3DD-83D7-B3EB-68671CACCFA5}"/>
              </a:ext>
            </a:extLst>
          </p:cNvPr>
          <p:cNvPicPr>
            <a:picLocks noChangeAspect="1"/>
          </p:cNvPicPr>
          <p:nvPr/>
        </p:nvPicPr>
        <p:blipFill>
          <a:blip r:embed="rId2"/>
          <a:stretch>
            <a:fillRect/>
          </a:stretch>
        </p:blipFill>
        <p:spPr>
          <a:xfrm>
            <a:off x="8062199" y="3083814"/>
            <a:ext cx="3155775" cy="3070098"/>
          </a:xfrm>
          <a:prstGeom prst="rect">
            <a:avLst/>
          </a:prstGeom>
          <a:noFill/>
        </p:spPr>
      </p:pic>
      <p:pic>
        <p:nvPicPr>
          <p:cNvPr id="6" name="Imagen 5">
            <a:extLst>
              <a:ext uri="{FF2B5EF4-FFF2-40B4-BE49-F238E27FC236}">
                <a16:creationId xmlns:a16="http://schemas.microsoft.com/office/drawing/2014/main" id="{2CC57EFF-5285-F771-C023-927AE5A2A798}"/>
              </a:ext>
            </a:extLst>
          </p:cNvPr>
          <p:cNvPicPr>
            <a:picLocks noChangeAspect="1"/>
          </p:cNvPicPr>
          <p:nvPr/>
        </p:nvPicPr>
        <p:blipFill>
          <a:blip r:embed="rId3"/>
          <a:stretch>
            <a:fillRect/>
          </a:stretch>
        </p:blipFill>
        <p:spPr>
          <a:xfrm>
            <a:off x="8344686" y="1395857"/>
            <a:ext cx="2590800" cy="1435100"/>
          </a:xfrm>
          <a:prstGeom prst="rect">
            <a:avLst/>
          </a:prstGeom>
        </p:spPr>
      </p:pic>
    </p:spTree>
    <p:extLst>
      <p:ext uri="{BB962C8B-B14F-4D97-AF65-F5344CB8AC3E}">
        <p14:creationId xmlns:p14="http://schemas.microsoft.com/office/powerpoint/2010/main" val="12437263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006A7-6C84-C65B-F41A-40A1180EC142}"/>
              </a:ext>
            </a:extLst>
          </p:cNvPr>
          <p:cNvSpPr>
            <a:spLocks noGrp="1"/>
          </p:cNvSpPr>
          <p:nvPr>
            <p:ph type="title"/>
          </p:nvPr>
        </p:nvSpPr>
        <p:spPr>
          <a:xfrm>
            <a:off x="609600" y="228600"/>
            <a:ext cx="10972800" cy="914400"/>
          </a:xfrm>
        </p:spPr>
        <p:txBody>
          <a:bodyPr anchor="b">
            <a:normAutofit/>
          </a:bodyPr>
          <a:lstStyle/>
          <a:p>
            <a:r>
              <a:rPr lang="es-MX" dirty="0"/>
              <a:t>Gráficos radar</a:t>
            </a:r>
          </a:p>
        </p:txBody>
      </p:sp>
      <p:sp>
        <p:nvSpPr>
          <p:cNvPr id="3" name="Marcador de contenido 2">
            <a:extLst>
              <a:ext uri="{FF2B5EF4-FFF2-40B4-BE49-F238E27FC236}">
                <a16:creationId xmlns:a16="http://schemas.microsoft.com/office/drawing/2014/main" id="{71FB5D74-0D2E-1F8E-02F2-840D3EA6EC46}"/>
              </a:ext>
            </a:extLst>
          </p:cNvPr>
          <p:cNvSpPr>
            <a:spLocks noGrp="1"/>
          </p:cNvSpPr>
          <p:nvPr>
            <p:ph sz="quarter" idx="1"/>
          </p:nvPr>
        </p:nvSpPr>
        <p:spPr>
          <a:xfrm>
            <a:off x="609600" y="1219200"/>
            <a:ext cx="5388864" cy="4937760"/>
          </a:xfrm>
        </p:spPr>
        <p:txBody>
          <a:bodyPr>
            <a:normAutofit/>
          </a:bodyPr>
          <a:lstStyle/>
          <a:p>
            <a:r>
              <a:rPr lang="es-MX" dirty="0"/>
              <a:t>Estos son una forma de representación construida alrededor de un polígono regular contenido dentro de un círculo, donde los radios que guían los vértices son los ejes sobre los cuales se representan los valores. Son equivalentes a gráficos con coordenadas paralelas en coordenadas polares. </a:t>
            </a:r>
          </a:p>
          <a:p>
            <a:r>
              <a:rPr lang="es-MX" dirty="0"/>
              <a:t>Normalmente se utilizan para representar el comportamiento de una métrica a lo largo de un ciclo de tiempo establecido, como las horas del día, los meses del año o los días de la semana.</a:t>
            </a:r>
          </a:p>
        </p:txBody>
      </p:sp>
      <p:pic>
        <p:nvPicPr>
          <p:cNvPr id="4" name="Imagen 3">
            <a:extLst>
              <a:ext uri="{FF2B5EF4-FFF2-40B4-BE49-F238E27FC236}">
                <a16:creationId xmlns:a16="http://schemas.microsoft.com/office/drawing/2014/main" id="{8603F660-E7A0-1684-F0A7-45A3D6700830}"/>
              </a:ext>
            </a:extLst>
          </p:cNvPr>
          <p:cNvPicPr>
            <a:picLocks noChangeAspect="1"/>
          </p:cNvPicPr>
          <p:nvPr/>
        </p:nvPicPr>
        <p:blipFill>
          <a:blip r:embed="rId2"/>
          <a:stretch>
            <a:fillRect/>
          </a:stretch>
        </p:blipFill>
        <p:spPr>
          <a:xfrm>
            <a:off x="6420333" y="1216152"/>
            <a:ext cx="4900726" cy="4937760"/>
          </a:xfrm>
          <a:prstGeom prst="rect">
            <a:avLst/>
          </a:prstGeom>
          <a:noFill/>
        </p:spPr>
      </p:pic>
    </p:spTree>
    <p:extLst>
      <p:ext uri="{BB962C8B-B14F-4D97-AF65-F5344CB8AC3E}">
        <p14:creationId xmlns:p14="http://schemas.microsoft.com/office/powerpoint/2010/main" val="701234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5B0631-E3AE-C3BC-6D8A-4E9C987A645A}"/>
              </a:ext>
            </a:extLst>
          </p:cNvPr>
          <p:cNvSpPr>
            <a:spLocks noGrp="1"/>
          </p:cNvSpPr>
          <p:nvPr>
            <p:ph type="title"/>
          </p:nvPr>
        </p:nvSpPr>
        <p:spPr>
          <a:xfrm>
            <a:off x="609600" y="228600"/>
            <a:ext cx="10972800" cy="914400"/>
          </a:xfrm>
        </p:spPr>
        <p:txBody>
          <a:bodyPr anchor="b">
            <a:normAutofit/>
          </a:bodyPr>
          <a:lstStyle/>
          <a:p>
            <a:r>
              <a:rPr lang="es-MX" dirty="0"/>
              <a:t>Gráficos de cascada</a:t>
            </a:r>
          </a:p>
        </p:txBody>
      </p:sp>
      <p:sp>
        <p:nvSpPr>
          <p:cNvPr id="3" name="Marcador de contenido 2">
            <a:extLst>
              <a:ext uri="{FF2B5EF4-FFF2-40B4-BE49-F238E27FC236}">
                <a16:creationId xmlns:a16="http://schemas.microsoft.com/office/drawing/2014/main" id="{703DA3F7-F076-DBE4-4D84-525DD1917358}"/>
              </a:ext>
            </a:extLst>
          </p:cNvPr>
          <p:cNvSpPr>
            <a:spLocks noGrp="1"/>
          </p:cNvSpPr>
          <p:nvPr>
            <p:ph sz="quarter" idx="1"/>
          </p:nvPr>
        </p:nvSpPr>
        <p:spPr>
          <a:xfrm>
            <a:off x="609600" y="1219200"/>
            <a:ext cx="5388864" cy="4937760"/>
          </a:xfrm>
        </p:spPr>
        <p:txBody>
          <a:bodyPr>
            <a:normAutofit/>
          </a:bodyPr>
          <a:lstStyle/>
          <a:p>
            <a:r>
              <a:rPr lang="es-MX" dirty="0"/>
              <a:t>Estos nos ayudan a entender el efecto acumulativo de los valores positivos y negativos en variables de manera secuencial.</a:t>
            </a:r>
          </a:p>
        </p:txBody>
      </p:sp>
      <p:pic>
        <p:nvPicPr>
          <p:cNvPr id="4" name="Imagen 3">
            <a:extLst>
              <a:ext uri="{FF2B5EF4-FFF2-40B4-BE49-F238E27FC236}">
                <a16:creationId xmlns:a16="http://schemas.microsoft.com/office/drawing/2014/main" id="{10955CCF-0382-D958-B17E-095C814BEC66}"/>
              </a:ext>
            </a:extLst>
          </p:cNvPr>
          <p:cNvPicPr>
            <a:picLocks noChangeAspect="1"/>
          </p:cNvPicPr>
          <p:nvPr/>
        </p:nvPicPr>
        <p:blipFill>
          <a:blip r:embed="rId2"/>
          <a:stretch>
            <a:fillRect/>
          </a:stretch>
        </p:blipFill>
        <p:spPr>
          <a:xfrm>
            <a:off x="6176264" y="2512954"/>
            <a:ext cx="5388864" cy="2344155"/>
          </a:xfrm>
          <a:prstGeom prst="rect">
            <a:avLst/>
          </a:prstGeom>
          <a:noFill/>
        </p:spPr>
      </p:pic>
    </p:spTree>
    <p:extLst>
      <p:ext uri="{BB962C8B-B14F-4D97-AF65-F5344CB8AC3E}">
        <p14:creationId xmlns:p14="http://schemas.microsoft.com/office/powerpoint/2010/main" val="23712180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6A2CA4-1A60-7FB5-C9F5-0E8EB0C64DC9}"/>
              </a:ext>
            </a:extLst>
          </p:cNvPr>
          <p:cNvSpPr>
            <a:spLocks noGrp="1"/>
          </p:cNvSpPr>
          <p:nvPr>
            <p:ph type="title"/>
          </p:nvPr>
        </p:nvSpPr>
        <p:spPr>
          <a:xfrm>
            <a:off x="609600" y="228600"/>
            <a:ext cx="10972800" cy="914400"/>
          </a:xfrm>
        </p:spPr>
        <p:txBody>
          <a:bodyPr anchor="b">
            <a:normAutofit/>
          </a:bodyPr>
          <a:lstStyle/>
          <a:p>
            <a:r>
              <a:rPr lang="es-MX" dirty="0"/>
              <a:t>Mapas de árbol</a:t>
            </a:r>
          </a:p>
        </p:txBody>
      </p:sp>
      <p:sp>
        <p:nvSpPr>
          <p:cNvPr id="3" name="Marcador de contenido 2">
            <a:extLst>
              <a:ext uri="{FF2B5EF4-FFF2-40B4-BE49-F238E27FC236}">
                <a16:creationId xmlns:a16="http://schemas.microsoft.com/office/drawing/2014/main" id="{6EF309CA-2C28-9BCB-13F3-C163F24C1843}"/>
              </a:ext>
            </a:extLst>
          </p:cNvPr>
          <p:cNvSpPr>
            <a:spLocks noGrp="1"/>
          </p:cNvSpPr>
          <p:nvPr>
            <p:ph sz="quarter" idx="1"/>
          </p:nvPr>
        </p:nvSpPr>
        <p:spPr>
          <a:xfrm>
            <a:off x="609600" y="1219200"/>
            <a:ext cx="5388864" cy="4937760"/>
          </a:xfrm>
        </p:spPr>
        <p:txBody>
          <a:bodyPr>
            <a:normAutofit/>
          </a:bodyPr>
          <a:lstStyle/>
          <a:p>
            <a:r>
              <a:rPr lang="es-MX" dirty="0"/>
              <a:t>Los mapas de árbol muestran datos jerárquicos (en una estructura de árbol) como un conjunto de rectángulos anidados que ocupan áreas proporcionales al valor de la variable que representan. </a:t>
            </a:r>
          </a:p>
          <a:p>
            <a:r>
              <a:rPr lang="es-MX" dirty="0"/>
              <a:t>Cada rama del árbol se representa con un rectángulo, que luego se coloca en un mosaico con rectángulos más pequeños que representan ramas secundarias. </a:t>
            </a:r>
          </a:p>
          <a:p>
            <a:r>
              <a:rPr lang="es-MX" dirty="0"/>
              <a:t>El producto final es una visualización intuitiva y dinámica de un plano dividido en áreas proporcionales a datos jerárquicos, ordenados por tamaño y con una clave de colores.</a:t>
            </a:r>
          </a:p>
        </p:txBody>
      </p:sp>
      <p:pic>
        <p:nvPicPr>
          <p:cNvPr id="4" name="Imagen 3">
            <a:extLst>
              <a:ext uri="{FF2B5EF4-FFF2-40B4-BE49-F238E27FC236}">
                <a16:creationId xmlns:a16="http://schemas.microsoft.com/office/drawing/2014/main" id="{3A46083B-9C86-8220-39FE-46C7A0801A7C}"/>
              </a:ext>
            </a:extLst>
          </p:cNvPr>
          <p:cNvPicPr>
            <a:picLocks noChangeAspect="1"/>
          </p:cNvPicPr>
          <p:nvPr/>
        </p:nvPicPr>
        <p:blipFill>
          <a:blip r:embed="rId2"/>
          <a:stretch>
            <a:fillRect/>
          </a:stretch>
        </p:blipFill>
        <p:spPr>
          <a:xfrm>
            <a:off x="6176264" y="2661148"/>
            <a:ext cx="5388864" cy="2047768"/>
          </a:xfrm>
          <a:prstGeom prst="rect">
            <a:avLst/>
          </a:prstGeom>
          <a:noFill/>
        </p:spPr>
      </p:pic>
    </p:spTree>
    <p:extLst>
      <p:ext uri="{BB962C8B-B14F-4D97-AF65-F5344CB8AC3E}">
        <p14:creationId xmlns:p14="http://schemas.microsoft.com/office/powerpoint/2010/main" val="25147610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5717A0-89B6-179E-5698-3396FEC4271E}"/>
              </a:ext>
            </a:extLst>
          </p:cNvPr>
          <p:cNvSpPr>
            <a:spLocks noGrp="1"/>
          </p:cNvSpPr>
          <p:nvPr>
            <p:ph type="title"/>
          </p:nvPr>
        </p:nvSpPr>
        <p:spPr>
          <a:xfrm>
            <a:off x="609600" y="228600"/>
            <a:ext cx="10972800" cy="914400"/>
          </a:xfrm>
        </p:spPr>
        <p:txBody>
          <a:bodyPr anchor="b">
            <a:normAutofit/>
          </a:bodyPr>
          <a:lstStyle/>
          <a:p>
            <a:r>
              <a:rPr lang="es-MX" dirty="0"/>
              <a:t>Gráficos de área</a:t>
            </a:r>
          </a:p>
        </p:txBody>
      </p:sp>
      <p:sp>
        <p:nvSpPr>
          <p:cNvPr id="3" name="Marcador de contenido 2">
            <a:extLst>
              <a:ext uri="{FF2B5EF4-FFF2-40B4-BE49-F238E27FC236}">
                <a16:creationId xmlns:a16="http://schemas.microsoft.com/office/drawing/2014/main" id="{618CEB22-8895-1105-4C9E-40E2C76B0765}"/>
              </a:ext>
            </a:extLst>
          </p:cNvPr>
          <p:cNvSpPr>
            <a:spLocks noGrp="1"/>
          </p:cNvSpPr>
          <p:nvPr>
            <p:ph sz="quarter" idx="1"/>
          </p:nvPr>
        </p:nvSpPr>
        <p:spPr>
          <a:xfrm>
            <a:off x="609600" y="1219200"/>
            <a:ext cx="5388864" cy="4937760"/>
          </a:xfrm>
        </p:spPr>
        <p:txBody>
          <a:bodyPr>
            <a:normAutofit/>
          </a:bodyPr>
          <a:lstStyle/>
          <a:p>
            <a:r>
              <a:rPr lang="es-MX" dirty="0"/>
              <a:t>Estos representan la relación de una serie a lo largo del tiempo, pero a diferencia de los gráficos de líneas, pueden representar volumen. </a:t>
            </a:r>
          </a:p>
          <a:p>
            <a:r>
              <a:rPr lang="es-MX" dirty="0"/>
              <a:t>Las tres variaciones del gráfico de área son:</a:t>
            </a:r>
          </a:p>
          <a:p>
            <a:pPr lvl="1"/>
            <a:r>
              <a:rPr lang="es-MX" sz="1950" dirty="0">
                <a:solidFill>
                  <a:schemeClr val="tx1"/>
                </a:solidFill>
              </a:rPr>
              <a:t>Área estándar: utilizado para mostrar o comparar una progresión a lo largo del tiempo.</a:t>
            </a:r>
          </a:p>
          <a:p>
            <a:pPr lvl="1"/>
            <a:r>
              <a:rPr lang="es-MX" sz="1950" dirty="0">
                <a:solidFill>
                  <a:schemeClr val="tx1"/>
                </a:solidFill>
              </a:rPr>
              <a:t>Área apilada: utilizado para visualizar relaciones como parte del todo, mostrando así la contribución de cada categoría al total acumulado.</a:t>
            </a:r>
          </a:p>
          <a:p>
            <a:pPr lvl="1"/>
            <a:r>
              <a:rPr lang="es-MX" sz="1950" dirty="0">
                <a:solidFill>
                  <a:schemeClr val="tx1"/>
                </a:solidFill>
              </a:rPr>
              <a:t>Área apilada al 100%: utilizado para comunicar la distribución de la variable.</a:t>
            </a:r>
          </a:p>
          <a:p>
            <a:endParaRPr lang="es-MX" dirty="0"/>
          </a:p>
        </p:txBody>
      </p:sp>
      <p:pic>
        <p:nvPicPr>
          <p:cNvPr id="4" name="Imagen 3">
            <a:extLst>
              <a:ext uri="{FF2B5EF4-FFF2-40B4-BE49-F238E27FC236}">
                <a16:creationId xmlns:a16="http://schemas.microsoft.com/office/drawing/2014/main" id="{F0EA3C4E-F8AF-126E-D6E3-1FE058BE4A41}"/>
              </a:ext>
            </a:extLst>
          </p:cNvPr>
          <p:cNvPicPr>
            <a:picLocks noChangeAspect="1"/>
          </p:cNvPicPr>
          <p:nvPr/>
        </p:nvPicPr>
        <p:blipFill>
          <a:blip r:embed="rId2"/>
          <a:stretch>
            <a:fillRect/>
          </a:stretch>
        </p:blipFill>
        <p:spPr>
          <a:xfrm>
            <a:off x="8667750" y="1374557"/>
            <a:ext cx="2897378" cy="2484501"/>
          </a:xfrm>
          <a:prstGeom prst="rect">
            <a:avLst/>
          </a:prstGeom>
          <a:noFill/>
        </p:spPr>
      </p:pic>
      <p:pic>
        <p:nvPicPr>
          <p:cNvPr id="6" name="Imagen 5">
            <a:extLst>
              <a:ext uri="{FF2B5EF4-FFF2-40B4-BE49-F238E27FC236}">
                <a16:creationId xmlns:a16="http://schemas.microsoft.com/office/drawing/2014/main" id="{BCF7F64E-8C66-9347-E7E4-A6B0C8751332}"/>
              </a:ext>
            </a:extLst>
          </p:cNvPr>
          <p:cNvPicPr>
            <a:picLocks noChangeAspect="1"/>
          </p:cNvPicPr>
          <p:nvPr/>
        </p:nvPicPr>
        <p:blipFill>
          <a:blip r:embed="rId3"/>
          <a:stretch>
            <a:fillRect/>
          </a:stretch>
        </p:blipFill>
        <p:spPr>
          <a:xfrm>
            <a:off x="6456172" y="3984830"/>
            <a:ext cx="5126228" cy="2245373"/>
          </a:xfrm>
          <a:prstGeom prst="rect">
            <a:avLst/>
          </a:prstGeom>
        </p:spPr>
      </p:pic>
    </p:spTree>
    <p:extLst>
      <p:ext uri="{BB962C8B-B14F-4D97-AF65-F5344CB8AC3E}">
        <p14:creationId xmlns:p14="http://schemas.microsoft.com/office/powerpoint/2010/main" val="25592766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E580ED-640C-BCC9-E5E8-E6255E4D6735}"/>
              </a:ext>
            </a:extLst>
          </p:cNvPr>
          <p:cNvSpPr>
            <a:spLocks noGrp="1"/>
          </p:cNvSpPr>
          <p:nvPr>
            <p:ph type="title"/>
          </p:nvPr>
        </p:nvSpPr>
        <p:spPr>
          <a:xfrm>
            <a:off x="609600" y="228600"/>
            <a:ext cx="10972800" cy="914400"/>
          </a:xfrm>
        </p:spPr>
        <p:txBody>
          <a:bodyPr anchor="b">
            <a:normAutofit/>
          </a:bodyPr>
          <a:lstStyle/>
          <a:p>
            <a:r>
              <a:rPr lang="es-MX" dirty="0"/>
              <a:t>Selección del gráfico a usar</a:t>
            </a:r>
          </a:p>
        </p:txBody>
      </p:sp>
      <p:sp>
        <p:nvSpPr>
          <p:cNvPr id="3" name="Marcador de contenido 2">
            <a:extLst>
              <a:ext uri="{FF2B5EF4-FFF2-40B4-BE49-F238E27FC236}">
                <a16:creationId xmlns:a16="http://schemas.microsoft.com/office/drawing/2014/main" id="{2C4FEC0C-3B98-6CC2-AE4C-C5B75DABE9D0}"/>
              </a:ext>
            </a:extLst>
          </p:cNvPr>
          <p:cNvSpPr>
            <a:spLocks noGrp="1"/>
          </p:cNvSpPr>
          <p:nvPr>
            <p:ph sz="quarter" idx="1"/>
          </p:nvPr>
        </p:nvSpPr>
        <p:spPr>
          <a:xfrm>
            <a:off x="609600" y="1219200"/>
            <a:ext cx="5388864" cy="4937760"/>
          </a:xfrm>
        </p:spPr>
        <p:txBody>
          <a:bodyPr>
            <a:normAutofit/>
          </a:bodyPr>
          <a:lstStyle/>
          <a:p>
            <a:pPr>
              <a:lnSpc>
                <a:spcPct val="90000"/>
              </a:lnSpc>
            </a:pPr>
            <a:r>
              <a:rPr lang="es-MX" sz="1800"/>
              <a:t>Seleccionar el gráfico adecuado para comunicar eficazmente a través de visualizaciones no es una tarea fácil. Stephen Few (2009), especialista en visualización de datos, propone adoptar un enfoque práctico para seleccionar y utilizar un gráfico adecuado:</a:t>
            </a:r>
          </a:p>
          <a:p>
            <a:pPr lvl="1">
              <a:lnSpc>
                <a:spcPct val="90000"/>
              </a:lnSpc>
            </a:pPr>
            <a:r>
              <a:rPr lang="es-MX" sz="1800">
                <a:solidFill>
                  <a:schemeClr val="tx1"/>
                </a:solidFill>
              </a:rPr>
              <a:t>Elija un gráfico que capture seguramente la atención del espectador.</a:t>
            </a:r>
          </a:p>
          <a:p>
            <a:pPr lvl="1">
              <a:lnSpc>
                <a:spcPct val="90000"/>
              </a:lnSpc>
            </a:pPr>
            <a:r>
              <a:rPr lang="es-MX" sz="1800">
                <a:solidFill>
                  <a:schemeClr val="tx1"/>
                </a:solidFill>
              </a:rPr>
              <a:t>Represente la información de manera simple, clara y precisa (evite adornos innecesarios).</a:t>
            </a:r>
          </a:p>
          <a:p>
            <a:pPr lvl="1">
              <a:lnSpc>
                <a:spcPct val="90000"/>
              </a:lnSpc>
            </a:pPr>
            <a:r>
              <a:rPr lang="es-MX" sz="1800">
                <a:solidFill>
                  <a:schemeClr val="tx1"/>
                </a:solidFill>
              </a:rPr>
              <a:t>Facilite la comparación de datos; resalte tendencias y diferencias.</a:t>
            </a:r>
          </a:p>
          <a:p>
            <a:pPr lvl="1">
              <a:lnSpc>
                <a:spcPct val="90000"/>
              </a:lnSpc>
            </a:pPr>
            <a:r>
              <a:rPr lang="es-MX" sz="1800">
                <a:solidFill>
                  <a:schemeClr val="tx1"/>
                </a:solidFill>
              </a:rPr>
              <a:t>Establezca un orden para los elementos basado en la cantidad que representan; es decir, detecte máximos y mínimos.</a:t>
            </a:r>
          </a:p>
          <a:p>
            <a:pPr lvl="1">
              <a:lnSpc>
                <a:spcPct val="90000"/>
              </a:lnSpc>
            </a:pPr>
            <a:r>
              <a:rPr lang="es-MX" sz="1800">
                <a:solidFill>
                  <a:schemeClr val="tx1"/>
                </a:solidFill>
              </a:rPr>
              <a:t>Proporcione al espectador una forma clara de explorar el gráfico y comprender sus objetivos; haga uso de etiquetas guía.</a:t>
            </a:r>
          </a:p>
          <a:p>
            <a:pPr>
              <a:lnSpc>
                <a:spcPct val="90000"/>
              </a:lnSpc>
            </a:pPr>
            <a:endParaRPr lang="es-MX" sz="1800"/>
          </a:p>
        </p:txBody>
      </p:sp>
      <p:pic>
        <p:nvPicPr>
          <p:cNvPr id="2050" name="Picture 2" descr="stephen few | El Arte de Presentar">
            <a:extLst>
              <a:ext uri="{FF2B5EF4-FFF2-40B4-BE49-F238E27FC236}">
                <a16:creationId xmlns:a16="http://schemas.microsoft.com/office/drawing/2014/main" id="{53134BE9-4BFC-72BB-CE05-54FBF56ED45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76264" y="1664208"/>
            <a:ext cx="5388864" cy="4041647"/>
          </a:xfrm>
          <a:prstGeom prst="rect">
            <a:avLst/>
          </a:prstGeom>
          <a:solidFill>
            <a:srgbClr val="FFFFFF"/>
          </a:solidFill>
        </p:spPr>
      </p:pic>
    </p:spTree>
    <p:extLst>
      <p:ext uri="{BB962C8B-B14F-4D97-AF65-F5344CB8AC3E}">
        <p14:creationId xmlns:p14="http://schemas.microsoft.com/office/powerpoint/2010/main" val="5952731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53385F-CB5B-D7BD-AF27-347F6CDB4058}"/>
              </a:ext>
            </a:extLst>
          </p:cNvPr>
          <p:cNvSpPr>
            <a:spLocks noGrp="1"/>
          </p:cNvSpPr>
          <p:nvPr>
            <p:ph type="title"/>
          </p:nvPr>
        </p:nvSpPr>
        <p:spPr/>
        <p:txBody>
          <a:bodyPr/>
          <a:lstStyle/>
          <a:p>
            <a:r>
              <a:rPr lang="es-MX" dirty="0"/>
              <a:t>Principios básicos para la visualización de datos</a:t>
            </a:r>
          </a:p>
        </p:txBody>
      </p:sp>
      <p:graphicFrame>
        <p:nvGraphicFramePr>
          <p:cNvPr id="10" name="Marcador de contenido 2">
            <a:extLst>
              <a:ext uri="{FF2B5EF4-FFF2-40B4-BE49-F238E27FC236}">
                <a16:creationId xmlns:a16="http://schemas.microsoft.com/office/drawing/2014/main" id="{0BE84FF1-6279-C42D-C2CC-1251A69F9C24}"/>
              </a:ext>
            </a:extLst>
          </p:cNvPr>
          <p:cNvGraphicFramePr>
            <a:graphicFrameLocks noGrp="1"/>
          </p:cNvGraphicFramePr>
          <p:nvPr>
            <p:ph sz="quarter" idx="1"/>
            <p:extLst>
              <p:ext uri="{D42A27DB-BD31-4B8C-83A1-F6EECF244321}">
                <p14:modId xmlns:p14="http://schemas.microsoft.com/office/powerpoint/2010/main" val="1744096016"/>
              </p:ext>
            </p:extLst>
          </p:nvPr>
        </p:nvGraphicFramePr>
        <p:xfrm>
          <a:off x="609600" y="1219200"/>
          <a:ext cx="10972800" cy="4937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7816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53385F-CB5B-D7BD-AF27-347F6CDB4058}"/>
              </a:ext>
            </a:extLst>
          </p:cNvPr>
          <p:cNvSpPr>
            <a:spLocks noGrp="1"/>
          </p:cNvSpPr>
          <p:nvPr>
            <p:ph type="title"/>
          </p:nvPr>
        </p:nvSpPr>
        <p:spPr>
          <a:xfrm>
            <a:off x="8432800" y="304800"/>
            <a:ext cx="3352800" cy="838200"/>
          </a:xfrm>
        </p:spPr>
        <p:txBody>
          <a:bodyPr anchor="b">
            <a:normAutofit/>
          </a:bodyPr>
          <a:lstStyle/>
          <a:p>
            <a:r>
              <a:rPr lang="es-MX" dirty="0"/>
              <a:t>Principios básicos para la visualización de datos</a:t>
            </a:r>
          </a:p>
        </p:txBody>
      </p:sp>
      <p:sp>
        <p:nvSpPr>
          <p:cNvPr id="3" name="Marcador de contenido 2">
            <a:extLst>
              <a:ext uri="{FF2B5EF4-FFF2-40B4-BE49-F238E27FC236}">
                <a16:creationId xmlns:a16="http://schemas.microsoft.com/office/drawing/2014/main" id="{5B9E4046-A803-2BD0-E3D9-11BDE4ED3821}"/>
              </a:ext>
            </a:extLst>
          </p:cNvPr>
          <p:cNvSpPr>
            <a:spLocks noGrp="1"/>
          </p:cNvSpPr>
          <p:nvPr>
            <p:ph type="body" idx="2"/>
          </p:nvPr>
        </p:nvSpPr>
        <p:spPr>
          <a:xfrm>
            <a:off x="8432800" y="1219203"/>
            <a:ext cx="3352800" cy="4843463"/>
          </a:xfrm>
        </p:spPr>
        <p:txBody>
          <a:bodyPr>
            <a:normAutofit/>
          </a:bodyPr>
          <a:lstStyle/>
          <a:p>
            <a:r>
              <a:rPr lang="es-MX" sz="1100"/>
              <a:t>Visión general: Esto asegura que los espectadores tengan una comprensión general del conjunto de datos, como punto de partida para la exploración. Implica ofrecerles un vistazo visual de los diferentes tipos de datos, explicando su relación en una sola mirada. Esta estrategia nos ayuda a visualizar los datos, en todos sus diferentes niveles, al mismo tiempo.</a:t>
            </a:r>
          </a:p>
          <a:p>
            <a:r>
              <a:rPr lang="es-MX" sz="1100"/>
              <a:t>Zoom y filtro: El segundo paso consiste en complementar el primero para que los espectadores comprendan la estructura subyacente de los datos. El mecanismo de zoom permite seleccionar subconjuntos interesantes de datos que cumplen con ciertos criterios, manteniendo al mismo tiempo el sentido de posición y contexto.</a:t>
            </a:r>
          </a:p>
          <a:p>
            <a:r>
              <a:rPr lang="es-MX" sz="1100"/>
              <a:t>Detalles bajo demanda: Esto permite seleccionar un subconjunto más estrecho de datos, permitiendo al usuario interactuar con la información y utilizar filtros al pasar el cursor o hacer clic en los datos para obtener información adicional.</a:t>
            </a:r>
          </a:p>
          <a:p>
            <a:endParaRPr lang="es-MX" sz="1100"/>
          </a:p>
        </p:txBody>
      </p:sp>
      <p:pic>
        <p:nvPicPr>
          <p:cNvPr id="7" name="Picture 4">
            <a:extLst>
              <a:ext uri="{FF2B5EF4-FFF2-40B4-BE49-F238E27FC236}">
                <a16:creationId xmlns:a16="http://schemas.microsoft.com/office/drawing/2014/main" id="{BE12AEC8-57D2-F5A2-5305-D9314821AE3E}"/>
              </a:ext>
            </a:extLst>
          </p:cNvPr>
          <p:cNvPicPr>
            <a:picLocks noChangeAspect="1"/>
          </p:cNvPicPr>
          <p:nvPr/>
        </p:nvPicPr>
        <p:blipFill rotWithShape="1">
          <a:blip r:embed="rId2"/>
          <a:srcRect l="11000" r="-2" b="-2"/>
          <a:stretch/>
        </p:blipFill>
        <p:spPr>
          <a:xfrm>
            <a:off x="406400" y="304800"/>
            <a:ext cx="7620000" cy="5715000"/>
          </a:xfrm>
          <a:prstGeom prst="rect">
            <a:avLst/>
          </a:prstGeom>
          <a:noFill/>
        </p:spPr>
      </p:pic>
    </p:spTree>
    <p:extLst>
      <p:ext uri="{BB962C8B-B14F-4D97-AF65-F5344CB8AC3E}">
        <p14:creationId xmlns:p14="http://schemas.microsoft.com/office/powerpoint/2010/main" val="1196561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CE83F0-9494-4376-BEB4-528BAC39C4C4}"/>
              </a:ext>
            </a:extLst>
          </p:cNvPr>
          <p:cNvSpPr>
            <a:spLocks noGrp="1"/>
          </p:cNvSpPr>
          <p:nvPr>
            <p:ph type="title"/>
          </p:nvPr>
        </p:nvSpPr>
        <p:spPr>
          <a:xfrm>
            <a:off x="8432800" y="304800"/>
            <a:ext cx="3352800" cy="838200"/>
          </a:xfrm>
        </p:spPr>
        <p:txBody>
          <a:bodyPr anchor="b">
            <a:normAutofit/>
          </a:bodyPr>
          <a:lstStyle/>
          <a:p>
            <a:r>
              <a:rPr lang="es-MX"/>
              <a:t>Resumen</a:t>
            </a:r>
          </a:p>
        </p:txBody>
      </p:sp>
      <p:sp>
        <p:nvSpPr>
          <p:cNvPr id="3" name="Marcador de contenido 2">
            <a:extLst>
              <a:ext uri="{FF2B5EF4-FFF2-40B4-BE49-F238E27FC236}">
                <a16:creationId xmlns:a16="http://schemas.microsoft.com/office/drawing/2014/main" id="{C7809E83-BED9-436B-8123-1344E4099EB8}"/>
              </a:ext>
            </a:extLst>
          </p:cNvPr>
          <p:cNvSpPr>
            <a:spLocks noGrp="1"/>
          </p:cNvSpPr>
          <p:nvPr>
            <p:ph type="body" idx="2"/>
          </p:nvPr>
        </p:nvSpPr>
        <p:spPr>
          <a:xfrm>
            <a:off x="8432800" y="1219203"/>
            <a:ext cx="3352800" cy="4843463"/>
          </a:xfrm>
        </p:spPr>
        <p:txBody>
          <a:bodyPr>
            <a:normAutofit/>
          </a:bodyPr>
          <a:lstStyle/>
          <a:p>
            <a:r>
              <a:rPr lang="es-MX"/>
              <a:t>Elegir la solución más adecuada entre los tipos de gráficos y diagramas es importante, el objetivo es conseguir la síntesis en la visualización de los datos para que la audiencia los asimile de forma casi intuitiva. Por supuesto, la correcta disposición de los elementos y la adecuada elección de sus colores y formas también suman puntos a la hora transmitir el mensaje de manera eficaz.</a:t>
            </a:r>
          </a:p>
        </p:txBody>
      </p:sp>
      <p:pic>
        <p:nvPicPr>
          <p:cNvPr id="5" name="Picture 4" descr="Gráficas financieras en una pantalla oscura">
            <a:extLst>
              <a:ext uri="{FF2B5EF4-FFF2-40B4-BE49-F238E27FC236}">
                <a16:creationId xmlns:a16="http://schemas.microsoft.com/office/drawing/2014/main" id="{7BC40D9D-F871-C859-7623-86C9035309A7}"/>
              </a:ext>
            </a:extLst>
          </p:cNvPr>
          <p:cNvPicPr>
            <a:picLocks noChangeAspect="1"/>
          </p:cNvPicPr>
          <p:nvPr/>
        </p:nvPicPr>
        <p:blipFill rotWithShape="1">
          <a:blip r:embed="rId2"/>
          <a:srcRect l="5429" r="11238"/>
          <a:stretch/>
        </p:blipFill>
        <p:spPr>
          <a:xfrm>
            <a:off x="406400" y="304800"/>
            <a:ext cx="7620000" cy="5715000"/>
          </a:xfrm>
          <a:prstGeom prst="rect">
            <a:avLst/>
          </a:prstGeom>
          <a:noFill/>
        </p:spPr>
      </p:pic>
    </p:spTree>
    <p:extLst>
      <p:ext uri="{BB962C8B-B14F-4D97-AF65-F5344CB8AC3E}">
        <p14:creationId xmlns:p14="http://schemas.microsoft.com/office/powerpoint/2010/main" val="34891089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61020D-0C99-82E9-CC7A-5D5B058C4ADF}"/>
              </a:ext>
            </a:extLst>
          </p:cNvPr>
          <p:cNvSpPr>
            <a:spLocks noGrp="1"/>
          </p:cNvSpPr>
          <p:nvPr>
            <p:ph type="title"/>
          </p:nvPr>
        </p:nvSpPr>
        <p:spPr>
          <a:xfrm>
            <a:off x="4553733" y="548464"/>
            <a:ext cx="6798541" cy="1675623"/>
          </a:xfrm>
        </p:spPr>
        <p:txBody>
          <a:bodyPr anchor="b">
            <a:normAutofit/>
          </a:bodyPr>
          <a:lstStyle/>
          <a:p>
            <a:r>
              <a:rPr lang="es-MX" sz="4000"/>
              <a:t>Tarea</a:t>
            </a:r>
          </a:p>
        </p:txBody>
      </p:sp>
      <p:pic>
        <p:nvPicPr>
          <p:cNvPr id="6" name="Picture 4" descr="Hombre escribiendo en la hoja de música">
            <a:extLst>
              <a:ext uri="{FF2B5EF4-FFF2-40B4-BE49-F238E27FC236}">
                <a16:creationId xmlns:a16="http://schemas.microsoft.com/office/drawing/2014/main" id="{824EF7A1-28B4-1478-A0D4-545156D3C73B}"/>
              </a:ext>
            </a:extLst>
          </p:cNvPr>
          <p:cNvPicPr>
            <a:picLocks noChangeAspect="1"/>
          </p:cNvPicPr>
          <p:nvPr/>
        </p:nvPicPr>
        <p:blipFill rotWithShape="1">
          <a:blip r:embed="rId2"/>
          <a:srcRect l="31643" r="27511" b="-1"/>
          <a:stretch/>
        </p:blipFill>
        <p:spPr>
          <a:xfrm>
            <a:off x="1" y="10"/>
            <a:ext cx="4196496" cy="6857990"/>
          </a:xfrm>
          <a:prstGeom prst="rect">
            <a:avLst/>
          </a:prstGeom>
          <a:effectLst/>
        </p:spPr>
      </p:pic>
      <p:sp>
        <p:nvSpPr>
          <p:cNvPr id="3" name="Marcador de contenido 2">
            <a:extLst>
              <a:ext uri="{FF2B5EF4-FFF2-40B4-BE49-F238E27FC236}">
                <a16:creationId xmlns:a16="http://schemas.microsoft.com/office/drawing/2014/main" id="{462FBA4C-F6C2-483A-DBBA-B2546BECDD73}"/>
              </a:ext>
            </a:extLst>
          </p:cNvPr>
          <p:cNvSpPr>
            <a:spLocks noGrp="1"/>
          </p:cNvSpPr>
          <p:nvPr>
            <p:ph idx="1"/>
          </p:nvPr>
        </p:nvSpPr>
        <p:spPr>
          <a:xfrm>
            <a:off x="4553734" y="2409830"/>
            <a:ext cx="6798539" cy="3705217"/>
          </a:xfrm>
        </p:spPr>
        <p:txBody>
          <a:bodyPr>
            <a:normAutofit/>
          </a:bodyPr>
          <a:lstStyle/>
          <a:p>
            <a:r>
              <a:rPr lang="es-MX" sz="1600" dirty="0"/>
              <a:t>Ejercicio en “</a:t>
            </a:r>
            <a:r>
              <a:rPr lang="es-MX" sz="1600" i="1" dirty="0"/>
              <a:t>Python visualization exercise.docx</a:t>
            </a:r>
            <a:r>
              <a:rPr lang="es-MX" sz="1600" dirty="0"/>
              <a:t>”.</a:t>
            </a:r>
          </a:p>
          <a:p>
            <a:r>
              <a:rPr lang="es-MX" sz="1600" dirty="0"/>
              <a:t>Lectura para la próxima clase: “An Extensive Step by Step Guide to Exploratory Data Analysis”, de Terence Shin</a:t>
            </a:r>
          </a:p>
          <a:p>
            <a:pPr lvl="1"/>
            <a:r>
              <a:rPr lang="es-MX" sz="1375" dirty="0"/>
              <a:t>(https://towardsdatascience.com/an-extensive-guide-to-exploratory-data-analysis-ddd99a03199e).</a:t>
            </a:r>
          </a:p>
          <a:p>
            <a:r>
              <a:rPr lang="es-MX" sz="1600" dirty="0"/>
              <a:t>Realizar un reporte de los elementos destacados de la lectura.</a:t>
            </a:r>
          </a:p>
          <a:p>
            <a:r>
              <a:rPr lang="es-MX" sz="1600" dirty="0"/>
              <a:t>La evaluación se realizará de acuerdo con la rúbrica detallada en el documento “Rúbrica para la evaluación de reportes de lecturas.pdf”.</a:t>
            </a:r>
          </a:p>
          <a:p>
            <a:r>
              <a:rPr lang="es-MX" sz="1600" dirty="0"/>
              <a:t>Material complementario:</a:t>
            </a:r>
          </a:p>
          <a:p>
            <a:pPr lvl="1"/>
            <a:r>
              <a:rPr lang="es-MX" sz="1600" dirty="0"/>
              <a:t>https://python-charts.com/</a:t>
            </a:r>
          </a:p>
          <a:p>
            <a:pPr lvl="1"/>
            <a:r>
              <a:rPr lang="es-MX" sz="1600" dirty="0"/>
              <a:t>https://python-graph-gallery.com/all-charts/</a:t>
            </a:r>
          </a:p>
          <a:p>
            <a:pPr lvl="1"/>
            <a:r>
              <a:rPr lang="es-MX" sz="1600" dirty="0"/>
              <a:t>https://www.pythoncharts.com/</a:t>
            </a:r>
          </a:p>
        </p:txBody>
      </p:sp>
    </p:spTree>
    <p:extLst>
      <p:ext uri="{BB962C8B-B14F-4D97-AF65-F5344CB8AC3E}">
        <p14:creationId xmlns:p14="http://schemas.microsoft.com/office/powerpoint/2010/main" val="18254783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5802FD-3407-4898-B33B-47EA308A8010}"/>
              </a:ext>
            </a:extLst>
          </p:cNvPr>
          <p:cNvSpPr>
            <a:spLocks noGrp="1"/>
          </p:cNvSpPr>
          <p:nvPr>
            <p:ph type="title"/>
          </p:nvPr>
        </p:nvSpPr>
        <p:spPr>
          <a:xfrm>
            <a:off x="609600" y="152400"/>
            <a:ext cx="10972800" cy="990600"/>
          </a:xfrm>
        </p:spPr>
        <p:txBody>
          <a:bodyPr vert="horz" lIns="91440" tIns="45720" rIns="91440" bIns="45720" rtlCol="0" anchor="ctr">
            <a:normAutofit/>
          </a:bodyPr>
          <a:lstStyle/>
          <a:p>
            <a:r>
              <a:rPr lang="en-US"/>
              <a:t>Resumen</a:t>
            </a:r>
          </a:p>
        </p:txBody>
      </p:sp>
      <p:graphicFrame>
        <p:nvGraphicFramePr>
          <p:cNvPr id="4" name="Tabla 4">
            <a:extLst>
              <a:ext uri="{FF2B5EF4-FFF2-40B4-BE49-F238E27FC236}">
                <a16:creationId xmlns:a16="http://schemas.microsoft.com/office/drawing/2014/main" id="{972151F3-B77F-4CB6-97DC-1674A7E76D75}"/>
              </a:ext>
            </a:extLst>
          </p:cNvPr>
          <p:cNvGraphicFramePr>
            <a:graphicFrameLocks noGrp="1"/>
          </p:cNvGraphicFramePr>
          <p:nvPr>
            <p:ph sz="quarter" idx="1"/>
            <p:extLst>
              <p:ext uri="{D42A27DB-BD31-4B8C-83A1-F6EECF244321}">
                <p14:modId xmlns:p14="http://schemas.microsoft.com/office/powerpoint/2010/main" val="735009284"/>
              </p:ext>
            </p:extLst>
          </p:nvPr>
        </p:nvGraphicFramePr>
        <p:xfrm>
          <a:off x="609600" y="1219200"/>
          <a:ext cx="9973115" cy="4192810"/>
        </p:xfrm>
        <a:graphic>
          <a:graphicData uri="http://schemas.openxmlformats.org/drawingml/2006/table">
            <a:tbl>
              <a:tblPr firstRow="1" bandRow="1">
                <a:tableStyleId>{5C22544A-7EE6-4342-B048-85BDC9FD1C3A}</a:tableStyleId>
              </a:tblPr>
              <a:tblGrid>
                <a:gridCol w="1426169">
                  <a:extLst>
                    <a:ext uri="{9D8B030D-6E8A-4147-A177-3AD203B41FA5}">
                      <a16:colId xmlns:a16="http://schemas.microsoft.com/office/drawing/2014/main" val="1260893193"/>
                    </a:ext>
                  </a:extLst>
                </a:gridCol>
                <a:gridCol w="4315649">
                  <a:extLst>
                    <a:ext uri="{9D8B030D-6E8A-4147-A177-3AD203B41FA5}">
                      <a16:colId xmlns:a16="http://schemas.microsoft.com/office/drawing/2014/main" val="2141779395"/>
                    </a:ext>
                  </a:extLst>
                </a:gridCol>
                <a:gridCol w="4231297">
                  <a:extLst>
                    <a:ext uri="{9D8B030D-6E8A-4147-A177-3AD203B41FA5}">
                      <a16:colId xmlns:a16="http://schemas.microsoft.com/office/drawing/2014/main" val="710065131"/>
                    </a:ext>
                  </a:extLst>
                </a:gridCol>
              </a:tblGrid>
              <a:tr h="264375">
                <a:tc>
                  <a:txBody>
                    <a:bodyPr/>
                    <a:lstStyle/>
                    <a:p>
                      <a:pPr algn="ctr"/>
                      <a:endParaRPr lang="es-MX" sz="1100" b="1" cap="none" spc="30" dirty="0">
                        <a:solidFill>
                          <a:schemeClr val="tx1"/>
                        </a:solidFill>
                      </a:endParaRPr>
                    </a:p>
                  </a:txBody>
                  <a:tcPr marL="0" marR="5906" marT="29528" marB="29528" anchor="ctr"/>
                </a:tc>
                <a:tc>
                  <a:txBody>
                    <a:bodyPr/>
                    <a:lstStyle/>
                    <a:p>
                      <a:pPr algn="ctr"/>
                      <a:r>
                        <a:rPr lang="es-MX" sz="1100" b="1" cap="none" spc="30" dirty="0">
                          <a:solidFill>
                            <a:schemeClr val="tx1"/>
                          </a:solidFill>
                        </a:rPr>
                        <a:t>Cuándo utilizarla</a:t>
                      </a:r>
                    </a:p>
                  </a:txBody>
                  <a:tcPr marL="0" marR="5906" marT="29528" marB="29528" anchor="ctr"/>
                </a:tc>
                <a:tc>
                  <a:txBody>
                    <a:bodyPr/>
                    <a:lstStyle/>
                    <a:p>
                      <a:pPr algn="ctr"/>
                      <a:r>
                        <a:rPr lang="es-MX" sz="1100" b="1" cap="none" spc="30" dirty="0">
                          <a:solidFill>
                            <a:schemeClr val="tx1"/>
                          </a:solidFill>
                        </a:rPr>
                        <a:t>Cuándo no utilizarla</a:t>
                      </a:r>
                    </a:p>
                  </a:txBody>
                  <a:tcPr marL="0" marR="5906" marT="29528" marB="29528" anchor="ctr"/>
                </a:tc>
                <a:extLst>
                  <a:ext uri="{0D108BD9-81ED-4DB2-BD59-A6C34878D82A}">
                    <a16:rowId xmlns:a16="http://schemas.microsoft.com/office/drawing/2014/main" val="407497361"/>
                  </a:ext>
                </a:extLst>
              </a:tr>
              <a:tr h="421679">
                <a:tc>
                  <a:txBody>
                    <a:bodyPr/>
                    <a:lstStyle/>
                    <a:p>
                      <a:pPr algn="ctr" fontAlgn="ctr"/>
                      <a:r>
                        <a:rPr lang="es-MX" sz="900" b="1" cap="none" spc="0">
                          <a:solidFill>
                            <a:schemeClr val="tx1"/>
                          </a:solidFill>
                          <a:effectLst/>
                        </a:rPr>
                        <a:t>Gráfica de barras</a:t>
                      </a:r>
                    </a:p>
                  </a:txBody>
                  <a:tcPr marL="0" marR="61517" marT="61517" marB="61517" anchor="ctr"/>
                </a:tc>
                <a:tc>
                  <a:txBody>
                    <a:bodyPr/>
                    <a:lstStyle/>
                    <a:p>
                      <a:pPr algn="ctr" fontAlgn="ctr"/>
                      <a:r>
                        <a:rPr lang="es-MX" sz="900" cap="none" spc="0" dirty="0">
                          <a:solidFill>
                            <a:schemeClr val="tx1"/>
                          </a:solidFill>
                          <a:effectLst/>
                        </a:rPr>
                        <a:t>Para comparar 2 o más valores en la misma categoría. Usa barras apiladas para mostrar cómo se relacionan entre sí múltiples conjuntos de datos similares.</a:t>
                      </a:r>
                    </a:p>
                  </a:txBody>
                  <a:tcPr marL="0" marR="61517" marT="61517" marB="61517" anchor="ctr"/>
                </a:tc>
                <a:tc>
                  <a:txBody>
                    <a:bodyPr/>
                    <a:lstStyle/>
                    <a:p>
                      <a:pPr algn="ctr" fontAlgn="ctr"/>
                      <a:r>
                        <a:rPr lang="es-MX" sz="900" cap="none" spc="0">
                          <a:solidFill>
                            <a:schemeClr val="tx1"/>
                          </a:solidFill>
                          <a:effectLst/>
                        </a:rPr>
                        <a:t>Si la categoría tiene un valor asociado a ella</a:t>
                      </a:r>
                      <a:br>
                        <a:rPr lang="es-MX" sz="900" cap="none" spc="0">
                          <a:solidFill>
                            <a:schemeClr val="tx1"/>
                          </a:solidFill>
                          <a:effectLst/>
                        </a:rPr>
                      </a:br>
                      <a:r>
                        <a:rPr lang="es-MX" sz="900" cap="none" spc="0">
                          <a:solidFill>
                            <a:schemeClr val="tx1"/>
                          </a:solidFill>
                          <a:effectLst/>
                        </a:rPr>
                        <a:t>o para mostrar datos continuos.</a:t>
                      </a:r>
                    </a:p>
                  </a:txBody>
                  <a:tcPr marL="0" marR="61517" marT="61517" marB="61517" anchor="ctr"/>
                </a:tc>
                <a:extLst>
                  <a:ext uri="{0D108BD9-81ED-4DB2-BD59-A6C34878D82A}">
                    <a16:rowId xmlns:a16="http://schemas.microsoft.com/office/drawing/2014/main" val="3750610784"/>
                  </a:ext>
                </a:extLst>
              </a:tr>
              <a:tr h="421679">
                <a:tc>
                  <a:txBody>
                    <a:bodyPr/>
                    <a:lstStyle/>
                    <a:p>
                      <a:pPr algn="ctr" fontAlgn="ctr"/>
                      <a:r>
                        <a:rPr lang="es-MX" sz="900" b="1" cap="none" spc="0">
                          <a:solidFill>
                            <a:schemeClr val="tx1"/>
                          </a:solidFill>
                          <a:effectLst/>
                        </a:rPr>
                        <a:t>Gráfica de mapas</a:t>
                      </a:r>
                    </a:p>
                  </a:txBody>
                  <a:tcPr marL="29528" marR="61517" marT="61517" marB="61517" anchor="ctr"/>
                </a:tc>
                <a:tc>
                  <a:txBody>
                    <a:bodyPr/>
                    <a:lstStyle/>
                    <a:p>
                      <a:pPr algn="ctr" fontAlgn="ctr"/>
                      <a:r>
                        <a:rPr lang="es-MX" sz="900" cap="none" spc="0" dirty="0">
                          <a:solidFill>
                            <a:schemeClr val="tx1"/>
                          </a:solidFill>
                          <a:effectLst/>
                        </a:rPr>
                        <a:t>Si la geografía es una parte importante de tu historia de datos.</a:t>
                      </a:r>
                    </a:p>
                  </a:txBody>
                  <a:tcPr marL="29528" marR="61517" marT="61517" marB="61517" anchor="ctr"/>
                </a:tc>
                <a:tc>
                  <a:txBody>
                    <a:bodyPr/>
                    <a:lstStyle/>
                    <a:p>
                      <a:pPr algn="ctr" fontAlgn="ctr"/>
                      <a:r>
                        <a:rPr lang="es-MX" sz="900" cap="none" spc="0">
                          <a:solidFill>
                            <a:schemeClr val="tx1"/>
                          </a:solidFill>
                          <a:effectLst/>
                        </a:rPr>
                        <a:t>Para mostrar puntos de datos precisos. Si la geografía no es un elemento importante de la historia general del dashboard.</a:t>
                      </a:r>
                    </a:p>
                  </a:txBody>
                  <a:tcPr marL="29528" marR="61517" marT="61517" marB="61517" anchor="ctr"/>
                </a:tc>
                <a:extLst>
                  <a:ext uri="{0D108BD9-81ED-4DB2-BD59-A6C34878D82A}">
                    <a16:rowId xmlns:a16="http://schemas.microsoft.com/office/drawing/2014/main" val="2026375915"/>
                  </a:ext>
                </a:extLst>
              </a:tr>
              <a:tr h="421679">
                <a:tc>
                  <a:txBody>
                    <a:bodyPr/>
                    <a:lstStyle/>
                    <a:p>
                      <a:pPr algn="ctr" fontAlgn="ctr"/>
                      <a:r>
                        <a:rPr lang="es-MX" sz="900" b="1" cap="none" spc="0">
                          <a:solidFill>
                            <a:schemeClr val="tx1"/>
                          </a:solidFill>
                          <a:effectLst/>
                        </a:rPr>
                        <a:t>Gráfica de líneas</a:t>
                      </a:r>
                    </a:p>
                  </a:txBody>
                  <a:tcPr marL="0" marR="61517" marT="61517" marB="61517" anchor="ctr"/>
                </a:tc>
                <a:tc>
                  <a:txBody>
                    <a:bodyPr/>
                    <a:lstStyle/>
                    <a:p>
                      <a:pPr algn="ctr" fontAlgn="ctr"/>
                      <a:r>
                        <a:rPr lang="es-MX" sz="900" cap="none" spc="0">
                          <a:solidFill>
                            <a:schemeClr val="tx1"/>
                          </a:solidFill>
                          <a:effectLst/>
                        </a:rPr>
                        <a:t>Para comprender tendencias, patrones y fluctuaciones en tus datos. O si quieres comparar diferentes conjuntos de datos relacionados con múltiples series.</a:t>
                      </a:r>
                    </a:p>
                  </a:txBody>
                  <a:tcPr marL="0" marR="61517" marT="61517" marB="61517" anchor="ctr"/>
                </a:tc>
                <a:tc>
                  <a:txBody>
                    <a:bodyPr/>
                    <a:lstStyle/>
                    <a:p>
                      <a:pPr algn="ctr" fontAlgn="ctr"/>
                      <a:r>
                        <a:rPr lang="es-MX" sz="900" cap="none" spc="0" dirty="0">
                          <a:solidFill>
                            <a:schemeClr val="tx1"/>
                          </a:solidFill>
                          <a:effectLst/>
                        </a:rPr>
                        <a:t>Para demostrar un análisis profundo de los datos.</a:t>
                      </a:r>
                    </a:p>
                  </a:txBody>
                  <a:tcPr marL="0" marR="61517" marT="61517" marB="61517" anchor="ctr"/>
                </a:tc>
                <a:extLst>
                  <a:ext uri="{0D108BD9-81ED-4DB2-BD59-A6C34878D82A}">
                    <a16:rowId xmlns:a16="http://schemas.microsoft.com/office/drawing/2014/main" val="287165466"/>
                  </a:ext>
                </a:extLst>
              </a:tr>
              <a:tr h="421679">
                <a:tc>
                  <a:txBody>
                    <a:bodyPr/>
                    <a:lstStyle/>
                    <a:p>
                      <a:pPr algn="ctr" fontAlgn="ctr"/>
                      <a:r>
                        <a:rPr lang="es-MX" sz="900" b="1" cap="none" spc="0">
                          <a:solidFill>
                            <a:schemeClr val="tx1"/>
                          </a:solidFill>
                          <a:effectLst/>
                        </a:rPr>
                        <a:t>Diagramas de dispersión</a:t>
                      </a:r>
                    </a:p>
                  </a:txBody>
                  <a:tcPr marL="29528" marR="61517" marT="61517" marB="61517" anchor="ctr"/>
                </a:tc>
                <a:tc>
                  <a:txBody>
                    <a:bodyPr/>
                    <a:lstStyle/>
                    <a:p>
                      <a:pPr algn="ctr" fontAlgn="ctr"/>
                      <a:r>
                        <a:rPr lang="es-MX" sz="900" cap="none" spc="0">
                          <a:solidFill>
                            <a:schemeClr val="tx1"/>
                          </a:solidFill>
                          <a:effectLst/>
                        </a:rPr>
                        <a:t>Para crear un informe interactivo o crear una visualización compacta de datos.</a:t>
                      </a:r>
                    </a:p>
                  </a:txBody>
                  <a:tcPr marL="29528" marR="61517" marT="61517" marB="61517" anchor="ctr"/>
                </a:tc>
                <a:tc>
                  <a:txBody>
                    <a:bodyPr/>
                    <a:lstStyle/>
                    <a:p>
                      <a:pPr algn="ctr" fontAlgn="ctr"/>
                      <a:r>
                        <a:rPr lang="es-MX" sz="900" cap="none" spc="0">
                          <a:solidFill>
                            <a:schemeClr val="tx1"/>
                          </a:solidFill>
                          <a:effectLst/>
                        </a:rPr>
                        <a:t>No lo uses si deseas escanear información rápidamente o requieres visualizar puntos de datos claros y/o precisos.</a:t>
                      </a:r>
                    </a:p>
                  </a:txBody>
                  <a:tcPr marL="29528" marR="61517" marT="61517" marB="61517" anchor="ctr"/>
                </a:tc>
                <a:extLst>
                  <a:ext uri="{0D108BD9-81ED-4DB2-BD59-A6C34878D82A}">
                    <a16:rowId xmlns:a16="http://schemas.microsoft.com/office/drawing/2014/main" val="2198175010"/>
                  </a:ext>
                </a:extLst>
              </a:tr>
              <a:tr h="421679">
                <a:tc>
                  <a:txBody>
                    <a:bodyPr/>
                    <a:lstStyle/>
                    <a:p>
                      <a:pPr algn="ctr" fontAlgn="ctr"/>
                      <a:r>
                        <a:rPr lang="es-MX" sz="900" b="1" cap="none" spc="0">
                          <a:solidFill>
                            <a:schemeClr val="tx1"/>
                          </a:solidFill>
                          <a:effectLst/>
                        </a:rPr>
                        <a:t>Minigráficos (sparklines)</a:t>
                      </a:r>
                    </a:p>
                  </a:txBody>
                  <a:tcPr marL="0" marR="61517" marT="61517" marB="61517" anchor="ctr"/>
                </a:tc>
                <a:tc>
                  <a:txBody>
                    <a:bodyPr/>
                    <a:lstStyle/>
                    <a:p>
                      <a:pPr algn="ctr" fontAlgn="ctr"/>
                      <a:r>
                        <a:rPr lang="es-MX" sz="900" cap="none" spc="0">
                          <a:solidFill>
                            <a:schemeClr val="tx1"/>
                          </a:solidFill>
                          <a:effectLst/>
                        </a:rPr>
                        <a:t>Úsala junto con una métrica que tenga un valor de su estado actual monitoreado durante un período de tiempo específico, o si quieres mostrar una tendencia</a:t>
                      </a:r>
                    </a:p>
                  </a:txBody>
                  <a:tcPr marL="0" marR="61517" marT="61517" marB="61517" anchor="ctr"/>
                </a:tc>
                <a:tc>
                  <a:txBody>
                    <a:bodyPr/>
                    <a:lstStyle/>
                    <a:p>
                      <a:pPr algn="ctr" fontAlgn="ctr"/>
                      <a:r>
                        <a:rPr lang="es-MX" sz="900" cap="none" spc="0" dirty="0">
                          <a:solidFill>
                            <a:schemeClr val="tx1"/>
                          </a:solidFill>
                          <a:effectLst/>
                        </a:rPr>
                        <a:t>Si requieres graficar múltiples series. </a:t>
                      </a:r>
                      <a:r>
                        <a:rPr lang="es-MX" sz="900" cap="none" spc="0">
                          <a:solidFill>
                            <a:schemeClr val="tx1"/>
                          </a:solidFill>
                          <a:effectLst/>
                        </a:rPr>
                        <a:t>Ilustrar </a:t>
                      </a:r>
                      <a:r>
                        <a:rPr lang="es-MX" sz="900" cap="none" spc="0" dirty="0">
                          <a:solidFill>
                            <a:schemeClr val="tx1"/>
                          </a:solidFill>
                          <a:effectLst/>
                        </a:rPr>
                        <a:t>puntos de datos precisos (es decir, valores individuales).</a:t>
                      </a:r>
                    </a:p>
                  </a:txBody>
                  <a:tcPr marL="0" marR="61517" marT="61517" marB="61517" anchor="ctr"/>
                </a:tc>
                <a:extLst>
                  <a:ext uri="{0D108BD9-81ED-4DB2-BD59-A6C34878D82A}">
                    <a16:rowId xmlns:a16="http://schemas.microsoft.com/office/drawing/2014/main" val="2505585209"/>
                  </a:ext>
                </a:extLst>
              </a:tr>
              <a:tr h="421679">
                <a:tc>
                  <a:txBody>
                    <a:bodyPr/>
                    <a:lstStyle/>
                    <a:p>
                      <a:pPr algn="ctr" fontAlgn="ctr"/>
                      <a:r>
                        <a:rPr lang="pt-BR" sz="900" b="1" cap="none" spc="0">
                          <a:solidFill>
                            <a:schemeClr val="tx1"/>
                          </a:solidFill>
                          <a:effectLst/>
                        </a:rPr>
                        <a:t>Gráfica de pastel o circular</a:t>
                      </a:r>
                    </a:p>
                  </a:txBody>
                  <a:tcPr marL="29528" marR="61517" marT="61517" marB="61517" anchor="ctr"/>
                </a:tc>
                <a:tc>
                  <a:txBody>
                    <a:bodyPr/>
                    <a:lstStyle/>
                    <a:p>
                      <a:pPr algn="ctr" fontAlgn="ctr"/>
                      <a:r>
                        <a:rPr lang="pt-BR" sz="900" cap="none" spc="0">
                          <a:solidFill>
                            <a:schemeClr val="tx1"/>
                          </a:solidFill>
                          <a:effectLst/>
                        </a:rPr>
                        <a:t>Para comparar valores relativos o escanear métricas rápidamente.</a:t>
                      </a:r>
                    </a:p>
                  </a:txBody>
                  <a:tcPr marL="29528" marR="61517" marT="61517" marB="61517" anchor="ctr"/>
                </a:tc>
                <a:tc>
                  <a:txBody>
                    <a:bodyPr/>
                    <a:lstStyle/>
                    <a:p>
                      <a:pPr algn="ctr" fontAlgn="ctr"/>
                      <a:r>
                        <a:rPr lang="es-MX" sz="900" cap="none" spc="0" dirty="0">
                          <a:solidFill>
                            <a:schemeClr val="tx1"/>
                          </a:solidFill>
                          <a:effectLst/>
                        </a:rPr>
                        <a:t>No lo uses si vas a comparar datos con precisión.</a:t>
                      </a:r>
                    </a:p>
                  </a:txBody>
                  <a:tcPr marL="29528" marR="61517" marT="61517" marB="61517" anchor="ctr"/>
                </a:tc>
                <a:extLst>
                  <a:ext uri="{0D108BD9-81ED-4DB2-BD59-A6C34878D82A}">
                    <a16:rowId xmlns:a16="http://schemas.microsoft.com/office/drawing/2014/main" val="1931420922"/>
                  </a:ext>
                </a:extLst>
              </a:tr>
              <a:tr h="421679">
                <a:tc>
                  <a:txBody>
                    <a:bodyPr/>
                    <a:lstStyle/>
                    <a:p>
                      <a:pPr algn="ctr" fontAlgn="ctr"/>
                      <a:r>
                        <a:rPr lang="es-MX" sz="900" b="1" cap="none" spc="0">
                          <a:solidFill>
                            <a:schemeClr val="tx1"/>
                          </a:solidFill>
                          <a:effectLst/>
                        </a:rPr>
                        <a:t>Gráfica de bala</a:t>
                      </a:r>
                    </a:p>
                  </a:txBody>
                  <a:tcPr marL="0" marR="61517" marT="61517" marB="61517" anchor="ctr"/>
                </a:tc>
                <a:tc>
                  <a:txBody>
                    <a:bodyPr/>
                    <a:lstStyle/>
                    <a:p>
                      <a:pPr algn="ctr" fontAlgn="ctr"/>
                      <a:r>
                        <a:rPr lang="es-MX" sz="900" cap="none" spc="0">
                          <a:solidFill>
                            <a:schemeClr val="tx1"/>
                          </a:solidFill>
                          <a:effectLst/>
                        </a:rPr>
                        <a:t>Uno de los tipos de gráfica que sirve para monitorear métricas individuales que tengan un objetivo claro en este momento.</a:t>
                      </a:r>
                    </a:p>
                  </a:txBody>
                  <a:tcPr marL="0" marR="61517" marT="61517" marB="61517" anchor="ctr"/>
                </a:tc>
                <a:tc>
                  <a:txBody>
                    <a:bodyPr/>
                    <a:lstStyle/>
                    <a:p>
                      <a:pPr algn="ctr" fontAlgn="ctr"/>
                      <a:r>
                        <a:rPr lang="es-MX" sz="900" cap="none" spc="0" dirty="0">
                          <a:solidFill>
                            <a:schemeClr val="tx1"/>
                          </a:solidFill>
                          <a:effectLst/>
                        </a:rPr>
                        <a:t>No la utilices para monitorear múltiples métricas o visualizar puntos de datos precisos.</a:t>
                      </a:r>
                    </a:p>
                  </a:txBody>
                  <a:tcPr marL="0" marR="61517" marT="61517" marB="61517" anchor="ctr"/>
                </a:tc>
                <a:extLst>
                  <a:ext uri="{0D108BD9-81ED-4DB2-BD59-A6C34878D82A}">
                    <a16:rowId xmlns:a16="http://schemas.microsoft.com/office/drawing/2014/main" val="91237803"/>
                  </a:ext>
                </a:extLst>
              </a:tr>
              <a:tr h="555003">
                <a:tc>
                  <a:txBody>
                    <a:bodyPr/>
                    <a:lstStyle/>
                    <a:p>
                      <a:pPr algn="ctr" fontAlgn="ctr"/>
                      <a:r>
                        <a:rPr lang="es-MX" sz="900" b="1" cap="none" spc="0">
                          <a:solidFill>
                            <a:schemeClr val="tx1"/>
                          </a:solidFill>
                          <a:effectLst/>
                        </a:rPr>
                        <a:t>Tabla</a:t>
                      </a:r>
                    </a:p>
                  </a:txBody>
                  <a:tcPr marL="29528" marR="61517" marT="61517" marB="61517" anchor="ctr"/>
                </a:tc>
                <a:tc>
                  <a:txBody>
                    <a:bodyPr/>
                    <a:lstStyle/>
                    <a:p>
                      <a:pPr algn="ctr" fontAlgn="ctr"/>
                      <a:r>
                        <a:rPr lang="es-MX" sz="900" cap="none" spc="0">
                          <a:solidFill>
                            <a:schemeClr val="tx1"/>
                          </a:solidFill>
                          <a:effectLst/>
                        </a:rPr>
                        <a:t>Para mostrar conjuntos de datos bidimensionales que pueden ser organizados categóricamente. De manera desglosada se utiliza para dividir grandes conjuntos de datos a través de una ventana desplegable.</a:t>
                      </a:r>
                    </a:p>
                  </a:txBody>
                  <a:tcPr marL="29528" marR="61517" marT="61517" marB="61517" anchor="ctr"/>
                </a:tc>
                <a:tc>
                  <a:txBody>
                    <a:bodyPr/>
                    <a:lstStyle/>
                    <a:p>
                      <a:pPr algn="ctr" fontAlgn="ctr"/>
                      <a:r>
                        <a:rPr lang="es-MX" sz="900" cap="none" spc="0" dirty="0">
                          <a:solidFill>
                            <a:schemeClr val="tx1"/>
                          </a:solidFill>
                          <a:effectLst/>
                        </a:rPr>
                        <a:t>Para mostrar grandes cantidades de datos.</a:t>
                      </a:r>
                    </a:p>
                  </a:txBody>
                  <a:tcPr marL="29528" marR="61517" marT="61517" marB="61517" anchor="ctr"/>
                </a:tc>
                <a:extLst>
                  <a:ext uri="{0D108BD9-81ED-4DB2-BD59-A6C34878D82A}">
                    <a16:rowId xmlns:a16="http://schemas.microsoft.com/office/drawing/2014/main" val="2238571950"/>
                  </a:ext>
                </a:extLst>
              </a:tr>
              <a:tr h="421679">
                <a:tc>
                  <a:txBody>
                    <a:bodyPr/>
                    <a:lstStyle/>
                    <a:p>
                      <a:pPr algn="ctr" fontAlgn="ctr"/>
                      <a:r>
                        <a:rPr lang="es-MX" sz="900" b="1" cap="none" spc="0">
                          <a:solidFill>
                            <a:schemeClr val="tx1"/>
                          </a:solidFill>
                          <a:effectLst/>
                        </a:rPr>
                        <a:t>Gráfica de embudo</a:t>
                      </a:r>
                    </a:p>
                  </a:txBody>
                  <a:tcPr marL="0" marR="61517" marT="61517" marB="61517" anchor="ctr"/>
                </a:tc>
                <a:tc>
                  <a:txBody>
                    <a:bodyPr/>
                    <a:lstStyle/>
                    <a:p>
                      <a:pPr algn="ctr" fontAlgn="ctr"/>
                      <a:r>
                        <a:rPr lang="es-MX" sz="900" cap="none" spc="0">
                          <a:solidFill>
                            <a:schemeClr val="tx1"/>
                          </a:solidFill>
                          <a:effectLst/>
                        </a:rPr>
                        <a:t>Cuando necesitamos hacer un seguimiento de cómo un conjunto inicial de visitantes o usuarios abandonan un proceso o flujo.</a:t>
                      </a:r>
                    </a:p>
                  </a:txBody>
                  <a:tcPr marL="0" marR="61517" marT="61517" marB="61517" anchor="ctr"/>
                </a:tc>
                <a:tc>
                  <a:txBody>
                    <a:bodyPr/>
                    <a:lstStyle/>
                    <a:p>
                      <a:pPr algn="ctr" fontAlgn="ctr"/>
                      <a:r>
                        <a:rPr lang="es-MX" sz="900" cap="none" spc="0" dirty="0">
                          <a:solidFill>
                            <a:schemeClr val="tx1"/>
                          </a:solidFill>
                          <a:effectLst/>
                        </a:rPr>
                        <a:t>Cuando se tienen menos de tres etapas que visualizar o si todas las etapas tienen aproximadamente el mismo tamaño.</a:t>
                      </a:r>
                    </a:p>
                  </a:txBody>
                  <a:tcPr marL="0" marR="61517" marT="61517" marB="61517" anchor="ctr"/>
                </a:tc>
                <a:extLst>
                  <a:ext uri="{0D108BD9-81ED-4DB2-BD59-A6C34878D82A}">
                    <a16:rowId xmlns:a16="http://schemas.microsoft.com/office/drawing/2014/main" val="2344340994"/>
                  </a:ext>
                </a:extLst>
              </a:tr>
            </a:tbl>
          </a:graphicData>
        </a:graphic>
      </p:graphicFrame>
    </p:spTree>
    <p:extLst>
      <p:ext uri="{BB962C8B-B14F-4D97-AF65-F5344CB8AC3E}">
        <p14:creationId xmlns:p14="http://schemas.microsoft.com/office/powerpoint/2010/main" val="17020437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Title 1">
            <a:extLst>
              <a:ext uri="{FF2B5EF4-FFF2-40B4-BE49-F238E27FC236}">
                <a16:creationId xmlns:a16="http://schemas.microsoft.com/office/drawing/2014/main" id="{B01AE73F-CBD9-21D3-52AD-94528F4F88A8}"/>
              </a:ext>
            </a:extLst>
          </p:cNvPr>
          <p:cNvSpPr>
            <a:spLocks noGrp="1"/>
          </p:cNvSpPr>
          <p:nvPr>
            <p:ph type="title"/>
          </p:nvPr>
        </p:nvSpPr>
        <p:spPr>
          <a:xfrm>
            <a:off x="609600" y="152400"/>
            <a:ext cx="10972800" cy="990600"/>
          </a:xfrm>
        </p:spPr>
        <p:txBody>
          <a:bodyPr/>
          <a:lstStyle/>
          <a:p>
            <a:r>
              <a:rPr lang="en-US" dirty="0" err="1"/>
              <a:t>Resumen</a:t>
            </a:r>
            <a:endParaRPr lang="en-US" dirty="0"/>
          </a:p>
        </p:txBody>
      </p:sp>
      <p:pic>
        <p:nvPicPr>
          <p:cNvPr id="14338" name="Picture 2">
            <a:extLst>
              <a:ext uri="{FF2B5EF4-FFF2-40B4-BE49-F238E27FC236}">
                <a16:creationId xmlns:a16="http://schemas.microsoft.com/office/drawing/2014/main" id="{1B24BAA9-BD42-4B25-909D-5E8B41C336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7"/>
          <a:stretch/>
        </p:blipFill>
        <p:spPr bwMode="auto">
          <a:xfrm>
            <a:off x="1504950" y="1276350"/>
            <a:ext cx="8610600" cy="4831503"/>
          </a:xfrm>
          <a:prstGeom prst="rect">
            <a:avLst/>
          </a:prstGeom>
          <a:solidFill>
            <a:srgbClr val="FFFFFF"/>
          </a:solidFill>
        </p:spPr>
      </p:pic>
    </p:spTree>
    <p:extLst>
      <p:ext uri="{BB962C8B-B14F-4D97-AF65-F5344CB8AC3E}">
        <p14:creationId xmlns:p14="http://schemas.microsoft.com/office/powerpoint/2010/main" val="9173541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ClaroDataMining">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extLst>
    <a:ext uri="{05A4C25C-085E-4340-85A3-A5531E510DB2}">
      <thm15:themeFamily xmlns:thm15="http://schemas.microsoft.com/office/thememl/2012/main" name="TemaClaroDataMining" id="{607B8C43-EBB6-5746-94C6-4B54890C5F19}" vid="{A6AA9852-215E-524B-A9F7-60E3399656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TemaClaroDataMining</Template>
  <TotalTime>286</TotalTime>
  <Words>3567</Words>
  <Application>Microsoft Office PowerPoint</Application>
  <PresentationFormat>Panorámica</PresentationFormat>
  <Paragraphs>262</Paragraphs>
  <Slides>45</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45</vt:i4>
      </vt:variant>
    </vt:vector>
  </HeadingPairs>
  <TitlesOfParts>
    <vt:vector size="51" baseType="lpstr">
      <vt:lpstr>Aptos</vt:lpstr>
      <vt:lpstr>Bookman Old Style</vt:lpstr>
      <vt:lpstr>Gill Sans MT</vt:lpstr>
      <vt:lpstr>Wingdings</vt:lpstr>
      <vt:lpstr>Wingdings 3</vt:lpstr>
      <vt:lpstr>TemaClaroDataMining</vt:lpstr>
      <vt:lpstr>Representación de la Información</vt:lpstr>
      <vt:lpstr>Introducción</vt:lpstr>
      <vt:lpstr>Introducción</vt:lpstr>
      <vt:lpstr>Cambios en la Estructura y Visualización de la Información</vt:lpstr>
      <vt:lpstr>Visualización de datos</vt:lpstr>
      <vt:lpstr>Proceso de visualización de datos</vt:lpstr>
      <vt:lpstr>¿Por qué es tan importante la visualización de datos en los informes y declaraciones?</vt:lpstr>
      <vt:lpstr>¿Por qué es tan importante la visualización de datos en los informes y declaraciones?</vt:lpstr>
      <vt:lpstr>Un ejemplo</vt:lpstr>
      <vt:lpstr>Un ejemplo</vt:lpstr>
      <vt:lpstr>Flujo para la visualización de datos</vt:lpstr>
      <vt:lpstr>Adquisición</vt:lpstr>
      <vt:lpstr>Estructuración</vt:lpstr>
      <vt:lpstr>Filtrado/Entendimiento</vt:lpstr>
      <vt:lpstr>Representación</vt:lpstr>
      <vt:lpstr>Perfeccionar</vt:lpstr>
      <vt:lpstr>Interacción</vt:lpstr>
      <vt:lpstr>Componentes de la visualización de datos</vt:lpstr>
      <vt:lpstr>Aspectos clave de la representación de la información</vt:lpstr>
      <vt:lpstr>Aspectos clave de la representación de la información</vt:lpstr>
      <vt:lpstr>Aspectos clave de la representación de la información</vt:lpstr>
      <vt:lpstr>Tipos de datos, relaciones y formatos de visualización</vt:lpstr>
      <vt:lpstr>Tipos de datos</vt:lpstr>
      <vt:lpstr>Tipos de datos</vt:lpstr>
      <vt:lpstr>Relación entre los datos</vt:lpstr>
      <vt:lpstr>Relación entre los datos</vt:lpstr>
      <vt:lpstr>Formato de visualizaciones</vt:lpstr>
      <vt:lpstr>Gráficos de barra</vt:lpstr>
      <vt:lpstr>Histogramas</vt:lpstr>
      <vt:lpstr>Gráficos de pastel</vt:lpstr>
      <vt:lpstr>Diagramas de dispersión</vt:lpstr>
      <vt:lpstr>Mapas de calor</vt:lpstr>
      <vt:lpstr>Gráficos de líneas</vt:lpstr>
      <vt:lpstr>Gráficos de burbujas</vt:lpstr>
      <vt:lpstr>Gráficos radar</vt:lpstr>
      <vt:lpstr>Gráficos de cascada</vt:lpstr>
      <vt:lpstr>Mapas de árbol</vt:lpstr>
      <vt:lpstr>Gráficos de área</vt:lpstr>
      <vt:lpstr>Selección del gráfico a usar</vt:lpstr>
      <vt:lpstr>Principios básicos para la visualización de datos</vt:lpstr>
      <vt:lpstr>Principios básicos para la visualización de datos</vt:lpstr>
      <vt:lpstr>Resumen</vt:lpstr>
      <vt:lpstr>Tarea</vt:lpstr>
      <vt:lpstr>Resumen</vt:lpstr>
      <vt:lpstr>Resumen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Bustio Martínez Lázaro</dc:creator>
  <cp:lastModifiedBy>Bustio Martínez Lázaro</cp:lastModifiedBy>
  <cp:revision>57</cp:revision>
  <dcterms:created xsi:type="dcterms:W3CDTF">2024-07-09T15:36:41Z</dcterms:created>
  <dcterms:modified xsi:type="dcterms:W3CDTF">2024-08-17T17:32:14Z</dcterms:modified>
</cp:coreProperties>
</file>